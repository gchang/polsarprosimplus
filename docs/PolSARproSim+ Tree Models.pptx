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73" r:id="rId2"/>
  </p:sldMasterIdLst>
  <p:notesMasterIdLst>
    <p:notesMasterId r:id="rId63"/>
  </p:notesMasterIdLst>
  <p:handoutMasterIdLst>
    <p:handoutMasterId r:id="rId64"/>
  </p:handoutMasterIdLst>
  <p:sldIdLst>
    <p:sldId id="277" r:id="rId3"/>
    <p:sldId id="263" r:id="rId4"/>
    <p:sldId id="267" r:id="rId5"/>
    <p:sldId id="268" r:id="rId6"/>
    <p:sldId id="269" r:id="rId7"/>
    <p:sldId id="282" r:id="rId8"/>
    <p:sldId id="284" r:id="rId9"/>
    <p:sldId id="287" r:id="rId10"/>
    <p:sldId id="279" r:id="rId11"/>
    <p:sldId id="283" r:id="rId12"/>
    <p:sldId id="288" r:id="rId13"/>
    <p:sldId id="301" r:id="rId14"/>
    <p:sldId id="305" r:id="rId15"/>
    <p:sldId id="306" r:id="rId16"/>
    <p:sldId id="309" r:id="rId17"/>
    <p:sldId id="307" r:id="rId18"/>
    <p:sldId id="308" r:id="rId19"/>
    <p:sldId id="276" r:id="rId20"/>
    <p:sldId id="310" r:id="rId21"/>
    <p:sldId id="311" r:id="rId22"/>
    <p:sldId id="302" r:id="rId23"/>
    <p:sldId id="303" r:id="rId24"/>
    <p:sldId id="304" r:id="rId25"/>
    <p:sldId id="261" r:id="rId26"/>
    <p:sldId id="272" r:id="rId27"/>
    <p:sldId id="266" r:id="rId28"/>
    <p:sldId id="313" r:id="rId29"/>
    <p:sldId id="314" r:id="rId30"/>
    <p:sldId id="315" r:id="rId31"/>
    <p:sldId id="319" r:id="rId32"/>
    <p:sldId id="320" r:id="rId33"/>
    <p:sldId id="321" r:id="rId34"/>
    <p:sldId id="258" r:id="rId35"/>
    <p:sldId id="271" r:id="rId36"/>
    <p:sldId id="270" r:id="rId37"/>
    <p:sldId id="322" r:id="rId38"/>
    <p:sldId id="323" r:id="rId39"/>
    <p:sldId id="312" r:id="rId40"/>
    <p:sldId id="298" r:id="rId41"/>
    <p:sldId id="299" r:id="rId42"/>
    <p:sldId id="300" r:id="rId43"/>
    <p:sldId id="316" r:id="rId44"/>
    <p:sldId id="317" r:id="rId45"/>
    <p:sldId id="318" r:id="rId46"/>
    <p:sldId id="295" r:id="rId47"/>
    <p:sldId id="296" r:id="rId48"/>
    <p:sldId id="297" r:id="rId49"/>
    <p:sldId id="292" r:id="rId50"/>
    <p:sldId id="293" r:id="rId51"/>
    <p:sldId id="294" r:id="rId52"/>
    <p:sldId id="289" r:id="rId53"/>
    <p:sldId id="291" r:id="rId54"/>
    <p:sldId id="290" r:id="rId55"/>
    <p:sldId id="273" r:id="rId56"/>
    <p:sldId id="274" r:id="rId57"/>
    <p:sldId id="275" r:id="rId58"/>
    <p:sldId id="324" r:id="rId59"/>
    <p:sldId id="285" r:id="rId60"/>
    <p:sldId id="286" r:id="rId61"/>
    <p:sldId id="278" r:id="rId62"/>
  </p:sldIdLst>
  <p:sldSz cx="9144000" cy="5143500" type="screen16x9"/>
  <p:notesSz cx="6858000" cy="9144000"/>
  <p:custDataLst>
    <p:tags r:id="rId6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619" autoAdjust="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67AB6-DDEA-CF4E-A74B-19A554508643}" type="datetimeFigureOut">
              <a:rPr lang="en-US" smtClean="0">
                <a:latin typeface="Arial"/>
              </a:rPr>
              <a:t>3/25/26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00F83-E232-AF4B-BEC0-F9D716239A3F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52301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72DD8AEC-B96B-2C4C-86B3-8483D80B216B}" type="datetimeFigureOut">
              <a:rPr lang="en-US" smtClean="0"/>
              <a:pPr/>
              <a:t>3/25/26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4180AB40-CF9C-CB44-AF47-E5E5B00AC33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5717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925513" y="1956377"/>
            <a:ext cx="7483464" cy="294801"/>
          </a:xfr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915352" y="2251179"/>
            <a:ext cx="7493625" cy="419202"/>
          </a:xfrm>
        </p:spPr>
        <p:txBody>
          <a:bodyPr>
            <a:noAutofit/>
          </a:bodyPr>
          <a:lstStyle>
            <a:lvl1pPr marL="0" indent="0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925512" y="2668678"/>
            <a:ext cx="7483465" cy="826362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915352" y="4246880"/>
            <a:ext cx="7493625" cy="497840"/>
          </a:xfrm>
        </p:spPr>
        <p:txBody>
          <a:bodyPr anchor="b">
            <a:noAutofit/>
          </a:bodyPr>
          <a:lstStyle>
            <a:lvl1pPr marL="0" indent="0">
              <a:buNone/>
              <a:defRPr sz="1000" b="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95" y="1184383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>
          <a:xfrm>
            <a:off x="915353" y="4802823"/>
            <a:ext cx="7493624" cy="274637"/>
          </a:xfrm>
        </p:spPr>
        <p:txBody>
          <a:bodyPr/>
          <a:lstStyle/>
          <a:p>
            <a:pPr algn="l"/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5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q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687785" y="508000"/>
            <a:ext cx="3347357" cy="82639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687785" y="1354711"/>
            <a:ext cx="3347357" cy="728089"/>
          </a:xfrm>
        </p:spPr>
        <p:txBody>
          <a:bodyPr anchor="t">
            <a:noAutofit/>
          </a:bodyPr>
          <a:lstStyle>
            <a:lvl1pPr marL="0" indent="0" algn="ctr">
              <a:buNone/>
              <a:defRPr sz="2200" b="1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546725" cy="5143500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87785" y="2164080"/>
            <a:ext cx="3347357" cy="833120"/>
          </a:xfrm>
        </p:spPr>
        <p:txBody>
          <a:bodyPr anchor="t">
            <a:no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339" y="3918225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5687785" y="4802823"/>
            <a:ext cx="3347357" cy="274637"/>
          </a:xfrm>
        </p:spPr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341750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9198" y="3773210"/>
            <a:ext cx="8530529" cy="430183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200" b="1">
                <a:latin typeface="+mj-lt"/>
              </a:defRPr>
            </a:lvl2pPr>
            <a:lvl3pPr marL="914400" indent="0">
              <a:buNone/>
              <a:defRPr sz="2200" b="1">
                <a:latin typeface="+mj-lt"/>
              </a:defRPr>
            </a:lvl3pPr>
            <a:lvl4pPr marL="1371600" indent="0">
              <a:buNone/>
              <a:defRPr sz="2200" b="1">
                <a:latin typeface="+mj-lt"/>
              </a:defRPr>
            </a:lvl4pPr>
            <a:lvl5pPr marL="1828800" indent="0">
              <a:buNone/>
              <a:defRPr sz="2200" b="1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479716"/>
            <a:ext cx="5605047" cy="355600"/>
          </a:xfrm>
        </p:spPr>
        <p:txBody>
          <a:bodyPr anchor="b">
            <a:noAutofit/>
          </a:bodyPr>
          <a:lstStyle>
            <a:lvl1pPr marL="0" indent="0">
              <a:buNone/>
              <a:defRPr sz="1000" baseline="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7" y="3488175"/>
            <a:ext cx="8530530" cy="28503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accent1"/>
                </a:solidFill>
              </a:defRPr>
            </a:lvl2pPr>
            <a:lvl3pPr marL="914400" indent="0">
              <a:buNone/>
              <a:defRPr sz="1400">
                <a:solidFill>
                  <a:schemeClr val="accent1"/>
                </a:solidFill>
              </a:defRPr>
            </a:lvl3pPr>
            <a:lvl4pPr marL="1371600" indent="0">
              <a:buNone/>
              <a:defRPr sz="1400">
                <a:solidFill>
                  <a:schemeClr val="accent1"/>
                </a:solidFill>
              </a:defRPr>
            </a:lvl4pPr>
            <a:lvl5pPr marL="18288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9" name="Picture 8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44" y="4219782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69199" y="4802823"/>
            <a:ext cx="5605046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3328F2C-0315-EC4A-8074-9EC3AECC07D1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92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6717D38-AE04-E246-BA57-581A145D7218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E3F7933-7835-4046-95A3-A9D717B7291C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BD19863-4C58-8A46-925B-89DB240B2A8C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6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B3AF2F-8EDB-F540-A9BC-5A0165E3497D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395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1598613"/>
            <a:ext cx="421640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1598612"/>
            <a:ext cx="4216400" cy="27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D6AB9348-0ED7-C743-88D1-D4FC67EE6717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7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4216400" cy="238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2137092"/>
            <a:ext cx="4216400" cy="23841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4000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5164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DE2F82F6-B8E5-3F4A-A5E2-DDEE147AF305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70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254000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Content Placeholder 11"/>
          <p:cNvSpPr>
            <a:spLocks noGrp="1"/>
          </p:cNvSpPr>
          <p:nvPr>
            <p:ph sz="quarter" idx="20"/>
          </p:nvPr>
        </p:nvSpPr>
        <p:spPr>
          <a:xfrm>
            <a:off x="3638844" y="1497329"/>
            <a:ext cx="5129236" cy="30238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541523D-9381-CE43-8A5C-91904939C2D8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54000" y="1497330"/>
            <a:ext cx="5129236" cy="30238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5556567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556567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1FBBCE3F-009A-E74E-9B28-8E39A4466B12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1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lac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A448C6D-A0C0-EB43-B442-B6CD66681EBE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55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igh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7193DCA-0992-5743-9BBB-27A1CB52AE36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32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BF291-0D53-1D45-BD27-8923DCAEB356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9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/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49B0DDF-7228-3645-A37A-5289042C5D06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17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ray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B74048D-E0D8-5749-8839-A2A1289E167A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90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3A3D-9F0B-1F4F-B6BA-B0292FA61CAC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724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2538518" y="2571750"/>
            <a:ext cx="4057288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1" y="2790066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1381408"/>
            <a:ext cx="4057288" cy="112702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382B-B3B7-1241-BC00-FEA8BAEDC44B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053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356" y="2008238"/>
            <a:ext cx="4057288" cy="112702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95D27-420A-1447-B179-2752E36B920C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967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F04B-2D57-0C44-A237-ED57A75DD0BC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73658"/>
      </p:ext>
    </p:extLst>
  </p:cSld>
  <p:clrMapOvr>
    <a:masterClrMapping/>
  </p:clrMapOvr>
  <p:transition spd="slow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925513" y="1956377"/>
            <a:ext cx="7483464" cy="294801"/>
          </a:xfr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915352" y="2251179"/>
            <a:ext cx="7493625" cy="419202"/>
          </a:xfrm>
        </p:spPr>
        <p:txBody>
          <a:bodyPr>
            <a:noAutofit/>
          </a:bodyPr>
          <a:lstStyle>
            <a:lvl1pPr marL="0" indent="0">
              <a:buNone/>
              <a:defRPr sz="2400" b="1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925512" y="2668678"/>
            <a:ext cx="7483465" cy="826362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915352" y="4246880"/>
            <a:ext cx="7493625" cy="497840"/>
          </a:xfrm>
        </p:spPr>
        <p:txBody>
          <a:bodyPr anchor="b">
            <a:noAutofit/>
          </a:bodyPr>
          <a:lstStyle>
            <a:lvl1pPr marL="0" indent="0">
              <a:buNone/>
              <a:defRPr sz="1000" b="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39" y="1184382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>
          <a:xfrm>
            <a:off x="915351" y="4802823"/>
            <a:ext cx="7493625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955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q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687785" y="508000"/>
            <a:ext cx="3347357" cy="82639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687785" y="1354711"/>
            <a:ext cx="3347357" cy="728089"/>
          </a:xfrm>
        </p:spPr>
        <p:txBody>
          <a:bodyPr anchor="t">
            <a:noAutofit/>
          </a:bodyPr>
          <a:lstStyle>
            <a:lvl1pPr marL="0" indent="0" algn="ctr">
              <a:buNone/>
              <a:defRPr sz="2200" b="1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546725" cy="51435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87785" y="2164080"/>
            <a:ext cx="3347357" cy="833120"/>
          </a:xfrm>
        </p:spPr>
        <p:txBody>
          <a:bodyPr anchor="t">
            <a:noAutofit/>
          </a:bodyPr>
          <a:lstStyle>
            <a:lvl1pPr marL="0" indent="0" algn="ctr">
              <a:buNone/>
              <a:defRPr sz="1000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534" y="3921596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5687784" y="4802823"/>
            <a:ext cx="3347357" cy="274637"/>
          </a:xfrm>
        </p:spPr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03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341750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9198" y="3773210"/>
            <a:ext cx="7139042" cy="430183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200" b="1">
                <a:latin typeface="+mj-lt"/>
              </a:defRPr>
            </a:lvl2pPr>
            <a:lvl3pPr marL="914400" indent="0">
              <a:buNone/>
              <a:defRPr sz="2200" b="1">
                <a:latin typeface="+mj-lt"/>
              </a:defRPr>
            </a:lvl3pPr>
            <a:lvl4pPr marL="1371600" indent="0">
              <a:buNone/>
              <a:defRPr sz="2200" b="1">
                <a:latin typeface="+mj-lt"/>
              </a:defRPr>
            </a:lvl4pPr>
            <a:lvl5pPr marL="1828800" indent="0">
              <a:buNone/>
              <a:defRPr sz="2200" b="1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479716"/>
            <a:ext cx="5605049" cy="355600"/>
          </a:xfrm>
        </p:spPr>
        <p:txBody>
          <a:bodyPr anchor="b">
            <a:noAutofit/>
          </a:bodyPr>
          <a:lstStyle>
            <a:lvl1pPr marL="0" indent="0">
              <a:buNone/>
              <a:defRPr sz="1000" baseline="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6" y="3488175"/>
            <a:ext cx="7139043" cy="28503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accent1"/>
                </a:solidFill>
              </a:defRPr>
            </a:lvl2pPr>
            <a:lvl3pPr marL="914400" indent="0">
              <a:buNone/>
              <a:defRPr sz="1400">
                <a:solidFill>
                  <a:schemeClr val="accent1"/>
                </a:solidFill>
              </a:defRPr>
            </a:lvl3pPr>
            <a:lvl4pPr marL="1371600" indent="0">
              <a:buNone/>
              <a:defRPr sz="1400">
                <a:solidFill>
                  <a:schemeClr val="accent1"/>
                </a:solidFill>
              </a:defRPr>
            </a:lvl4pPr>
            <a:lvl5pPr marL="18288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9" name="Picture 8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46" y="4219781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69198" y="4802823"/>
            <a:ext cx="5605049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921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B0E4B8B-39D9-6B49-936B-76FA307FFDE6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C68ADBD-3616-4318-B5FF-7C1BB362CA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3915323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6171804-DE80-2B46-A49B-B87AA8E41177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75C533D-D968-4A70-91E2-44C7FEDAA0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4167874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A10D7754-617E-1341-A396-5C3CA99C0A9C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DDD08E-B43C-483A-B1DD-9BEB0BDDDD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43165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9AEDB43-9FAA-244F-8E22-2B84B0A989C8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20F9084-C4B8-47CC-A340-731237DBD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35957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40D7941-E27F-6C49-B371-7B9504E1E816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53CE28F-B0E6-4C63-A7B8-EB4157A0706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2995813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1598613"/>
            <a:ext cx="421640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1598612"/>
            <a:ext cx="4216400" cy="27193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D0EAFD1-4307-5D46-8CA8-238E6CF875D4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D81F743-FBF4-4AAB-BF1E-09D0097B96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7601994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4216400" cy="23841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2137092"/>
            <a:ext cx="4216400" cy="23841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4000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5164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72E41C7-7A06-ED4A-B33B-D1A303BF0444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6356448-7EEE-4D0D-AE32-557A239281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688214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254000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Content Placeholder 11"/>
          <p:cNvSpPr>
            <a:spLocks noGrp="1"/>
          </p:cNvSpPr>
          <p:nvPr>
            <p:ph sz="quarter" idx="20"/>
          </p:nvPr>
        </p:nvSpPr>
        <p:spPr>
          <a:xfrm>
            <a:off x="3638844" y="1497329"/>
            <a:ext cx="5129236" cy="30238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8F171DE4-42D8-264C-8E46-6E06BC4001C8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A79206F-C929-453C-B7BF-19A540401E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5931241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54000" y="1497330"/>
            <a:ext cx="5129236" cy="30238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5556567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556567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27FA12A-2A7A-B947-AF54-9D36CE60E7F3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C3E947D-4126-44FB-8EC6-F80A3BAA18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326211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White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3A42064-2900-0D41-BCA2-5E2C50D33DA6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5B3F8F-DC85-41EB-9D22-D06541A0AC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1903406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Dar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8890B71-4B54-9249-B9C0-2312AD7A11B3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F015878-4578-4C49-BC72-FE830FC5A6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1208053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B02C-48B8-4847-94AC-247B80DFDA21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06A69-C78D-46AD-9B4E-1E66EF195C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19212782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/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CCB202-18BA-EB47-AC3D-34FC8CF7EA4E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5828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Dark Gray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A14E6F-AF10-1548-AEF9-E02E5B67E886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7511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31A02-6EDB-7F45-BB44-C2E4BF4201A1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4141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538518" y="2571750"/>
            <a:ext cx="4057288" cy="0"/>
          </a:xfrm>
          <a:prstGeom prst="line">
            <a:avLst/>
          </a:prstGeom>
          <a:ln w="63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2790066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1381408"/>
            <a:ext cx="4057288" cy="1127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7DCBF-D01F-7047-84A9-8AB8E8EE7983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313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2008238"/>
            <a:ext cx="4057288" cy="1127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5FAE-5545-7742-BB51-A889DCE90355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3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000" y="327899"/>
            <a:ext cx="8514080" cy="43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" y="1200150"/>
            <a:ext cx="8432800" cy="3394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3999" y="4802823"/>
            <a:ext cx="1422401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B0563265-0FE1-0247-81AB-64EF08FBCDE4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1" y="4802823"/>
            <a:ext cx="5791199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67600" y="4802823"/>
            <a:ext cx="586130" cy="2720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911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1" r:id="rId5"/>
    <p:sldLayoutId id="2147483662" r:id="rId6"/>
    <p:sldLayoutId id="2147483664" r:id="rId7"/>
    <p:sldLayoutId id="2147483663" r:id="rId8"/>
    <p:sldLayoutId id="2147483669" r:id="rId9"/>
    <p:sldLayoutId id="2147483670" r:id="rId10"/>
    <p:sldLayoutId id="2147483671" r:id="rId11"/>
    <p:sldLayoutId id="2147483672" r:id="rId12"/>
    <p:sldLayoutId id="2147483653" r:id="rId13"/>
    <p:sldLayoutId id="2147483654" r:id="rId14"/>
    <p:sldLayoutId id="2147483656" r:id="rId15"/>
    <p:sldLayoutId id="2147483657" r:id="rId16"/>
    <p:sldLayoutId id="2147483658" r:id="rId17"/>
    <p:sldLayoutId id="2147483659" r:id="rId18"/>
    <p:sldLayoutId id="2147483660" r:id="rId19"/>
    <p:sldLayoutId id="2147483693" r:id="rId20"/>
    <p:sldLayoutId id="2147483695" r:id="rId2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1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905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77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621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000" y="327899"/>
            <a:ext cx="8514080" cy="43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" y="1200150"/>
            <a:ext cx="8432800" cy="3394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4000" y="4802823"/>
            <a:ext cx="1422400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56204A8-64E2-CB45-B816-213C9BDA9CCD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4802823"/>
            <a:ext cx="5775960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52360" y="4802823"/>
            <a:ext cx="601370" cy="2720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7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4" r:id="rId2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tabLst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905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77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16049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621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PolSARproSim</a:t>
            </a:r>
            <a:r>
              <a:rPr lang="en-US" dirty="0"/>
              <a:t>+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PolSARproSim</a:t>
            </a:r>
            <a:r>
              <a:rPr lang="en-US" dirty="0"/>
              <a:t>+ Tree Models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Richard A. Herrera, Razi Ahmed</a:t>
            </a:r>
          </a:p>
          <a:p>
            <a:r>
              <a:rPr lang="en-US" dirty="0"/>
              <a:t>Jet Propulsion Laboratory, </a:t>
            </a:r>
            <a:r>
              <a:rPr lang="en-US"/>
              <a:t>California Institute of Technology</a:t>
            </a:r>
            <a:endParaRPr lang="en-US" dirty="0"/>
          </a:p>
        </p:txBody>
      </p:sp>
      <p:pic>
        <p:nvPicPr>
          <p:cNvPr id="7" name="Picture Placeholder 21" descr="Photo-2015-03-12-085758 - D2015_0302_D370_CMSalt2.jpg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1" t="27414" r="11723"/>
          <a:stretch/>
        </p:blipFill>
        <p:spPr>
          <a:xfrm>
            <a:off x="0" y="0"/>
            <a:ext cx="5546725" cy="51435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2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Deciduous Tree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06468" y="1068732"/>
            <a:ext cx="2692887" cy="387479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2148C-2A0A-F0D3-27C0-FD33A87E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FD6A-E8D8-1540-9E87-5655459DF076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4A356-A4B7-8B8B-1D13-8D5D276F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F72BD-9EB2-872A-B8E1-8BA1B8FA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4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15632"/>
            <a:ext cx="6858000" cy="1063229"/>
          </a:xfrm>
        </p:spPr>
        <p:txBody>
          <a:bodyPr/>
          <a:lstStyle/>
          <a:p>
            <a:r>
              <a:rPr lang="en-US" dirty="0"/>
              <a:t>Default Deciduous Parameters</a:t>
            </a:r>
          </a:p>
        </p:txBody>
      </p:sp>
      <p:pic>
        <p:nvPicPr>
          <p:cNvPr id="3" name="Picture 2" descr="Screen shot 2014-07-17 at 11.09.07 A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413" y="647246"/>
            <a:ext cx="5450459" cy="43839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D7EBF-F87C-AC5A-3B9A-47AAC8923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BB26-9FC3-6045-B924-418A8DA6C1CB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90BA9-C887-A529-EDF1-9CB0DFC44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975AD-0CC8-3670-0D08-F5DCF34E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7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Coniferous  Tree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6288" y="1003236"/>
            <a:ext cx="2153732" cy="37976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34D48-BB2F-4D4E-A1C3-0E6FE34D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E55B-83C2-8743-B179-186701B6D1EE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445D6-E6B8-F338-3210-26B84258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74EA3-81C5-5E09-6965-E45A636D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7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9601"/>
            <a:ext cx="6858000" cy="1063229"/>
          </a:xfrm>
        </p:spPr>
        <p:txBody>
          <a:bodyPr/>
          <a:lstStyle/>
          <a:p>
            <a:r>
              <a:rPr lang="en-US" dirty="0"/>
              <a:t>Default Coniferous Parameters</a:t>
            </a:r>
          </a:p>
        </p:txBody>
      </p:sp>
      <p:pic>
        <p:nvPicPr>
          <p:cNvPr id="3" name="Picture 2" descr="Screen shot 2014-07-17 at 11.12.37 AM.png"/>
          <p:cNvPicPr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9520" y="630115"/>
            <a:ext cx="5503377" cy="43433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28833-61B0-8580-E6D4-7881F753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5777-D371-ED41-A002-CE671E0F487A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79B26-98A7-859A-6676-B44768B0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65DE5-38ED-7F3E-1499-7F8536E0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1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Acer </a:t>
            </a:r>
            <a:r>
              <a:rPr lang="en-US" dirty="0" err="1"/>
              <a:t>rubrum</a:t>
            </a:r>
            <a:br>
              <a:rPr lang="en-US" dirty="0"/>
            </a:br>
            <a:r>
              <a:rPr lang="en-US" sz="3000" i="1" dirty="0"/>
              <a:t>Red Maple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899" y="1548511"/>
            <a:ext cx="2930852" cy="3429000"/>
          </a:xfrm>
          <a:prstGeom prst="rect">
            <a:avLst/>
          </a:prstGeom>
        </p:spPr>
      </p:pic>
      <p:pic>
        <p:nvPicPr>
          <p:cNvPr id="6" name="Picture 5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8802" y="1548511"/>
            <a:ext cx="3188939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4EA70C-43E1-DAF4-2B6A-066129482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FAD-AA20-0742-A7AD-8C3449C6FB7C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369AF-12ED-60C6-539B-1F116F8C0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D3D4E-0A8D-2389-DCFB-EA7B6DF0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9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85840" y="2165621"/>
            <a:ext cx="6172200" cy="17549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4D5ECF-F7FD-1237-2E6A-C7AA0DD57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C014-6535-E84C-987A-695B28BDF7FA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6B53-EB02-E1D9-64CD-A8A7B05A1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05406-B66D-E753-3442-7B96D7FF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3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2.53.31 PM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990" y="1510240"/>
            <a:ext cx="7874620" cy="302458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1BCB9-0596-86E0-BC61-4F0F58FDD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6365-707A-0C41-BC42-AD6BCAB96E67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D204D-8183-B233-0E0C-AD4FFD6BD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FED9C-7435-F949-5037-BD9ED9BB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Acer </a:t>
            </a:r>
            <a:r>
              <a:rPr lang="en-US" dirty="0" err="1"/>
              <a:t>saccarum</a:t>
            </a:r>
            <a:br>
              <a:rPr lang="en-US" dirty="0"/>
            </a:br>
            <a:r>
              <a:rPr lang="en-US" sz="3000" i="1" dirty="0"/>
              <a:t>Sugar Maple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2517" y="1545873"/>
            <a:ext cx="2571750" cy="3429000"/>
          </a:xfrm>
          <a:prstGeom prst="rect">
            <a:avLst/>
          </a:prstGeom>
        </p:spPr>
      </p:pic>
      <p:pic>
        <p:nvPicPr>
          <p:cNvPr id="8" name="Picture 7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72649" y="1545873"/>
            <a:ext cx="2945310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2D70E-401A-11FB-C36B-56F83926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26F3-A3F8-984E-9A1C-C1F45F2B6613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9779E-C9D0-BFC5-F940-98816594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1FB5B-721B-5DBD-62F4-F89EAD11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2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85515" y="2160231"/>
            <a:ext cx="6172200" cy="172670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6860F-FA77-591C-F1BB-F6433B28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CC43-D210-DC4C-BBAE-465BEB97AB29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03804-8757-1ED6-CF7A-692979FE4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F7952-91CA-FD87-0A23-0934100BD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2.54.4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098" y="1525716"/>
            <a:ext cx="7872342" cy="267457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88CCB-4C0F-1DCD-050D-0ABD847D3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9D1D-BE3A-E046-AD44-29FD584E254F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C13FC-A5B0-5F4B-3867-2BE680AE7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BD23B-6BBD-F9E9-A6CB-04062CAB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6881" y="176832"/>
            <a:ext cx="5709047" cy="1063229"/>
          </a:xfrm>
        </p:spPr>
        <p:txBody>
          <a:bodyPr/>
          <a:lstStyle/>
          <a:p>
            <a:r>
              <a:rPr lang="en-US" dirty="0" err="1"/>
              <a:t>Betula</a:t>
            </a:r>
            <a:r>
              <a:rPr lang="en-US" dirty="0"/>
              <a:t> </a:t>
            </a:r>
            <a:r>
              <a:rPr lang="en-US" dirty="0" err="1"/>
              <a:t>alleghensis</a:t>
            </a:r>
            <a:br>
              <a:rPr lang="en-US" dirty="0"/>
            </a:br>
            <a:r>
              <a:rPr lang="en-US" sz="3000" i="1" dirty="0"/>
              <a:t>Yellow Birch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54" y="1548179"/>
            <a:ext cx="3068376" cy="3429000"/>
          </a:xfrm>
          <a:prstGeom prst="rect">
            <a:avLst/>
          </a:prstGeom>
        </p:spPr>
      </p:pic>
      <p:pic>
        <p:nvPicPr>
          <p:cNvPr id="14" name="Picture 13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2327" y="1548179"/>
            <a:ext cx="2758112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2CB249-7924-9046-3BCE-7A598F95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A36-ED26-1C4B-BDD6-4D1449DE42C0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FD3B3-C099-4D7E-D294-1A690C281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8AB4F-1FB5-8C56-5FDC-7EC11517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1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090" t="31232" r="12714" b="26480"/>
          <a:stretch/>
        </p:blipFill>
        <p:spPr>
          <a:xfrm>
            <a:off x="1487366" y="2161442"/>
            <a:ext cx="6172200" cy="208869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1703AA-A18C-3294-2B6E-C247288C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2843-CF45-3C47-80BF-2F33D2BD5D4C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3FD9B-5983-50F2-EDEE-7056CB50E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4B229-0CB0-3766-CD47-5A7BF5AC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2.55.4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414" y="1326058"/>
            <a:ext cx="8423468" cy="30600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357E1-A13A-15FF-FD26-02F282ED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70013-65DF-AB4D-8A8D-4DCCE16E983A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E4F4-9D8D-AB04-1FCC-DA449E878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B6EF4-06D9-1363-E306-DABC9471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3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Bertholletia</a:t>
            </a:r>
            <a:r>
              <a:rPr lang="en-US" dirty="0"/>
              <a:t> </a:t>
            </a:r>
            <a:r>
              <a:rPr lang="en-US" dirty="0" err="1"/>
              <a:t>excelsa</a:t>
            </a:r>
            <a:r>
              <a:rPr lang="en-US" dirty="0"/>
              <a:t> </a:t>
            </a:r>
            <a:br>
              <a:rPr lang="en-US" dirty="0"/>
            </a:br>
            <a:r>
              <a:rPr lang="en-US" sz="3000" i="1" dirty="0"/>
              <a:t>Brazil Nut</a:t>
            </a:r>
            <a:endParaRPr lang="en-US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74579" y="1545979"/>
            <a:ext cx="2040038" cy="3429000"/>
          </a:xfrm>
          <a:prstGeom prst="rect">
            <a:avLst/>
          </a:prstGeom>
        </p:spPr>
      </p:pic>
      <p:pic>
        <p:nvPicPr>
          <p:cNvPr id="11" name="Picture 10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44616" y="1545979"/>
            <a:ext cx="2163754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B9B2E2-1B83-B124-C872-86FCA5824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0E26-F6B7-174A-B08C-6491C5041F77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9901D-2204-5144-0FFD-34B83B09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251DC-81F1-E491-72F3-BD7E3339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4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39" y="1098360"/>
            <a:ext cx="7994392" cy="358042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06FD1E-FE0E-4327-EE12-DCE8566BA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40B4-9837-B949-9C3A-3151A13ABB9C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FFC76-F0D9-10FF-02F1-ED2E8ADD6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8AA8C-6943-6F5E-B1FE-55D6FFF03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6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2.56.3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754" y="1620463"/>
            <a:ext cx="8477834" cy="22750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3496B-915A-8C87-534A-B26D6CE70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124A-9697-B343-9419-A340C5AA79E8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C133C-20C2-08AF-408C-99C09D35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9BDDC-8B82-82B4-2EE3-157CCB0F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1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Betula</a:t>
            </a:r>
            <a:r>
              <a:rPr lang="en-US" dirty="0"/>
              <a:t> </a:t>
            </a:r>
            <a:r>
              <a:rPr lang="en-US" dirty="0" err="1"/>
              <a:t>papyrifera</a:t>
            </a:r>
            <a:br>
              <a:rPr lang="en-US" dirty="0"/>
            </a:br>
            <a:r>
              <a:rPr lang="en-US" sz="3000" i="1" dirty="0"/>
              <a:t>Paper Birch</a:t>
            </a:r>
            <a:endParaRPr lang="en-US" i="1" dirty="0"/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55689" y="1545981"/>
            <a:ext cx="2726773" cy="3429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0045" y="1545981"/>
            <a:ext cx="3167731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6A5157-49B2-8FDB-B109-FF50C9DA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C2F-E206-7B48-887A-D5DAC946DE47}" type="datetime1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C1617-B3E8-6A5A-CC9B-15C9A0F3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D346C-BD17-0C00-8949-16932DAE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645" y="1652236"/>
            <a:ext cx="8295435" cy="25212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349D6-AACC-BA41-4117-559470C3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5EEF-260C-1A44-920C-21A7CFDF0634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1C31-A509-03DF-45B7-9253A947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F1E3-7AAD-BCC4-D08A-24CB67E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1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2.59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11" y="1400739"/>
            <a:ext cx="8328381" cy="284415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D8BC-4861-1D74-8AFD-D273A9E6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5B3B-7A9E-FA4D-B58A-E54E11909829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3C4D2-C016-0734-8078-69F88C33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E40CC-ABD5-A48B-388B-FD58B3D5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6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Ceiba</a:t>
            </a:r>
            <a:r>
              <a:rPr lang="en-US" dirty="0"/>
              <a:t> </a:t>
            </a:r>
            <a:r>
              <a:rPr lang="en-US" dirty="0" err="1"/>
              <a:t>pentandra</a:t>
            </a:r>
            <a:r>
              <a:rPr lang="en-US" dirty="0"/>
              <a:t> </a:t>
            </a:r>
            <a:br>
              <a:rPr lang="en-US" dirty="0"/>
            </a:br>
            <a:r>
              <a:rPr lang="en-US" sz="3000" i="1" dirty="0"/>
              <a:t>Kapok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1116" y="1545593"/>
            <a:ext cx="2916861" cy="3429000"/>
          </a:xfrm>
          <a:prstGeom prst="rect">
            <a:avLst/>
          </a:prstGeom>
        </p:spPr>
      </p:pic>
      <p:pic>
        <p:nvPicPr>
          <p:cNvPr id="9" name="Picture 8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7463" y="1545593"/>
            <a:ext cx="3329900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99B37-8EEC-9905-A7FE-FD4BF6ED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78F8-48C2-F141-848F-01AEBC5220B7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015AD-DCE6-08BA-A6DC-70BDC5BF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4F6F-4B7C-AF49-E141-4E7B00085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0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5" name="Picture 4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165" y="1498730"/>
            <a:ext cx="8219669" cy="259748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4A2D5-0886-0784-7DEF-EA5B4C42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3BEC7-7BD8-F04C-BF0D-355645C31484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0CA67-EB5B-8FC9-4177-549B5CF1F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2AAA7-3231-3646-C4B8-F73A27279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9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6" name="Picture 5" descr="Screen shot 2014-07-17 at 1.00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000" y="1682123"/>
            <a:ext cx="8618570" cy="239178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41A06-78AC-B433-15A5-EFF93FE0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C1ECC-3801-0A43-A743-AAB1971989EC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94FCE8-33F0-D2A1-6E3B-7C63A880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ACFF8-27A1-529F-35D2-C3E1EE6FA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9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Eucalyptus platypus</a:t>
            </a:r>
            <a:br>
              <a:rPr lang="en-US" dirty="0"/>
            </a:br>
            <a:r>
              <a:rPr lang="en-US" sz="3000" i="1" dirty="0"/>
              <a:t>Eucalyptus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35998" y="1546774"/>
            <a:ext cx="1751897" cy="3429000"/>
          </a:xfrm>
          <a:prstGeom prst="rect">
            <a:avLst/>
          </a:prstGeom>
        </p:spPr>
      </p:pic>
      <p:pic>
        <p:nvPicPr>
          <p:cNvPr id="6" name="Picture 5" descr="photo-4.JPG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849108" y="2481654"/>
            <a:ext cx="3429000" cy="155924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06C98-5BE9-EB8C-BE7C-5A33981F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1A50-C1CE-9642-BDFD-FF5FAC7BE5E2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81CD9-B977-43DF-2766-F0E79F61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1EBCC-0838-85DD-0A61-9F8ADD34D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9961" y="1403230"/>
            <a:ext cx="8204078" cy="296804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2D75C-DC28-7217-BC9B-18DC5FE9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407F-52F3-3648-BA43-5719D503FDF1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73799-D74B-8406-8D42-C3F3E927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F7669-A6B2-21B0-F28E-754C4079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8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6" name="Picture 5" descr="Screen shot 2014-07-17 at 1.08.0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1956288"/>
            <a:ext cx="6858000" cy="318721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39E059-02DB-A486-B376-DC2AE0EC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CCDE-8A98-184E-ABC7-29271E82AC50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5D21B-D9BF-E0C9-C609-1D5DE2C5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8738D-9CDA-C440-36F4-24AAA6F11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3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Fagus</a:t>
            </a:r>
            <a:r>
              <a:rPr lang="en-US" dirty="0"/>
              <a:t> </a:t>
            </a:r>
            <a:r>
              <a:rPr lang="en-US" dirty="0" err="1"/>
              <a:t>grandifolia</a:t>
            </a:r>
            <a:br>
              <a:rPr lang="en-US" dirty="0"/>
            </a:br>
            <a:r>
              <a:rPr lang="en-US" sz="3000" i="1" dirty="0"/>
              <a:t>American Beech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9231" y="1545980"/>
            <a:ext cx="2966817" cy="3429000"/>
          </a:xfrm>
          <a:prstGeom prst="rect">
            <a:avLst/>
          </a:prstGeom>
        </p:spPr>
      </p:pic>
      <p:pic>
        <p:nvPicPr>
          <p:cNvPr id="7" name="Picture 6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7269" y="1545980"/>
            <a:ext cx="2971801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195DF-3514-6A4E-BF45-802FAC3F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3FFD5-D6B0-544B-A022-13953438FE06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F2A1B-C066-F66D-AFEA-ACEF31D7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79244-7853-6B53-395D-27E6DC63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1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923" t="36279" r="10897" b="26232"/>
          <a:stretch/>
        </p:blipFill>
        <p:spPr>
          <a:xfrm>
            <a:off x="354843" y="1589013"/>
            <a:ext cx="8434314" cy="221727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31DAA3-A010-67E1-2A42-9A8FB46C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BCF1-B793-0946-A19E-24849B8A20DB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3CB1F-D229-1EAD-859C-A88532812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3A7B9-B1A1-4E0C-0CD0-AF4119FB2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4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.09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1958440"/>
            <a:ext cx="6858000" cy="23256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15F3B-1E20-7B4F-7A69-11D90BC48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32E06-D460-854E-B8F6-24FE4CA5916B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3EDD4-368F-5B11-933C-E9BE6903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058F6-1C5A-F1BC-61D8-777FFBF49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Ostrya</a:t>
            </a:r>
            <a:r>
              <a:rPr lang="en-US" dirty="0"/>
              <a:t> </a:t>
            </a:r>
            <a:r>
              <a:rPr lang="en-US" dirty="0" err="1"/>
              <a:t>virginiana</a:t>
            </a:r>
            <a:br>
              <a:rPr lang="en-US" dirty="0"/>
            </a:br>
            <a:r>
              <a:rPr lang="en-US" sz="3000" i="1" dirty="0" err="1"/>
              <a:t>Hophornbeam</a:t>
            </a:r>
            <a:endParaRPr lang="en-US" sz="3000" i="1" dirty="0"/>
          </a:p>
        </p:txBody>
      </p:sp>
      <p:pic>
        <p:nvPicPr>
          <p:cNvPr id="5" name="Picture 4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66191" y="1545981"/>
            <a:ext cx="2481291" cy="3429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7251" y="1545981"/>
            <a:ext cx="2291456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4473B5-37CA-33C3-6590-ACA1DD16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6A548-9EC4-8A4A-9535-F6DB360E97D4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7CAAE-4D7A-9E13-38F9-DE45FBC2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43528-3064-D17D-A420-C190DCE1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7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119" t="34693" r="15491" b="24788"/>
          <a:stretch/>
        </p:blipFill>
        <p:spPr>
          <a:xfrm>
            <a:off x="520927" y="1328818"/>
            <a:ext cx="8408242" cy="314653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5AF6E-5525-8275-DB9E-0EF2DDE96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BE8E2-5B6D-C640-A8D4-14EDE0CAC3DA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5B65B-F225-1B06-6FA4-F8D973A0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721E6-B033-D6C7-B488-26B212C0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8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.10.3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1954907"/>
            <a:ext cx="6858000" cy="21188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E55CC-F950-CD8E-33AB-1B13AED0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B3FC-62F0-DC44-A569-75DA658D1179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ABFC6-515B-765E-F871-F6BBC5CE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30F62-AC77-551A-8DA5-1A1B8DD9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Pinus</a:t>
            </a:r>
            <a:r>
              <a:rPr lang="en-US" dirty="0"/>
              <a:t> </a:t>
            </a:r>
            <a:r>
              <a:rPr lang="en-US" dirty="0" err="1"/>
              <a:t>resinosa</a:t>
            </a:r>
            <a:r>
              <a:rPr lang="en-US" dirty="0"/>
              <a:t> </a:t>
            </a:r>
            <a:br>
              <a:rPr lang="en-US" dirty="0"/>
            </a:br>
            <a:r>
              <a:rPr lang="en-US" sz="3000" i="1" dirty="0"/>
              <a:t>Red Pine</a:t>
            </a:r>
          </a:p>
        </p:txBody>
      </p:sp>
      <p:pic>
        <p:nvPicPr>
          <p:cNvPr id="5" name="Picture 4" descr="photo-1.JPG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819790" y="2542196"/>
            <a:ext cx="3429000" cy="1432294"/>
          </a:xfrm>
          <a:prstGeom prst="rect">
            <a:avLst/>
          </a:prstGeom>
        </p:spPr>
      </p:pic>
      <p:pic>
        <p:nvPicPr>
          <p:cNvPr id="6" name="Picture 5" descr="forest_image.bmp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3220" y="1543842"/>
            <a:ext cx="1666550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5B93F-E9AD-1F0C-A353-56644411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84C-0A01-B549-B386-CDFCB2CD5F5F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A0FE2-2638-4E30-B2DE-D3BA4631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1ED10-3350-6713-0E33-EE327B15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2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640" y="1305509"/>
            <a:ext cx="8360845" cy="322188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B015F-0E72-E352-EACB-363A818DA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90A33-D47F-7549-82ED-D51A5A15FB0A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EEC41-6697-6524-D197-21DA2656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8F54D-7B48-E181-9D6C-BC2617EF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3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.11.1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1958156"/>
            <a:ext cx="6858000" cy="240869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6CAFB-4F76-BFDB-6537-CD0F9CDC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690-A449-5C45-9DA0-1F754CE97689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8A549-7285-3A02-BA29-70B486BB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C5289-D3CC-3BD5-1028-9D44E301D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Picea</a:t>
            </a:r>
            <a:r>
              <a:rPr lang="en-US" dirty="0"/>
              <a:t> </a:t>
            </a:r>
            <a:r>
              <a:rPr lang="en-US" dirty="0" err="1"/>
              <a:t>rubens</a:t>
            </a:r>
            <a:r>
              <a:rPr lang="en-US" dirty="0"/>
              <a:t> </a:t>
            </a:r>
            <a:br>
              <a:rPr lang="en-US" dirty="0"/>
            </a:br>
            <a:r>
              <a:rPr lang="en-US" sz="3000" i="1" dirty="0"/>
              <a:t>Red Spruce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91809" y="1545980"/>
            <a:ext cx="1934308" cy="3429000"/>
          </a:xfrm>
          <a:prstGeom prst="rect">
            <a:avLst/>
          </a:prstGeom>
        </p:spPr>
      </p:pic>
      <p:pic>
        <p:nvPicPr>
          <p:cNvPr id="8" name="Picture 7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3732" y="1545980"/>
            <a:ext cx="2021723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A4054-EA1A-8233-312A-2940F8CEC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62896-9C27-B34A-B320-66D2FDB20722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EBDD1-CEAE-68D5-4B80-6027C719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D44F3-E744-8245-334F-C13614E6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8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568211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  <p:pic>
        <p:nvPicPr>
          <p:cNvPr id="5" name="Picture 4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2244" y="1183497"/>
            <a:ext cx="8404656" cy="324725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27E17-BE07-80B8-AFB0-7C2C7C2CA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08882-26D9-5742-8F47-597819A897C7}" type="datetime1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30E89-25C2-2019-4F46-D022CE9D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EBCA3-8559-C6B1-9911-9D59FDAF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0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.12.1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522" y="1312209"/>
            <a:ext cx="8780536" cy="30888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A0002-A871-8DD2-EA20-966D38143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E7514-9E39-664A-95C4-020BA7A16903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FCF15-C0E7-C7D0-E9B8-9FA48DC64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5ABB4-537B-CC12-6885-4F873A2DD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4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Pinus</a:t>
            </a:r>
            <a:r>
              <a:rPr lang="en-US" dirty="0"/>
              <a:t> </a:t>
            </a:r>
            <a:r>
              <a:rPr lang="en-US" dirty="0" err="1"/>
              <a:t>strobus</a:t>
            </a:r>
            <a:r>
              <a:rPr lang="en-US" dirty="0"/>
              <a:t> </a:t>
            </a:r>
            <a:br>
              <a:rPr lang="en-US" dirty="0"/>
            </a:br>
            <a:r>
              <a:rPr lang="en-US" sz="3000" i="1" dirty="0"/>
              <a:t>White Pine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919" y="1548179"/>
            <a:ext cx="2325144" cy="3429000"/>
          </a:xfrm>
          <a:prstGeom prst="rect">
            <a:avLst/>
          </a:prstGeom>
        </p:spPr>
      </p:pic>
      <p:pic>
        <p:nvPicPr>
          <p:cNvPr id="13" name="Picture 12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9866" y="1548179"/>
            <a:ext cx="1936585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DA2183-0949-EDF4-685D-5A06CC1FA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D1A3-FFC2-444F-9D3F-46AC1D70310C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8097F-E7C9-463F-FFE9-EBF94793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7A326-DE3B-6035-30E4-A3CF679B2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3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5" name="Picture 4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846" t="32037" r="16881" b="25591"/>
          <a:stretch/>
        </p:blipFill>
        <p:spPr>
          <a:xfrm>
            <a:off x="513492" y="1344600"/>
            <a:ext cx="8116432" cy="32274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89DF2-AF68-C204-B247-C20CAFB2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439C-A990-4642-9459-A8882D0DA853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0E6DC-1104-140A-55DE-58E82BE03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4C346-065A-DC7A-0484-AACDBE34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.13.0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886" y="1336660"/>
            <a:ext cx="8404419" cy="302718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C8AD9-9EF5-F944-F733-03037B55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A737-D987-6741-9B2C-EE79B5FF182D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42BA4-1365-5998-8A99-EECFED65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9BC4B-05C8-CB66-AA81-6518BA72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2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Prunus</a:t>
            </a:r>
            <a:r>
              <a:rPr lang="en-US" dirty="0"/>
              <a:t> </a:t>
            </a:r>
            <a:r>
              <a:rPr lang="en-US" dirty="0" err="1"/>
              <a:t>serotina</a:t>
            </a:r>
            <a:br>
              <a:rPr lang="en-US" dirty="0"/>
            </a:br>
            <a:r>
              <a:rPr lang="en-US" sz="3000" i="1" dirty="0"/>
              <a:t>Black Cherry</a:t>
            </a:r>
            <a:endParaRPr lang="en-US" i="1" dirty="0"/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53711" y="1545980"/>
            <a:ext cx="2355803" cy="3429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5305" y="1545980"/>
            <a:ext cx="2870027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2E86A9-8396-4171-F954-32787C486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58CBD-A27F-944E-8787-812849C38111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67F06-D87A-57BA-2380-6D5DD5B05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F4F1A-72BC-6459-D34B-27BB33B5F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2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991" t="34534" r="13034" b="24926"/>
          <a:stretch/>
        </p:blipFill>
        <p:spPr>
          <a:xfrm>
            <a:off x="483574" y="1432896"/>
            <a:ext cx="8284506" cy="259641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1BF86-7531-44A4-0AFE-2B7F1597E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3C8B5-5C1D-8840-875D-282C5FEF7DF6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13C86-EEDA-2F0E-0512-F969DD72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E106B-9B37-8C9C-1C65-DD851653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5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.14.0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645" y="1931929"/>
            <a:ext cx="8558032" cy="183964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3BA76-C832-7674-E577-5F22E815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E240-2CA7-5B40-A6D2-84DEAD1AFCEB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AF5D9-1163-B719-7A8C-BCBBD8B5E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23CC5-1CE2-A676-1407-5E785750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6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Quercus</a:t>
            </a:r>
            <a:r>
              <a:rPr lang="en-US" dirty="0"/>
              <a:t> alba</a:t>
            </a:r>
            <a:br>
              <a:rPr lang="en-US" dirty="0"/>
            </a:br>
            <a:r>
              <a:rPr lang="en-US" sz="3000" i="1" dirty="0"/>
              <a:t>White Oak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950" y="1547432"/>
            <a:ext cx="2972179" cy="3429000"/>
          </a:xfrm>
          <a:prstGeom prst="rect">
            <a:avLst/>
          </a:prstGeom>
        </p:spPr>
      </p:pic>
      <p:pic>
        <p:nvPicPr>
          <p:cNvPr id="11" name="Picture 10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7461" y="1547432"/>
            <a:ext cx="3262314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8CA70-34B5-11F8-AB28-98810AE8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601C-5112-8C44-A63C-84CBBE822919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6C301-1C70-5779-82EB-6FCFA92F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38E0E-776C-5A10-EA9D-90642F55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2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5" name="Picture 4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4180" y="1603883"/>
            <a:ext cx="8415640" cy="225443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CA249-E0D4-7795-262E-B79AF2B5A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15A73-D3C1-BF4D-963A-58B97B5ADD7F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BB9FF-1974-7E2E-457C-BBF27E25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64129-5689-0148-5E35-5B1C2E3E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.15.1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000" y="1311389"/>
            <a:ext cx="8596762" cy="30078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31BD0-DFDF-F569-E4F0-E5ECC943F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98A8-3EAA-EF4B-8EE4-5E668F4087C0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5793D-4315-37EB-B071-6A975081C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880C4-A4C7-3E69-8DFF-0E6A7118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Quercus</a:t>
            </a:r>
            <a:r>
              <a:rPr lang="en-US" dirty="0"/>
              <a:t> </a:t>
            </a:r>
            <a:r>
              <a:rPr lang="en-US" dirty="0" err="1"/>
              <a:t>rubra</a:t>
            </a:r>
            <a:br>
              <a:rPr lang="en-US" dirty="0"/>
            </a:br>
            <a:r>
              <a:rPr lang="en-US" sz="3000" i="1" dirty="0"/>
              <a:t>Red Oak</a:t>
            </a:r>
            <a:endParaRPr lang="en-US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027" y="1544738"/>
            <a:ext cx="3217560" cy="3429000"/>
          </a:xfrm>
          <a:prstGeom prst="rect">
            <a:avLst/>
          </a:prstGeom>
        </p:spPr>
      </p:pic>
      <p:pic>
        <p:nvPicPr>
          <p:cNvPr id="7" name="Picture 6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4841" y="1544738"/>
            <a:ext cx="3139001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6D765-D5CC-6CAC-B8CD-25D57D3F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8398-4C42-0149-B93E-4F8EC85EC9AA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91866-2301-7CE6-F51D-952CE5A3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72F5E-51CB-929D-6A28-D34DEAB3F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1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4" name="Picture 3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361" y="1754378"/>
            <a:ext cx="8565277" cy="222581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83ADA-3491-8AEE-4FF3-96D08813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909D-A77B-7A4B-80A2-AC29D1A2A972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9EB09-E10B-77AC-2D79-B75BC452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2B69A-98D9-AA98-0E8E-0F7997FE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.16.0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521" y="1406214"/>
            <a:ext cx="8745075" cy="297249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3552A-DF93-0384-738D-DE34FF84F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2ADFC-DA4B-0A48-93F3-887A3902DE1F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A0695-7A24-9D25-4E8F-CFF3CC9C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53ABD-13BD-F9F3-24C2-24453E15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1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Rhizophora</a:t>
            </a:r>
            <a:r>
              <a:rPr lang="en-US" dirty="0"/>
              <a:t> mangle</a:t>
            </a:r>
            <a:br>
              <a:rPr lang="en-US" dirty="0"/>
            </a:br>
            <a:r>
              <a:rPr lang="en-US" sz="3000" i="1" dirty="0"/>
              <a:t>Red Mangrove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2656" y="1549157"/>
            <a:ext cx="2764686" cy="3429000"/>
          </a:xfrm>
          <a:prstGeom prst="rect">
            <a:avLst/>
          </a:prstGeom>
        </p:spPr>
      </p:pic>
      <p:pic>
        <p:nvPicPr>
          <p:cNvPr id="7" name="Picture 6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92923" y="1549157"/>
            <a:ext cx="2286003" cy="3429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C022E-C5B0-73DA-A3A2-2B08957E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6ECB-9AB9-BD42-BEED-9F5E481014B8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B723E-D671-CD1F-1A14-B89C347E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EBB17-6D2D-FBFF-AE88-D23B53E6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8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555" y="89734"/>
            <a:ext cx="5709047" cy="1063229"/>
          </a:xfrm>
        </p:spPr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6" name="Picture 5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098" t="35500" r="14530" b="22841"/>
          <a:stretch/>
        </p:blipFill>
        <p:spPr>
          <a:xfrm>
            <a:off x="304346" y="1345703"/>
            <a:ext cx="8535308" cy="287689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8F6315-2B97-6B65-F25E-D0A52EEC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169B-3CCF-774C-84EF-0A86BBA2257C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E3234-25C4-6C55-F129-AAACE4C0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660A4-42CC-2296-4604-E7E534F2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5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.17.1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999" y="1300562"/>
            <a:ext cx="8255129" cy="339038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CA30D-9477-9534-D7BE-B48BE8327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93ED-ADD2-9B41-85F2-BDF8A8B94CC5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4B0A-2B70-7D5C-ABC9-2DF8C2DC6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80052-D89C-FC99-553A-5D66EBF0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3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703" y="59601"/>
            <a:ext cx="6172200" cy="1063229"/>
          </a:xfrm>
        </p:spPr>
        <p:txBody>
          <a:bodyPr/>
          <a:lstStyle/>
          <a:p>
            <a:r>
              <a:rPr lang="en-US" dirty="0" err="1"/>
              <a:t>Tsuga</a:t>
            </a:r>
            <a:r>
              <a:rPr lang="en-US" dirty="0"/>
              <a:t> </a:t>
            </a:r>
            <a:r>
              <a:rPr lang="en-US" dirty="0" err="1"/>
              <a:t>canadensis</a:t>
            </a:r>
            <a:br>
              <a:rPr lang="en-US" dirty="0"/>
            </a:br>
            <a:r>
              <a:rPr lang="en-US" sz="3000" i="1" dirty="0"/>
              <a:t>Eastern Hemlock</a:t>
            </a:r>
            <a:endParaRPr lang="en-US" i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3446" y="1544312"/>
            <a:ext cx="2286000" cy="3429000"/>
          </a:xfrm>
          <a:prstGeom prst="rect">
            <a:avLst/>
          </a:prstGeom>
        </p:spPr>
      </p:pic>
      <p:pic>
        <p:nvPicPr>
          <p:cNvPr id="3" name="Picture 2" descr="forest_image.bmp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0154" y="1544312"/>
            <a:ext cx="2528650" cy="3429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6A6C4-1AE6-314D-7C6C-ED66B812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83CE-37C0-CE4D-99DD-DDE7BA4FF7F0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C26B3-9D8F-28B8-E90B-C1637F95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E5EC9-DA4D-F116-ED08-C15451AC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1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3" name="Picture 2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87366" y="2161442"/>
            <a:ext cx="6172200" cy="20960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9C75B-2BE2-088B-B611-7812F602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E1B-5F2F-434C-9D54-C47EAEAE4BC3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621E1-BB39-499F-B980-8D0E93A7A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ADA45-A7DA-7723-D3B6-3E2A555D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7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5" name="Picture 4" descr="Screen shot 2014-07-17 at 1.18.0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999" y="1445850"/>
            <a:ext cx="8660523" cy="284365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FFCB8-3525-7375-28B7-4EA1426A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8F257-3981-8546-B884-EE63B63D7EAC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5FBB0-3F7B-67EB-D74F-881FDDF8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53D1E-CB8A-23A5-E580-374F1A8B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2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Washingtonia</a:t>
            </a:r>
            <a:r>
              <a:rPr lang="en-US" dirty="0"/>
              <a:t> </a:t>
            </a:r>
            <a:r>
              <a:rPr lang="en-US" dirty="0" err="1"/>
              <a:t>filifera</a:t>
            </a:r>
            <a:br>
              <a:rPr lang="en-US" dirty="0"/>
            </a:br>
            <a:r>
              <a:rPr lang="en-US" sz="3000" i="1" dirty="0"/>
              <a:t>Palm</a:t>
            </a:r>
            <a:endParaRPr lang="en-US" i="1" dirty="0"/>
          </a:p>
        </p:txBody>
      </p:sp>
      <p:pic>
        <p:nvPicPr>
          <p:cNvPr id="3" name="Picture 2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9865" y="1549157"/>
            <a:ext cx="1705235" cy="3429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557" y="1549157"/>
            <a:ext cx="2571750" cy="3429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F42F1-3A0F-5CDB-FDEE-FFFE4CCD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0122-724F-E749-B79C-C139B24D2698}" type="datetime1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F46C1-EA8A-B6C1-AF8C-065EF6B4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7EF8D-66FA-95B8-D1F0-034F8303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1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Heights</a:t>
            </a:r>
          </a:p>
        </p:txBody>
      </p:sp>
      <p:pic>
        <p:nvPicPr>
          <p:cNvPr id="5" name="Picture 4" descr="forest_image.bmp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452" y="1217306"/>
            <a:ext cx="7961436" cy="343579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8CC397-6CA6-7F03-4016-C889C8614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D8F46-D6FC-4D49-86B7-99AD958B4F90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8DBD5-6261-B1C7-E274-54087FDE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DA709-A8B5-ECC8-3B60-72B3D417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2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Default</a:t>
            </a:r>
          </a:p>
        </p:txBody>
      </p:sp>
      <p:pic>
        <p:nvPicPr>
          <p:cNvPr id="3" name="Picture 2" descr="Screen shot 2014-07-17 at 1.18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810" y="1397160"/>
            <a:ext cx="8450270" cy="313467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53450-1944-5E67-C7FA-1614F25A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7BC8E-D355-4744-870B-3C100C3B922E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8EFD9-8B0B-D395-48AC-FE5ABA4C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0FF0C-DC77-93E5-625A-ADFEAD25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2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 xmlns:p14="http://schemas.microsoft.com/office/powerpoint/2010/main">
        <p:fade thruBlk="1"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D70A9-B92A-B44C-B5A8-7CBC254CE666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9288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522&quot;&gt;&lt;object type=&quot;3&quot; unique_id=&quot;10523&quot;&gt;&lt;property id=&quot;20148&quot; value=&quot;5&quot;/&gt;&lt;property id=&quot;20300&quot; value=&quot;Slide 1&quot;/&gt;&lt;property id=&quot;20307&quot; value=&quot;277&quot;/&gt;&lt;/object&gt;&lt;object type=&quot;3&quot; unique_id=&quot;10524&quot;&gt;&lt;property id=&quot;20148&quot; value=&quot;5&quot;/&gt;&lt;property id=&quot;20300&quot; value=&quot;Slide 2&quot;/&gt;&lt;property id=&quot;20307&quot; value=&quot;281&quot;/&gt;&lt;/object&gt;&lt;object type=&quot;3&quot; unique_id=&quot;10525&quot;&gt;&lt;property id=&quot;20148&quot; value=&quot;5&quot;/&gt;&lt;property id=&quot;20300&quot; value=&quot;Slide 3&quot;/&gt;&lt;property id=&quot;20307&quot; value=&quot;280&quot;/&gt;&lt;/object&gt;&lt;object type=&quot;3&quot; unique_id=&quot;10526&quot;&gt;&lt;property id=&quot;20148&quot; value=&quot;5&quot;/&gt;&lt;property id=&quot;20300&quot; value=&quot;Slide 4&quot;/&gt;&lt;property id=&quot;20307&quot; value=&quot;278&quot;/&gt;&lt;/object&gt;&lt;/object&gt;&lt;object type=&quot;8&quot; unique_id=&quot;10532&quot;&gt;&lt;/object&gt;&lt;/object&gt;&lt;/database&gt;"/>
  <p:tag name="MMPROD_NEXTUNIQUEID" val="10010"/>
  <p:tag name="SECTOMILLISECCONVERTED" val="1"/>
</p:tagLst>
</file>

<file path=ppt/theme/theme1.xml><?xml version="1.0" encoding="utf-8"?>
<a:theme xmlns:a="http://schemas.openxmlformats.org/drawingml/2006/main" name="NASAjpl-WhiteTheme-16x9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bg1">
              <a:lumMod val="65000"/>
            </a:schemeClr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ASAjpl_Template_16x9_vA9" id="{11EA517D-A364-CA42-8C66-5CBAA04FF9EB}" vid="{449FC22C-08E0-864E-B99D-0EE68B74434A}"/>
    </a:ext>
  </a:extLst>
</a:theme>
</file>

<file path=ppt/theme/theme2.xml><?xml version="1.0" encoding="utf-8"?>
<a:theme xmlns:a="http://schemas.openxmlformats.org/drawingml/2006/main" name="NASAjpl-BlackTheme-16x9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  <a:effectLst/>
      </a:spPr>
      <a:bodyPr rtlCol="0" anchor="ctr"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2"/>
          </a:solidFill>
          <a:headEnd type="arrow"/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ASAjpl_Template_16x9_vA9" id="{11EA517D-A364-CA42-8C66-5CBAA04FF9EB}" vid="{6F9984BD-AA3A-174A-853C-75AAE342044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NASAjpl-WhiteTheme-16x9-vA6</Template>
  <TotalTime>8</TotalTime>
  <Words>627</Words>
  <Application>Microsoft Macintosh PowerPoint</Application>
  <PresentationFormat>On-screen Show (16:9)</PresentationFormat>
  <Paragraphs>240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NASAjpl-WhiteTheme-16x9-vA6</vt:lpstr>
      <vt:lpstr>NASAjpl-BlackTheme-16x9-vA6</vt:lpstr>
      <vt:lpstr>PowerPoint Presentation</vt:lpstr>
      <vt:lpstr>Default Deciduous Tree</vt:lpstr>
      <vt:lpstr>Default Deciduous Parameters</vt:lpstr>
      <vt:lpstr>Default Coniferous  Tree</vt:lpstr>
      <vt:lpstr>Default Coniferous Parameters</vt:lpstr>
      <vt:lpstr>Acer rubrum Red Maple</vt:lpstr>
      <vt:lpstr>Various Heights</vt:lpstr>
      <vt:lpstr>Changes to Default</vt:lpstr>
      <vt:lpstr>Acer saccarum Sugar Maple</vt:lpstr>
      <vt:lpstr>Various Heights</vt:lpstr>
      <vt:lpstr>Changes to Default</vt:lpstr>
      <vt:lpstr>Betula alleghensis Yellow Birch</vt:lpstr>
      <vt:lpstr>Various Heights</vt:lpstr>
      <vt:lpstr>Changes to Default</vt:lpstr>
      <vt:lpstr>Bertholletia excelsa  Brazil Nut</vt:lpstr>
      <vt:lpstr>Various Heights</vt:lpstr>
      <vt:lpstr>Changes to Default</vt:lpstr>
      <vt:lpstr>Betula papyrifera Paper Birch</vt:lpstr>
      <vt:lpstr>Various Heights</vt:lpstr>
      <vt:lpstr>Changes to Default</vt:lpstr>
      <vt:lpstr>Ceiba pentandra  Kapok</vt:lpstr>
      <vt:lpstr>Various Heights</vt:lpstr>
      <vt:lpstr>Changes to Default</vt:lpstr>
      <vt:lpstr>Eucalyptus platypus Eucalyptus</vt:lpstr>
      <vt:lpstr>Various Heights</vt:lpstr>
      <vt:lpstr>Changes to Default</vt:lpstr>
      <vt:lpstr>Fagus grandifolia American Beech</vt:lpstr>
      <vt:lpstr>Various Heights</vt:lpstr>
      <vt:lpstr>Changes to Default</vt:lpstr>
      <vt:lpstr>Ostrya virginiana Hophornbeam</vt:lpstr>
      <vt:lpstr>Various Heights</vt:lpstr>
      <vt:lpstr>Changes to Default</vt:lpstr>
      <vt:lpstr>Pinus resinosa  Red Pine</vt:lpstr>
      <vt:lpstr>Various Heights</vt:lpstr>
      <vt:lpstr>Changes to Default</vt:lpstr>
      <vt:lpstr>Picea rubens  Red Spruce</vt:lpstr>
      <vt:lpstr>Various Heights</vt:lpstr>
      <vt:lpstr>Changes to Default</vt:lpstr>
      <vt:lpstr>Pinus strobus  White Pine</vt:lpstr>
      <vt:lpstr>Various Heights</vt:lpstr>
      <vt:lpstr>Changes to Default</vt:lpstr>
      <vt:lpstr>Prunus serotina Black Cherry</vt:lpstr>
      <vt:lpstr>Various Heights</vt:lpstr>
      <vt:lpstr>Changes to Default</vt:lpstr>
      <vt:lpstr>Quercus alba White Oak</vt:lpstr>
      <vt:lpstr>Various Heights</vt:lpstr>
      <vt:lpstr>Changes to Default</vt:lpstr>
      <vt:lpstr>Quercus rubra Red Oak</vt:lpstr>
      <vt:lpstr>Various Heights</vt:lpstr>
      <vt:lpstr>Changes to Default</vt:lpstr>
      <vt:lpstr>Rhizophora mangle Red Mangrove</vt:lpstr>
      <vt:lpstr>Various Heights</vt:lpstr>
      <vt:lpstr>Changes to Default</vt:lpstr>
      <vt:lpstr>Tsuga canadensis Eastern Hemlock</vt:lpstr>
      <vt:lpstr>Various Heights</vt:lpstr>
      <vt:lpstr>Changes to Default</vt:lpstr>
      <vt:lpstr>Washingtonia filifera Palm</vt:lpstr>
      <vt:lpstr>Various Heights</vt:lpstr>
      <vt:lpstr>Changes to Default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Ahmed, Razi U (US 363H)</dc:creator>
  <cp:lastModifiedBy>Ahmed, Razi U (US 363H)</cp:lastModifiedBy>
  <cp:revision>2</cp:revision>
  <dcterms:created xsi:type="dcterms:W3CDTF">2026-03-24T23:50:49Z</dcterms:created>
  <dcterms:modified xsi:type="dcterms:W3CDTF">2026-03-25T19:30:03Z</dcterms:modified>
</cp:coreProperties>
</file>