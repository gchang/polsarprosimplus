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50" r:id="rId1"/>
    <p:sldMasterId id="2147484002" r:id="rId2"/>
  </p:sldMasterIdLst>
  <p:notesMasterIdLst>
    <p:notesMasterId r:id="rId104"/>
  </p:notesMasterIdLst>
  <p:handoutMasterIdLst>
    <p:handoutMasterId r:id="rId105"/>
  </p:handoutMasterIdLst>
  <p:sldIdLst>
    <p:sldId id="329" r:id="rId3"/>
    <p:sldId id="280" r:id="rId4"/>
    <p:sldId id="258" r:id="rId5"/>
    <p:sldId id="393" r:id="rId6"/>
    <p:sldId id="273" r:id="rId7"/>
    <p:sldId id="348" r:id="rId8"/>
    <p:sldId id="282" r:id="rId9"/>
    <p:sldId id="344" r:id="rId10"/>
    <p:sldId id="268" r:id="rId11"/>
    <p:sldId id="345" r:id="rId12"/>
    <p:sldId id="265" r:id="rId13"/>
    <p:sldId id="349" r:id="rId14"/>
    <p:sldId id="267" r:id="rId15"/>
    <p:sldId id="394" r:id="rId16"/>
    <p:sldId id="269" r:id="rId17"/>
    <p:sldId id="395" r:id="rId18"/>
    <p:sldId id="270" r:id="rId19"/>
    <p:sldId id="369" r:id="rId20"/>
    <p:sldId id="370" r:id="rId21"/>
    <p:sldId id="285" r:id="rId22"/>
    <p:sldId id="371" r:id="rId23"/>
    <p:sldId id="372" r:id="rId24"/>
    <p:sldId id="287" r:id="rId25"/>
    <p:sldId id="288" r:id="rId26"/>
    <p:sldId id="289" r:id="rId27"/>
    <p:sldId id="352" r:id="rId28"/>
    <p:sldId id="353" r:id="rId29"/>
    <p:sldId id="354" r:id="rId30"/>
    <p:sldId id="291" r:id="rId31"/>
    <p:sldId id="355" r:id="rId32"/>
    <p:sldId id="356" r:id="rId33"/>
    <p:sldId id="357" r:id="rId34"/>
    <p:sldId id="358" r:id="rId35"/>
    <p:sldId id="306" r:id="rId36"/>
    <p:sldId id="359" r:id="rId37"/>
    <p:sldId id="360" r:id="rId38"/>
    <p:sldId id="361" r:id="rId39"/>
    <p:sldId id="362" r:id="rId40"/>
    <p:sldId id="363" r:id="rId41"/>
    <p:sldId id="364" r:id="rId42"/>
    <p:sldId id="311" r:id="rId43"/>
    <p:sldId id="365" r:id="rId44"/>
    <p:sldId id="312" r:id="rId45"/>
    <p:sldId id="366" r:id="rId46"/>
    <p:sldId id="367" r:id="rId47"/>
    <p:sldId id="396" r:id="rId48"/>
    <p:sldId id="397" r:id="rId49"/>
    <p:sldId id="398" r:id="rId50"/>
    <p:sldId id="399" r:id="rId51"/>
    <p:sldId id="314" r:id="rId52"/>
    <p:sldId id="315" r:id="rId53"/>
    <p:sldId id="368" r:id="rId54"/>
    <p:sldId id="316" r:id="rId55"/>
    <p:sldId id="317" r:id="rId56"/>
    <p:sldId id="290" r:id="rId57"/>
    <p:sldId id="319" r:id="rId58"/>
    <p:sldId id="321" r:id="rId59"/>
    <p:sldId id="342" r:id="rId60"/>
    <p:sldId id="337" r:id="rId61"/>
    <p:sldId id="338" r:id="rId62"/>
    <p:sldId id="339" r:id="rId63"/>
    <p:sldId id="340" r:id="rId64"/>
    <p:sldId id="343" r:id="rId65"/>
    <p:sldId id="322" r:id="rId66"/>
    <p:sldId id="323" r:id="rId67"/>
    <p:sldId id="325" r:id="rId68"/>
    <p:sldId id="326" r:id="rId69"/>
    <p:sldId id="400" r:id="rId70"/>
    <p:sldId id="330" r:id="rId71"/>
    <p:sldId id="334" r:id="rId72"/>
    <p:sldId id="336" r:id="rId73"/>
    <p:sldId id="335" r:id="rId74"/>
    <p:sldId id="332" r:id="rId75"/>
    <p:sldId id="333" r:id="rId76"/>
    <p:sldId id="373" r:id="rId77"/>
    <p:sldId id="374" r:id="rId78"/>
    <p:sldId id="375" r:id="rId79"/>
    <p:sldId id="376" r:id="rId80"/>
    <p:sldId id="377" r:id="rId81"/>
    <p:sldId id="378" r:id="rId82"/>
    <p:sldId id="318" r:id="rId83"/>
    <p:sldId id="274" r:id="rId84"/>
    <p:sldId id="275" r:id="rId85"/>
    <p:sldId id="276" r:id="rId86"/>
    <p:sldId id="277" r:id="rId87"/>
    <p:sldId id="278" r:id="rId88"/>
    <p:sldId id="279" r:id="rId89"/>
    <p:sldId id="341" r:id="rId90"/>
    <p:sldId id="381" r:id="rId91"/>
    <p:sldId id="382" r:id="rId92"/>
    <p:sldId id="383" r:id="rId93"/>
    <p:sldId id="384" r:id="rId94"/>
    <p:sldId id="380" r:id="rId95"/>
    <p:sldId id="385" r:id="rId96"/>
    <p:sldId id="386" r:id="rId97"/>
    <p:sldId id="387" r:id="rId98"/>
    <p:sldId id="388" r:id="rId99"/>
    <p:sldId id="389" r:id="rId100"/>
    <p:sldId id="390" r:id="rId101"/>
    <p:sldId id="391" r:id="rId102"/>
    <p:sldId id="331" r:id="rId103"/>
  </p:sldIdLst>
  <p:sldSz cx="9144000" cy="6858000" type="screen4x3"/>
  <p:notesSz cx="7010400" cy="9296400"/>
  <p:custDataLst>
    <p:tags r:id="rId10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292A"/>
    <a:srgbClr val="434345"/>
    <a:srgbClr val="5D5D60"/>
    <a:srgbClr val="76777B"/>
    <a:srgbClr val="A5A5A5"/>
    <a:srgbClr val="C8C8C8"/>
    <a:srgbClr val="003D4C"/>
    <a:srgbClr val="0B3D91"/>
    <a:srgbClr val="489FDF"/>
    <a:srgbClr val="00AD6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87" autoAdjust="0"/>
    <p:restoredTop sz="90943" autoAdjust="0"/>
  </p:normalViewPr>
  <p:slideViewPr>
    <p:cSldViewPr snapToGrid="0" snapToObjects="1">
      <p:cViewPr varScale="1">
        <p:scale>
          <a:sx n="217" d="100"/>
          <a:sy n="217" d="100"/>
        </p:scale>
        <p:origin x="336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presProps" Target="presProp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viewProps" Target="view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gs" Target="tags/tag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heme" Target="theme/theme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18E037-B86E-9040-A269-4002B7AED4B9}" type="doc">
      <dgm:prSet loTypeId="urn:microsoft.com/office/officeart/2005/8/layout/hierarchy3" loCatId="" qsTypeId="urn:microsoft.com/office/officeart/2005/8/quickstyle/simple4" qsCatId="simple" csTypeId="urn:microsoft.com/office/officeart/2005/8/colors/accent1_2" csCatId="accent1" phldr="1"/>
      <dgm:spPr/>
      <dgm:t>
        <a:bodyPr/>
        <a:lstStyle/>
        <a:p>
          <a:endParaRPr lang="en-US"/>
        </a:p>
      </dgm:t>
    </dgm:pt>
    <dgm:pt modelId="{95127E1E-F3E9-A740-9F37-DBD98CBBCE98}">
      <dgm:prSet phldrT="[Text]" custT="1"/>
      <dgm:spPr>
        <a:xfrm>
          <a:off x="0" y="68724"/>
          <a:ext cx="1457103" cy="550007"/>
        </a:xfrm>
        <a:prstGeom prst="roundRect">
          <a:avLst>
            <a:gd name="adj" fmla="val 10000"/>
          </a:avLst>
        </a:prstGeom>
        <a:solidFill>
          <a:srgbClr val="EEECE1">
            <a:lumMod val="25000"/>
          </a:srgbClr>
        </a:solidFill>
        <a:ln>
          <a:solidFill>
            <a:srgbClr val="1F497D"/>
          </a:solidFill>
        </a:ln>
        <a:effectLst>
          <a:outerShdw blurRad="40000" dist="23000" dir="5400000" rotWithShape="0">
            <a:srgbClr val="000000">
              <a:alpha val="35000"/>
            </a:srgbClr>
          </a:outerShdw>
        </a:effectLst>
      </dgm:spPr>
      <dgm:t>
        <a:bodyPr/>
        <a:lstStyle/>
        <a:p>
          <a:pPr>
            <a:buNone/>
          </a:pPr>
          <a:r>
            <a:rPr lang="en-US" sz="1600" dirty="0">
              <a:solidFill>
                <a:sysClr val="window" lastClr="FFFFFF"/>
              </a:solidFill>
              <a:latin typeface="Calibri"/>
              <a:ea typeface="+mn-ea"/>
              <a:cs typeface="+mn-cs"/>
            </a:rPr>
            <a:t>PolSARproSim+</a:t>
          </a:r>
        </a:p>
      </dgm:t>
    </dgm:pt>
    <dgm:pt modelId="{8E50A873-76F6-814A-BFD4-EAF527417B8C}" type="parTrans" cxnId="{F36BA248-8BC5-AD40-87A3-7DD734E91C94}">
      <dgm:prSet/>
      <dgm:spPr/>
      <dgm:t>
        <a:bodyPr/>
        <a:lstStyle/>
        <a:p>
          <a:endParaRPr lang="en-US"/>
        </a:p>
      </dgm:t>
    </dgm:pt>
    <dgm:pt modelId="{D03731CE-E509-E543-A704-739FB3EA0D6F}" type="sibTrans" cxnId="{F36BA248-8BC5-AD40-87A3-7DD734E91C94}">
      <dgm:prSet/>
      <dgm:spPr/>
      <dgm:t>
        <a:bodyPr/>
        <a:lstStyle/>
        <a:p>
          <a:endParaRPr lang="en-US"/>
        </a:p>
      </dgm:t>
    </dgm:pt>
    <dgm:pt modelId="{DB717E52-9950-434F-BEA9-44D52A63C062}">
      <dgm:prSet phldrT="[Text]" custT="1"/>
      <dgm:spPr>
        <a:xfrm>
          <a:off x="1639646" y="1102008"/>
          <a:ext cx="1429939" cy="543727"/>
        </a:xfrm>
        <a:prstGeom prst="roundRect">
          <a:avLst>
            <a:gd name="adj" fmla="val 10000"/>
          </a:avLst>
        </a:prstGeom>
        <a:solidFill>
          <a:srgbClr val="EEECE1">
            <a:lumMod val="75000"/>
          </a:srgbClr>
        </a:solidFill>
        <a:ln>
          <a:solidFill>
            <a:srgbClr val="1F497D"/>
          </a:solidFill>
        </a:ln>
        <a:effectLst>
          <a:outerShdw blurRad="40000" dist="23000" dir="5400000" rotWithShape="0">
            <a:srgbClr val="000000">
              <a:alpha val="35000"/>
            </a:srgbClr>
          </a:outerShdw>
        </a:effectLst>
      </dgm:spPr>
      <dgm:t>
        <a:bodyPr/>
        <a:lstStyle/>
        <a:p>
          <a:pPr>
            <a:buNone/>
          </a:pPr>
          <a:r>
            <a:rPr lang="en-US" sz="1400" dirty="0">
              <a:solidFill>
                <a:srgbClr val="000000"/>
              </a:solidFill>
              <a:latin typeface="Calibri"/>
              <a:ea typeface="+mn-ea"/>
              <a:cs typeface="+mn-cs"/>
            </a:rPr>
            <a:t>For each track</a:t>
          </a:r>
        </a:p>
      </dgm:t>
    </dgm:pt>
    <dgm:pt modelId="{C977DE3A-1E23-AB40-BA81-8284B3C2966E}" type="parTrans" cxnId="{8D2E529D-D8BE-E747-BF29-C9E064D83764}">
      <dgm:prSet/>
      <dgm:spPr/>
      <dgm:t>
        <a:bodyPr/>
        <a:lstStyle/>
        <a:p>
          <a:endParaRPr lang="en-US"/>
        </a:p>
      </dgm:t>
    </dgm:pt>
    <dgm:pt modelId="{82A31C39-CCD6-2743-888E-D6FE19510F60}" type="sibTrans" cxnId="{8D2E529D-D8BE-E747-BF29-C9E064D83764}">
      <dgm:prSet/>
      <dgm:spPr/>
      <dgm:t>
        <a:bodyPr/>
        <a:lstStyle/>
        <a:p>
          <a:endParaRPr lang="en-US"/>
        </a:p>
      </dgm:t>
    </dgm:pt>
    <dgm:pt modelId="{05ABB118-668E-0E4A-AE1E-E00D4470CE9C}">
      <dgm:prSet phldrT="[Text]"/>
      <dgm:spPr>
        <a:xfrm>
          <a:off x="282719" y="68627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Read input parameter file</a:t>
          </a:r>
        </a:p>
      </dgm:t>
    </dgm:pt>
    <dgm:pt modelId="{44CB8E94-6040-494A-A58C-FAF86D6C6CA6}" type="parTrans" cxnId="{3637E0DF-562E-5940-9CEB-FB1F04430078}">
      <dgm:prSet/>
      <dgm:spPr>
        <a:xfrm>
          <a:off x="145710" y="618732"/>
          <a:ext cx="137008" cy="339405"/>
        </a:xfrm>
        <a:custGeom>
          <a:avLst/>
          <a:gdLst/>
          <a:ahLst/>
          <a:cxnLst/>
          <a:rect l="0" t="0" r="0" b="0"/>
          <a:pathLst>
            <a:path>
              <a:moveTo>
                <a:pt x="0" y="0"/>
              </a:moveTo>
              <a:lnTo>
                <a:pt x="0" y="339405"/>
              </a:lnTo>
              <a:lnTo>
                <a:pt x="137008" y="339405"/>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0C98EAFF-CE47-FD41-9167-D75B6DBF60CA}" type="sibTrans" cxnId="{3637E0DF-562E-5940-9CEB-FB1F04430078}">
      <dgm:prSet/>
      <dgm:spPr/>
      <dgm:t>
        <a:bodyPr/>
        <a:lstStyle/>
        <a:p>
          <a:endParaRPr lang="en-US"/>
        </a:p>
      </dgm:t>
    </dgm:pt>
    <dgm:pt modelId="{824D0C7A-EE20-3947-AB23-0DA236756437}">
      <dgm:prSet phldrT="[Text]"/>
      <dgm:spPr>
        <a:xfrm>
          <a:off x="282719" y="204559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Read DEM and create surface model</a:t>
          </a:r>
        </a:p>
      </dgm:t>
    </dgm:pt>
    <dgm:pt modelId="{450209C3-E9B4-0547-B563-6EDDD4D1F423}" type="parTrans" cxnId="{D4B19767-2C47-4748-A1C5-0768F5AA059A}">
      <dgm:prSet/>
      <dgm:spPr>
        <a:xfrm>
          <a:off x="145710" y="618732"/>
          <a:ext cx="137008" cy="1698725"/>
        </a:xfrm>
        <a:custGeom>
          <a:avLst/>
          <a:gdLst/>
          <a:ahLst/>
          <a:cxnLst/>
          <a:rect l="0" t="0" r="0" b="0"/>
          <a:pathLst>
            <a:path>
              <a:moveTo>
                <a:pt x="0" y="0"/>
              </a:moveTo>
              <a:lnTo>
                <a:pt x="0" y="1698725"/>
              </a:lnTo>
              <a:lnTo>
                <a:pt x="137008" y="1698725"/>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19CB3698-2CB2-E24E-9E5D-7E5657B11A8C}" type="sibTrans" cxnId="{D4B19767-2C47-4748-A1C5-0768F5AA059A}">
      <dgm:prSet/>
      <dgm:spPr/>
      <dgm:t>
        <a:bodyPr/>
        <a:lstStyle/>
        <a:p>
          <a:endParaRPr lang="en-US"/>
        </a:p>
      </dgm:t>
    </dgm:pt>
    <dgm:pt modelId="{F4800DA5-1D42-2744-886F-D03BD7EFE77C}">
      <dgm:prSet phldrT="[Text]"/>
      <dgm:spPr>
        <a:xfrm>
          <a:off x="282719" y="272525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Draw forest image</a:t>
          </a:r>
        </a:p>
        <a:p>
          <a:pPr>
            <a:buNone/>
          </a:pPr>
          <a:r>
            <a:rPr lang="en-US" dirty="0">
              <a:solidFill>
                <a:sysClr val="windowText" lastClr="000000">
                  <a:hueOff val="0"/>
                  <a:satOff val="0"/>
                  <a:lumOff val="0"/>
                  <a:alphaOff val="0"/>
                </a:sysClr>
              </a:solidFill>
              <a:latin typeface="Calibri"/>
              <a:ea typeface="+mn-ea"/>
              <a:cs typeface="+mn-cs"/>
            </a:rPr>
            <a:t>(for visualization)</a:t>
          </a:r>
        </a:p>
      </dgm:t>
    </dgm:pt>
    <dgm:pt modelId="{7A2AFB4E-64BD-DB41-BF83-3D2C59DCC08E}" type="parTrans" cxnId="{DD32E9EE-A5CC-9749-B7F7-40ED01FB38B0}">
      <dgm:prSet/>
      <dgm:spPr>
        <a:xfrm>
          <a:off x="145710" y="618732"/>
          <a:ext cx="137008" cy="2378385"/>
        </a:xfrm>
        <a:custGeom>
          <a:avLst/>
          <a:gdLst/>
          <a:ahLst/>
          <a:cxnLst/>
          <a:rect l="0" t="0" r="0" b="0"/>
          <a:pathLst>
            <a:path>
              <a:moveTo>
                <a:pt x="0" y="0"/>
              </a:moveTo>
              <a:lnTo>
                <a:pt x="0" y="2378385"/>
              </a:lnTo>
              <a:lnTo>
                <a:pt x="137008" y="2378385"/>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4A104CD2-C592-4442-802F-7C447B5F0781}" type="sibTrans" cxnId="{DD32E9EE-A5CC-9749-B7F7-40ED01FB38B0}">
      <dgm:prSet/>
      <dgm:spPr/>
      <dgm:t>
        <a:bodyPr/>
        <a:lstStyle/>
        <a:p>
          <a:endParaRPr lang="en-US"/>
        </a:p>
      </dgm:t>
    </dgm:pt>
    <dgm:pt modelId="{BC2F5731-72F8-5C43-89A0-1D580F5233AB}">
      <dgm:prSet phldrT="[Text]"/>
      <dgm:spPr>
        <a:xfrm>
          <a:off x="282719" y="340491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Calculate effective </a:t>
          </a:r>
          <a:r>
            <a:rPr lang="en-US" dirty="0" err="1">
              <a:solidFill>
                <a:sysClr val="windowText" lastClr="000000">
                  <a:hueOff val="0"/>
                  <a:satOff val="0"/>
                  <a:lumOff val="0"/>
                  <a:alphaOff val="0"/>
                </a:sysClr>
              </a:solidFill>
              <a:latin typeface="Calibri"/>
              <a:ea typeface="+mn-ea"/>
              <a:cs typeface="+mn-cs"/>
            </a:rPr>
            <a:t>permittivities</a:t>
          </a:r>
          <a:endParaRPr lang="en-US" dirty="0">
            <a:solidFill>
              <a:sysClr val="windowText" lastClr="000000">
                <a:hueOff val="0"/>
                <a:satOff val="0"/>
                <a:lumOff val="0"/>
                <a:alphaOff val="0"/>
              </a:sysClr>
            </a:solidFill>
            <a:latin typeface="Calibri"/>
            <a:ea typeface="+mn-ea"/>
            <a:cs typeface="+mn-cs"/>
          </a:endParaRPr>
        </a:p>
      </dgm:t>
    </dgm:pt>
    <dgm:pt modelId="{A733D4DB-A0C5-9443-995A-80ED44DF8774}" type="parTrans" cxnId="{0D783CF5-71BA-0945-988C-2FB98E806D66}">
      <dgm:prSet/>
      <dgm:spPr>
        <a:xfrm>
          <a:off x="145710" y="618732"/>
          <a:ext cx="137008" cy="3058045"/>
        </a:xfrm>
        <a:custGeom>
          <a:avLst/>
          <a:gdLst/>
          <a:ahLst/>
          <a:cxnLst/>
          <a:rect l="0" t="0" r="0" b="0"/>
          <a:pathLst>
            <a:path>
              <a:moveTo>
                <a:pt x="0" y="0"/>
              </a:moveTo>
              <a:lnTo>
                <a:pt x="0" y="3058045"/>
              </a:lnTo>
              <a:lnTo>
                <a:pt x="137008" y="3058045"/>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C2A62ADA-7227-BE46-ABAD-3BC30280A6EB}" type="sibTrans" cxnId="{0D783CF5-71BA-0945-988C-2FB98E806D66}">
      <dgm:prSet/>
      <dgm:spPr/>
      <dgm:t>
        <a:bodyPr/>
        <a:lstStyle/>
        <a:p>
          <a:endParaRPr lang="en-US"/>
        </a:p>
      </dgm:t>
    </dgm:pt>
    <dgm:pt modelId="{960D1636-FC37-0845-B5D1-60C993599F94}">
      <dgm:prSet phldrT="[Text]"/>
      <dgm:spPr>
        <a:xfrm>
          <a:off x="282719" y="408457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Calculate attenuation map</a:t>
          </a:r>
        </a:p>
      </dgm:t>
    </dgm:pt>
    <dgm:pt modelId="{E489CF8D-5AD8-4843-A945-A39FDFCB78C9}" type="parTrans" cxnId="{05BD8942-22BE-8B4E-B4F6-9DDC4C693063}">
      <dgm:prSet/>
      <dgm:spPr>
        <a:xfrm>
          <a:off x="145710" y="618732"/>
          <a:ext cx="137008" cy="3737705"/>
        </a:xfrm>
        <a:custGeom>
          <a:avLst/>
          <a:gdLst/>
          <a:ahLst/>
          <a:cxnLst/>
          <a:rect l="0" t="0" r="0" b="0"/>
          <a:pathLst>
            <a:path>
              <a:moveTo>
                <a:pt x="0" y="0"/>
              </a:moveTo>
              <a:lnTo>
                <a:pt x="0" y="3737705"/>
              </a:lnTo>
              <a:lnTo>
                <a:pt x="137008" y="3737705"/>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7C352FDB-736B-EC4A-8133-207C78BC054C}" type="sibTrans" cxnId="{05BD8942-22BE-8B4E-B4F6-9DDC4C693063}">
      <dgm:prSet/>
      <dgm:spPr/>
      <dgm:t>
        <a:bodyPr/>
        <a:lstStyle/>
        <a:p>
          <a:endParaRPr lang="en-US"/>
        </a:p>
      </dgm:t>
    </dgm:pt>
    <dgm:pt modelId="{E5302822-673B-794F-A9CE-D5933AFD9219}">
      <dgm:prSet phldrT="[Text]"/>
      <dgm:spPr>
        <a:xfrm>
          <a:off x="282719" y="136593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Read species and forest XML databases</a:t>
          </a:r>
        </a:p>
      </dgm:t>
    </dgm:pt>
    <dgm:pt modelId="{120CB7F9-C1EC-BF43-B160-AA45F96441B1}" type="parTrans" cxnId="{46F81BE9-C783-5C4C-9F18-877B07C913DD}">
      <dgm:prSet/>
      <dgm:spPr>
        <a:xfrm>
          <a:off x="145710" y="618732"/>
          <a:ext cx="137008" cy="1019065"/>
        </a:xfrm>
        <a:custGeom>
          <a:avLst/>
          <a:gdLst/>
          <a:ahLst/>
          <a:cxnLst/>
          <a:rect l="0" t="0" r="0" b="0"/>
          <a:pathLst>
            <a:path>
              <a:moveTo>
                <a:pt x="0" y="0"/>
              </a:moveTo>
              <a:lnTo>
                <a:pt x="0" y="1019065"/>
              </a:lnTo>
              <a:lnTo>
                <a:pt x="137008" y="1019065"/>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D857C9D0-92C9-A04D-9A32-928B403444AC}" type="sibTrans" cxnId="{46F81BE9-C783-5C4C-9F18-877B07C913DD}">
      <dgm:prSet/>
      <dgm:spPr/>
      <dgm:t>
        <a:bodyPr/>
        <a:lstStyle/>
        <a:p>
          <a:endParaRPr lang="en-US"/>
        </a:p>
      </dgm:t>
    </dgm:pt>
    <dgm:pt modelId="{C459BC37-B25C-A44E-B56E-7D33278D1EEE}">
      <dgm:prSet phldrT="[Text]"/>
      <dgm:spPr>
        <a:xfrm>
          <a:off x="2115652" y="1907955"/>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Calculate direct ground scattering</a:t>
          </a:r>
        </a:p>
      </dgm:t>
    </dgm:pt>
    <dgm:pt modelId="{2C7B8636-B9B2-0946-8C59-2BFCC48F7EB4}" type="parTrans" cxnId="{6E28B93E-2C46-B44D-8379-0AEEDAA97B36}">
      <dgm:prSet/>
      <dgm:spPr>
        <a:xfrm>
          <a:off x="1782640" y="1645736"/>
          <a:ext cx="333011" cy="534082"/>
        </a:xfrm>
        <a:custGeom>
          <a:avLst/>
          <a:gdLst/>
          <a:ahLst/>
          <a:cxnLst/>
          <a:rect l="0" t="0" r="0" b="0"/>
          <a:pathLst>
            <a:path>
              <a:moveTo>
                <a:pt x="0" y="0"/>
              </a:moveTo>
              <a:lnTo>
                <a:pt x="0" y="534082"/>
              </a:lnTo>
              <a:lnTo>
                <a:pt x="333011" y="534082"/>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06ED8C72-CCD9-4741-963B-21821DF7CB52}" type="sibTrans" cxnId="{6E28B93E-2C46-B44D-8379-0AEEDAA97B36}">
      <dgm:prSet/>
      <dgm:spPr/>
      <dgm:t>
        <a:bodyPr/>
        <a:lstStyle/>
        <a:p>
          <a:endParaRPr lang="en-US"/>
        </a:p>
      </dgm:t>
    </dgm:pt>
    <dgm:pt modelId="{F0722DB4-BE6F-F048-8F0B-52C8A595A600}">
      <dgm:prSet phldrT="[Text]"/>
      <dgm:spPr>
        <a:xfrm>
          <a:off x="2115652" y="2587615"/>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Calculate direct short vegetation scattering</a:t>
          </a:r>
        </a:p>
      </dgm:t>
    </dgm:pt>
    <dgm:pt modelId="{629D2C07-DA2B-A044-9353-52ECB5DD58BF}" type="parTrans" cxnId="{4CB23100-B764-E84E-9E6F-80B17CD4DECF}">
      <dgm:prSet/>
      <dgm:spPr>
        <a:xfrm>
          <a:off x="1782640" y="1645736"/>
          <a:ext cx="333011" cy="1213742"/>
        </a:xfrm>
        <a:custGeom>
          <a:avLst/>
          <a:gdLst/>
          <a:ahLst/>
          <a:cxnLst/>
          <a:rect l="0" t="0" r="0" b="0"/>
          <a:pathLst>
            <a:path>
              <a:moveTo>
                <a:pt x="0" y="0"/>
              </a:moveTo>
              <a:lnTo>
                <a:pt x="0" y="1213742"/>
              </a:lnTo>
              <a:lnTo>
                <a:pt x="333011" y="1213742"/>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F718ECB3-9B46-EB49-9526-88DA75AAA239}" type="sibTrans" cxnId="{4CB23100-B764-E84E-9E6F-80B17CD4DECF}">
      <dgm:prSet/>
      <dgm:spPr/>
      <dgm:t>
        <a:bodyPr/>
        <a:lstStyle/>
        <a:p>
          <a:endParaRPr lang="en-US"/>
        </a:p>
      </dgm:t>
    </dgm:pt>
    <dgm:pt modelId="{2E590367-6AD4-4449-BD0C-27DE1FF28230}">
      <dgm:prSet phldrT="[Text]" custT="1"/>
      <dgm:spPr>
        <a:xfrm>
          <a:off x="3765101" y="576680"/>
          <a:ext cx="1434321" cy="543727"/>
        </a:xfrm>
        <a:prstGeom prst="roundRect">
          <a:avLst>
            <a:gd name="adj" fmla="val 10000"/>
          </a:avLst>
        </a:prstGeom>
        <a:solidFill>
          <a:srgbClr val="9BBB59">
            <a:lumMod val="60000"/>
            <a:lumOff val="40000"/>
          </a:srgbClr>
        </a:solidFill>
        <a:ln>
          <a:solidFill>
            <a:srgbClr val="1F497D"/>
          </a:solidFill>
        </a:ln>
        <a:effectLst>
          <a:outerShdw blurRad="40000" dist="23000" dir="5400000" rotWithShape="0">
            <a:srgbClr val="000000">
              <a:alpha val="35000"/>
            </a:srgbClr>
          </a:outerShdw>
        </a:effectLst>
      </dgm:spPr>
      <dgm:t>
        <a:bodyPr/>
        <a:lstStyle/>
        <a:p>
          <a:pPr>
            <a:buNone/>
          </a:pPr>
          <a:r>
            <a:rPr lang="en-US" sz="1400" dirty="0">
              <a:solidFill>
                <a:sysClr val="windowText" lastClr="000000"/>
              </a:solidFill>
              <a:latin typeface="Calibri"/>
              <a:ea typeface="+mn-ea"/>
              <a:cs typeface="+mn-cs"/>
            </a:rPr>
            <a:t>For each tree</a:t>
          </a:r>
        </a:p>
      </dgm:t>
    </dgm:pt>
    <dgm:pt modelId="{2370A48F-683F-8847-AFDD-02347086EDBC}" type="parTrans" cxnId="{A3B54C6E-8421-1E4B-A8CE-A92BC70ED8B2}">
      <dgm:prSet/>
      <dgm:spPr/>
      <dgm:t>
        <a:bodyPr/>
        <a:lstStyle/>
        <a:p>
          <a:endParaRPr lang="en-US"/>
        </a:p>
      </dgm:t>
    </dgm:pt>
    <dgm:pt modelId="{6DAA6D44-6F26-8548-903E-B85D00FB9822}" type="sibTrans" cxnId="{A3B54C6E-8421-1E4B-A8CE-A92BC70ED8B2}">
      <dgm:prSet/>
      <dgm:spPr/>
      <dgm:t>
        <a:bodyPr/>
        <a:lstStyle/>
        <a:p>
          <a:endParaRPr lang="en-US"/>
        </a:p>
      </dgm:t>
    </dgm:pt>
    <dgm:pt modelId="{FBA5408E-4077-2B40-B646-D908222BC38D}">
      <dgm:prSet phldrT="[Text]" custT="1"/>
      <dgm:spPr>
        <a:xfrm>
          <a:off x="5202674" y="1228567"/>
          <a:ext cx="1497970" cy="543727"/>
        </a:xfrm>
        <a:prstGeom prst="roundRect">
          <a:avLst>
            <a:gd name="adj" fmla="val 10000"/>
          </a:avLst>
        </a:prstGeom>
        <a:solidFill>
          <a:srgbClr val="9BBB59">
            <a:lumMod val="40000"/>
            <a:lumOff val="60000"/>
          </a:srgbClr>
        </a:solidFill>
        <a:ln>
          <a:noFill/>
        </a:ln>
        <a:effectLst>
          <a:outerShdw blurRad="40000" dist="23000" dir="5400000" rotWithShape="0">
            <a:srgbClr val="000000">
              <a:alpha val="35000"/>
            </a:srgbClr>
          </a:outerShdw>
        </a:effectLst>
      </dgm:spPr>
      <dgm:t>
        <a:bodyPr/>
        <a:lstStyle/>
        <a:p>
          <a:pPr>
            <a:buNone/>
          </a:pPr>
          <a:r>
            <a:rPr lang="en-US" sz="1200" dirty="0">
              <a:solidFill>
                <a:srgbClr val="000000"/>
              </a:solidFill>
              <a:latin typeface="Calibri"/>
              <a:ea typeface="+mn-ea"/>
              <a:cs typeface="+mn-cs"/>
            </a:rPr>
            <a:t>For each branch</a:t>
          </a:r>
        </a:p>
      </dgm:t>
    </dgm:pt>
    <dgm:pt modelId="{DAC687F9-DBB5-104D-BE87-0BD3F74CAF44}" type="parTrans" cxnId="{22519FF9-15B4-D945-B173-DEC05C671E09}">
      <dgm:prSet/>
      <dgm:spPr/>
      <dgm:t>
        <a:bodyPr/>
        <a:lstStyle/>
        <a:p>
          <a:endParaRPr lang="en-US"/>
        </a:p>
      </dgm:t>
    </dgm:pt>
    <dgm:pt modelId="{DC16B0B3-441D-FA4E-B59E-375165904DC1}" type="sibTrans" cxnId="{22519FF9-15B4-D945-B173-DEC05C671E09}">
      <dgm:prSet/>
      <dgm:spPr/>
      <dgm:t>
        <a:bodyPr/>
        <a:lstStyle/>
        <a:p>
          <a:endParaRPr lang="en-US"/>
        </a:p>
      </dgm:t>
    </dgm:pt>
    <dgm:pt modelId="{33CDD461-C314-AE45-B3B9-8BD1CF55FB7E}">
      <dgm:prSet phldrT="[Text]"/>
      <dgm:spPr>
        <a:xfrm>
          <a:off x="2112128" y="3241600"/>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Calculate Indirect (bounce) short vegetation scattering</a:t>
          </a:r>
        </a:p>
      </dgm:t>
    </dgm:pt>
    <dgm:pt modelId="{E28D84DE-FDF9-2F42-B3F9-C5A07E56B262}" type="parTrans" cxnId="{0D1A860F-AB3C-7B41-8F76-FA2308A24050}">
      <dgm:prSet/>
      <dgm:spPr>
        <a:xfrm>
          <a:off x="1782640" y="1645736"/>
          <a:ext cx="329488" cy="1867727"/>
        </a:xfrm>
        <a:custGeom>
          <a:avLst/>
          <a:gdLst/>
          <a:ahLst/>
          <a:cxnLst/>
          <a:rect l="0" t="0" r="0" b="0"/>
          <a:pathLst>
            <a:path>
              <a:moveTo>
                <a:pt x="0" y="0"/>
              </a:moveTo>
              <a:lnTo>
                <a:pt x="0" y="1867727"/>
              </a:lnTo>
              <a:lnTo>
                <a:pt x="329488" y="1867727"/>
              </a:lnTo>
            </a:path>
          </a:pathLst>
        </a:custGeom>
        <a:noFill/>
        <a:ln w="9525" cap="flat" cmpd="sng" algn="ctr">
          <a:solidFill>
            <a:srgbClr val="1F497D"/>
          </a:solidFill>
          <a:prstDash val="solid"/>
        </a:ln>
        <a:effectLst/>
      </dgm:spPr>
      <dgm:t>
        <a:bodyPr/>
        <a:lstStyle/>
        <a:p>
          <a:endParaRPr lang="en-US"/>
        </a:p>
      </dgm:t>
    </dgm:pt>
    <dgm:pt modelId="{17248675-C36A-904D-82E7-6039822DFA7A}" type="sibTrans" cxnId="{0D1A860F-AB3C-7B41-8F76-FA2308A24050}">
      <dgm:prSet/>
      <dgm:spPr/>
      <dgm:t>
        <a:bodyPr/>
        <a:lstStyle/>
        <a:p>
          <a:endParaRPr lang="en-US"/>
        </a:p>
      </dgm:t>
    </dgm:pt>
    <dgm:pt modelId="{2E5D8F50-57AD-0A4C-92B5-C1154757A29D}">
      <dgm:prSet phldrT="[Text]"/>
      <dgm:spPr>
        <a:xfrm>
          <a:off x="4039824" y="2139751"/>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Image tertiary branches</a:t>
          </a:r>
        </a:p>
      </dgm:t>
    </dgm:pt>
    <dgm:pt modelId="{13FDC9EB-C2CB-5048-8089-4B009C3C545A}" type="parTrans" cxnId="{49A2A376-1E3A-944D-9636-0E082D9A45A5}">
      <dgm:prSet/>
      <dgm:spPr>
        <a:xfrm>
          <a:off x="3908533" y="1120408"/>
          <a:ext cx="131291" cy="1291207"/>
        </a:xfrm>
        <a:custGeom>
          <a:avLst/>
          <a:gdLst/>
          <a:ahLst/>
          <a:cxnLst/>
          <a:rect l="0" t="0" r="0" b="0"/>
          <a:pathLst>
            <a:path>
              <a:moveTo>
                <a:pt x="0" y="0"/>
              </a:moveTo>
              <a:lnTo>
                <a:pt x="0" y="1291207"/>
              </a:lnTo>
              <a:lnTo>
                <a:pt x="131291" y="1291207"/>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85AEF1BD-4850-DA4B-A6F1-052CD5233C6F}" type="sibTrans" cxnId="{49A2A376-1E3A-944D-9636-0E082D9A45A5}">
      <dgm:prSet/>
      <dgm:spPr/>
      <dgm:t>
        <a:bodyPr/>
        <a:lstStyle/>
        <a:p>
          <a:endParaRPr lang="en-US"/>
        </a:p>
      </dgm:t>
    </dgm:pt>
    <dgm:pt modelId="{E779AF87-FB55-6949-8371-EBF8959F3246}">
      <dgm:prSet phldrT="[Text]"/>
      <dgm:spPr>
        <a:xfrm>
          <a:off x="4039824" y="2864111"/>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Image foliage</a:t>
          </a:r>
        </a:p>
      </dgm:t>
    </dgm:pt>
    <dgm:pt modelId="{0081F730-B4C9-764E-A88F-529837966675}" type="parTrans" cxnId="{1DF82875-8D7B-7841-B668-063A82376B2B}">
      <dgm:prSet/>
      <dgm:spPr>
        <a:xfrm>
          <a:off x="3908533" y="1120408"/>
          <a:ext cx="131291" cy="2015566"/>
        </a:xfrm>
        <a:custGeom>
          <a:avLst/>
          <a:gdLst/>
          <a:ahLst/>
          <a:cxnLst/>
          <a:rect l="0" t="0" r="0" b="0"/>
          <a:pathLst>
            <a:path>
              <a:moveTo>
                <a:pt x="0" y="0"/>
              </a:moveTo>
              <a:lnTo>
                <a:pt x="0" y="2015566"/>
              </a:lnTo>
              <a:lnTo>
                <a:pt x="131291" y="2015566"/>
              </a:lnTo>
            </a:path>
          </a:pathLst>
        </a:custGeom>
        <a:noFill/>
        <a:ln w="12700" cap="flat" cmpd="sng" algn="ctr">
          <a:solidFill>
            <a:scrgbClr r="0" g="0" b="0">
              <a:shade val="95000"/>
              <a:satMod val="105000"/>
            </a:scrgbClr>
          </a:solidFill>
          <a:prstDash val="solid"/>
        </a:ln>
        <a:effectLst/>
      </dgm:spPr>
      <dgm:t>
        <a:bodyPr/>
        <a:lstStyle/>
        <a:p>
          <a:endParaRPr lang="en-US"/>
        </a:p>
      </dgm:t>
    </dgm:pt>
    <dgm:pt modelId="{AF45941D-14BA-0649-AF03-878F32520D26}" type="sibTrans" cxnId="{1DF82875-8D7B-7841-B668-063A82376B2B}">
      <dgm:prSet/>
      <dgm:spPr/>
      <dgm:t>
        <a:bodyPr/>
        <a:lstStyle/>
        <a:p>
          <a:endParaRPr lang="en-US"/>
        </a:p>
      </dgm:t>
    </dgm:pt>
    <dgm:pt modelId="{705167E7-AC33-8140-B048-E1839606A987}">
      <dgm:prSet phldrT="[Text]"/>
      <dgm:spPr>
        <a:xfrm>
          <a:off x="4039824" y="1373872"/>
          <a:ext cx="869964" cy="543727"/>
        </a:xfrm>
        <a:prstGeom prst="roundRect">
          <a:avLst>
            <a:gd name="adj" fmla="val 10000"/>
          </a:avLst>
        </a:prstGeom>
        <a:solidFill>
          <a:srgbClr val="9BBB59">
            <a:lumMod val="40000"/>
            <a:lumOff val="60000"/>
            <a:alpha val="90000"/>
          </a:srgb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solidFill>
              <a:latin typeface="Calibri"/>
              <a:ea typeface="+mn-ea"/>
              <a:cs typeface="+mn-cs"/>
            </a:rPr>
            <a:t>Image stem, primary and secondary branches</a:t>
          </a:r>
        </a:p>
      </dgm:t>
    </dgm:pt>
    <dgm:pt modelId="{7EA61405-0429-0E42-8672-D8D7CEF48114}" type="parTrans" cxnId="{404A756E-D55E-A048-83A2-F2822DEA1273}">
      <dgm:prSet/>
      <dgm:spPr>
        <a:xfrm>
          <a:off x="3908533" y="1120408"/>
          <a:ext cx="131291" cy="525328"/>
        </a:xfrm>
        <a:custGeom>
          <a:avLst/>
          <a:gdLst/>
          <a:ahLst/>
          <a:cxnLst/>
          <a:rect l="0" t="0" r="0" b="0"/>
          <a:pathLst>
            <a:path>
              <a:moveTo>
                <a:pt x="0" y="0"/>
              </a:moveTo>
              <a:lnTo>
                <a:pt x="0" y="525328"/>
              </a:lnTo>
              <a:lnTo>
                <a:pt x="131291" y="525328"/>
              </a:lnTo>
            </a:path>
          </a:pathLst>
        </a:custGeom>
        <a:noFill/>
        <a:ln w="9525" cap="flat" cmpd="sng" algn="ctr">
          <a:solidFill>
            <a:srgbClr val="1F497D"/>
          </a:solidFill>
          <a:prstDash val="solid"/>
        </a:ln>
        <a:effectLst/>
      </dgm:spPr>
      <dgm:t>
        <a:bodyPr/>
        <a:lstStyle/>
        <a:p>
          <a:endParaRPr lang="en-US"/>
        </a:p>
      </dgm:t>
    </dgm:pt>
    <dgm:pt modelId="{940C07F4-9761-9A40-8FF8-075A28DB1A4A}" type="sibTrans" cxnId="{404A756E-D55E-A048-83A2-F2822DEA1273}">
      <dgm:prSet/>
      <dgm:spPr/>
      <dgm:t>
        <a:bodyPr/>
        <a:lstStyle/>
        <a:p>
          <a:endParaRPr lang="en-US"/>
        </a:p>
      </dgm:t>
    </dgm:pt>
    <dgm:pt modelId="{3CB0D013-E9CC-EC45-8C19-157D63144C83}">
      <dgm:prSet phldrT="[Text]"/>
      <dgm:spPr>
        <a:xfrm>
          <a:off x="296569" y="4713602"/>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Calibri"/>
              <a:ea typeface="+mn-ea"/>
              <a:cs typeface="+mn-cs"/>
            </a:rPr>
            <a:t>Initialize SAR stack</a:t>
          </a:r>
        </a:p>
      </dgm:t>
    </dgm:pt>
    <dgm:pt modelId="{94D4A961-756A-E94C-9CC6-D16A8EA63FD1}" type="sibTrans" cxnId="{B6252F8C-F844-2C45-BD15-DFC0EF286039}">
      <dgm:prSet/>
      <dgm:spPr/>
      <dgm:t>
        <a:bodyPr/>
        <a:lstStyle/>
        <a:p>
          <a:endParaRPr lang="en-US"/>
        </a:p>
      </dgm:t>
    </dgm:pt>
    <dgm:pt modelId="{010EED68-EDD5-EC44-A6A0-958307231118}" type="parTrans" cxnId="{B6252F8C-F844-2C45-BD15-DFC0EF286039}">
      <dgm:prSet/>
      <dgm:spPr>
        <a:xfrm>
          <a:off x="145710" y="618732"/>
          <a:ext cx="150858" cy="4366733"/>
        </a:xfrm>
        <a:custGeom>
          <a:avLst/>
          <a:gdLst/>
          <a:ahLst/>
          <a:cxnLst/>
          <a:rect l="0" t="0" r="0" b="0"/>
          <a:pathLst>
            <a:path>
              <a:moveTo>
                <a:pt x="0" y="0"/>
              </a:moveTo>
              <a:lnTo>
                <a:pt x="0" y="4366733"/>
              </a:lnTo>
              <a:lnTo>
                <a:pt x="150858" y="4366733"/>
              </a:lnTo>
            </a:path>
          </a:pathLst>
        </a:custGeom>
        <a:noFill/>
        <a:ln w="12700" cap="flat" cmpd="sng" algn="ctr">
          <a:solidFill>
            <a:srgbClr val="1F497D"/>
          </a:solidFill>
          <a:prstDash val="solid"/>
        </a:ln>
        <a:effectLst/>
      </dgm:spPr>
      <dgm:t>
        <a:bodyPr/>
        <a:lstStyle/>
        <a:p>
          <a:endParaRPr lang="en-US"/>
        </a:p>
      </dgm:t>
    </dgm:pt>
    <dgm:pt modelId="{64859771-D56C-404E-8E63-B115C84C6C79}">
      <dgm:prSet phldrT="[Text]" custT="1"/>
      <dgm:spPr>
        <a:xfrm>
          <a:off x="5526764" y="1943879"/>
          <a:ext cx="1043714" cy="543727"/>
        </a:xfrm>
        <a:prstGeom prst="roundRect">
          <a:avLst>
            <a:gd name="adj" fmla="val 10000"/>
          </a:avLst>
        </a:prstGeom>
        <a:solidFill>
          <a:srgbClr val="1F497D">
            <a:lumMod val="20000"/>
            <a:lumOff val="80000"/>
          </a:srgbClr>
        </a:solidFill>
        <a:ln w="9525" cap="flat" cmpd="sng" algn="ctr">
          <a:noFill/>
          <a:prstDash val="solid"/>
        </a:ln>
        <a:effectLst>
          <a:outerShdw blurRad="50800" dist="25400" dir="5580000" algn="tl" rotWithShape="0">
            <a:srgbClr val="000000">
              <a:alpha val="43000"/>
            </a:srgbClr>
          </a:outerShdw>
        </a:effectLst>
      </dgm:spPr>
      <dgm:t>
        <a:bodyPr/>
        <a:lstStyle/>
        <a:p>
          <a:pPr>
            <a:buNone/>
          </a:pPr>
          <a:r>
            <a:rPr lang="en-US" sz="1200" b="0" dirty="0">
              <a:solidFill>
                <a:srgbClr val="000000"/>
              </a:solidFill>
              <a:latin typeface="Calibri"/>
              <a:ea typeface="+mn-ea"/>
              <a:cs typeface="+mn-cs"/>
            </a:rPr>
            <a:t>For each track</a:t>
          </a:r>
        </a:p>
      </dgm:t>
    </dgm:pt>
    <dgm:pt modelId="{CCEDDAA7-F16F-7F4A-81CF-ACE06D60D2E6}" type="parTrans" cxnId="{68D527E5-7429-9A47-A867-093109F6DE1D}">
      <dgm:prSet/>
      <dgm:spPr>
        <a:xfrm>
          <a:off x="5352471" y="1772294"/>
          <a:ext cx="174293" cy="443448"/>
        </a:xfrm>
        <a:custGeom>
          <a:avLst/>
          <a:gdLst/>
          <a:ahLst/>
          <a:cxnLst/>
          <a:rect l="0" t="0" r="0" b="0"/>
          <a:pathLst>
            <a:path>
              <a:moveTo>
                <a:pt x="0" y="0"/>
              </a:moveTo>
              <a:lnTo>
                <a:pt x="0" y="443448"/>
              </a:lnTo>
              <a:lnTo>
                <a:pt x="174293" y="443448"/>
              </a:lnTo>
            </a:path>
          </a:pathLst>
        </a:custGeom>
        <a:noFill/>
        <a:ln w="12700" cap="flat" cmpd="sng" algn="ctr">
          <a:solidFill>
            <a:srgbClr val="1F497D"/>
          </a:solidFill>
          <a:prstDash val="solid"/>
        </a:ln>
        <a:effectLst/>
      </dgm:spPr>
      <dgm:t>
        <a:bodyPr/>
        <a:lstStyle/>
        <a:p>
          <a:endParaRPr lang="en-US"/>
        </a:p>
      </dgm:t>
    </dgm:pt>
    <dgm:pt modelId="{00FA055C-9FAA-C24A-A12D-4F6934728F34}" type="sibTrans" cxnId="{68D527E5-7429-9A47-A867-093109F6DE1D}">
      <dgm:prSet/>
      <dgm:spPr/>
      <dgm:t>
        <a:bodyPr/>
        <a:lstStyle/>
        <a:p>
          <a:endParaRPr lang="en-US"/>
        </a:p>
      </dgm:t>
    </dgm:pt>
    <dgm:pt modelId="{8B8ECC97-1130-2E4D-BAEC-08EBAE119800}" type="pres">
      <dgm:prSet presAssocID="{C918E037-B86E-9040-A269-4002B7AED4B9}" presName="diagram" presStyleCnt="0">
        <dgm:presLayoutVars>
          <dgm:chPref val="1"/>
          <dgm:dir/>
          <dgm:animOne val="branch"/>
          <dgm:animLvl val="lvl"/>
          <dgm:resizeHandles/>
        </dgm:presLayoutVars>
      </dgm:prSet>
      <dgm:spPr/>
    </dgm:pt>
    <dgm:pt modelId="{4B4D3856-D756-664B-85D3-8DA8FF328DBF}" type="pres">
      <dgm:prSet presAssocID="{95127E1E-F3E9-A740-9F37-DBD98CBBCE98}" presName="root" presStyleCnt="0"/>
      <dgm:spPr/>
    </dgm:pt>
    <dgm:pt modelId="{6843C11D-8AA8-FD48-88F4-AAC453416ABF}" type="pres">
      <dgm:prSet presAssocID="{95127E1E-F3E9-A740-9F37-DBD98CBBCE98}" presName="rootComposite" presStyleCnt="0"/>
      <dgm:spPr/>
    </dgm:pt>
    <dgm:pt modelId="{0AC2BE69-E48D-0D43-B5A8-6DFBF8DDD942}" type="pres">
      <dgm:prSet presAssocID="{95127E1E-F3E9-A740-9F37-DBD98CBBCE98}" presName="rootText" presStyleLbl="node1" presStyleIdx="0" presStyleCnt="4" custScaleX="133992" custScaleY="101155" custLinFactX="-3743" custLinFactNeighborX="-100000" custLinFactNeighborY="12605"/>
      <dgm:spPr/>
    </dgm:pt>
    <dgm:pt modelId="{08DBD38B-5925-2C45-B180-29039A58371A}" type="pres">
      <dgm:prSet presAssocID="{95127E1E-F3E9-A740-9F37-DBD98CBBCE98}" presName="rootConnector" presStyleLbl="node1" presStyleIdx="0" presStyleCnt="4"/>
      <dgm:spPr/>
    </dgm:pt>
    <dgm:pt modelId="{424781BA-B24C-254D-8CE3-8B129C410E93}" type="pres">
      <dgm:prSet presAssocID="{95127E1E-F3E9-A740-9F37-DBD98CBBCE98}" presName="childShape" presStyleCnt="0"/>
      <dgm:spPr/>
    </dgm:pt>
    <dgm:pt modelId="{0E1F9BF8-52FD-B946-A046-92A17994962D}" type="pres">
      <dgm:prSet presAssocID="{44CB8E94-6040-494A-A58C-FAF86D6C6CA6}" presName="Name13" presStyleLbl="parChTrans1D2" presStyleIdx="0" presStyleCnt="14"/>
      <dgm:spPr/>
    </dgm:pt>
    <dgm:pt modelId="{7C0D372C-E324-994F-A15B-1738D9B75A7F}" type="pres">
      <dgm:prSet presAssocID="{05ABB118-668E-0E4A-AE1E-E00D4470CE9C}" presName="childText" presStyleLbl="bgAcc1" presStyleIdx="0" presStyleCnt="14" custLinFactX="-28108" custLinFactNeighborX="-100000" custLinFactNeighborY="27">
        <dgm:presLayoutVars>
          <dgm:bulletEnabled val="1"/>
        </dgm:presLayoutVars>
      </dgm:prSet>
      <dgm:spPr/>
    </dgm:pt>
    <dgm:pt modelId="{991CACAC-7592-184E-81A8-396E77B13BF1}" type="pres">
      <dgm:prSet presAssocID="{120CB7F9-C1EC-BF43-B160-AA45F96441B1}" presName="Name13" presStyleLbl="parChTrans1D2" presStyleIdx="1" presStyleCnt="14"/>
      <dgm:spPr/>
    </dgm:pt>
    <dgm:pt modelId="{8710C31F-F9E7-EE40-A4C2-F56762C7399C}" type="pres">
      <dgm:prSet presAssocID="{E5302822-673B-794F-A9CE-D5933AFD9219}" presName="childText" presStyleLbl="bgAcc1" presStyleIdx="1" presStyleCnt="14" custLinFactX="-28108" custLinFactNeighborX="-100000" custLinFactNeighborY="27">
        <dgm:presLayoutVars>
          <dgm:bulletEnabled val="1"/>
        </dgm:presLayoutVars>
      </dgm:prSet>
      <dgm:spPr/>
    </dgm:pt>
    <dgm:pt modelId="{46574E0D-A4B0-5441-8F5E-995B8D12594F}" type="pres">
      <dgm:prSet presAssocID="{450209C3-E9B4-0547-B563-6EDDD4D1F423}" presName="Name13" presStyleLbl="parChTrans1D2" presStyleIdx="2" presStyleCnt="14"/>
      <dgm:spPr/>
    </dgm:pt>
    <dgm:pt modelId="{001FEB77-AAB5-6F48-96B8-3088D444B2A4}" type="pres">
      <dgm:prSet presAssocID="{824D0C7A-EE20-3947-AB23-0DA236756437}" presName="childText" presStyleLbl="bgAcc1" presStyleIdx="2" presStyleCnt="14" custLinFactX="-28108" custLinFactNeighborX="-100000" custLinFactNeighborY="27">
        <dgm:presLayoutVars>
          <dgm:bulletEnabled val="1"/>
        </dgm:presLayoutVars>
      </dgm:prSet>
      <dgm:spPr/>
    </dgm:pt>
    <dgm:pt modelId="{C02D46E7-AAA6-324B-B46D-5160E708E31C}" type="pres">
      <dgm:prSet presAssocID="{7A2AFB4E-64BD-DB41-BF83-3D2C59DCC08E}" presName="Name13" presStyleLbl="parChTrans1D2" presStyleIdx="3" presStyleCnt="14"/>
      <dgm:spPr/>
    </dgm:pt>
    <dgm:pt modelId="{9C031366-C59D-694B-94A6-C9B3CBAD1D22}" type="pres">
      <dgm:prSet presAssocID="{F4800DA5-1D42-2744-886F-D03BD7EFE77C}" presName="childText" presStyleLbl="bgAcc1" presStyleIdx="3" presStyleCnt="14" custLinFactX="-28108" custLinFactNeighborX="-100000" custLinFactNeighborY="27">
        <dgm:presLayoutVars>
          <dgm:bulletEnabled val="1"/>
        </dgm:presLayoutVars>
      </dgm:prSet>
      <dgm:spPr/>
    </dgm:pt>
    <dgm:pt modelId="{2D604556-996F-9046-8ECD-C2905F93CAA7}" type="pres">
      <dgm:prSet presAssocID="{A733D4DB-A0C5-9443-995A-80ED44DF8774}" presName="Name13" presStyleLbl="parChTrans1D2" presStyleIdx="4" presStyleCnt="14"/>
      <dgm:spPr/>
    </dgm:pt>
    <dgm:pt modelId="{3E5229B9-62E6-2E47-86E0-6A0DDF3C3C52}" type="pres">
      <dgm:prSet presAssocID="{BC2F5731-72F8-5C43-89A0-1D580F5233AB}" presName="childText" presStyleLbl="bgAcc1" presStyleIdx="4" presStyleCnt="14" custLinFactX="-28108" custLinFactNeighborX="-100000" custLinFactNeighborY="27">
        <dgm:presLayoutVars>
          <dgm:bulletEnabled val="1"/>
        </dgm:presLayoutVars>
      </dgm:prSet>
      <dgm:spPr/>
    </dgm:pt>
    <dgm:pt modelId="{CA9FCD3D-17F0-184C-9167-CFDF3F95CEC1}" type="pres">
      <dgm:prSet presAssocID="{E489CF8D-5AD8-4843-A945-A39FDFCB78C9}" presName="Name13" presStyleLbl="parChTrans1D2" presStyleIdx="5" presStyleCnt="14"/>
      <dgm:spPr/>
    </dgm:pt>
    <dgm:pt modelId="{DAD42007-6196-7E48-8E94-267A7D2C4D8B}" type="pres">
      <dgm:prSet presAssocID="{960D1636-FC37-0845-B5D1-60C993599F94}" presName="childText" presStyleLbl="bgAcc1" presStyleIdx="5" presStyleCnt="14" custLinFactX="-28108" custLinFactNeighborX="-100000" custLinFactNeighborY="27">
        <dgm:presLayoutVars>
          <dgm:bulletEnabled val="1"/>
        </dgm:presLayoutVars>
      </dgm:prSet>
      <dgm:spPr/>
    </dgm:pt>
    <dgm:pt modelId="{154829A2-8EC6-6C4D-9D9C-B7CE6835CEFD}" type="pres">
      <dgm:prSet presAssocID="{010EED68-EDD5-EC44-A6A0-958307231118}" presName="Name13" presStyleLbl="parChTrans1D2" presStyleIdx="6" presStyleCnt="14"/>
      <dgm:spPr/>
    </dgm:pt>
    <dgm:pt modelId="{516BF9AC-64EF-DE49-B451-063907491CB3}" type="pres">
      <dgm:prSet presAssocID="{3CB0D013-E9CC-EC45-8C19-157D63144C83}" presName="childText" presStyleLbl="bgAcc1" presStyleIdx="6" presStyleCnt="14" custLinFactX="-26516" custLinFactNeighborX="-100000" custLinFactNeighborY="-9285">
        <dgm:presLayoutVars>
          <dgm:bulletEnabled val="1"/>
        </dgm:presLayoutVars>
      </dgm:prSet>
      <dgm:spPr/>
    </dgm:pt>
    <dgm:pt modelId="{AC8B276C-5DB7-5F45-B0B3-2DA2E8FC8527}" type="pres">
      <dgm:prSet presAssocID="{DB717E52-9950-434F-BEA9-44D52A63C062}" presName="root" presStyleCnt="0"/>
      <dgm:spPr/>
    </dgm:pt>
    <dgm:pt modelId="{51A7A269-49F1-E846-BAE1-25E09A026E51}" type="pres">
      <dgm:prSet presAssocID="{DB717E52-9950-434F-BEA9-44D52A63C062}" presName="rootComposite" presStyleCnt="0"/>
      <dgm:spPr/>
    </dgm:pt>
    <dgm:pt modelId="{247594D8-1CD4-5545-A0D4-5835BE415891}" type="pres">
      <dgm:prSet presAssocID="{DB717E52-9950-434F-BEA9-44D52A63C062}" presName="rootText" presStyleLbl="node1" presStyleIdx="1" presStyleCnt="4" custScaleX="131494" custLinFactX="-9900" custLinFactY="100000" custLinFactNeighborX="-100000" custLinFactNeighborY="102642"/>
      <dgm:spPr/>
    </dgm:pt>
    <dgm:pt modelId="{0F729638-C868-6C46-A121-0E31567786CA}" type="pres">
      <dgm:prSet presAssocID="{DB717E52-9950-434F-BEA9-44D52A63C062}" presName="rootConnector" presStyleLbl="node1" presStyleIdx="1" presStyleCnt="4"/>
      <dgm:spPr/>
    </dgm:pt>
    <dgm:pt modelId="{73C74558-19ED-7743-8077-151CEC2D697C}" type="pres">
      <dgm:prSet presAssocID="{DB717E52-9950-434F-BEA9-44D52A63C062}" presName="childShape" presStyleCnt="0"/>
      <dgm:spPr/>
    </dgm:pt>
    <dgm:pt modelId="{90183287-0E0B-E940-8F66-1679B148CA64}" type="pres">
      <dgm:prSet presAssocID="{2C7B8636-B9B2-0946-8C59-2BFCC48F7EB4}" presName="Name13" presStyleLbl="parChTrans1D2" presStyleIdx="7" presStyleCnt="14"/>
      <dgm:spPr/>
    </dgm:pt>
    <dgm:pt modelId="{61992F41-ACE1-064E-8E35-33567A7E8156}" type="pres">
      <dgm:prSet presAssocID="{C459BC37-B25C-A44E-B56E-7D33278D1EEE}" presName="childText" presStyleLbl="bgAcc1" presStyleIdx="7" presStyleCnt="14" custLinFactX="-15533" custLinFactY="100000" custLinFactNeighborX="-100000" custLinFactNeighborY="125868">
        <dgm:presLayoutVars>
          <dgm:bulletEnabled val="1"/>
        </dgm:presLayoutVars>
      </dgm:prSet>
      <dgm:spPr/>
    </dgm:pt>
    <dgm:pt modelId="{74C023C8-2218-A142-A448-0DFC3C067E18}" type="pres">
      <dgm:prSet presAssocID="{629D2C07-DA2B-A044-9353-52ECB5DD58BF}" presName="Name13" presStyleLbl="parChTrans1D2" presStyleIdx="8" presStyleCnt="14"/>
      <dgm:spPr/>
    </dgm:pt>
    <dgm:pt modelId="{BE2C0A21-9C16-4D41-8416-324BA43F937C}" type="pres">
      <dgm:prSet presAssocID="{F0722DB4-BE6F-F048-8F0B-52C8A595A600}" presName="childText" presStyleLbl="bgAcc1" presStyleIdx="8" presStyleCnt="14" custLinFactX="-15533" custLinFactY="100000" custLinFactNeighborX="-100000" custLinFactNeighborY="125868">
        <dgm:presLayoutVars>
          <dgm:bulletEnabled val="1"/>
        </dgm:presLayoutVars>
      </dgm:prSet>
      <dgm:spPr/>
    </dgm:pt>
    <dgm:pt modelId="{460138E4-2AEB-854E-B6C4-6005FE208DC6}" type="pres">
      <dgm:prSet presAssocID="{E28D84DE-FDF9-2F42-B3F9-C5A07E56B262}" presName="Name13" presStyleLbl="parChTrans1D2" presStyleIdx="9" presStyleCnt="14"/>
      <dgm:spPr/>
    </dgm:pt>
    <dgm:pt modelId="{A52E9927-AACA-7D42-A2E0-2B587FC952F6}" type="pres">
      <dgm:prSet presAssocID="{33CDD461-C314-AE45-B3B9-8BD1CF55FB7E}" presName="childText" presStyleLbl="bgAcc1" presStyleIdx="9" presStyleCnt="14" custLinFactX="-15938" custLinFactY="100000" custLinFactNeighborX="-100000" custLinFactNeighborY="121146">
        <dgm:presLayoutVars>
          <dgm:bulletEnabled val="1"/>
        </dgm:presLayoutVars>
      </dgm:prSet>
      <dgm:spPr/>
    </dgm:pt>
    <dgm:pt modelId="{046975EE-E8D2-904A-9000-3417DA805C76}" type="pres">
      <dgm:prSet presAssocID="{2E590367-6AD4-4449-BD0C-27DE1FF28230}" presName="root" presStyleCnt="0"/>
      <dgm:spPr/>
    </dgm:pt>
    <dgm:pt modelId="{6CC75CE1-9D5F-6F4F-9A25-BB1BC4F72B02}" type="pres">
      <dgm:prSet presAssocID="{2E590367-6AD4-4449-BD0C-27DE1FF28230}" presName="rootComposite" presStyleCnt="0"/>
      <dgm:spPr/>
    </dgm:pt>
    <dgm:pt modelId="{0DB16559-1147-BC40-94C9-92316A221D3F}" type="pres">
      <dgm:prSet presAssocID="{2E590367-6AD4-4449-BD0C-27DE1FF28230}" presName="rootText" presStyleLbl="node1" presStyleIdx="2" presStyleCnt="4" custScaleX="131897" custLinFactY="6026" custLinFactNeighborX="-70942" custLinFactNeighborY="100000"/>
      <dgm:spPr/>
    </dgm:pt>
    <dgm:pt modelId="{DA4051F9-A938-854A-837A-2A781761638B}" type="pres">
      <dgm:prSet presAssocID="{2E590367-6AD4-4449-BD0C-27DE1FF28230}" presName="rootConnector" presStyleLbl="node1" presStyleIdx="2" presStyleCnt="4"/>
      <dgm:spPr/>
    </dgm:pt>
    <dgm:pt modelId="{5D1CB818-8C41-5E4C-99EE-35343BA5E144}" type="pres">
      <dgm:prSet presAssocID="{2E590367-6AD4-4449-BD0C-27DE1FF28230}" presName="childShape" presStyleCnt="0"/>
      <dgm:spPr/>
    </dgm:pt>
    <dgm:pt modelId="{74A96FA9-002A-2448-BB05-00CE95677897}" type="pres">
      <dgm:prSet presAssocID="{7EA61405-0429-0E42-8672-D8D7CEF48114}" presName="Name13" presStyleLbl="parChTrans1D2" presStyleIdx="10" presStyleCnt="14"/>
      <dgm:spPr/>
    </dgm:pt>
    <dgm:pt modelId="{3E63C362-2805-B54F-BF7F-298AC29FA3DC}" type="pres">
      <dgm:prSet presAssocID="{705167E7-AC33-8140-B048-E1839606A987}" presName="childText" presStyleLbl="bgAcc1" presStyleIdx="10" presStyleCnt="14" custLinFactY="27642" custLinFactNeighborX="-90073" custLinFactNeighborY="100000">
        <dgm:presLayoutVars>
          <dgm:bulletEnabled val="1"/>
        </dgm:presLayoutVars>
      </dgm:prSet>
      <dgm:spPr/>
    </dgm:pt>
    <dgm:pt modelId="{F85C73FF-8BA3-2142-952A-C7BD3EEF8F00}" type="pres">
      <dgm:prSet presAssocID="{13FDC9EB-C2CB-5048-8089-4B009C3C545A}" presName="Name13" presStyleLbl="parChTrans1D2" presStyleIdx="11" presStyleCnt="14"/>
      <dgm:spPr/>
    </dgm:pt>
    <dgm:pt modelId="{2D5DC9E6-1DF7-F74A-AEB9-F49CE71B15C8}" type="pres">
      <dgm:prSet presAssocID="{2E5D8F50-57AD-0A4C-92B5-C1154757A29D}" presName="childText" presStyleLbl="bgAcc1" presStyleIdx="11" presStyleCnt="14" custLinFactY="43499" custLinFactNeighborX="-90073" custLinFactNeighborY="100000">
        <dgm:presLayoutVars>
          <dgm:bulletEnabled val="1"/>
        </dgm:presLayoutVars>
      </dgm:prSet>
      <dgm:spPr/>
    </dgm:pt>
    <dgm:pt modelId="{8C39ED7D-29F5-2D4C-B15B-39F7E7C19397}" type="pres">
      <dgm:prSet presAssocID="{0081F730-B4C9-764E-A88F-529837966675}" presName="Name13" presStyleLbl="parChTrans1D2" presStyleIdx="12" presStyleCnt="14"/>
      <dgm:spPr/>
    </dgm:pt>
    <dgm:pt modelId="{7E5DDDA7-4385-264B-9400-29B1A96798A5}" type="pres">
      <dgm:prSet presAssocID="{E779AF87-FB55-6949-8371-EBF8959F3246}" presName="childText" presStyleLbl="bgAcc1" presStyleIdx="12" presStyleCnt="14" custLinFactY="51720" custLinFactNeighborX="-90073" custLinFactNeighborY="100000">
        <dgm:presLayoutVars>
          <dgm:bulletEnabled val="1"/>
        </dgm:presLayoutVars>
      </dgm:prSet>
      <dgm:spPr/>
    </dgm:pt>
    <dgm:pt modelId="{4EF8FDC4-7932-5541-BBD0-8F2BDA9B43A1}" type="pres">
      <dgm:prSet presAssocID="{FBA5408E-4077-2B40-B646-D908222BC38D}" presName="root" presStyleCnt="0"/>
      <dgm:spPr/>
    </dgm:pt>
    <dgm:pt modelId="{C39F4F3F-CBDA-6442-9C7D-120813A1582A}" type="pres">
      <dgm:prSet presAssocID="{FBA5408E-4077-2B40-B646-D908222BC38D}" presName="rootComposite" presStyleCnt="0"/>
      <dgm:spPr/>
    </dgm:pt>
    <dgm:pt modelId="{683521D0-B539-F54C-BB60-2CF58AA7988D}" type="pres">
      <dgm:prSet presAssocID="{FBA5408E-4077-2B40-B646-D908222BC38D}" presName="rootText" presStyleLbl="node1" presStyleIdx="3" presStyleCnt="4" custScaleX="137750" custLinFactY="100000" custLinFactNeighborX="-95643" custLinFactNeighborY="125918"/>
      <dgm:spPr/>
    </dgm:pt>
    <dgm:pt modelId="{705B8C5E-06C0-8247-A2BE-2875B1C223E6}" type="pres">
      <dgm:prSet presAssocID="{FBA5408E-4077-2B40-B646-D908222BC38D}" presName="rootConnector" presStyleLbl="node1" presStyleIdx="3" presStyleCnt="4"/>
      <dgm:spPr/>
    </dgm:pt>
    <dgm:pt modelId="{32CE51D8-B5B2-CF4B-BE2A-B19DDFF0D7B6}" type="pres">
      <dgm:prSet presAssocID="{FBA5408E-4077-2B40-B646-D908222BC38D}" presName="childShape" presStyleCnt="0"/>
      <dgm:spPr/>
    </dgm:pt>
    <dgm:pt modelId="{FD324BCB-825E-8144-9D5F-C6F677E89E42}" type="pres">
      <dgm:prSet presAssocID="{CCEDDAA7-F16F-7F4A-81CF-ACE06D60D2E6}" presName="Name13" presStyleLbl="parChTrans1D2" presStyleIdx="13" presStyleCnt="14"/>
      <dgm:spPr/>
    </dgm:pt>
    <dgm:pt modelId="{397EB76A-7DBE-6849-BCDE-A3FF9856BC5B}" type="pres">
      <dgm:prSet presAssocID="{64859771-D56C-404E-8E63-B115C84C6C79}" presName="childText" presStyleLbl="bgAcc1" presStyleIdx="13" presStyleCnt="14" custScaleX="119972" custLinFactX="-16738" custLinFactY="100000" custLinFactNeighborX="-100000" custLinFactNeighborY="132475">
        <dgm:presLayoutVars>
          <dgm:bulletEnabled val="1"/>
        </dgm:presLayoutVars>
      </dgm:prSet>
      <dgm:spPr/>
    </dgm:pt>
  </dgm:ptLst>
  <dgm:cxnLst>
    <dgm:cxn modelId="{4CB23100-B764-E84E-9E6F-80B17CD4DECF}" srcId="{DB717E52-9950-434F-BEA9-44D52A63C062}" destId="{F0722DB4-BE6F-F048-8F0B-52C8A595A600}" srcOrd="1" destOrd="0" parTransId="{629D2C07-DA2B-A044-9353-52ECB5DD58BF}" sibTransId="{F718ECB3-9B46-EB49-9526-88DA75AAA239}"/>
    <dgm:cxn modelId="{4EFB5701-3247-E348-BF89-103D0E121D6F}" type="presOf" srcId="{0081F730-B4C9-764E-A88F-529837966675}" destId="{8C39ED7D-29F5-2D4C-B15B-39F7E7C19397}" srcOrd="0" destOrd="0" presId="urn:microsoft.com/office/officeart/2005/8/layout/hierarchy3"/>
    <dgm:cxn modelId="{204BF403-85D5-CD4C-AA5E-6B25E69DD89A}" type="presOf" srcId="{7A2AFB4E-64BD-DB41-BF83-3D2C59DCC08E}" destId="{C02D46E7-AAA6-324B-B46D-5160E708E31C}" srcOrd="0" destOrd="0" presId="urn:microsoft.com/office/officeart/2005/8/layout/hierarchy3"/>
    <dgm:cxn modelId="{0D1A860F-AB3C-7B41-8F76-FA2308A24050}" srcId="{DB717E52-9950-434F-BEA9-44D52A63C062}" destId="{33CDD461-C314-AE45-B3B9-8BD1CF55FB7E}" srcOrd="2" destOrd="0" parTransId="{E28D84DE-FDF9-2F42-B3F9-C5A07E56B262}" sibTransId="{17248675-C36A-904D-82E7-6039822DFA7A}"/>
    <dgm:cxn modelId="{9EAA1A21-4B9D-1B4A-8B30-E265BCDD5F88}" type="presOf" srcId="{13FDC9EB-C2CB-5048-8089-4B009C3C545A}" destId="{F85C73FF-8BA3-2142-952A-C7BD3EEF8F00}" srcOrd="0" destOrd="0" presId="urn:microsoft.com/office/officeart/2005/8/layout/hierarchy3"/>
    <dgm:cxn modelId="{6FA77D21-64FD-4246-A774-AA13B6BA1B6C}" type="presOf" srcId="{C918E037-B86E-9040-A269-4002B7AED4B9}" destId="{8B8ECC97-1130-2E4D-BAEC-08EBAE119800}" srcOrd="0" destOrd="0" presId="urn:microsoft.com/office/officeart/2005/8/layout/hierarchy3"/>
    <dgm:cxn modelId="{A7BB3028-2827-FF40-9B17-58880D579B9B}" type="presOf" srcId="{E5302822-673B-794F-A9CE-D5933AFD9219}" destId="{8710C31F-F9E7-EE40-A4C2-F56762C7399C}" srcOrd="0" destOrd="0" presId="urn:microsoft.com/office/officeart/2005/8/layout/hierarchy3"/>
    <dgm:cxn modelId="{C23ED62C-AE2D-494A-8CEC-C516C84516CF}" type="presOf" srcId="{2E5D8F50-57AD-0A4C-92B5-C1154757A29D}" destId="{2D5DC9E6-1DF7-F74A-AEB9-F49CE71B15C8}" srcOrd="0" destOrd="0" presId="urn:microsoft.com/office/officeart/2005/8/layout/hierarchy3"/>
    <dgm:cxn modelId="{6E28B93E-2C46-B44D-8379-0AEEDAA97B36}" srcId="{DB717E52-9950-434F-BEA9-44D52A63C062}" destId="{C459BC37-B25C-A44E-B56E-7D33278D1EEE}" srcOrd="0" destOrd="0" parTransId="{2C7B8636-B9B2-0946-8C59-2BFCC48F7EB4}" sibTransId="{06ED8C72-CCD9-4741-963B-21821DF7CB52}"/>
    <dgm:cxn modelId="{05BD8942-22BE-8B4E-B4F6-9DDC4C693063}" srcId="{95127E1E-F3E9-A740-9F37-DBD98CBBCE98}" destId="{960D1636-FC37-0845-B5D1-60C993599F94}" srcOrd="5" destOrd="0" parTransId="{E489CF8D-5AD8-4843-A945-A39FDFCB78C9}" sibTransId="{7C352FDB-736B-EC4A-8133-207C78BC054C}"/>
    <dgm:cxn modelId="{F36BA248-8BC5-AD40-87A3-7DD734E91C94}" srcId="{C918E037-B86E-9040-A269-4002B7AED4B9}" destId="{95127E1E-F3E9-A740-9F37-DBD98CBBCE98}" srcOrd="0" destOrd="0" parTransId="{8E50A873-76F6-814A-BFD4-EAF527417B8C}" sibTransId="{D03731CE-E509-E543-A704-739FB3EA0D6F}"/>
    <dgm:cxn modelId="{3316144D-A473-D54C-990D-27A843AD6B6B}" type="presOf" srcId="{CCEDDAA7-F16F-7F4A-81CF-ACE06D60D2E6}" destId="{FD324BCB-825E-8144-9D5F-C6F677E89E42}" srcOrd="0" destOrd="0" presId="urn:microsoft.com/office/officeart/2005/8/layout/hierarchy3"/>
    <dgm:cxn modelId="{DE51B34E-9237-8147-968F-8298B5D89A9A}" type="presOf" srcId="{2E590367-6AD4-4449-BD0C-27DE1FF28230}" destId="{DA4051F9-A938-854A-837A-2A781761638B}" srcOrd="1" destOrd="0" presId="urn:microsoft.com/office/officeart/2005/8/layout/hierarchy3"/>
    <dgm:cxn modelId="{54CD9E56-95F8-6A47-B492-2EF3B097CC80}" type="presOf" srcId="{F4800DA5-1D42-2744-886F-D03BD7EFE77C}" destId="{9C031366-C59D-694B-94A6-C9B3CBAD1D22}" srcOrd="0" destOrd="0" presId="urn:microsoft.com/office/officeart/2005/8/layout/hierarchy3"/>
    <dgm:cxn modelId="{AEDD0063-2FC0-F146-AF28-E8C0E76CC664}" type="presOf" srcId="{E489CF8D-5AD8-4843-A945-A39FDFCB78C9}" destId="{CA9FCD3D-17F0-184C-9167-CFDF3F95CEC1}" srcOrd="0" destOrd="0" presId="urn:microsoft.com/office/officeart/2005/8/layout/hierarchy3"/>
    <dgm:cxn modelId="{D4B19767-2C47-4748-A1C5-0768F5AA059A}" srcId="{95127E1E-F3E9-A740-9F37-DBD98CBBCE98}" destId="{824D0C7A-EE20-3947-AB23-0DA236756437}" srcOrd="2" destOrd="0" parTransId="{450209C3-E9B4-0547-B563-6EDDD4D1F423}" sibTransId="{19CB3698-2CB2-E24E-9E5D-7E5657B11A8C}"/>
    <dgm:cxn modelId="{A3B54C6E-8421-1E4B-A8CE-A92BC70ED8B2}" srcId="{C918E037-B86E-9040-A269-4002B7AED4B9}" destId="{2E590367-6AD4-4449-BD0C-27DE1FF28230}" srcOrd="2" destOrd="0" parTransId="{2370A48F-683F-8847-AFDD-02347086EDBC}" sibTransId="{6DAA6D44-6F26-8548-903E-B85D00FB9822}"/>
    <dgm:cxn modelId="{404A756E-D55E-A048-83A2-F2822DEA1273}" srcId="{2E590367-6AD4-4449-BD0C-27DE1FF28230}" destId="{705167E7-AC33-8140-B048-E1839606A987}" srcOrd="0" destOrd="0" parTransId="{7EA61405-0429-0E42-8672-D8D7CEF48114}" sibTransId="{940C07F4-9761-9A40-8FF8-075A28DB1A4A}"/>
    <dgm:cxn modelId="{4DE56974-3FBF-C542-9625-907C9A619C7B}" type="presOf" srcId="{95127E1E-F3E9-A740-9F37-DBD98CBBCE98}" destId="{08DBD38B-5925-2C45-B180-29039A58371A}" srcOrd="1" destOrd="0" presId="urn:microsoft.com/office/officeart/2005/8/layout/hierarchy3"/>
    <dgm:cxn modelId="{1DF82875-8D7B-7841-B668-063A82376B2B}" srcId="{2E590367-6AD4-4449-BD0C-27DE1FF28230}" destId="{E779AF87-FB55-6949-8371-EBF8959F3246}" srcOrd="2" destOrd="0" parTransId="{0081F730-B4C9-764E-A88F-529837966675}" sibTransId="{AF45941D-14BA-0649-AF03-878F32520D26}"/>
    <dgm:cxn modelId="{3D8E4376-614C-DA4F-869C-576BED5F7BEE}" type="presOf" srcId="{120CB7F9-C1EC-BF43-B160-AA45F96441B1}" destId="{991CACAC-7592-184E-81A8-396E77B13BF1}" srcOrd="0" destOrd="0" presId="urn:microsoft.com/office/officeart/2005/8/layout/hierarchy3"/>
    <dgm:cxn modelId="{49A2A376-1E3A-944D-9636-0E082D9A45A5}" srcId="{2E590367-6AD4-4449-BD0C-27DE1FF28230}" destId="{2E5D8F50-57AD-0A4C-92B5-C1154757A29D}" srcOrd="1" destOrd="0" parTransId="{13FDC9EB-C2CB-5048-8089-4B009C3C545A}" sibTransId="{85AEF1BD-4850-DA4B-A6F1-052CD5233C6F}"/>
    <dgm:cxn modelId="{06F7EC77-1628-E148-9C86-DE09E3E7385D}" type="presOf" srcId="{7EA61405-0429-0E42-8672-D8D7CEF48114}" destId="{74A96FA9-002A-2448-BB05-00CE95677897}" srcOrd="0" destOrd="0" presId="urn:microsoft.com/office/officeart/2005/8/layout/hierarchy3"/>
    <dgm:cxn modelId="{CB0F397C-6BA8-394A-95C0-7483238CDE69}" type="presOf" srcId="{960D1636-FC37-0845-B5D1-60C993599F94}" destId="{DAD42007-6196-7E48-8E94-267A7D2C4D8B}" srcOrd="0" destOrd="0" presId="urn:microsoft.com/office/officeart/2005/8/layout/hierarchy3"/>
    <dgm:cxn modelId="{51CBA586-4151-184C-81A7-44F5D0881692}" type="presOf" srcId="{DB717E52-9950-434F-BEA9-44D52A63C062}" destId="{247594D8-1CD4-5545-A0D4-5835BE415891}" srcOrd="0" destOrd="0" presId="urn:microsoft.com/office/officeart/2005/8/layout/hierarchy3"/>
    <dgm:cxn modelId="{B6252F8C-F844-2C45-BD15-DFC0EF286039}" srcId="{95127E1E-F3E9-A740-9F37-DBD98CBBCE98}" destId="{3CB0D013-E9CC-EC45-8C19-157D63144C83}" srcOrd="6" destOrd="0" parTransId="{010EED68-EDD5-EC44-A6A0-958307231118}" sibTransId="{94D4A961-756A-E94C-9CC6-D16A8EA63FD1}"/>
    <dgm:cxn modelId="{B06B5D90-A0A6-1040-B9BB-0A2E2E50BAAE}" type="presOf" srcId="{A733D4DB-A0C5-9443-995A-80ED44DF8774}" destId="{2D604556-996F-9046-8ECD-C2905F93CAA7}" srcOrd="0" destOrd="0" presId="urn:microsoft.com/office/officeart/2005/8/layout/hierarchy3"/>
    <dgm:cxn modelId="{D8215496-6797-5C44-9B34-388BF159C008}" type="presOf" srcId="{629D2C07-DA2B-A044-9353-52ECB5DD58BF}" destId="{74C023C8-2218-A142-A448-0DFC3C067E18}" srcOrd="0" destOrd="0" presId="urn:microsoft.com/office/officeart/2005/8/layout/hierarchy3"/>
    <dgm:cxn modelId="{F0A88699-7DC0-394F-945D-747E56B41FF0}" type="presOf" srcId="{705167E7-AC33-8140-B048-E1839606A987}" destId="{3E63C362-2805-B54F-BF7F-298AC29FA3DC}" srcOrd="0" destOrd="0" presId="urn:microsoft.com/office/officeart/2005/8/layout/hierarchy3"/>
    <dgm:cxn modelId="{A0809F99-2EA9-DE4B-87B2-B6E62957F06D}" type="presOf" srcId="{3CB0D013-E9CC-EC45-8C19-157D63144C83}" destId="{516BF9AC-64EF-DE49-B451-063907491CB3}" srcOrd="0" destOrd="0" presId="urn:microsoft.com/office/officeart/2005/8/layout/hierarchy3"/>
    <dgm:cxn modelId="{E89DCE9C-909C-C94A-9ADD-5E2A594D0BF5}" type="presOf" srcId="{F0722DB4-BE6F-F048-8F0B-52C8A595A600}" destId="{BE2C0A21-9C16-4D41-8416-324BA43F937C}" srcOrd="0" destOrd="0" presId="urn:microsoft.com/office/officeart/2005/8/layout/hierarchy3"/>
    <dgm:cxn modelId="{7873319D-8D02-B94C-A8CD-4452BBB197D5}" type="presOf" srcId="{BC2F5731-72F8-5C43-89A0-1D580F5233AB}" destId="{3E5229B9-62E6-2E47-86E0-6A0DDF3C3C52}" srcOrd="0" destOrd="0" presId="urn:microsoft.com/office/officeart/2005/8/layout/hierarchy3"/>
    <dgm:cxn modelId="{8D2E529D-D8BE-E747-BF29-C9E064D83764}" srcId="{C918E037-B86E-9040-A269-4002B7AED4B9}" destId="{DB717E52-9950-434F-BEA9-44D52A63C062}" srcOrd="1" destOrd="0" parTransId="{C977DE3A-1E23-AB40-BA81-8284B3C2966E}" sibTransId="{82A31C39-CCD6-2743-888E-D6FE19510F60}"/>
    <dgm:cxn modelId="{9BDDA4A0-2747-D640-9EAE-B8AB1A517F00}" type="presOf" srcId="{C459BC37-B25C-A44E-B56E-7D33278D1EEE}" destId="{61992F41-ACE1-064E-8E35-33567A7E8156}" srcOrd="0" destOrd="0" presId="urn:microsoft.com/office/officeart/2005/8/layout/hierarchy3"/>
    <dgm:cxn modelId="{923E42AA-E1B5-564C-8EBF-4275D0B039EC}" type="presOf" srcId="{2E590367-6AD4-4449-BD0C-27DE1FF28230}" destId="{0DB16559-1147-BC40-94C9-92316A221D3F}" srcOrd="0" destOrd="0" presId="urn:microsoft.com/office/officeart/2005/8/layout/hierarchy3"/>
    <dgm:cxn modelId="{F3B353C2-D9D1-D84C-AF20-8FE4011A42C6}" type="presOf" srcId="{FBA5408E-4077-2B40-B646-D908222BC38D}" destId="{705B8C5E-06C0-8247-A2BE-2875B1C223E6}" srcOrd="1" destOrd="0" presId="urn:microsoft.com/office/officeart/2005/8/layout/hierarchy3"/>
    <dgm:cxn modelId="{710197C2-F0E3-8747-A9BC-0994D8CFBCCF}" type="presOf" srcId="{450209C3-E9B4-0547-B563-6EDDD4D1F423}" destId="{46574E0D-A4B0-5441-8F5E-995B8D12594F}" srcOrd="0" destOrd="0" presId="urn:microsoft.com/office/officeart/2005/8/layout/hierarchy3"/>
    <dgm:cxn modelId="{011638C7-298D-C64E-AF61-97AD7502A36C}" type="presOf" srcId="{44CB8E94-6040-494A-A58C-FAF86D6C6CA6}" destId="{0E1F9BF8-52FD-B946-A046-92A17994962D}" srcOrd="0" destOrd="0" presId="urn:microsoft.com/office/officeart/2005/8/layout/hierarchy3"/>
    <dgm:cxn modelId="{3A4A66C8-DE5C-FE42-8E42-B0CE769BCBC0}" type="presOf" srcId="{010EED68-EDD5-EC44-A6A0-958307231118}" destId="{154829A2-8EC6-6C4D-9D9C-B7CE6835CEFD}" srcOrd="0" destOrd="0" presId="urn:microsoft.com/office/officeart/2005/8/layout/hierarchy3"/>
    <dgm:cxn modelId="{5A0D75C8-5FE7-1041-A65A-4D8E4DE9EE6D}" type="presOf" srcId="{FBA5408E-4077-2B40-B646-D908222BC38D}" destId="{683521D0-B539-F54C-BB60-2CF58AA7988D}" srcOrd="0" destOrd="0" presId="urn:microsoft.com/office/officeart/2005/8/layout/hierarchy3"/>
    <dgm:cxn modelId="{688081CB-6230-914B-A5FE-D9B65659C6E4}" type="presOf" srcId="{05ABB118-668E-0E4A-AE1E-E00D4470CE9C}" destId="{7C0D372C-E324-994F-A15B-1738D9B75A7F}" srcOrd="0" destOrd="0" presId="urn:microsoft.com/office/officeart/2005/8/layout/hierarchy3"/>
    <dgm:cxn modelId="{F2B2D4D2-AD10-1440-90A5-B7A136331501}" type="presOf" srcId="{824D0C7A-EE20-3947-AB23-0DA236756437}" destId="{001FEB77-AAB5-6F48-96B8-3088D444B2A4}" srcOrd="0" destOrd="0" presId="urn:microsoft.com/office/officeart/2005/8/layout/hierarchy3"/>
    <dgm:cxn modelId="{64B756D7-68BC-F845-B36D-7A45DB93967D}" type="presOf" srcId="{DB717E52-9950-434F-BEA9-44D52A63C062}" destId="{0F729638-C868-6C46-A121-0E31567786CA}" srcOrd="1" destOrd="0" presId="urn:microsoft.com/office/officeart/2005/8/layout/hierarchy3"/>
    <dgm:cxn modelId="{F6855BD9-43C6-3740-BDDE-6D07E42B6CCC}" type="presOf" srcId="{E28D84DE-FDF9-2F42-B3F9-C5A07E56B262}" destId="{460138E4-2AEB-854E-B6C4-6005FE208DC6}" srcOrd="0" destOrd="0" presId="urn:microsoft.com/office/officeart/2005/8/layout/hierarchy3"/>
    <dgm:cxn modelId="{5F45A1DC-D478-9143-AC4E-801311D0B36F}" type="presOf" srcId="{64859771-D56C-404E-8E63-B115C84C6C79}" destId="{397EB76A-7DBE-6849-BCDE-A3FF9856BC5B}" srcOrd="0" destOrd="0" presId="urn:microsoft.com/office/officeart/2005/8/layout/hierarchy3"/>
    <dgm:cxn modelId="{3637E0DF-562E-5940-9CEB-FB1F04430078}" srcId="{95127E1E-F3E9-A740-9F37-DBD98CBBCE98}" destId="{05ABB118-668E-0E4A-AE1E-E00D4470CE9C}" srcOrd="0" destOrd="0" parTransId="{44CB8E94-6040-494A-A58C-FAF86D6C6CA6}" sibTransId="{0C98EAFF-CE47-FD41-9167-D75B6DBF60CA}"/>
    <dgm:cxn modelId="{68D527E5-7429-9A47-A867-093109F6DE1D}" srcId="{FBA5408E-4077-2B40-B646-D908222BC38D}" destId="{64859771-D56C-404E-8E63-B115C84C6C79}" srcOrd="0" destOrd="0" parTransId="{CCEDDAA7-F16F-7F4A-81CF-ACE06D60D2E6}" sibTransId="{00FA055C-9FAA-C24A-A12D-4F6934728F34}"/>
    <dgm:cxn modelId="{46F81BE9-C783-5C4C-9F18-877B07C913DD}" srcId="{95127E1E-F3E9-A740-9F37-DBD98CBBCE98}" destId="{E5302822-673B-794F-A9CE-D5933AFD9219}" srcOrd="1" destOrd="0" parTransId="{120CB7F9-C1EC-BF43-B160-AA45F96441B1}" sibTransId="{D857C9D0-92C9-A04D-9A32-928B403444AC}"/>
    <dgm:cxn modelId="{19E4C2EE-AC49-6348-B253-2D5D4B77CFB4}" type="presOf" srcId="{33CDD461-C314-AE45-B3B9-8BD1CF55FB7E}" destId="{A52E9927-AACA-7D42-A2E0-2B587FC952F6}" srcOrd="0" destOrd="0" presId="urn:microsoft.com/office/officeart/2005/8/layout/hierarchy3"/>
    <dgm:cxn modelId="{DD32E9EE-A5CC-9749-B7F7-40ED01FB38B0}" srcId="{95127E1E-F3E9-A740-9F37-DBD98CBBCE98}" destId="{F4800DA5-1D42-2744-886F-D03BD7EFE77C}" srcOrd="3" destOrd="0" parTransId="{7A2AFB4E-64BD-DB41-BF83-3D2C59DCC08E}" sibTransId="{4A104CD2-C592-4442-802F-7C447B5F0781}"/>
    <dgm:cxn modelId="{2B4C5FEF-F640-5A44-9CA8-71C9955A6C7A}" type="presOf" srcId="{2C7B8636-B9B2-0946-8C59-2BFCC48F7EB4}" destId="{90183287-0E0B-E940-8F66-1679B148CA64}" srcOrd="0" destOrd="0" presId="urn:microsoft.com/office/officeart/2005/8/layout/hierarchy3"/>
    <dgm:cxn modelId="{0D783CF5-71BA-0945-988C-2FB98E806D66}" srcId="{95127E1E-F3E9-A740-9F37-DBD98CBBCE98}" destId="{BC2F5731-72F8-5C43-89A0-1D580F5233AB}" srcOrd="4" destOrd="0" parTransId="{A733D4DB-A0C5-9443-995A-80ED44DF8774}" sibTransId="{C2A62ADA-7227-BE46-ABAD-3BC30280A6EB}"/>
    <dgm:cxn modelId="{5D2E9DF7-669D-2A48-B700-2823E5E987C3}" type="presOf" srcId="{95127E1E-F3E9-A740-9F37-DBD98CBBCE98}" destId="{0AC2BE69-E48D-0D43-B5A8-6DFBF8DDD942}" srcOrd="0" destOrd="0" presId="urn:microsoft.com/office/officeart/2005/8/layout/hierarchy3"/>
    <dgm:cxn modelId="{22519FF9-15B4-D945-B173-DEC05C671E09}" srcId="{C918E037-B86E-9040-A269-4002B7AED4B9}" destId="{FBA5408E-4077-2B40-B646-D908222BC38D}" srcOrd="3" destOrd="0" parTransId="{DAC687F9-DBB5-104D-BE87-0BD3F74CAF44}" sibTransId="{DC16B0B3-441D-FA4E-B59E-375165904DC1}"/>
    <dgm:cxn modelId="{2C5A78FF-6797-B94B-8DDE-71248624F0F3}" type="presOf" srcId="{E779AF87-FB55-6949-8371-EBF8959F3246}" destId="{7E5DDDA7-4385-264B-9400-29B1A96798A5}" srcOrd="0" destOrd="0" presId="urn:microsoft.com/office/officeart/2005/8/layout/hierarchy3"/>
    <dgm:cxn modelId="{619043B5-5F48-294E-9A11-F86B53F47F80}" type="presParOf" srcId="{8B8ECC97-1130-2E4D-BAEC-08EBAE119800}" destId="{4B4D3856-D756-664B-85D3-8DA8FF328DBF}" srcOrd="0" destOrd="0" presId="urn:microsoft.com/office/officeart/2005/8/layout/hierarchy3"/>
    <dgm:cxn modelId="{83258009-9F10-5840-B579-420C17D55299}" type="presParOf" srcId="{4B4D3856-D756-664B-85D3-8DA8FF328DBF}" destId="{6843C11D-8AA8-FD48-88F4-AAC453416ABF}" srcOrd="0" destOrd="0" presId="urn:microsoft.com/office/officeart/2005/8/layout/hierarchy3"/>
    <dgm:cxn modelId="{483FF9F7-2D34-484D-AFF6-4FEDB476BBFE}" type="presParOf" srcId="{6843C11D-8AA8-FD48-88F4-AAC453416ABF}" destId="{0AC2BE69-E48D-0D43-B5A8-6DFBF8DDD942}" srcOrd="0" destOrd="0" presId="urn:microsoft.com/office/officeart/2005/8/layout/hierarchy3"/>
    <dgm:cxn modelId="{EB55C569-3302-5F4B-A9CE-6F1FF0698BD4}" type="presParOf" srcId="{6843C11D-8AA8-FD48-88F4-AAC453416ABF}" destId="{08DBD38B-5925-2C45-B180-29039A58371A}" srcOrd="1" destOrd="0" presId="urn:microsoft.com/office/officeart/2005/8/layout/hierarchy3"/>
    <dgm:cxn modelId="{9B4F35EB-D0F5-1549-936B-F176D6BB5D4F}" type="presParOf" srcId="{4B4D3856-D756-664B-85D3-8DA8FF328DBF}" destId="{424781BA-B24C-254D-8CE3-8B129C410E93}" srcOrd="1" destOrd="0" presId="urn:microsoft.com/office/officeart/2005/8/layout/hierarchy3"/>
    <dgm:cxn modelId="{2C3B9484-7EE3-C54C-AE97-A7A9E4A042D4}" type="presParOf" srcId="{424781BA-B24C-254D-8CE3-8B129C410E93}" destId="{0E1F9BF8-52FD-B946-A046-92A17994962D}" srcOrd="0" destOrd="0" presId="urn:microsoft.com/office/officeart/2005/8/layout/hierarchy3"/>
    <dgm:cxn modelId="{7E8F5D96-3D5C-8349-80A1-7E85F2CC840D}" type="presParOf" srcId="{424781BA-B24C-254D-8CE3-8B129C410E93}" destId="{7C0D372C-E324-994F-A15B-1738D9B75A7F}" srcOrd="1" destOrd="0" presId="urn:microsoft.com/office/officeart/2005/8/layout/hierarchy3"/>
    <dgm:cxn modelId="{E73CD2AA-EE5A-B94C-BA2B-8E204EE65159}" type="presParOf" srcId="{424781BA-B24C-254D-8CE3-8B129C410E93}" destId="{991CACAC-7592-184E-81A8-396E77B13BF1}" srcOrd="2" destOrd="0" presId="urn:microsoft.com/office/officeart/2005/8/layout/hierarchy3"/>
    <dgm:cxn modelId="{48DF3243-3814-1F4F-8342-7A16A58E7163}" type="presParOf" srcId="{424781BA-B24C-254D-8CE3-8B129C410E93}" destId="{8710C31F-F9E7-EE40-A4C2-F56762C7399C}" srcOrd="3" destOrd="0" presId="urn:microsoft.com/office/officeart/2005/8/layout/hierarchy3"/>
    <dgm:cxn modelId="{1687E020-7BBF-9640-AD92-BB8F7C64D3AA}" type="presParOf" srcId="{424781BA-B24C-254D-8CE3-8B129C410E93}" destId="{46574E0D-A4B0-5441-8F5E-995B8D12594F}" srcOrd="4" destOrd="0" presId="urn:microsoft.com/office/officeart/2005/8/layout/hierarchy3"/>
    <dgm:cxn modelId="{5B956870-FC75-F745-A075-AAA6EABF4275}" type="presParOf" srcId="{424781BA-B24C-254D-8CE3-8B129C410E93}" destId="{001FEB77-AAB5-6F48-96B8-3088D444B2A4}" srcOrd="5" destOrd="0" presId="urn:microsoft.com/office/officeart/2005/8/layout/hierarchy3"/>
    <dgm:cxn modelId="{1868D811-20CF-854B-A272-F02839576646}" type="presParOf" srcId="{424781BA-B24C-254D-8CE3-8B129C410E93}" destId="{C02D46E7-AAA6-324B-B46D-5160E708E31C}" srcOrd="6" destOrd="0" presId="urn:microsoft.com/office/officeart/2005/8/layout/hierarchy3"/>
    <dgm:cxn modelId="{57B537AC-AEBD-8C4F-8CA8-2B80BFA22FD4}" type="presParOf" srcId="{424781BA-B24C-254D-8CE3-8B129C410E93}" destId="{9C031366-C59D-694B-94A6-C9B3CBAD1D22}" srcOrd="7" destOrd="0" presId="urn:microsoft.com/office/officeart/2005/8/layout/hierarchy3"/>
    <dgm:cxn modelId="{FE694934-9507-D144-A237-5EEF46CEFBE5}" type="presParOf" srcId="{424781BA-B24C-254D-8CE3-8B129C410E93}" destId="{2D604556-996F-9046-8ECD-C2905F93CAA7}" srcOrd="8" destOrd="0" presId="urn:microsoft.com/office/officeart/2005/8/layout/hierarchy3"/>
    <dgm:cxn modelId="{D801A86E-824C-164E-8C57-3D420FFDE632}" type="presParOf" srcId="{424781BA-B24C-254D-8CE3-8B129C410E93}" destId="{3E5229B9-62E6-2E47-86E0-6A0DDF3C3C52}" srcOrd="9" destOrd="0" presId="urn:microsoft.com/office/officeart/2005/8/layout/hierarchy3"/>
    <dgm:cxn modelId="{B8A926C0-54EB-7D49-A48C-07AB2CA07952}" type="presParOf" srcId="{424781BA-B24C-254D-8CE3-8B129C410E93}" destId="{CA9FCD3D-17F0-184C-9167-CFDF3F95CEC1}" srcOrd="10" destOrd="0" presId="urn:microsoft.com/office/officeart/2005/8/layout/hierarchy3"/>
    <dgm:cxn modelId="{4D3B8618-ECA0-7D46-A6A7-AC5FF8ABF228}" type="presParOf" srcId="{424781BA-B24C-254D-8CE3-8B129C410E93}" destId="{DAD42007-6196-7E48-8E94-267A7D2C4D8B}" srcOrd="11" destOrd="0" presId="urn:microsoft.com/office/officeart/2005/8/layout/hierarchy3"/>
    <dgm:cxn modelId="{9D4246B4-1AF1-4D44-9814-D8F13C87824A}" type="presParOf" srcId="{424781BA-B24C-254D-8CE3-8B129C410E93}" destId="{154829A2-8EC6-6C4D-9D9C-B7CE6835CEFD}" srcOrd="12" destOrd="0" presId="urn:microsoft.com/office/officeart/2005/8/layout/hierarchy3"/>
    <dgm:cxn modelId="{AC5C8A55-6379-CF47-9CF4-CE2E38C6B4F8}" type="presParOf" srcId="{424781BA-B24C-254D-8CE3-8B129C410E93}" destId="{516BF9AC-64EF-DE49-B451-063907491CB3}" srcOrd="13" destOrd="0" presId="urn:microsoft.com/office/officeart/2005/8/layout/hierarchy3"/>
    <dgm:cxn modelId="{6166B0F6-235F-B740-8B7C-9671C0202970}" type="presParOf" srcId="{8B8ECC97-1130-2E4D-BAEC-08EBAE119800}" destId="{AC8B276C-5DB7-5F45-B0B3-2DA2E8FC8527}" srcOrd="1" destOrd="0" presId="urn:microsoft.com/office/officeart/2005/8/layout/hierarchy3"/>
    <dgm:cxn modelId="{DE55E101-CA55-1F40-AE2D-0B9DA3F2B910}" type="presParOf" srcId="{AC8B276C-5DB7-5F45-B0B3-2DA2E8FC8527}" destId="{51A7A269-49F1-E846-BAE1-25E09A026E51}" srcOrd="0" destOrd="0" presId="urn:microsoft.com/office/officeart/2005/8/layout/hierarchy3"/>
    <dgm:cxn modelId="{D5E121F3-0262-BF43-85F9-A3B6F2E6AA67}" type="presParOf" srcId="{51A7A269-49F1-E846-BAE1-25E09A026E51}" destId="{247594D8-1CD4-5545-A0D4-5835BE415891}" srcOrd="0" destOrd="0" presId="urn:microsoft.com/office/officeart/2005/8/layout/hierarchy3"/>
    <dgm:cxn modelId="{153D901B-7001-0349-AE55-A7101B037A23}" type="presParOf" srcId="{51A7A269-49F1-E846-BAE1-25E09A026E51}" destId="{0F729638-C868-6C46-A121-0E31567786CA}" srcOrd="1" destOrd="0" presId="urn:microsoft.com/office/officeart/2005/8/layout/hierarchy3"/>
    <dgm:cxn modelId="{38E4AFB1-5C10-5040-BF67-5B35F22460A1}" type="presParOf" srcId="{AC8B276C-5DB7-5F45-B0B3-2DA2E8FC8527}" destId="{73C74558-19ED-7743-8077-151CEC2D697C}" srcOrd="1" destOrd="0" presId="urn:microsoft.com/office/officeart/2005/8/layout/hierarchy3"/>
    <dgm:cxn modelId="{A03A3B0D-CE7F-8A4F-A7BF-36F9A8C75F81}" type="presParOf" srcId="{73C74558-19ED-7743-8077-151CEC2D697C}" destId="{90183287-0E0B-E940-8F66-1679B148CA64}" srcOrd="0" destOrd="0" presId="urn:microsoft.com/office/officeart/2005/8/layout/hierarchy3"/>
    <dgm:cxn modelId="{8A24085C-CEEB-A046-8E11-51E9F1B8F822}" type="presParOf" srcId="{73C74558-19ED-7743-8077-151CEC2D697C}" destId="{61992F41-ACE1-064E-8E35-33567A7E8156}" srcOrd="1" destOrd="0" presId="urn:microsoft.com/office/officeart/2005/8/layout/hierarchy3"/>
    <dgm:cxn modelId="{BFBB99AA-C965-AF49-999B-C66C819EDF04}" type="presParOf" srcId="{73C74558-19ED-7743-8077-151CEC2D697C}" destId="{74C023C8-2218-A142-A448-0DFC3C067E18}" srcOrd="2" destOrd="0" presId="urn:microsoft.com/office/officeart/2005/8/layout/hierarchy3"/>
    <dgm:cxn modelId="{FCD296C2-A3F6-6743-B256-3A8258A72B2D}" type="presParOf" srcId="{73C74558-19ED-7743-8077-151CEC2D697C}" destId="{BE2C0A21-9C16-4D41-8416-324BA43F937C}" srcOrd="3" destOrd="0" presId="urn:microsoft.com/office/officeart/2005/8/layout/hierarchy3"/>
    <dgm:cxn modelId="{2D3E51EA-AF14-4946-A4FF-7053892D01EC}" type="presParOf" srcId="{73C74558-19ED-7743-8077-151CEC2D697C}" destId="{460138E4-2AEB-854E-B6C4-6005FE208DC6}" srcOrd="4" destOrd="0" presId="urn:microsoft.com/office/officeart/2005/8/layout/hierarchy3"/>
    <dgm:cxn modelId="{ECB4F561-C6A8-914E-A20C-10B67382DC57}" type="presParOf" srcId="{73C74558-19ED-7743-8077-151CEC2D697C}" destId="{A52E9927-AACA-7D42-A2E0-2B587FC952F6}" srcOrd="5" destOrd="0" presId="urn:microsoft.com/office/officeart/2005/8/layout/hierarchy3"/>
    <dgm:cxn modelId="{CADCEEE1-9567-A844-BEB8-9014EB74E263}" type="presParOf" srcId="{8B8ECC97-1130-2E4D-BAEC-08EBAE119800}" destId="{046975EE-E8D2-904A-9000-3417DA805C76}" srcOrd="2" destOrd="0" presId="urn:microsoft.com/office/officeart/2005/8/layout/hierarchy3"/>
    <dgm:cxn modelId="{611F356A-8C66-3444-9E2E-9197BB84A9D5}" type="presParOf" srcId="{046975EE-E8D2-904A-9000-3417DA805C76}" destId="{6CC75CE1-9D5F-6F4F-9A25-BB1BC4F72B02}" srcOrd="0" destOrd="0" presId="urn:microsoft.com/office/officeart/2005/8/layout/hierarchy3"/>
    <dgm:cxn modelId="{3E6B3F83-1493-954B-95C6-4F3703969CA8}" type="presParOf" srcId="{6CC75CE1-9D5F-6F4F-9A25-BB1BC4F72B02}" destId="{0DB16559-1147-BC40-94C9-92316A221D3F}" srcOrd="0" destOrd="0" presId="urn:microsoft.com/office/officeart/2005/8/layout/hierarchy3"/>
    <dgm:cxn modelId="{7E8FDFDA-0831-0941-A44D-74BDAEF1A768}" type="presParOf" srcId="{6CC75CE1-9D5F-6F4F-9A25-BB1BC4F72B02}" destId="{DA4051F9-A938-854A-837A-2A781761638B}" srcOrd="1" destOrd="0" presId="urn:microsoft.com/office/officeart/2005/8/layout/hierarchy3"/>
    <dgm:cxn modelId="{FD3340DD-1FAB-6047-94A6-6A0FD41B30F2}" type="presParOf" srcId="{046975EE-E8D2-904A-9000-3417DA805C76}" destId="{5D1CB818-8C41-5E4C-99EE-35343BA5E144}" srcOrd="1" destOrd="0" presId="urn:microsoft.com/office/officeart/2005/8/layout/hierarchy3"/>
    <dgm:cxn modelId="{5DE65012-2CFB-6E41-8A45-AB82C1CBDEC3}" type="presParOf" srcId="{5D1CB818-8C41-5E4C-99EE-35343BA5E144}" destId="{74A96FA9-002A-2448-BB05-00CE95677897}" srcOrd="0" destOrd="0" presId="urn:microsoft.com/office/officeart/2005/8/layout/hierarchy3"/>
    <dgm:cxn modelId="{1145B582-6899-1245-964C-460459F73BDB}" type="presParOf" srcId="{5D1CB818-8C41-5E4C-99EE-35343BA5E144}" destId="{3E63C362-2805-B54F-BF7F-298AC29FA3DC}" srcOrd="1" destOrd="0" presId="urn:microsoft.com/office/officeart/2005/8/layout/hierarchy3"/>
    <dgm:cxn modelId="{8ED4D0F1-ED2B-FA49-B0A8-E7902F185B8E}" type="presParOf" srcId="{5D1CB818-8C41-5E4C-99EE-35343BA5E144}" destId="{F85C73FF-8BA3-2142-952A-C7BD3EEF8F00}" srcOrd="2" destOrd="0" presId="urn:microsoft.com/office/officeart/2005/8/layout/hierarchy3"/>
    <dgm:cxn modelId="{C3A7C5C7-5D33-AF42-BAB4-1C5C7163E9FA}" type="presParOf" srcId="{5D1CB818-8C41-5E4C-99EE-35343BA5E144}" destId="{2D5DC9E6-1DF7-F74A-AEB9-F49CE71B15C8}" srcOrd="3" destOrd="0" presId="urn:microsoft.com/office/officeart/2005/8/layout/hierarchy3"/>
    <dgm:cxn modelId="{AD138677-05F2-CD4A-B63F-5B5CED4615EB}" type="presParOf" srcId="{5D1CB818-8C41-5E4C-99EE-35343BA5E144}" destId="{8C39ED7D-29F5-2D4C-B15B-39F7E7C19397}" srcOrd="4" destOrd="0" presId="urn:microsoft.com/office/officeart/2005/8/layout/hierarchy3"/>
    <dgm:cxn modelId="{09530B68-6C96-9447-A2C4-AE00090D11BC}" type="presParOf" srcId="{5D1CB818-8C41-5E4C-99EE-35343BA5E144}" destId="{7E5DDDA7-4385-264B-9400-29B1A96798A5}" srcOrd="5" destOrd="0" presId="urn:microsoft.com/office/officeart/2005/8/layout/hierarchy3"/>
    <dgm:cxn modelId="{014ACD5F-254E-B84E-A2CE-5A8774FBB7E2}" type="presParOf" srcId="{8B8ECC97-1130-2E4D-BAEC-08EBAE119800}" destId="{4EF8FDC4-7932-5541-BBD0-8F2BDA9B43A1}" srcOrd="3" destOrd="0" presId="urn:microsoft.com/office/officeart/2005/8/layout/hierarchy3"/>
    <dgm:cxn modelId="{7CF28318-4C2A-4A4A-87C4-83848B9F8988}" type="presParOf" srcId="{4EF8FDC4-7932-5541-BBD0-8F2BDA9B43A1}" destId="{C39F4F3F-CBDA-6442-9C7D-120813A1582A}" srcOrd="0" destOrd="0" presId="urn:microsoft.com/office/officeart/2005/8/layout/hierarchy3"/>
    <dgm:cxn modelId="{A60A81AC-D634-8648-B570-9B1723E1CACA}" type="presParOf" srcId="{C39F4F3F-CBDA-6442-9C7D-120813A1582A}" destId="{683521D0-B539-F54C-BB60-2CF58AA7988D}" srcOrd="0" destOrd="0" presId="urn:microsoft.com/office/officeart/2005/8/layout/hierarchy3"/>
    <dgm:cxn modelId="{1274F28C-CF84-3248-863B-505FD22B8E77}" type="presParOf" srcId="{C39F4F3F-CBDA-6442-9C7D-120813A1582A}" destId="{705B8C5E-06C0-8247-A2BE-2875B1C223E6}" srcOrd="1" destOrd="0" presId="urn:microsoft.com/office/officeart/2005/8/layout/hierarchy3"/>
    <dgm:cxn modelId="{AF787E1B-BC69-9049-A1C6-14C823967885}" type="presParOf" srcId="{4EF8FDC4-7932-5541-BBD0-8F2BDA9B43A1}" destId="{32CE51D8-B5B2-CF4B-BE2A-B19DDFF0D7B6}" srcOrd="1" destOrd="0" presId="urn:microsoft.com/office/officeart/2005/8/layout/hierarchy3"/>
    <dgm:cxn modelId="{5722BC7F-2F8E-FD44-A58C-DC1893749CD9}" type="presParOf" srcId="{32CE51D8-B5B2-CF4B-BE2A-B19DDFF0D7B6}" destId="{FD324BCB-825E-8144-9D5F-C6F677E89E42}" srcOrd="0" destOrd="0" presId="urn:microsoft.com/office/officeart/2005/8/layout/hierarchy3"/>
    <dgm:cxn modelId="{29B06F53-DDC9-684F-9CC7-196C475593CF}" type="presParOf" srcId="{32CE51D8-B5B2-CF4B-BE2A-B19DDFF0D7B6}" destId="{397EB76A-7DBE-6849-BCDE-A3FF9856BC5B}" srcOrd="1" destOrd="0" presId="urn:microsoft.com/office/officeart/2005/8/layout/hierarchy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F2C1E3-F187-B244-84B6-D3084E19BEC1}" type="doc">
      <dgm:prSet loTypeId="urn:microsoft.com/office/officeart/2005/8/layout/hierarchy3" loCatId="" qsTypeId="urn:microsoft.com/office/officeart/2005/8/quickstyle/simple4" qsCatId="simple" csTypeId="urn:microsoft.com/office/officeart/2005/8/colors/accent1_2" csCatId="accent1" phldr="1"/>
      <dgm:spPr/>
      <dgm:t>
        <a:bodyPr/>
        <a:lstStyle/>
        <a:p>
          <a:endParaRPr lang="en-US"/>
        </a:p>
      </dgm:t>
    </dgm:pt>
    <dgm:pt modelId="{083CEA9D-CEB8-FB41-8801-00E537A2BFC0}">
      <dgm:prSet phldrT="[Text]" custT="1"/>
      <dgm:spPr>
        <a:xfrm>
          <a:off x="377691" y="829244"/>
          <a:ext cx="1187382" cy="572187"/>
        </a:xfrm>
        <a:prstGeom prst="roundRect">
          <a:avLst>
            <a:gd name="adj" fmla="val 10000"/>
          </a:avLst>
        </a:prstGeom>
        <a:solidFill>
          <a:srgbClr val="4F81BD">
            <a:lumMod val="40000"/>
            <a:lumOff val="60000"/>
          </a:srgbClr>
        </a:solidFill>
        <a:ln>
          <a:solidFill>
            <a:srgbClr val="1F497D"/>
          </a:solidFill>
        </a:ln>
        <a:effectLst>
          <a:outerShdw blurRad="40000" dist="23000" dir="5400000" rotWithShape="0">
            <a:srgbClr val="000000">
              <a:alpha val="35000"/>
            </a:srgbClr>
          </a:outerShdw>
        </a:effectLst>
      </dgm:spPr>
      <dgm:t>
        <a:bodyPr/>
        <a:lstStyle/>
        <a:p>
          <a:pPr>
            <a:buNone/>
          </a:pPr>
          <a:r>
            <a:rPr lang="en-US" sz="1400" dirty="0">
              <a:solidFill>
                <a:srgbClr val="000000"/>
              </a:solidFill>
              <a:latin typeface="Calibri"/>
              <a:ea typeface="+mn-ea"/>
              <a:cs typeface="+mn-cs"/>
            </a:rPr>
            <a:t>For each track</a:t>
          </a:r>
        </a:p>
      </dgm:t>
    </dgm:pt>
    <dgm:pt modelId="{D661E9D5-307F-2841-8800-E04CCE5D0BCB}" type="parTrans" cxnId="{928876AD-A078-7E42-9C47-358424C7E97A}">
      <dgm:prSet/>
      <dgm:spPr/>
      <dgm:t>
        <a:bodyPr/>
        <a:lstStyle/>
        <a:p>
          <a:endParaRPr lang="en-US"/>
        </a:p>
      </dgm:t>
    </dgm:pt>
    <dgm:pt modelId="{33396E23-54FC-1144-881C-BC8CA4BBA516}" type="sibTrans" cxnId="{928876AD-A078-7E42-9C47-358424C7E97A}">
      <dgm:prSet custT="1"/>
      <dgm:spPr/>
      <dgm:t>
        <a:bodyPr/>
        <a:lstStyle/>
        <a:p>
          <a:endParaRPr lang="en-US" sz="1600"/>
        </a:p>
      </dgm:t>
    </dgm:pt>
    <dgm:pt modelId="{3C1BD9B6-EC82-AA44-8DAD-D818B75FCB7A}">
      <dgm:prSet phldrT="[Text]" custT="1"/>
      <dgm:spPr>
        <a:xfrm>
          <a:off x="690383" y="2207094"/>
          <a:ext cx="868685" cy="594356"/>
        </a:xfrm>
        <a:prstGeom prst="roundRect">
          <a:avLst>
            <a:gd name="adj" fmla="val 10000"/>
          </a:avLst>
        </a:prstGeom>
        <a:solidFill>
          <a:srgbClr val="4F81BD">
            <a:lumMod val="40000"/>
            <a:lumOff val="60000"/>
          </a:srgbClr>
        </a:solidFill>
        <a:ln w="9525" cap="flat" cmpd="sng" algn="ctr">
          <a:solidFill>
            <a:srgbClr val="4F81BD">
              <a:hueOff val="0"/>
              <a:satOff val="0"/>
              <a:lumOff val="0"/>
              <a:alphaOff val="0"/>
            </a:srgbClr>
          </a:solidFill>
          <a:prstDash val="solid"/>
        </a:ln>
        <a:effectLst/>
      </dgm:spPr>
      <dgm:t>
        <a:bodyPr/>
        <a:lstStyle/>
        <a:p>
          <a:pPr>
            <a:buNone/>
          </a:pPr>
          <a:r>
            <a:rPr lang="en-US" sz="1000" dirty="0">
              <a:solidFill>
                <a:srgbClr val="000000"/>
              </a:solidFill>
              <a:latin typeface="Calibri"/>
              <a:ea typeface="+mn-ea"/>
              <a:cs typeface="+mn-cs"/>
            </a:rPr>
            <a:t>Divide branch into sections</a:t>
          </a:r>
        </a:p>
      </dgm:t>
    </dgm:pt>
    <dgm:pt modelId="{44988B51-F094-004E-8662-727042D55A0E}" type="parTrans" cxnId="{36E1AF52-26FC-094C-9934-281A4ACB454F}">
      <dgm:prSet/>
      <dgm:spPr>
        <a:xfrm>
          <a:off x="496429" y="1401431"/>
          <a:ext cx="193953" cy="1102841"/>
        </a:xfrm>
        <a:custGeom>
          <a:avLst/>
          <a:gdLst/>
          <a:ahLst/>
          <a:cxnLst/>
          <a:rect l="0" t="0" r="0" b="0"/>
          <a:pathLst>
            <a:path>
              <a:moveTo>
                <a:pt x="0" y="0"/>
              </a:moveTo>
              <a:lnTo>
                <a:pt x="0" y="1102841"/>
              </a:lnTo>
              <a:lnTo>
                <a:pt x="193953" y="1102841"/>
              </a:lnTo>
            </a:path>
          </a:pathLst>
        </a:custGeom>
        <a:noFill/>
        <a:ln w="12700" cap="flat" cmpd="sng" algn="ctr">
          <a:solidFill>
            <a:srgbClr val="1F497D"/>
          </a:solidFill>
          <a:prstDash val="solid"/>
        </a:ln>
        <a:effectLst/>
      </dgm:spPr>
      <dgm:t>
        <a:bodyPr/>
        <a:lstStyle/>
        <a:p>
          <a:endParaRPr lang="en-US"/>
        </a:p>
      </dgm:t>
    </dgm:pt>
    <dgm:pt modelId="{D50D53B3-A8FB-9245-B61D-013D55F7B634}" type="sibTrans" cxnId="{36E1AF52-26FC-094C-9934-281A4ACB454F}">
      <dgm:prSet custT="1"/>
      <dgm:spPr/>
      <dgm:t>
        <a:bodyPr/>
        <a:lstStyle/>
        <a:p>
          <a:endParaRPr lang="en-US" sz="1600"/>
        </a:p>
      </dgm:t>
    </dgm:pt>
    <dgm:pt modelId="{AFEE561D-2DBB-0D45-9686-81CC23E85DD5}">
      <dgm:prSet phldrT="[Text]" custT="1"/>
      <dgm:spPr>
        <a:xfrm>
          <a:off x="676243" y="1513026"/>
          <a:ext cx="868685" cy="594356"/>
        </a:xfrm>
        <a:prstGeom prst="roundRect">
          <a:avLst>
            <a:gd name="adj" fmla="val 10000"/>
          </a:avLst>
        </a:prstGeom>
        <a:solidFill>
          <a:srgbClr val="4BACC6">
            <a:lumMod val="20000"/>
            <a:lumOff val="80000"/>
          </a:srgbClr>
        </a:solidFill>
        <a:ln w="9525" cap="flat" cmpd="sng" algn="ctr">
          <a:solidFill>
            <a:srgbClr val="4F81BD">
              <a:hueOff val="0"/>
              <a:satOff val="0"/>
              <a:lumOff val="0"/>
              <a:alphaOff val="0"/>
            </a:srgbClr>
          </a:solidFill>
          <a:prstDash val="solid"/>
        </a:ln>
        <a:effectLst/>
      </dgm:spPr>
      <dgm:t>
        <a:bodyPr/>
        <a:lstStyle/>
        <a:p>
          <a:pPr>
            <a:buNone/>
          </a:pPr>
          <a:r>
            <a:rPr lang="en-US" sz="1000">
              <a:solidFill>
                <a:srgbClr val="000000"/>
              </a:solidFill>
              <a:latin typeface="Calibri"/>
              <a:ea typeface="+mn-ea"/>
              <a:cs typeface="+mn-cs"/>
            </a:rPr>
            <a:t>Model change</a:t>
          </a:r>
          <a:endParaRPr lang="en-US" sz="1000" dirty="0">
            <a:solidFill>
              <a:srgbClr val="000000"/>
            </a:solidFill>
            <a:latin typeface="Calibri"/>
            <a:ea typeface="+mn-ea"/>
            <a:cs typeface="+mn-cs"/>
          </a:endParaRPr>
        </a:p>
      </dgm:t>
    </dgm:pt>
    <dgm:pt modelId="{2CA66092-842B-3841-BFEE-EFF7BB86F772}" type="parTrans" cxnId="{78A4D4B0-3F46-804A-BE2C-5463144363A3}">
      <dgm:prSet/>
      <dgm:spPr>
        <a:xfrm>
          <a:off x="496429" y="1401431"/>
          <a:ext cx="179813" cy="408773"/>
        </a:xfrm>
        <a:custGeom>
          <a:avLst/>
          <a:gdLst/>
          <a:ahLst/>
          <a:cxnLst/>
          <a:rect l="0" t="0" r="0" b="0"/>
          <a:pathLst>
            <a:path>
              <a:moveTo>
                <a:pt x="0" y="0"/>
              </a:moveTo>
              <a:lnTo>
                <a:pt x="0" y="408773"/>
              </a:lnTo>
              <a:lnTo>
                <a:pt x="179813" y="408773"/>
              </a:lnTo>
            </a:path>
          </a:pathLst>
        </a:custGeom>
        <a:noFill/>
        <a:ln w="9525" cap="flat" cmpd="sng" algn="ctr">
          <a:solidFill>
            <a:srgbClr val="4F81BD">
              <a:shade val="60000"/>
              <a:hueOff val="0"/>
              <a:satOff val="0"/>
              <a:lumOff val="0"/>
              <a:alphaOff val="0"/>
            </a:srgbClr>
          </a:solidFill>
          <a:prstDash val="solid"/>
        </a:ln>
        <a:effectLst/>
      </dgm:spPr>
      <dgm:t>
        <a:bodyPr/>
        <a:lstStyle/>
        <a:p>
          <a:endParaRPr lang="en-US"/>
        </a:p>
      </dgm:t>
    </dgm:pt>
    <dgm:pt modelId="{AA34491C-2F62-134E-B4D5-44B8250F91C2}" type="sibTrans" cxnId="{78A4D4B0-3F46-804A-BE2C-5463144363A3}">
      <dgm:prSet/>
      <dgm:spPr/>
      <dgm:t>
        <a:bodyPr/>
        <a:lstStyle/>
        <a:p>
          <a:endParaRPr lang="en-US"/>
        </a:p>
      </dgm:t>
    </dgm:pt>
    <dgm:pt modelId="{76189662-1982-2048-AFFA-C8B85D9EF045}" type="pres">
      <dgm:prSet presAssocID="{97F2C1E3-F187-B244-84B6-D3084E19BEC1}" presName="diagram" presStyleCnt="0">
        <dgm:presLayoutVars>
          <dgm:chPref val="1"/>
          <dgm:dir/>
          <dgm:animOne val="branch"/>
          <dgm:animLvl val="lvl"/>
          <dgm:resizeHandles/>
        </dgm:presLayoutVars>
      </dgm:prSet>
      <dgm:spPr/>
    </dgm:pt>
    <dgm:pt modelId="{341DC9AB-7F8C-9D42-913E-79C39BF1DC28}" type="pres">
      <dgm:prSet presAssocID="{083CEA9D-CEB8-FB41-8801-00E537A2BFC0}" presName="root" presStyleCnt="0"/>
      <dgm:spPr/>
    </dgm:pt>
    <dgm:pt modelId="{5637C495-74F6-394F-B4CD-286547EE13C1}" type="pres">
      <dgm:prSet presAssocID="{083CEA9D-CEB8-FB41-8801-00E537A2BFC0}" presName="rootComposite" presStyleCnt="0"/>
      <dgm:spPr/>
    </dgm:pt>
    <dgm:pt modelId="{55EA9598-DEBF-AC4F-A8A8-3F8C13C91F5A}" type="pres">
      <dgm:prSet presAssocID="{083CEA9D-CEB8-FB41-8801-00E537A2BFC0}" presName="rootText" presStyleLbl="node1" presStyleIdx="0" presStyleCnt="1" custScaleX="35671" custScaleY="34379" custLinFactNeighborX="-20818" custLinFactNeighborY="28089"/>
      <dgm:spPr/>
    </dgm:pt>
    <dgm:pt modelId="{C350A8D0-D312-1E41-9496-FB5E156EB5A3}" type="pres">
      <dgm:prSet presAssocID="{083CEA9D-CEB8-FB41-8801-00E537A2BFC0}" presName="rootConnector" presStyleLbl="node1" presStyleIdx="0" presStyleCnt="1"/>
      <dgm:spPr/>
    </dgm:pt>
    <dgm:pt modelId="{2E3C83A0-740A-F749-805D-BEFE749C8525}" type="pres">
      <dgm:prSet presAssocID="{083CEA9D-CEB8-FB41-8801-00E537A2BFC0}" presName="childShape" presStyleCnt="0"/>
      <dgm:spPr/>
    </dgm:pt>
    <dgm:pt modelId="{6609DED0-2F22-0547-A5BF-E7629818D26C}" type="pres">
      <dgm:prSet presAssocID="{2CA66092-842B-3841-BFEE-EFF7BB86F772}" presName="Name13" presStyleLbl="parChTrans1D2" presStyleIdx="0" presStyleCnt="2"/>
      <dgm:spPr/>
    </dgm:pt>
    <dgm:pt modelId="{C446B2B8-EF2F-2A41-B0CA-F0F54DD1817E}" type="pres">
      <dgm:prSet presAssocID="{AFEE561D-2DBB-0D45-9686-81CC23E85DD5}" presName="childText" presStyleLbl="bgAcc1" presStyleIdx="0" presStyleCnt="2" custScaleX="32621" custScaleY="35711" custLinFactNeighborX="-23729" custLinFactNeighborY="9794">
        <dgm:presLayoutVars>
          <dgm:bulletEnabled val="1"/>
        </dgm:presLayoutVars>
      </dgm:prSet>
      <dgm:spPr/>
    </dgm:pt>
    <dgm:pt modelId="{57D76BDD-C4DB-5F4A-9F15-C31109BCAE86}" type="pres">
      <dgm:prSet presAssocID="{44988B51-F094-004E-8662-727042D55A0E}" presName="Name13" presStyleLbl="parChTrans1D2" presStyleIdx="1" presStyleCnt="2"/>
      <dgm:spPr/>
    </dgm:pt>
    <dgm:pt modelId="{BB2BF405-8B6E-4E46-A435-997DEC7A98DF}" type="pres">
      <dgm:prSet presAssocID="{3C1BD9B6-EC82-AA44-8DAD-D818B75FCB7A}" presName="childText" presStyleLbl="bgAcc1" presStyleIdx="1" presStyleCnt="2" custScaleX="32621" custScaleY="35711" custLinFactNeighborX="-23198" custLinFactNeighborY="-9215">
        <dgm:presLayoutVars>
          <dgm:bulletEnabled val="1"/>
        </dgm:presLayoutVars>
      </dgm:prSet>
      <dgm:spPr/>
    </dgm:pt>
  </dgm:ptLst>
  <dgm:cxnLst>
    <dgm:cxn modelId="{CE7CD705-E959-2940-8CDF-8395A97B1955}" type="presOf" srcId="{97F2C1E3-F187-B244-84B6-D3084E19BEC1}" destId="{76189662-1982-2048-AFFA-C8B85D9EF045}" srcOrd="0" destOrd="0" presId="urn:microsoft.com/office/officeart/2005/8/layout/hierarchy3"/>
    <dgm:cxn modelId="{7100861E-DDA0-9A47-959E-AC295728E67F}" type="presOf" srcId="{083CEA9D-CEB8-FB41-8801-00E537A2BFC0}" destId="{55EA9598-DEBF-AC4F-A8A8-3F8C13C91F5A}" srcOrd="0" destOrd="0" presId="urn:microsoft.com/office/officeart/2005/8/layout/hierarchy3"/>
    <dgm:cxn modelId="{87A35733-D88E-B044-B7B1-018B13EAB15A}" type="presOf" srcId="{AFEE561D-2DBB-0D45-9686-81CC23E85DD5}" destId="{C446B2B8-EF2F-2A41-B0CA-F0F54DD1817E}" srcOrd="0" destOrd="0" presId="urn:microsoft.com/office/officeart/2005/8/layout/hierarchy3"/>
    <dgm:cxn modelId="{62D43752-A79E-134C-B725-F5F4ED6994F0}" type="presOf" srcId="{083CEA9D-CEB8-FB41-8801-00E537A2BFC0}" destId="{C350A8D0-D312-1E41-9496-FB5E156EB5A3}" srcOrd="1" destOrd="0" presId="urn:microsoft.com/office/officeart/2005/8/layout/hierarchy3"/>
    <dgm:cxn modelId="{36E1AF52-26FC-094C-9934-281A4ACB454F}" srcId="{083CEA9D-CEB8-FB41-8801-00E537A2BFC0}" destId="{3C1BD9B6-EC82-AA44-8DAD-D818B75FCB7A}" srcOrd="1" destOrd="0" parTransId="{44988B51-F094-004E-8662-727042D55A0E}" sibTransId="{D50D53B3-A8FB-9245-B61D-013D55F7B634}"/>
    <dgm:cxn modelId="{2B6C4953-2F4E-9343-BB74-27F0376F54EE}" type="presOf" srcId="{3C1BD9B6-EC82-AA44-8DAD-D818B75FCB7A}" destId="{BB2BF405-8B6E-4E46-A435-997DEC7A98DF}" srcOrd="0" destOrd="0" presId="urn:microsoft.com/office/officeart/2005/8/layout/hierarchy3"/>
    <dgm:cxn modelId="{E6C32C84-6C7A-B143-8604-016467ACED3A}" type="presOf" srcId="{44988B51-F094-004E-8662-727042D55A0E}" destId="{57D76BDD-C4DB-5F4A-9F15-C31109BCAE86}" srcOrd="0" destOrd="0" presId="urn:microsoft.com/office/officeart/2005/8/layout/hierarchy3"/>
    <dgm:cxn modelId="{928876AD-A078-7E42-9C47-358424C7E97A}" srcId="{97F2C1E3-F187-B244-84B6-D3084E19BEC1}" destId="{083CEA9D-CEB8-FB41-8801-00E537A2BFC0}" srcOrd="0" destOrd="0" parTransId="{D661E9D5-307F-2841-8800-E04CCE5D0BCB}" sibTransId="{33396E23-54FC-1144-881C-BC8CA4BBA516}"/>
    <dgm:cxn modelId="{78A4D4B0-3F46-804A-BE2C-5463144363A3}" srcId="{083CEA9D-CEB8-FB41-8801-00E537A2BFC0}" destId="{AFEE561D-2DBB-0D45-9686-81CC23E85DD5}" srcOrd="0" destOrd="0" parTransId="{2CA66092-842B-3841-BFEE-EFF7BB86F772}" sibTransId="{AA34491C-2F62-134E-B4D5-44B8250F91C2}"/>
    <dgm:cxn modelId="{660AB9DE-860F-3240-8795-284F25BE80F8}" type="presOf" srcId="{2CA66092-842B-3841-BFEE-EFF7BB86F772}" destId="{6609DED0-2F22-0547-A5BF-E7629818D26C}" srcOrd="0" destOrd="0" presId="urn:microsoft.com/office/officeart/2005/8/layout/hierarchy3"/>
    <dgm:cxn modelId="{1754094E-5B1C-0B4D-8EC5-8DE86888F727}" type="presParOf" srcId="{76189662-1982-2048-AFFA-C8B85D9EF045}" destId="{341DC9AB-7F8C-9D42-913E-79C39BF1DC28}" srcOrd="0" destOrd="0" presId="urn:microsoft.com/office/officeart/2005/8/layout/hierarchy3"/>
    <dgm:cxn modelId="{5F9BA488-8196-2F4E-9C0E-91632919E95E}" type="presParOf" srcId="{341DC9AB-7F8C-9D42-913E-79C39BF1DC28}" destId="{5637C495-74F6-394F-B4CD-286547EE13C1}" srcOrd="0" destOrd="0" presId="urn:microsoft.com/office/officeart/2005/8/layout/hierarchy3"/>
    <dgm:cxn modelId="{C0FB02CF-A978-D34A-8966-0F76C486893F}" type="presParOf" srcId="{5637C495-74F6-394F-B4CD-286547EE13C1}" destId="{55EA9598-DEBF-AC4F-A8A8-3F8C13C91F5A}" srcOrd="0" destOrd="0" presId="urn:microsoft.com/office/officeart/2005/8/layout/hierarchy3"/>
    <dgm:cxn modelId="{06C82BA0-66CA-1145-90D5-ED3D5E954AA8}" type="presParOf" srcId="{5637C495-74F6-394F-B4CD-286547EE13C1}" destId="{C350A8D0-D312-1E41-9496-FB5E156EB5A3}" srcOrd="1" destOrd="0" presId="urn:microsoft.com/office/officeart/2005/8/layout/hierarchy3"/>
    <dgm:cxn modelId="{35988A67-69B3-7A4E-8FCA-0CD44B477DA2}" type="presParOf" srcId="{341DC9AB-7F8C-9D42-913E-79C39BF1DC28}" destId="{2E3C83A0-740A-F749-805D-BEFE749C8525}" srcOrd="1" destOrd="0" presId="urn:microsoft.com/office/officeart/2005/8/layout/hierarchy3"/>
    <dgm:cxn modelId="{42B268BC-2D1E-4F4A-942B-91F12EDA1A59}" type="presParOf" srcId="{2E3C83A0-740A-F749-805D-BEFE749C8525}" destId="{6609DED0-2F22-0547-A5BF-E7629818D26C}" srcOrd="0" destOrd="0" presId="urn:microsoft.com/office/officeart/2005/8/layout/hierarchy3"/>
    <dgm:cxn modelId="{1AF2D9EA-FAAF-EA4C-8FDE-24306E670E92}" type="presParOf" srcId="{2E3C83A0-740A-F749-805D-BEFE749C8525}" destId="{C446B2B8-EF2F-2A41-B0CA-F0F54DD1817E}" srcOrd="1" destOrd="0" presId="urn:microsoft.com/office/officeart/2005/8/layout/hierarchy3"/>
    <dgm:cxn modelId="{FCC85419-3F15-B449-AFB5-F8862BB398EE}" type="presParOf" srcId="{2E3C83A0-740A-F749-805D-BEFE749C8525}" destId="{57D76BDD-C4DB-5F4A-9F15-C31109BCAE86}" srcOrd="2" destOrd="0" presId="urn:microsoft.com/office/officeart/2005/8/layout/hierarchy3"/>
    <dgm:cxn modelId="{69EA6185-BBD9-B041-9F7A-29D5250D9A36}" type="presParOf" srcId="{2E3C83A0-740A-F749-805D-BEFE749C8525}" destId="{BB2BF405-8B6E-4E46-A435-997DEC7A98DF}" srcOrd="3"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C2BE69-E48D-0D43-B5A8-6DFBF8DDD942}">
      <dsp:nvSpPr>
        <dsp:cNvPr id="0" name=""/>
        <dsp:cNvSpPr/>
      </dsp:nvSpPr>
      <dsp:spPr>
        <a:xfrm>
          <a:off x="0" y="68724"/>
          <a:ext cx="1457103" cy="550007"/>
        </a:xfrm>
        <a:prstGeom prst="roundRect">
          <a:avLst>
            <a:gd name="adj" fmla="val 10000"/>
          </a:avLst>
        </a:prstGeom>
        <a:solidFill>
          <a:srgbClr val="EEECE1">
            <a:lumMod val="25000"/>
          </a:srgbClr>
        </a:solidFill>
        <a:ln>
          <a:solidFill>
            <a:srgbClr val="1F497D"/>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 lastClr="FFFFFF"/>
              </a:solidFill>
              <a:latin typeface="Calibri"/>
              <a:ea typeface="+mn-ea"/>
              <a:cs typeface="+mn-cs"/>
            </a:rPr>
            <a:t>PolSARproSim+</a:t>
          </a:r>
        </a:p>
      </dsp:txBody>
      <dsp:txXfrm>
        <a:off x="16109" y="84833"/>
        <a:ext cx="1424885" cy="517789"/>
      </dsp:txXfrm>
    </dsp:sp>
    <dsp:sp modelId="{0E1F9BF8-52FD-B946-A046-92A17994962D}">
      <dsp:nvSpPr>
        <dsp:cNvPr id="0" name=""/>
        <dsp:cNvSpPr/>
      </dsp:nvSpPr>
      <dsp:spPr>
        <a:xfrm>
          <a:off x="145710" y="618732"/>
          <a:ext cx="137008" cy="339405"/>
        </a:xfrm>
        <a:custGeom>
          <a:avLst/>
          <a:gdLst/>
          <a:ahLst/>
          <a:cxnLst/>
          <a:rect l="0" t="0" r="0" b="0"/>
          <a:pathLst>
            <a:path>
              <a:moveTo>
                <a:pt x="0" y="0"/>
              </a:moveTo>
              <a:lnTo>
                <a:pt x="0" y="339405"/>
              </a:lnTo>
              <a:lnTo>
                <a:pt x="137008" y="339405"/>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7C0D372C-E324-994F-A15B-1738D9B75A7F}">
      <dsp:nvSpPr>
        <dsp:cNvPr id="0" name=""/>
        <dsp:cNvSpPr/>
      </dsp:nvSpPr>
      <dsp:spPr>
        <a:xfrm>
          <a:off x="282719" y="68627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Read input parameter file</a:t>
          </a:r>
        </a:p>
      </dsp:txBody>
      <dsp:txXfrm>
        <a:off x="298644" y="702199"/>
        <a:ext cx="838114" cy="511877"/>
      </dsp:txXfrm>
    </dsp:sp>
    <dsp:sp modelId="{991CACAC-7592-184E-81A8-396E77B13BF1}">
      <dsp:nvSpPr>
        <dsp:cNvPr id="0" name=""/>
        <dsp:cNvSpPr/>
      </dsp:nvSpPr>
      <dsp:spPr>
        <a:xfrm>
          <a:off x="145710" y="618732"/>
          <a:ext cx="137008" cy="1019065"/>
        </a:xfrm>
        <a:custGeom>
          <a:avLst/>
          <a:gdLst/>
          <a:ahLst/>
          <a:cxnLst/>
          <a:rect l="0" t="0" r="0" b="0"/>
          <a:pathLst>
            <a:path>
              <a:moveTo>
                <a:pt x="0" y="0"/>
              </a:moveTo>
              <a:lnTo>
                <a:pt x="0" y="1019065"/>
              </a:lnTo>
              <a:lnTo>
                <a:pt x="137008" y="1019065"/>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8710C31F-F9E7-EE40-A4C2-F56762C7399C}">
      <dsp:nvSpPr>
        <dsp:cNvPr id="0" name=""/>
        <dsp:cNvSpPr/>
      </dsp:nvSpPr>
      <dsp:spPr>
        <a:xfrm>
          <a:off x="282719" y="136593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Read species and forest XML databases</a:t>
          </a:r>
        </a:p>
      </dsp:txBody>
      <dsp:txXfrm>
        <a:off x="298644" y="1381859"/>
        <a:ext cx="838114" cy="511877"/>
      </dsp:txXfrm>
    </dsp:sp>
    <dsp:sp modelId="{46574E0D-A4B0-5441-8F5E-995B8D12594F}">
      <dsp:nvSpPr>
        <dsp:cNvPr id="0" name=""/>
        <dsp:cNvSpPr/>
      </dsp:nvSpPr>
      <dsp:spPr>
        <a:xfrm>
          <a:off x="145710" y="618732"/>
          <a:ext cx="137008" cy="1698725"/>
        </a:xfrm>
        <a:custGeom>
          <a:avLst/>
          <a:gdLst/>
          <a:ahLst/>
          <a:cxnLst/>
          <a:rect l="0" t="0" r="0" b="0"/>
          <a:pathLst>
            <a:path>
              <a:moveTo>
                <a:pt x="0" y="0"/>
              </a:moveTo>
              <a:lnTo>
                <a:pt x="0" y="1698725"/>
              </a:lnTo>
              <a:lnTo>
                <a:pt x="137008" y="1698725"/>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001FEB77-AAB5-6F48-96B8-3088D444B2A4}">
      <dsp:nvSpPr>
        <dsp:cNvPr id="0" name=""/>
        <dsp:cNvSpPr/>
      </dsp:nvSpPr>
      <dsp:spPr>
        <a:xfrm>
          <a:off x="282719" y="204559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Read DEM and create surface model</a:t>
          </a:r>
        </a:p>
      </dsp:txBody>
      <dsp:txXfrm>
        <a:off x="298644" y="2061519"/>
        <a:ext cx="838114" cy="511877"/>
      </dsp:txXfrm>
    </dsp:sp>
    <dsp:sp modelId="{C02D46E7-AAA6-324B-B46D-5160E708E31C}">
      <dsp:nvSpPr>
        <dsp:cNvPr id="0" name=""/>
        <dsp:cNvSpPr/>
      </dsp:nvSpPr>
      <dsp:spPr>
        <a:xfrm>
          <a:off x="145710" y="618732"/>
          <a:ext cx="137008" cy="2378385"/>
        </a:xfrm>
        <a:custGeom>
          <a:avLst/>
          <a:gdLst/>
          <a:ahLst/>
          <a:cxnLst/>
          <a:rect l="0" t="0" r="0" b="0"/>
          <a:pathLst>
            <a:path>
              <a:moveTo>
                <a:pt x="0" y="0"/>
              </a:moveTo>
              <a:lnTo>
                <a:pt x="0" y="2378385"/>
              </a:lnTo>
              <a:lnTo>
                <a:pt x="137008" y="2378385"/>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9C031366-C59D-694B-94A6-C9B3CBAD1D22}">
      <dsp:nvSpPr>
        <dsp:cNvPr id="0" name=""/>
        <dsp:cNvSpPr/>
      </dsp:nvSpPr>
      <dsp:spPr>
        <a:xfrm>
          <a:off x="282719" y="272525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Draw forest image</a:t>
          </a:r>
        </a:p>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(for visualization)</a:t>
          </a:r>
        </a:p>
      </dsp:txBody>
      <dsp:txXfrm>
        <a:off x="298644" y="2741179"/>
        <a:ext cx="838114" cy="511877"/>
      </dsp:txXfrm>
    </dsp:sp>
    <dsp:sp modelId="{2D604556-996F-9046-8ECD-C2905F93CAA7}">
      <dsp:nvSpPr>
        <dsp:cNvPr id="0" name=""/>
        <dsp:cNvSpPr/>
      </dsp:nvSpPr>
      <dsp:spPr>
        <a:xfrm>
          <a:off x="145710" y="618732"/>
          <a:ext cx="137008" cy="3058045"/>
        </a:xfrm>
        <a:custGeom>
          <a:avLst/>
          <a:gdLst/>
          <a:ahLst/>
          <a:cxnLst/>
          <a:rect l="0" t="0" r="0" b="0"/>
          <a:pathLst>
            <a:path>
              <a:moveTo>
                <a:pt x="0" y="0"/>
              </a:moveTo>
              <a:lnTo>
                <a:pt x="0" y="3058045"/>
              </a:lnTo>
              <a:lnTo>
                <a:pt x="137008" y="3058045"/>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3E5229B9-62E6-2E47-86E0-6A0DDF3C3C52}">
      <dsp:nvSpPr>
        <dsp:cNvPr id="0" name=""/>
        <dsp:cNvSpPr/>
      </dsp:nvSpPr>
      <dsp:spPr>
        <a:xfrm>
          <a:off x="282719" y="340491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Calculate effective </a:t>
          </a:r>
          <a:r>
            <a:rPr lang="en-US" sz="800" kern="1200" dirty="0" err="1">
              <a:solidFill>
                <a:sysClr val="windowText" lastClr="000000">
                  <a:hueOff val="0"/>
                  <a:satOff val="0"/>
                  <a:lumOff val="0"/>
                  <a:alphaOff val="0"/>
                </a:sysClr>
              </a:solidFill>
              <a:latin typeface="Calibri"/>
              <a:ea typeface="+mn-ea"/>
              <a:cs typeface="+mn-cs"/>
            </a:rPr>
            <a:t>permittivities</a:t>
          </a:r>
          <a:endParaRPr lang="en-US" sz="800" kern="1200" dirty="0">
            <a:solidFill>
              <a:sysClr val="windowText" lastClr="000000">
                <a:hueOff val="0"/>
                <a:satOff val="0"/>
                <a:lumOff val="0"/>
                <a:alphaOff val="0"/>
              </a:sysClr>
            </a:solidFill>
            <a:latin typeface="Calibri"/>
            <a:ea typeface="+mn-ea"/>
            <a:cs typeface="+mn-cs"/>
          </a:endParaRPr>
        </a:p>
      </dsp:txBody>
      <dsp:txXfrm>
        <a:off x="298644" y="3420839"/>
        <a:ext cx="838114" cy="511877"/>
      </dsp:txXfrm>
    </dsp:sp>
    <dsp:sp modelId="{CA9FCD3D-17F0-184C-9167-CFDF3F95CEC1}">
      <dsp:nvSpPr>
        <dsp:cNvPr id="0" name=""/>
        <dsp:cNvSpPr/>
      </dsp:nvSpPr>
      <dsp:spPr>
        <a:xfrm>
          <a:off x="145710" y="618732"/>
          <a:ext cx="137008" cy="3737705"/>
        </a:xfrm>
        <a:custGeom>
          <a:avLst/>
          <a:gdLst/>
          <a:ahLst/>
          <a:cxnLst/>
          <a:rect l="0" t="0" r="0" b="0"/>
          <a:pathLst>
            <a:path>
              <a:moveTo>
                <a:pt x="0" y="0"/>
              </a:moveTo>
              <a:lnTo>
                <a:pt x="0" y="3737705"/>
              </a:lnTo>
              <a:lnTo>
                <a:pt x="137008" y="3737705"/>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DAD42007-6196-7E48-8E94-267A7D2C4D8B}">
      <dsp:nvSpPr>
        <dsp:cNvPr id="0" name=""/>
        <dsp:cNvSpPr/>
      </dsp:nvSpPr>
      <dsp:spPr>
        <a:xfrm>
          <a:off x="282719" y="4084574"/>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Calculate attenuation map</a:t>
          </a:r>
        </a:p>
      </dsp:txBody>
      <dsp:txXfrm>
        <a:off x="298644" y="4100499"/>
        <a:ext cx="838114" cy="511877"/>
      </dsp:txXfrm>
    </dsp:sp>
    <dsp:sp modelId="{154829A2-8EC6-6C4D-9D9C-B7CE6835CEFD}">
      <dsp:nvSpPr>
        <dsp:cNvPr id="0" name=""/>
        <dsp:cNvSpPr/>
      </dsp:nvSpPr>
      <dsp:spPr>
        <a:xfrm>
          <a:off x="145710" y="618732"/>
          <a:ext cx="150858" cy="4366733"/>
        </a:xfrm>
        <a:custGeom>
          <a:avLst/>
          <a:gdLst/>
          <a:ahLst/>
          <a:cxnLst/>
          <a:rect l="0" t="0" r="0" b="0"/>
          <a:pathLst>
            <a:path>
              <a:moveTo>
                <a:pt x="0" y="0"/>
              </a:moveTo>
              <a:lnTo>
                <a:pt x="0" y="4366733"/>
              </a:lnTo>
              <a:lnTo>
                <a:pt x="150858" y="4366733"/>
              </a:lnTo>
            </a:path>
          </a:pathLst>
        </a:custGeom>
        <a:noFill/>
        <a:ln w="12700" cap="flat" cmpd="sng" algn="ctr">
          <a:solidFill>
            <a:srgbClr val="1F497D"/>
          </a:solidFill>
          <a:prstDash val="solid"/>
        </a:ln>
        <a:effectLst/>
      </dsp:spPr>
      <dsp:style>
        <a:lnRef idx="1">
          <a:scrgbClr r="0" g="0" b="0"/>
        </a:lnRef>
        <a:fillRef idx="0">
          <a:scrgbClr r="0" g="0" b="0"/>
        </a:fillRef>
        <a:effectRef idx="0">
          <a:scrgbClr r="0" g="0" b="0"/>
        </a:effectRef>
        <a:fontRef idx="minor"/>
      </dsp:style>
    </dsp:sp>
    <dsp:sp modelId="{516BF9AC-64EF-DE49-B451-063907491CB3}">
      <dsp:nvSpPr>
        <dsp:cNvPr id="0" name=""/>
        <dsp:cNvSpPr/>
      </dsp:nvSpPr>
      <dsp:spPr>
        <a:xfrm>
          <a:off x="296569" y="4713602"/>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Initialize SAR stack</a:t>
          </a:r>
        </a:p>
      </dsp:txBody>
      <dsp:txXfrm>
        <a:off x="312494" y="4729527"/>
        <a:ext cx="838114" cy="511877"/>
      </dsp:txXfrm>
    </dsp:sp>
    <dsp:sp modelId="{247594D8-1CD4-5545-A0D4-5835BE415891}">
      <dsp:nvSpPr>
        <dsp:cNvPr id="0" name=""/>
        <dsp:cNvSpPr/>
      </dsp:nvSpPr>
      <dsp:spPr>
        <a:xfrm>
          <a:off x="1639646" y="1102008"/>
          <a:ext cx="1429939" cy="543727"/>
        </a:xfrm>
        <a:prstGeom prst="roundRect">
          <a:avLst>
            <a:gd name="adj" fmla="val 10000"/>
          </a:avLst>
        </a:prstGeom>
        <a:solidFill>
          <a:srgbClr val="EEECE1">
            <a:lumMod val="75000"/>
          </a:srgbClr>
        </a:solidFill>
        <a:ln>
          <a:solidFill>
            <a:srgbClr val="1F497D"/>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0000"/>
              </a:solidFill>
              <a:latin typeface="Calibri"/>
              <a:ea typeface="+mn-ea"/>
              <a:cs typeface="+mn-cs"/>
            </a:rPr>
            <a:t>For each track</a:t>
          </a:r>
        </a:p>
      </dsp:txBody>
      <dsp:txXfrm>
        <a:off x="1655571" y="1117933"/>
        <a:ext cx="1398089" cy="511877"/>
      </dsp:txXfrm>
    </dsp:sp>
    <dsp:sp modelId="{90183287-0E0B-E940-8F66-1679B148CA64}">
      <dsp:nvSpPr>
        <dsp:cNvPr id="0" name=""/>
        <dsp:cNvSpPr/>
      </dsp:nvSpPr>
      <dsp:spPr>
        <a:xfrm>
          <a:off x="1782640" y="1645736"/>
          <a:ext cx="333011" cy="534082"/>
        </a:xfrm>
        <a:custGeom>
          <a:avLst/>
          <a:gdLst/>
          <a:ahLst/>
          <a:cxnLst/>
          <a:rect l="0" t="0" r="0" b="0"/>
          <a:pathLst>
            <a:path>
              <a:moveTo>
                <a:pt x="0" y="0"/>
              </a:moveTo>
              <a:lnTo>
                <a:pt x="0" y="534082"/>
              </a:lnTo>
              <a:lnTo>
                <a:pt x="333011" y="534082"/>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61992F41-ACE1-064E-8E35-33567A7E8156}">
      <dsp:nvSpPr>
        <dsp:cNvPr id="0" name=""/>
        <dsp:cNvSpPr/>
      </dsp:nvSpPr>
      <dsp:spPr>
        <a:xfrm>
          <a:off x="2115652" y="1907955"/>
          <a:ext cx="869964" cy="543727"/>
        </a:xfrm>
        <a:prstGeom prst="roundRect">
          <a:avLst>
            <a:gd name="adj" fmla="val 10000"/>
          </a:avLst>
        </a:prstGeom>
        <a:solidFill>
          <a:sysClr val="window" lastClr="FFFFFF">
            <a:alpha val="90000"/>
            <a:hueOff val="0"/>
            <a:satOff val="0"/>
            <a:lumOff val="0"/>
            <a:alphaOff val="0"/>
          </a:sys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Calculate direct ground scattering</a:t>
          </a:r>
        </a:p>
      </dsp:txBody>
      <dsp:txXfrm>
        <a:off x="2131577" y="1923880"/>
        <a:ext cx="838114" cy="511877"/>
      </dsp:txXfrm>
    </dsp:sp>
    <dsp:sp modelId="{74C023C8-2218-A142-A448-0DFC3C067E18}">
      <dsp:nvSpPr>
        <dsp:cNvPr id="0" name=""/>
        <dsp:cNvSpPr/>
      </dsp:nvSpPr>
      <dsp:spPr>
        <a:xfrm>
          <a:off x="1782640" y="1645736"/>
          <a:ext cx="333011" cy="1213742"/>
        </a:xfrm>
        <a:custGeom>
          <a:avLst/>
          <a:gdLst/>
          <a:ahLst/>
          <a:cxnLst/>
          <a:rect l="0" t="0" r="0" b="0"/>
          <a:pathLst>
            <a:path>
              <a:moveTo>
                <a:pt x="0" y="0"/>
              </a:moveTo>
              <a:lnTo>
                <a:pt x="0" y="1213742"/>
              </a:lnTo>
              <a:lnTo>
                <a:pt x="333011" y="1213742"/>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BE2C0A21-9C16-4D41-8416-324BA43F937C}">
      <dsp:nvSpPr>
        <dsp:cNvPr id="0" name=""/>
        <dsp:cNvSpPr/>
      </dsp:nvSpPr>
      <dsp:spPr>
        <a:xfrm>
          <a:off x="2115652" y="2587615"/>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Calculate direct short vegetation scattering</a:t>
          </a:r>
        </a:p>
      </dsp:txBody>
      <dsp:txXfrm>
        <a:off x="2131577" y="2603540"/>
        <a:ext cx="838114" cy="511877"/>
      </dsp:txXfrm>
    </dsp:sp>
    <dsp:sp modelId="{460138E4-2AEB-854E-B6C4-6005FE208DC6}">
      <dsp:nvSpPr>
        <dsp:cNvPr id="0" name=""/>
        <dsp:cNvSpPr/>
      </dsp:nvSpPr>
      <dsp:spPr>
        <a:xfrm>
          <a:off x="1782640" y="1645736"/>
          <a:ext cx="329488" cy="1867727"/>
        </a:xfrm>
        <a:custGeom>
          <a:avLst/>
          <a:gdLst/>
          <a:ahLst/>
          <a:cxnLst/>
          <a:rect l="0" t="0" r="0" b="0"/>
          <a:pathLst>
            <a:path>
              <a:moveTo>
                <a:pt x="0" y="0"/>
              </a:moveTo>
              <a:lnTo>
                <a:pt x="0" y="1867727"/>
              </a:lnTo>
              <a:lnTo>
                <a:pt x="329488" y="1867727"/>
              </a:lnTo>
            </a:path>
          </a:pathLst>
        </a:custGeom>
        <a:noFill/>
        <a:ln w="9525" cap="flat" cmpd="sng" algn="ctr">
          <a:solidFill>
            <a:srgbClr val="1F497D"/>
          </a:solidFill>
          <a:prstDash val="solid"/>
        </a:ln>
        <a:effectLst/>
      </dsp:spPr>
      <dsp:style>
        <a:lnRef idx="1">
          <a:scrgbClr r="0" g="0" b="0"/>
        </a:lnRef>
        <a:fillRef idx="0">
          <a:scrgbClr r="0" g="0" b="0"/>
        </a:fillRef>
        <a:effectRef idx="0">
          <a:scrgbClr r="0" g="0" b="0"/>
        </a:effectRef>
        <a:fontRef idx="minor"/>
      </dsp:style>
    </dsp:sp>
    <dsp:sp modelId="{A52E9927-AACA-7D42-A2E0-2B587FC952F6}">
      <dsp:nvSpPr>
        <dsp:cNvPr id="0" name=""/>
        <dsp:cNvSpPr/>
      </dsp:nvSpPr>
      <dsp:spPr>
        <a:xfrm>
          <a:off x="2112128" y="3241600"/>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Calculate Indirect (bounce) short vegetation scattering</a:t>
          </a:r>
        </a:p>
      </dsp:txBody>
      <dsp:txXfrm>
        <a:off x="2128053" y="3257525"/>
        <a:ext cx="838114" cy="511877"/>
      </dsp:txXfrm>
    </dsp:sp>
    <dsp:sp modelId="{0DB16559-1147-BC40-94C9-92316A221D3F}">
      <dsp:nvSpPr>
        <dsp:cNvPr id="0" name=""/>
        <dsp:cNvSpPr/>
      </dsp:nvSpPr>
      <dsp:spPr>
        <a:xfrm>
          <a:off x="3765101" y="576680"/>
          <a:ext cx="1434321" cy="543727"/>
        </a:xfrm>
        <a:prstGeom prst="roundRect">
          <a:avLst>
            <a:gd name="adj" fmla="val 10000"/>
          </a:avLst>
        </a:prstGeom>
        <a:solidFill>
          <a:srgbClr val="9BBB59">
            <a:lumMod val="60000"/>
            <a:lumOff val="40000"/>
          </a:srgbClr>
        </a:solidFill>
        <a:ln>
          <a:solidFill>
            <a:srgbClr val="1F497D"/>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ysClr val="windowText" lastClr="000000"/>
              </a:solidFill>
              <a:latin typeface="Calibri"/>
              <a:ea typeface="+mn-ea"/>
              <a:cs typeface="+mn-cs"/>
            </a:rPr>
            <a:t>For each tree</a:t>
          </a:r>
        </a:p>
      </dsp:txBody>
      <dsp:txXfrm>
        <a:off x="3781026" y="592605"/>
        <a:ext cx="1402471" cy="511877"/>
      </dsp:txXfrm>
    </dsp:sp>
    <dsp:sp modelId="{74A96FA9-002A-2448-BB05-00CE95677897}">
      <dsp:nvSpPr>
        <dsp:cNvPr id="0" name=""/>
        <dsp:cNvSpPr/>
      </dsp:nvSpPr>
      <dsp:spPr>
        <a:xfrm>
          <a:off x="3908533" y="1120408"/>
          <a:ext cx="131291" cy="525328"/>
        </a:xfrm>
        <a:custGeom>
          <a:avLst/>
          <a:gdLst/>
          <a:ahLst/>
          <a:cxnLst/>
          <a:rect l="0" t="0" r="0" b="0"/>
          <a:pathLst>
            <a:path>
              <a:moveTo>
                <a:pt x="0" y="0"/>
              </a:moveTo>
              <a:lnTo>
                <a:pt x="0" y="525328"/>
              </a:lnTo>
              <a:lnTo>
                <a:pt x="131291" y="525328"/>
              </a:lnTo>
            </a:path>
          </a:pathLst>
        </a:custGeom>
        <a:noFill/>
        <a:ln w="9525" cap="flat" cmpd="sng" algn="ctr">
          <a:solidFill>
            <a:srgbClr val="1F497D"/>
          </a:solidFill>
          <a:prstDash val="solid"/>
        </a:ln>
        <a:effectLst/>
      </dsp:spPr>
      <dsp:style>
        <a:lnRef idx="1">
          <a:scrgbClr r="0" g="0" b="0"/>
        </a:lnRef>
        <a:fillRef idx="0">
          <a:scrgbClr r="0" g="0" b="0"/>
        </a:fillRef>
        <a:effectRef idx="0">
          <a:scrgbClr r="0" g="0" b="0"/>
        </a:effectRef>
        <a:fontRef idx="minor"/>
      </dsp:style>
    </dsp:sp>
    <dsp:sp modelId="{3E63C362-2805-B54F-BF7F-298AC29FA3DC}">
      <dsp:nvSpPr>
        <dsp:cNvPr id="0" name=""/>
        <dsp:cNvSpPr/>
      </dsp:nvSpPr>
      <dsp:spPr>
        <a:xfrm>
          <a:off x="4039824" y="1373872"/>
          <a:ext cx="869964" cy="543727"/>
        </a:xfrm>
        <a:prstGeom prst="roundRect">
          <a:avLst>
            <a:gd name="adj" fmla="val 10000"/>
          </a:avLst>
        </a:prstGeom>
        <a:solidFill>
          <a:srgbClr val="9BBB59">
            <a:lumMod val="40000"/>
            <a:lumOff val="60000"/>
            <a:alpha val="90000"/>
          </a:srgb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solidFill>
              <a:latin typeface="Calibri"/>
              <a:ea typeface="+mn-ea"/>
              <a:cs typeface="+mn-cs"/>
            </a:rPr>
            <a:t>Image stem, primary and secondary branches</a:t>
          </a:r>
        </a:p>
      </dsp:txBody>
      <dsp:txXfrm>
        <a:off x="4055749" y="1389797"/>
        <a:ext cx="838114" cy="511877"/>
      </dsp:txXfrm>
    </dsp:sp>
    <dsp:sp modelId="{F85C73FF-8BA3-2142-952A-C7BD3EEF8F00}">
      <dsp:nvSpPr>
        <dsp:cNvPr id="0" name=""/>
        <dsp:cNvSpPr/>
      </dsp:nvSpPr>
      <dsp:spPr>
        <a:xfrm>
          <a:off x="3908533" y="1120408"/>
          <a:ext cx="131291" cy="1291207"/>
        </a:xfrm>
        <a:custGeom>
          <a:avLst/>
          <a:gdLst/>
          <a:ahLst/>
          <a:cxnLst/>
          <a:rect l="0" t="0" r="0" b="0"/>
          <a:pathLst>
            <a:path>
              <a:moveTo>
                <a:pt x="0" y="0"/>
              </a:moveTo>
              <a:lnTo>
                <a:pt x="0" y="1291207"/>
              </a:lnTo>
              <a:lnTo>
                <a:pt x="131291" y="1291207"/>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2D5DC9E6-1DF7-F74A-AEB9-F49CE71B15C8}">
      <dsp:nvSpPr>
        <dsp:cNvPr id="0" name=""/>
        <dsp:cNvSpPr/>
      </dsp:nvSpPr>
      <dsp:spPr>
        <a:xfrm>
          <a:off x="4039824" y="2139751"/>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Image tertiary branches</a:t>
          </a:r>
        </a:p>
      </dsp:txBody>
      <dsp:txXfrm>
        <a:off x="4055749" y="2155676"/>
        <a:ext cx="838114" cy="511877"/>
      </dsp:txXfrm>
    </dsp:sp>
    <dsp:sp modelId="{8C39ED7D-29F5-2D4C-B15B-39F7E7C19397}">
      <dsp:nvSpPr>
        <dsp:cNvPr id="0" name=""/>
        <dsp:cNvSpPr/>
      </dsp:nvSpPr>
      <dsp:spPr>
        <a:xfrm>
          <a:off x="3908533" y="1120408"/>
          <a:ext cx="131291" cy="2015566"/>
        </a:xfrm>
        <a:custGeom>
          <a:avLst/>
          <a:gdLst/>
          <a:ahLst/>
          <a:cxnLst/>
          <a:rect l="0" t="0" r="0" b="0"/>
          <a:pathLst>
            <a:path>
              <a:moveTo>
                <a:pt x="0" y="0"/>
              </a:moveTo>
              <a:lnTo>
                <a:pt x="0" y="2015566"/>
              </a:lnTo>
              <a:lnTo>
                <a:pt x="131291" y="2015566"/>
              </a:lnTo>
            </a:path>
          </a:pathLst>
        </a:custGeom>
        <a:noFill/>
        <a:ln w="1270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sp>
    <dsp:sp modelId="{7E5DDDA7-4385-264B-9400-29B1A96798A5}">
      <dsp:nvSpPr>
        <dsp:cNvPr id="0" name=""/>
        <dsp:cNvSpPr/>
      </dsp:nvSpPr>
      <dsp:spPr>
        <a:xfrm>
          <a:off x="4039824" y="2864111"/>
          <a:ext cx="869964" cy="543727"/>
        </a:xfrm>
        <a:prstGeom prst="roundRect">
          <a:avLst>
            <a:gd name="adj" fmla="val 10000"/>
          </a:avLst>
        </a:prstGeom>
        <a:solidFill>
          <a:srgbClr val="8064A2">
            <a:lumMod val="20000"/>
            <a:lumOff val="80000"/>
          </a:srgb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0160" rIns="15240" bIns="1016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Text" lastClr="000000">
                  <a:hueOff val="0"/>
                  <a:satOff val="0"/>
                  <a:lumOff val="0"/>
                  <a:alphaOff val="0"/>
                </a:sysClr>
              </a:solidFill>
              <a:latin typeface="Calibri"/>
              <a:ea typeface="+mn-ea"/>
              <a:cs typeface="+mn-cs"/>
            </a:rPr>
            <a:t>Image foliage</a:t>
          </a:r>
        </a:p>
      </dsp:txBody>
      <dsp:txXfrm>
        <a:off x="4055749" y="2880036"/>
        <a:ext cx="838114" cy="511877"/>
      </dsp:txXfrm>
    </dsp:sp>
    <dsp:sp modelId="{683521D0-B539-F54C-BB60-2CF58AA7988D}">
      <dsp:nvSpPr>
        <dsp:cNvPr id="0" name=""/>
        <dsp:cNvSpPr/>
      </dsp:nvSpPr>
      <dsp:spPr>
        <a:xfrm>
          <a:off x="5202674" y="1228567"/>
          <a:ext cx="1497970" cy="543727"/>
        </a:xfrm>
        <a:prstGeom prst="roundRect">
          <a:avLst>
            <a:gd name="adj" fmla="val 10000"/>
          </a:avLst>
        </a:prstGeom>
        <a:solidFill>
          <a:srgbClr val="9BBB59">
            <a:lumMod val="40000"/>
            <a:lumOff val="60000"/>
          </a:srgb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000000"/>
              </a:solidFill>
              <a:latin typeface="Calibri"/>
              <a:ea typeface="+mn-ea"/>
              <a:cs typeface="+mn-cs"/>
            </a:rPr>
            <a:t>For each branch</a:t>
          </a:r>
        </a:p>
      </dsp:txBody>
      <dsp:txXfrm>
        <a:off x="5218599" y="1244492"/>
        <a:ext cx="1466120" cy="511877"/>
      </dsp:txXfrm>
    </dsp:sp>
    <dsp:sp modelId="{FD324BCB-825E-8144-9D5F-C6F677E89E42}">
      <dsp:nvSpPr>
        <dsp:cNvPr id="0" name=""/>
        <dsp:cNvSpPr/>
      </dsp:nvSpPr>
      <dsp:spPr>
        <a:xfrm>
          <a:off x="5352471" y="1772294"/>
          <a:ext cx="174293" cy="443448"/>
        </a:xfrm>
        <a:custGeom>
          <a:avLst/>
          <a:gdLst/>
          <a:ahLst/>
          <a:cxnLst/>
          <a:rect l="0" t="0" r="0" b="0"/>
          <a:pathLst>
            <a:path>
              <a:moveTo>
                <a:pt x="0" y="0"/>
              </a:moveTo>
              <a:lnTo>
                <a:pt x="0" y="443448"/>
              </a:lnTo>
              <a:lnTo>
                <a:pt x="174293" y="443448"/>
              </a:lnTo>
            </a:path>
          </a:pathLst>
        </a:custGeom>
        <a:noFill/>
        <a:ln w="12700" cap="flat" cmpd="sng" algn="ctr">
          <a:solidFill>
            <a:srgbClr val="1F497D"/>
          </a:solidFill>
          <a:prstDash val="solid"/>
        </a:ln>
        <a:effectLst/>
      </dsp:spPr>
      <dsp:style>
        <a:lnRef idx="1">
          <a:scrgbClr r="0" g="0" b="0"/>
        </a:lnRef>
        <a:fillRef idx="0">
          <a:scrgbClr r="0" g="0" b="0"/>
        </a:fillRef>
        <a:effectRef idx="0">
          <a:scrgbClr r="0" g="0" b="0"/>
        </a:effectRef>
        <a:fontRef idx="minor"/>
      </dsp:style>
    </dsp:sp>
    <dsp:sp modelId="{397EB76A-7DBE-6849-BCDE-A3FF9856BC5B}">
      <dsp:nvSpPr>
        <dsp:cNvPr id="0" name=""/>
        <dsp:cNvSpPr/>
      </dsp:nvSpPr>
      <dsp:spPr>
        <a:xfrm>
          <a:off x="5526764" y="1943879"/>
          <a:ext cx="1043714" cy="543727"/>
        </a:xfrm>
        <a:prstGeom prst="roundRect">
          <a:avLst>
            <a:gd name="adj" fmla="val 10000"/>
          </a:avLst>
        </a:prstGeom>
        <a:solidFill>
          <a:srgbClr val="1F497D">
            <a:lumMod val="20000"/>
            <a:lumOff val="80000"/>
          </a:srgbClr>
        </a:solidFill>
        <a:ln w="9525" cap="flat" cmpd="sng" algn="ctr">
          <a:noFill/>
          <a:prstDash val="solid"/>
        </a:ln>
        <a:effectLst>
          <a:outerShdw blurRad="50800" dist="25400" dir="5580000" algn="tl" rotWithShape="0">
            <a:srgbClr val="000000">
              <a:alpha val="43000"/>
            </a:srgbClr>
          </a:outerShdw>
        </a:effectLst>
      </dsp:spPr>
      <dsp:style>
        <a:lnRef idx="1">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rgbClr val="000000"/>
              </a:solidFill>
              <a:latin typeface="Calibri"/>
              <a:ea typeface="+mn-ea"/>
              <a:cs typeface="+mn-cs"/>
            </a:rPr>
            <a:t>For each track</a:t>
          </a:r>
        </a:p>
      </dsp:txBody>
      <dsp:txXfrm>
        <a:off x="5542689" y="1959804"/>
        <a:ext cx="1011864" cy="5118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EA9598-DEBF-AC4F-A8A8-3F8C13C91F5A}">
      <dsp:nvSpPr>
        <dsp:cNvPr id="0" name=""/>
        <dsp:cNvSpPr/>
      </dsp:nvSpPr>
      <dsp:spPr>
        <a:xfrm>
          <a:off x="377691" y="829244"/>
          <a:ext cx="1187382" cy="572187"/>
        </a:xfrm>
        <a:prstGeom prst="roundRect">
          <a:avLst>
            <a:gd name="adj" fmla="val 10000"/>
          </a:avLst>
        </a:prstGeom>
        <a:solidFill>
          <a:srgbClr val="4F81BD">
            <a:lumMod val="40000"/>
            <a:lumOff val="60000"/>
          </a:srgbClr>
        </a:solidFill>
        <a:ln>
          <a:solidFill>
            <a:srgbClr val="1F497D"/>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0000"/>
              </a:solidFill>
              <a:latin typeface="Calibri"/>
              <a:ea typeface="+mn-ea"/>
              <a:cs typeface="+mn-cs"/>
            </a:rPr>
            <a:t>For each track</a:t>
          </a:r>
        </a:p>
      </dsp:txBody>
      <dsp:txXfrm>
        <a:off x="394450" y="846003"/>
        <a:ext cx="1153864" cy="538669"/>
      </dsp:txXfrm>
    </dsp:sp>
    <dsp:sp modelId="{6609DED0-2F22-0547-A5BF-E7629818D26C}">
      <dsp:nvSpPr>
        <dsp:cNvPr id="0" name=""/>
        <dsp:cNvSpPr/>
      </dsp:nvSpPr>
      <dsp:spPr>
        <a:xfrm>
          <a:off x="496429" y="1401431"/>
          <a:ext cx="179813" cy="408773"/>
        </a:xfrm>
        <a:custGeom>
          <a:avLst/>
          <a:gdLst/>
          <a:ahLst/>
          <a:cxnLst/>
          <a:rect l="0" t="0" r="0" b="0"/>
          <a:pathLst>
            <a:path>
              <a:moveTo>
                <a:pt x="0" y="0"/>
              </a:moveTo>
              <a:lnTo>
                <a:pt x="0" y="408773"/>
              </a:lnTo>
              <a:lnTo>
                <a:pt x="179813" y="408773"/>
              </a:lnTo>
            </a:path>
          </a:pathLst>
        </a:custGeom>
        <a:noFill/>
        <a:ln w="9525" cap="flat" cmpd="sng" algn="ctr">
          <a:solidFill>
            <a:srgbClr val="4F81BD">
              <a:shade val="60000"/>
              <a:hueOff val="0"/>
              <a:satOff val="0"/>
              <a:lumOff val="0"/>
              <a:alphaOff val="0"/>
            </a:srgbClr>
          </a:solidFill>
          <a:prstDash val="solid"/>
        </a:ln>
        <a:effectLst/>
      </dsp:spPr>
      <dsp:style>
        <a:lnRef idx="1">
          <a:scrgbClr r="0" g="0" b="0"/>
        </a:lnRef>
        <a:fillRef idx="0">
          <a:scrgbClr r="0" g="0" b="0"/>
        </a:fillRef>
        <a:effectRef idx="0">
          <a:scrgbClr r="0" g="0" b="0"/>
        </a:effectRef>
        <a:fontRef idx="minor"/>
      </dsp:style>
    </dsp:sp>
    <dsp:sp modelId="{C446B2B8-EF2F-2A41-B0CA-F0F54DD1817E}">
      <dsp:nvSpPr>
        <dsp:cNvPr id="0" name=""/>
        <dsp:cNvSpPr/>
      </dsp:nvSpPr>
      <dsp:spPr>
        <a:xfrm>
          <a:off x="676243" y="1513026"/>
          <a:ext cx="868685" cy="594356"/>
        </a:xfrm>
        <a:prstGeom prst="roundRect">
          <a:avLst>
            <a:gd name="adj" fmla="val 10000"/>
          </a:avLst>
        </a:prstGeom>
        <a:solidFill>
          <a:srgbClr val="4BACC6">
            <a:lumMod val="20000"/>
            <a:lumOff val="80000"/>
          </a:srgb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a:solidFill>
                <a:srgbClr val="000000"/>
              </a:solidFill>
              <a:latin typeface="Calibri"/>
              <a:ea typeface="+mn-ea"/>
              <a:cs typeface="+mn-cs"/>
            </a:rPr>
            <a:t>Model change</a:t>
          </a:r>
          <a:endParaRPr lang="en-US" sz="1000" kern="1200" dirty="0">
            <a:solidFill>
              <a:srgbClr val="000000"/>
            </a:solidFill>
            <a:latin typeface="Calibri"/>
            <a:ea typeface="+mn-ea"/>
            <a:cs typeface="+mn-cs"/>
          </a:endParaRPr>
        </a:p>
      </dsp:txBody>
      <dsp:txXfrm>
        <a:off x="693651" y="1530434"/>
        <a:ext cx="833869" cy="559540"/>
      </dsp:txXfrm>
    </dsp:sp>
    <dsp:sp modelId="{57D76BDD-C4DB-5F4A-9F15-C31109BCAE86}">
      <dsp:nvSpPr>
        <dsp:cNvPr id="0" name=""/>
        <dsp:cNvSpPr/>
      </dsp:nvSpPr>
      <dsp:spPr>
        <a:xfrm>
          <a:off x="496429" y="1401431"/>
          <a:ext cx="193953" cy="1102841"/>
        </a:xfrm>
        <a:custGeom>
          <a:avLst/>
          <a:gdLst/>
          <a:ahLst/>
          <a:cxnLst/>
          <a:rect l="0" t="0" r="0" b="0"/>
          <a:pathLst>
            <a:path>
              <a:moveTo>
                <a:pt x="0" y="0"/>
              </a:moveTo>
              <a:lnTo>
                <a:pt x="0" y="1102841"/>
              </a:lnTo>
              <a:lnTo>
                <a:pt x="193953" y="1102841"/>
              </a:lnTo>
            </a:path>
          </a:pathLst>
        </a:custGeom>
        <a:noFill/>
        <a:ln w="12700" cap="flat" cmpd="sng" algn="ctr">
          <a:solidFill>
            <a:srgbClr val="1F497D"/>
          </a:solidFill>
          <a:prstDash val="solid"/>
        </a:ln>
        <a:effectLst/>
      </dsp:spPr>
      <dsp:style>
        <a:lnRef idx="1">
          <a:scrgbClr r="0" g="0" b="0"/>
        </a:lnRef>
        <a:fillRef idx="0">
          <a:scrgbClr r="0" g="0" b="0"/>
        </a:fillRef>
        <a:effectRef idx="0">
          <a:scrgbClr r="0" g="0" b="0"/>
        </a:effectRef>
        <a:fontRef idx="minor"/>
      </dsp:style>
    </dsp:sp>
    <dsp:sp modelId="{BB2BF405-8B6E-4E46-A435-997DEC7A98DF}">
      <dsp:nvSpPr>
        <dsp:cNvPr id="0" name=""/>
        <dsp:cNvSpPr/>
      </dsp:nvSpPr>
      <dsp:spPr>
        <a:xfrm>
          <a:off x="690383" y="2207094"/>
          <a:ext cx="868685" cy="594356"/>
        </a:xfrm>
        <a:prstGeom prst="roundRect">
          <a:avLst>
            <a:gd name="adj" fmla="val 10000"/>
          </a:avLst>
        </a:prstGeom>
        <a:solidFill>
          <a:srgbClr val="4F81BD">
            <a:lumMod val="40000"/>
            <a:lumOff val="60000"/>
          </a:srgbClr>
        </a:solidFill>
        <a:ln w="9525" cap="flat" cmpd="sng" algn="ctr">
          <a:solidFill>
            <a:srgbClr val="4F81B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000000"/>
              </a:solidFill>
              <a:latin typeface="Calibri"/>
              <a:ea typeface="+mn-ea"/>
              <a:cs typeface="+mn-cs"/>
            </a:rPr>
            <a:t>Divide branch into sections</a:t>
          </a:r>
        </a:p>
      </dsp:txBody>
      <dsp:txXfrm>
        <a:off x="707791" y="2224502"/>
        <a:ext cx="833869" cy="5595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14E0A200-6553-B147-90C9-CEF91EFF8297}" type="datetimeFigureOut">
              <a:rPr lang="en-US" smtClean="0">
                <a:latin typeface="Arial"/>
              </a:rPr>
              <a:t>3/25/26</a:t>
            </a:fld>
            <a:endParaRPr lang="en-US" dirty="0">
              <a:latin typeface="Arial"/>
            </a:endParaRPr>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F32C01C-8156-EE4C-BC47-869CA09DFB9E}" type="slidenum">
              <a:rPr lang="en-US" smtClean="0">
                <a:latin typeface="Arial"/>
              </a:rPr>
              <a:t>‹#›</a:t>
            </a:fld>
            <a:endParaRPr lang="en-US" dirty="0">
              <a:latin typeface="Arial"/>
            </a:endParaRPr>
          </a:p>
        </p:txBody>
      </p:sp>
    </p:spTree>
    <p:extLst>
      <p:ext uri="{BB962C8B-B14F-4D97-AF65-F5344CB8AC3E}">
        <p14:creationId xmlns:p14="http://schemas.microsoft.com/office/powerpoint/2010/main" val="38324958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atin typeface="Arial"/>
              </a:defRPr>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atin typeface="Arial"/>
              </a:defRPr>
            </a:lvl1pPr>
          </a:lstStyle>
          <a:p>
            <a:fld id="{2FC77F81-3125-2240-A858-DAD650E09B57}" type="datetimeFigureOut">
              <a:rPr lang="en-US" smtClean="0"/>
              <a:pPr/>
              <a:t>3/25/26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atin typeface="Arial"/>
              </a:defRPr>
            </a:lvl1pPr>
          </a:lstStyle>
          <a:p>
            <a:fld id="{D55DD9D9-7F94-8C4C-8748-81A0C015A865}" type="slidenum">
              <a:rPr lang="en-US" smtClean="0"/>
              <a:pPr/>
              <a:t>‹#›</a:t>
            </a:fld>
            <a:endParaRPr lang="en-US" dirty="0"/>
          </a:p>
        </p:txBody>
      </p:sp>
    </p:spTree>
    <p:extLst>
      <p:ext uri="{BB962C8B-B14F-4D97-AF65-F5344CB8AC3E}">
        <p14:creationId xmlns:p14="http://schemas.microsoft.com/office/powerpoint/2010/main" val="256746357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F2F8C5-19DB-8242-99DE-F0C4E3FF29A3}" type="slidenum">
              <a:rPr lang="en-US" smtClean="0"/>
              <a:t>4</a:t>
            </a:fld>
            <a:endParaRPr lang="en-US"/>
          </a:p>
        </p:txBody>
      </p:sp>
    </p:spTree>
    <p:extLst>
      <p:ext uri="{BB962C8B-B14F-4D97-AF65-F5344CB8AC3E}">
        <p14:creationId xmlns:p14="http://schemas.microsoft.com/office/powerpoint/2010/main" val="4185854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5DD9D9-7F94-8C4C-8748-81A0C015A865}" type="slidenum">
              <a:rPr lang="en-US" smtClean="0"/>
              <a:pPr/>
              <a:t>55</a:t>
            </a:fld>
            <a:endParaRPr lang="en-US" dirty="0"/>
          </a:p>
        </p:txBody>
      </p:sp>
    </p:spTree>
    <p:extLst>
      <p:ext uri="{BB962C8B-B14F-4D97-AF65-F5344CB8AC3E}">
        <p14:creationId xmlns:p14="http://schemas.microsoft.com/office/powerpoint/2010/main" val="25635153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2" name="Text Placeholder 4"/>
          <p:cNvSpPr>
            <a:spLocks noGrp="1"/>
          </p:cNvSpPr>
          <p:nvPr>
            <p:ph type="body" sz="quarter" idx="3" hasCustomPrompt="1"/>
          </p:nvPr>
        </p:nvSpPr>
        <p:spPr>
          <a:xfrm>
            <a:off x="912341" y="3221701"/>
            <a:ext cx="7513104" cy="500484"/>
          </a:xfrm>
          <a:prstGeom prst="rect">
            <a:avLst/>
          </a:prstGeom>
        </p:spPr>
        <p:txBody>
          <a:bodyPr anchor="t">
            <a:noAutofit/>
          </a:bodyPr>
          <a:lstStyle>
            <a:lvl1pPr marL="0" indent="0">
              <a:buNone/>
              <a:defRPr sz="2800" b="1" baseline="0">
                <a:solidFill>
                  <a:schemeClr val="tx1"/>
                </a:solidFill>
                <a:latin typeface="+mj-lt"/>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Presentation Title</a:t>
            </a:r>
          </a:p>
        </p:txBody>
      </p:sp>
      <p:sp>
        <p:nvSpPr>
          <p:cNvPr id="3" name="Text Placeholder 20"/>
          <p:cNvSpPr>
            <a:spLocks noGrp="1"/>
          </p:cNvSpPr>
          <p:nvPr>
            <p:ph type="body" sz="quarter" idx="19" hasCustomPrompt="1"/>
          </p:nvPr>
        </p:nvSpPr>
        <p:spPr>
          <a:xfrm>
            <a:off x="912341" y="3722185"/>
            <a:ext cx="7498993" cy="1235772"/>
          </a:xfrm>
          <a:prstGeom prst="rect">
            <a:avLst/>
          </a:prstGeom>
        </p:spPr>
        <p:txBody>
          <a:bodyPr>
            <a:noAutofit/>
          </a:bodyPr>
          <a:lstStyle>
            <a:lvl1pPr marL="0" marR="0" indent="0" algn="l" defTabSz="457200" rtl="0" eaLnBrk="1" fontAlgn="auto" latinLnBrk="0" hangingPunct="1">
              <a:lnSpc>
                <a:spcPct val="100000"/>
              </a:lnSpc>
              <a:spcBef>
                <a:spcPct val="20000"/>
              </a:spcBef>
              <a:spcAft>
                <a:spcPts val="0"/>
              </a:spcAft>
              <a:buClrTx/>
              <a:buSzTx/>
              <a:buFontTx/>
              <a:buNone/>
              <a:tabLst/>
              <a:defRPr sz="2200" baseline="0">
                <a:solidFill>
                  <a:schemeClr val="tx1"/>
                </a:solidFill>
                <a:latin typeface="+mj-lt"/>
                <a:cs typeface="Arial"/>
              </a:defRPr>
            </a:lvl1pPr>
          </a:lstStyle>
          <a:p>
            <a:pPr lvl="0"/>
            <a:r>
              <a:rPr lang="en-US" dirty="0"/>
              <a:t>Click to Add a Presentation Subtitle</a:t>
            </a:r>
          </a:p>
        </p:txBody>
      </p:sp>
      <p:sp>
        <p:nvSpPr>
          <p:cNvPr id="11" name="Text Placeholder 10"/>
          <p:cNvSpPr>
            <a:spLocks noGrp="1"/>
          </p:cNvSpPr>
          <p:nvPr>
            <p:ph type="body" sz="quarter" idx="22" hasCustomPrompt="1"/>
          </p:nvPr>
        </p:nvSpPr>
        <p:spPr>
          <a:xfrm>
            <a:off x="909983" y="5649583"/>
            <a:ext cx="7424737" cy="779462"/>
          </a:xfrm>
          <a:prstGeom prst="rect">
            <a:avLst/>
          </a:prstGeom>
        </p:spPr>
        <p:txBody>
          <a:bodyPr vert="horz" anchor="b">
            <a:noAutofit/>
          </a:bodyPr>
          <a:lstStyle>
            <a:lvl1pPr marL="0" indent="0">
              <a:buNone/>
              <a:defRPr sz="12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Presented by, Job Title, Date, etc.</a:t>
            </a:r>
          </a:p>
        </p:txBody>
      </p:sp>
      <p:sp>
        <p:nvSpPr>
          <p:cNvPr id="16" name="Text Placeholder 4"/>
          <p:cNvSpPr>
            <a:spLocks noGrp="1"/>
          </p:cNvSpPr>
          <p:nvPr>
            <p:ph type="body" sz="quarter" idx="17" hasCustomPrompt="1"/>
          </p:nvPr>
        </p:nvSpPr>
        <p:spPr>
          <a:xfrm>
            <a:off x="909983" y="2885929"/>
            <a:ext cx="7515462" cy="335773"/>
          </a:xfrm>
          <a:prstGeom prst="rect">
            <a:avLst/>
          </a:prstGeom>
        </p:spPr>
        <p:txBody>
          <a:bodyPr anchor="t">
            <a:noAutofit/>
          </a:bodyPr>
          <a:lstStyle>
            <a:lvl1pPr marL="0" indent="0" algn="l">
              <a:buNone/>
              <a:tabLst/>
              <a:defRPr sz="1600" baseline="0">
                <a:solidFill>
                  <a:schemeClr val="accent1"/>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Click to Add a Theme, Project or Mission Name (optional)</a:t>
            </a:r>
          </a:p>
        </p:txBody>
      </p:sp>
      <p:pic>
        <p:nvPicPr>
          <p:cNvPr id="8" name="Picture 7"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240" y="1956816"/>
            <a:ext cx="3337560" cy="927100"/>
          </a:xfrm>
          <a:prstGeom prst="rect">
            <a:avLst/>
          </a:prstGeom>
        </p:spPr>
      </p:pic>
      <p:sp>
        <p:nvSpPr>
          <p:cNvPr id="9" name="Footer Placeholder 8"/>
          <p:cNvSpPr>
            <a:spLocks noGrp="1"/>
          </p:cNvSpPr>
          <p:nvPr>
            <p:ph type="ftr" sz="quarter" idx="24"/>
          </p:nvPr>
        </p:nvSpPr>
        <p:spPr>
          <a:xfrm>
            <a:off x="912341" y="6457847"/>
            <a:ext cx="7422379" cy="400153"/>
          </a:xfrm>
        </p:spPr>
        <p:txBody>
          <a:bodyPr/>
          <a:lstStyle/>
          <a:p>
            <a:pPr algn="l"/>
            <a:r>
              <a:rPr lang="en-US"/>
              <a:t>Does Not Contain CUI.</a:t>
            </a:r>
            <a:endParaRPr lang="en-US" dirty="0"/>
          </a:p>
        </p:txBody>
      </p:sp>
    </p:spTree>
    <p:extLst>
      <p:ext uri="{BB962C8B-B14F-4D97-AF65-F5344CB8AC3E}">
        <p14:creationId xmlns:p14="http://schemas.microsoft.com/office/powerpoint/2010/main" val="1834584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Horz Image">
    <p:spTree>
      <p:nvGrpSpPr>
        <p:cNvPr id="1" name=""/>
        <p:cNvGrpSpPr/>
        <p:nvPr/>
      </p:nvGrpSpPr>
      <p:grpSpPr>
        <a:xfrm>
          <a:off x="0" y="0"/>
          <a:ext cx="0" cy="0"/>
          <a:chOff x="0" y="0"/>
          <a:chExt cx="0" cy="0"/>
        </a:xfrm>
      </p:grpSpPr>
      <p:sp>
        <p:nvSpPr>
          <p:cNvPr id="2" name="Picture Placeholder 7"/>
          <p:cNvSpPr>
            <a:spLocks noGrp="1"/>
          </p:cNvSpPr>
          <p:nvPr>
            <p:ph type="pic" sz="quarter" idx="13"/>
          </p:nvPr>
        </p:nvSpPr>
        <p:spPr>
          <a:xfrm>
            <a:off x="0" y="0"/>
            <a:ext cx="9144000" cy="4465835"/>
          </a:xfrm>
          <a:prstGeom prst="rect">
            <a:avLst/>
          </a:prstGeom>
        </p:spPr>
        <p:txBody>
          <a:bodyPr vert="horz" anchor="ctr"/>
          <a:lstStyle>
            <a:lvl1pPr marL="0" indent="0" algn="ctr">
              <a:buFontTx/>
              <a:buNone/>
              <a:defRPr sz="1600">
                <a:solidFill>
                  <a:srgbClr val="000000"/>
                </a:solidFill>
              </a:defRPr>
            </a:lvl1pPr>
          </a:lstStyle>
          <a:p>
            <a:r>
              <a:rPr lang="en-US" dirty="0"/>
              <a:t>Drag picture to placeholder or click icon to add</a:t>
            </a:r>
          </a:p>
        </p:txBody>
      </p:sp>
      <p:sp>
        <p:nvSpPr>
          <p:cNvPr id="3" name="Text Placeholder 4"/>
          <p:cNvSpPr>
            <a:spLocks noGrp="1"/>
          </p:cNvSpPr>
          <p:nvPr>
            <p:ph type="body" sz="quarter" idx="3" hasCustomPrompt="1"/>
          </p:nvPr>
        </p:nvSpPr>
        <p:spPr>
          <a:xfrm>
            <a:off x="369198" y="4814634"/>
            <a:ext cx="8436135" cy="430183"/>
          </a:xfrm>
          <a:prstGeom prst="rect">
            <a:avLst/>
          </a:prstGeom>
        </p:spPr>
        <p:txBody>
          <a:bodyPr anchor="t">
            <a:noAutofit/>
          </a:bodyPr>
          <a:lstStyle>
            <a:lvl1pPr marL="0" indent="0" algn="l">
              <a:buNone/>
              <a:defRPr sz="2800" b="1" baseline="0">
                <a:solidFill>
                  <a:srgbClr val="000000"/>
                </a:solidFill>
                <a:latin typeface="+mj-lt"/>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Presentation Title</a:t>
            </a:r>
          </a:p>
        </p:txBody>
      </p:sp>
      <p:sp>
        <p:nvSpPr>
          <p:cNvPr id="9" name="Text Placeholder 4"/>
          <p:cNvSpPr>
            <a:spLocks noGrp="1"/>
          </p:cNvSpPr>
          <p:nvPr>
            <p:ph type="body" sz="quarter" idx="17" hasCustomPrompt="1"/>
          </p:nvPr>
        </p:nvSpPr>
        <p:spPr>
          <a:xfrm>
            <a:off x="369198" y="4523999"/>
            <a:ext cx="8436135" cy="290635"/>
          </a:xfrm>
          <a:prstGeom prst="rect">
            <a:avLst/>
          </a:prstGeom>
        </p:spPr>
        <p:txBody>
          <a:bodyPr anchor="t">
            <a:noAutofit/>
          </a:bodyPr>
          <a:lstStyle>
            <a:lvl1pPr marL="0" indent="0" algn="l">
              <a:buNone/>
              <a:tabLst/>
              <a:defRPr sz="1600" baseline="0">
                <a:solidFill>
                  <a:schemeClr val="accent1"/>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Click to Add a Theme, Project or Mission Name (optional)</a:t>
            </a:r>
          </a:p>
        </p:txBody>
      </p:sp>
      <p:sp>
        <p:nvSpPr>
          <p:cNvPr id="11" name="Text Placeholder 20"/>
          <p:cNvSpPr>
            <a:spLocks noGrp="1"/>
          </p:cNvSpPr>
          <p:nvPr>
            <p:ph type="body" sz="quarter" idx="18" hasCustomPrompt="1"/>
          </p:nvPr>
        </p:nvSpPr>
        <p:spPr>
          <a:xfrm>
            <a:off x="369199" y="5853545"/>
            <a:ext cx="4964801" cy="665791"/>
          </a:xfrm>
          <a:prstGeom prst="rect">
            <a:avLst/>
          </a:prstGeom>
        </p:spPr>
        <p:txBody>
          <a:bodyPr anchor="b">
            <a:noAutofit/>
          </a:bodyPr>
          <a:lstStyle>
            <a:lvl1pPr marL="0" marR="0" indent="0" algn="l" defTabSz="457200" rtl="0" eaLnBrk="1" fontAlgn="auto" latinLnBrk="0" hangingPunct="1">
              <a:lnSpc>
                <a:spcPct val="100000"/>
              </a:lnSpc>
              <a:spcBef>
                <a:spcPct val="20000"/>
              </a:spcBef>
              <a:spcAft>
                <a:spcPts val="0"/>
              </a:spcAft>
              <a:buClrTx/>
              <a:buSzTx/>
              <a:buFontTx/>
              <a:buNone/>
              <a:tabLst/>
              <a:defRPr sz="1200" baseline="0">
                <a:solidFill>
                  <a:srgbClr val="000000"/>
                </a:solidFill>
                <a:latin typeface="+mn-lt"/>
                <a:cs typeface="Arial"/>
              </a:defRPr>
            </a:lvl1pPr>
          </a:lstStyle>
          <a:p>
            <a:pPr lvl="0"/>
            <a:r>
              <a:rPr lang="en-US" dirty="0"/>
              <a:t>Presented by, Job Title, Date, etc.</a:t>
            </a:r>
          </a:p>
        </p:txBody>
      </p:sp>
      <p:sp>
        <p:nvSpPr>
          <p:cNvPr id="8" name="Text Placeholder 20"/>
          <p:cNvSpPr>
            <a:spLocks noGrp="1"/>
          </p:cNvSpPr>
          <p:nvPr>
            <p:ph type="body" sz="quarter" idx="19" hasCustomPrompt="1"/>
          </p:nvPr>
        </p:nvSpPr>
        <p:spPr>
          <a:xfrm>
            <a:off x="369199" y="5244817"/>
            <a:ext cx="8436134" cy="470183"/>
          </a:xfrm>
          <a:prstGeom prst="rect">
            <a:avLst/>
          </a:prstGeom>
        </p:spPr>
        <p:txBody>
          <a:bodyPr>
            <a:noAutofit/>
          </a:bodyPr>
          <a:lstStyle>
            <a:lvl1pPr marL="0" marR="0" indent="0" algn="l" defTabSz="457200" rtl="0" eaLnBrk="1" fontAlgn="auto" latinLnBrk="0" hangingPunct="1">
              <a:lnSpc>
                <a:spcPct val="100000"/>
              </a:lnSpc>
              <a:spcBef>
                <a:spcPct val="20000"/>
              </a:spcBef>
              <a:spcAft>
                <a:spcPts val="0"/>
              </a:spcAft>
              <a:buClrTx/>
              <a:buSzTx/>
              <a:buFontTx/>
              <a:buNone/>
              <a:tabLst/>
              <a:defRPr sz="2200" baseline="0">
                <a:solidFill>
                  <a:schemeClr val="tx1"/>
                </a:solidFill>
                <a:latin typeface="+mj-lt"/>
                <a:cs typeface="Arial"/>
              </a:defRPr>
            </a:lvl1pPr>
          </a:lstStyle>
          <a:p>
            <a:pPr lvl="0"/>
            <a:r>
              <a:rPr lang="en-US" dirty="0"/>
              <a:t>Click to Add a Presentation Subtitle</a:t>
            </a:r>
          </a:p>
        </p:txBody>
      </p:sp>
      <p:pic>
        <p:nvPicPr>
          <p:cNvPr id="12" name="Picture 11"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87568" y="5833872"/>
            <a:ext cx="2925483" cy="812634"/>
          </a:xfrm>
          <a:prstGeom prst="rect">
            <a:avLst/>
          </a:prstGeom>
        </p:spPr>
      </p:pic>
      <p:sp>
        <p:nvSpPr>
          <p:cNvPr id="5" name="Footer Placeholder 4"/>
          <p:cNvSpPr>
            <a:spLocks noGrp="1"/>
          </p:cNvSpPr>
          <p:nvPr>
            <p:ph type="ftr" sz="quarter" idx="21"/>
          </p:nvPr>
        </p:nvSpPr>
        <p:spPr>
          <a:xfrm>
            <a:off x="369198" y="6457847"/>
            <a:ext cx="4964802" cy="400153"/>
          </a:xfrm>
        </p:spPr>
        <p:txBody>
          <a:bodyPr/>
          <a:lstStyle>
            <a:lvl1pPr algn="l">
              <a:defRPr/>
            </a:lvl1pPr>
          </a:lstStyle>
          <a:p>
            <a:r>
              <a:rPr lang="en-US"/>
              <a:t>Does Not Contain CUI.</a:t>
            </a:r>
            <a:endParaRPr lang="en-US" dirty="0"/>
          </a:p>
        </p:txBody>
      </p:sp>
    </p:spTree>
    <p:extLst>
      <p:ext uri="{BB962C8B-B14F-4D97-AF65-F5344CB8AC3E}">
        <p14:creationId xmlns:p14="http://schemas.microsoft.com/office/powerpoint/2010/main" val="681930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Vert Image">
    <p:spTree>
      <p:nvGrpSpPr>
        <p:cNvPr id="1" name=""/>
        <p:cNvGrpSpPr/>
        <p:nvPr/>
      </p:nvGrpSpPr>
      <p:grpSpPr>
        <a:xfrm>
          <a:off x="0" y="0"/>
          <a:ext cx="0" cy="0"/>
          <a:chOff x="0" y="0"/>
          <a:chExt cx="0" cy="0"/>
        </a:xfrm>
      </p:grpSpPr>
      <p:sp>
        <p:nvSpPr>
          <p:cNvPr id="2" name="Picture Placeholder 7"/>
          <p:cNvSpPr>
            <a:spLocks noGrp="1"/>
          </p:cNvSpPr>
          <p:nvPr>
            <p:ph type="pic" sz="quarter" idx="13"/>
          </p:nvPr>
        </p:nvSpPr>
        <p:spPr>
          <a:xfrm>
            <a:off x="0" y="0"/>
            <a:ext cx="5576455" cy="6858000"/>
          </a:xfrm>
          <a:prstGeom prst="rect">
            <a:avLst/>
          </a:prstGeom>
        </p:spPr>
        <p:txBody>
          <a:bodyPr vert="horz" anchor="ctr"/>
          <a:lstStyle>
            <a:lvl1pPr marL="0" indent="0" algn="ctr">
              <a:buFontTx/>
              <a:buNone/>
              <a:defRPr sz="1600">
                <a:solidFill>
                  <a:srgbClr val="000000"/>
                </a:solidFill>
              </a:defRPr>
            </a:lvl1pPr>
          </a:lstStyle>
          <a:p>
            <a:r>
              <a:rPr lang="en-US"/>
              <a:t>Drag picture to placeholder or click icon to add</a:t>
            </a:r>
            <a:endParaRPr lang="en-US" dirty="0"/>
          </a:p>
        </p:txBody>
      </p:sp>
      <p:sp>
        <p:nvSpPr>
          <p:cNvPr id="3" name="Text Placeholder 4"/>
          <p:cNvSpPr>
            <a:spLocks noGrp="1"/>
          </p:cNvSpPr>
          <p:nvPr>
            <p:ph type="body" sz="quarter" idx="19" hasCustomPrompt="1"/>
          </p:nvPr>
        </p:nvSpPr>
        <p:spPr>
          <a:xfrm>
            <a:off x="5687786" y="1919101"/>
            <a:ext cx="3347357" cy="883015"/>
          </a:xfrm>
          <a:prstGeom prst="rect">
            <a:avLst/>
          </a:prstGeom>
        </p:spPr>
        <p:txBody>
          <a:bodyPr anchor="t">
            <a:noAutofit/>
          </a:bodyPr>
          <a:lstStyle>
            <a:lvl1pPr marL="0" indent="0" algn="ctr">
              <a:lnSpc>
                <a:spcPct val="100000"/>
              </a:lnSpc>
              <a:buNone/>
              <a:defRPr sz="2400" b="1" baseline="0">
                <a:solidFill>
                  <a:srgbClr val="000000"/>
                </a:solidFill>
                <a:latin typeface="+mj-lt"/>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Presentation Title</a:t>
            </a:r>
          </a:p>
        </p:txBody>
      </p:sp>
      <p:sp>
        <p:nvSpPr>
          <p:cNvPr id="4" name="Text Placeholder 20"/>
          <p:cNvSpPr>
            <a:spLocks noGrp="1"/>
          </p:cNvSpPr>
          <p:nvPr>
            <p:ph type="body" sz="quarter" idx="20" hasCustomPrompt="1"/>
          </p:nvPr>
        </p:nvSpPr>
        <p:spPr>
          <a:xfrm>
            <a:off x="5687785" y="2783302"/>
            <a:ext cx="3347357" cy="1000129"/>
          </a:xfrm>
          <a:prstGeom prst="rect">
            <a:avLst/>
          </a:prstGeom>
        </p:spPr>
        <p:txBody>
          <a:bodyPr>
            <a:noAutofit/>
          </a:bodyPr>
          <a:lstStyle>
            <a:lvl1pPr marL="0" marR="0" indent="0" algn="ctr" defTabSz="457200" rtl="0" eaLnBrk="1" fontAlgn="auto" latinLnBrk="0" hangingPunct="1">
              <a:lnSpc>
                <a:spcPct val="100000"/>
              </a:lnSpc>
              <a:spcBef>
                <a:spcPct val="20000"/>
              </a:spcBef>
              <a:spcAft>
                <a:spcPts val="0"/>
              </a:spcAft>
              <a:buClrTx/>
              <a:buSzTx/>
              <a:buFontTx/>
              <a:buNone/>
              <a:tabLst/>
              <a:defRPr sz="1200" baseline="0">
                <a:solidFill>
                  <a:srgbClr val="000000"/>
                </a:solidFill>
                <a:latin typeface="+mn-lt"/>
                <a:cs typeface="Arial"/>
              </a:defRPr>
            </a:lvl1pPr>
          </a:lstStyle>
          <a:p>
            <a:pPr lvl="0"/>
            <a:r>
              <a:rPr lang="en-US" dirty="0"/>
              <a:t>Presented by, Job Title, Date, etc.</a:t>
            </a:r>
          </a:p>
        </p:txBody>
      </p:sp>
      <p:sp>
        <p:nvSpPr>
          <p:cNvPr id="8" name="Text Placeholder 4"/>
          <p:cNvSpPr>
            <a:spLocks noGrp="1"/>
          </p:cNvSpPr>
          <p:nvPr>
            <p:ph type="body" sz="quarter" idx="17" hasCustomPrompt="1"/>
          </p:nvPr>
        </p:nvSpPr>
        <p:spPr>
          <a:xfrm>
            <a:off x="5687784" y="1015999"/>
            <a:ext cx="3347359" cy="856873"/>
          </a:xfrm>
          <a:prstGeom prst="rect">
            <a:avLst/>
          </a:prstGeom>
        </p:spPr>
        <p:txBody>
          <a:bodyPr anchor="b">
            <a:noAutofit/>
          </a:bodyPr>
          <a:lstStyle>
            <a:lvl1pPr marL="0" indent="0" algn="ctr">
              <a:buNone/>
              <a:tabLst/>
              <a:defRPr sz="1400" baseline="0">
                <a:solidFill>
                  <a:schemeClr val="accent1"/>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Click to Add a Theme, Project or </a:t>
            </a:r>
            <a:br>
              <a:rPr lang="en-US" dirty="0"/>
            </a:br>
            <a:r>
              <a:rPr lang="en-US" dirty="0"/>
              <a:t>Mission Name (optional)</a:t>
            </a:r>
          </a:p>
        </p:txBody>
      </p:sp>
      <p:pic>
        <p:nvPicPr>
          <p:cNvPr id="10" name="Picture 9"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87568" y="5367528"/>
            <a:ext cx="2925483" cy="812634"/>
          </a:xfrm>
          <a:prstGeom prst="rect">
            <a:avLst/>
          </a:prstGeom>
        </p:spPr>
      </p:pic>
      <p:sp>
        <p:nvSpPr>
          <p:cNvPr id="6" name="Footer Placeholder 5"/>
          <p:cNvSpPr>
            <a:spLocks noGrp="1"/>
          </p:cNvSpPr>
          <p:nvPr>
            <p:ph type="ftr" sz="quarter" idx="22"/>
          </p:nvPr>
        </p:nvSpPr>
        <p:spPr>
          <a:xfrm>
            <a:off x="5687568" y="6457847"/>
            <a:ext cx="3347574" cy="400153"/>
          </a:xfrm>
        </p:spPr>
        <p:txBody>
          <a:bodyPr/>
          <a:lstStyle/>
          <a:p>
            <a:r>
              <a:rPr lang="en-US"/>
              <a:t>Does Not Contain CUI.</a:t>
            </a:r>
            <a:endParaRPr lang="en-US" dirty="0"/>
          </a:p>
        </p:txBody>
      </p:sp>
    </p:spTree>
    <p:extLst>
      <p:ext uri="{BB962C8B-B14F-4D97-AF65-F5344CB8AC3E}">
        <p14:creationId xmlns:p14="http://schemas.microsoft.com/office/powerpoint/2010/main" val="134653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6"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0" name="Content Placeholder 9"/>
          <p:cNvSpPr>
            <a:spLocks noGrp="1"/>
          </p:cNvSpPr>
          <p:nvPr>
            <p:ph sz="quarter" idx="18"/>
          </p:nvPr>
        </p:nvSpPr>
        <p:spPr>
          <a:xfrm>
            <a:off x="457199" y="1600198"/>
            <a:ext cx="8229601" cy="4525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9"/>
          </p:nvPr>
        </p:nvSpPr>
        <p:spPr/>
        <p:txBody>
          <a:bodyPr/>
          <a:lstStyle/>
          <a:p>
            <a:fld id="{54ADED9A-BCE9-B947-83B1-8BFE7AA1BDAD}" type="datetime1">
              <a:rPr lang="en-US" smtClean="0"/>
              <a:t>3/25/26</a:t>
            </a:fld>
            <a:endParaRPr lang="en-US" dirty="0"/>
          </a:p>
        </p:txBody>
      </p:sp>
      <p:sp>
        <p:nvSpPr>
          <p:cNvPr id="7" name="Footer Placeholder 6"/>
          <p:cNvSpPr>
            <a:spLocks noGrp="1"/>
          </p:cNvSpPr>
          <p:nvPr>
            <p:ph type="ftr" sz="quarter" idx="20"/>
          </p:nvPr>
        </p:nvSpPr>
        <p:spPr/>
        <p:txBody>
          <a:bodyPr/>
          <a:lstStyle/>
          <a:p>
            <a:r>
              <a:rPr lang="en-US"/>
              <a:t>Does Not Contain CUI.</a:t>
            </a:r>
            <a:endParaRPr lang="en-US" dirty="0"/>
          </a:p>
        </p:txBody>
      </p:sp>
      <p:sp>
        <p:nvSpPr>
          <p:cNvPr id="8" name="Slide Number Placeholder 7"/>
          <p:cNvSpPr>
            <a:spLocks noGrp="1"/>
          </p:cNvSpPr>
          <p:nvPr>
            <p:ph type="sldNum" sz="quarter" idx="21"/>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1189665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6" name="Text Placeholder 4"/>
          <p:cNvSpPr>
            <a:spLocks noGrp="1"/>
          </p:cNvSpPr>
          <p:nvPr>
            <p:ph type="body" sz="quarter" idx="17" hasCustomPrompt="1"/>
          </p:nvPr>
        </p:nvSpPr>
        <p:spPr>
          <a:xfrm>
            <a:off x="457199"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8" name="TextBox 7"/>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8"/>
          </p:nvPr>
        </p:nvSpPr>
        <p:spPr/>
        <p:txBody>
          <a:bodyPr/>
          <a:lstStyle/>
          <a:p>
            <a:fld id="{C99445E9-3207-9E42-ADD3-3FC654CFF5D9}" type="datetime1">
              <a:rPr lang="en-US" smtClean="0"/>
              <a:t>3/25/26</a:t>
            </a:fld>
            <a:endParaRPr lang="en-US" dirty="0"/>
          </a:p>
        </p:txBody>
      </p:sp>
      <p:sp>
        <p:nvSpPr>
          <p:cNvPr id="4" name="Footer Placeholder 3"/>
          <p:cNvSpPr>
            <a:spLocks noGrp="1"/>
          </p:cNvSpPr>
          <p:nvPr>
            <p:ph type="ftr" sz="quarter" idx="19"/>
          </p:nvPr>
        </p:nvSpPr>
        <p:spPr/>
        <p:txBody>
          <a:bodyPr/>
          <a:lstStyle/>
          <a:p>
            <a:r>
              <a:rPr lang="en-US"/>
              <a:t>Does Not Contain CUI.</a:t>
            </a:r>
            <a:endParaRPr lang="en-US" dirty="0"/>
          </a:p>
        </p:txBody>
      </p:sp>
      <p:sp>
        <p:nvSpPr>
          <p:cNvPr id="5" name="Slide Number Placeholder 4"/>
          <p:cNvSpPr>
            <a:spLocks noGrp="1"/>
          </p:cNvSpPr>
          <p:nvPr>
            <p:ph type="sldNum" sz="quarter" idx="20"/>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4037200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6"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0" name="Content Placeholder 9"/>
          <p:cNvSpPr>
            <a:spLocks noGrp="1"/>
          </p:cNvSpPr>
          <p:nvPr>
            <p:ph sz="quarter" idx="18"/>
          </p:nvPr>
        </p:nvSpPr>
        <p:spPr>
          <a:xfrm>
            <a:off x="457199" y="1600198"/>
            <a:ext cx="8229601" cy="4525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9"/>
          </p:nvPr>
        </p:nvSpPr>
        <p:spPr/>
        <p:txBody>
          <a:bodyPr/>
          <a:lstStyle/>
          <a:p>
            <a:fld id="{58519468-5E4F-7245-9531-312B53499FE0}" type="datetime1">
              <a:rPr lang="en-US" smtClean="0"/>
              <a:t>3/25/26</a:t>
            </a:fld>
            <a:endParaRPr lang="en-US" dirty="0"/>
          </a:p>
        </p:txBody>
      </p:sp>
      <p:sp>
        <p:nvSpPr>
          <p:cNvPr id="8" name="Footer Placeholder 7"/>
          <p:cNvSpPr>
            <a:spLocks noGrp="1"/>
          </p:cNvSpPr>
          <p:nvPr>
            <p:ph type="ftr" sz="quarter" idx="20"/>
          </p:nvPr>
        </p:nvSpPr>
        <p:spPr/>
        <p:txBody>
          <a:bodyPr/>
          <a:lstStyle/>
          <a:p>
            <a:r>
              <a:rPr lang="en-US"/>
              <a:t>Does Not Contain CUI.</a:t>
            </a:r>
            <a:endParaRPr lang="en-US" dirty="0"/>
          </a:p>
        </p:txBody>
      </p:sp>
      <p:sp>
        <p:nvSpPr>
          <p:cNvPr id="11" name="Slide Number Placeholder 10"/>
          <p:cNvSpPr>
            <a:spLocks noGrp="1"/>
          </p:cNvSpPr>
          <p:nvPr>
            <p:ph type="sldNum" sz="quarter" idx="21"/>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103775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7"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0" name="TextBox 9"/>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8"/>
          </p:nvPr>
        </p:nvSpPr>
        <p:spPr/>
        <p:txBody>
          <a:bodyPr/>
          <a:lstStyle/>
          <a:p>
            <a:fld id="{18017F91-AE14-0F4B-A404-DD5F8C087BF1}" type="datetime1">
              <a:rPr lang="en-US" smtClean="0"/>
              <a:t>3/25/26</a:t>
            </a:fld>
            <a:endParaRPr lang="en-US" dirty="0"/>
          </a:p>
        </p:txBody>
      </p:sp>
      <p:sp>
        <p:nvSpPr>
          <p:cNvPr id="8" name="Footer Placeholder 7"/>
          <p:cNvSpPr>
            <a:spLocks noGrp="1"/>
          </p:cNvSpPr>
          <p:nvPr>
            <p:ph type="ftr" sz="quarter" idx="19"/>
          </p:nvPr>
        </p:nvSpPr>
        <p:spPr/>
        <p:txBody>
          <a:bodyPr/>
          <a:lstStyle/>
          <a:p>
            <a:r>
              <a:rPr lang="en-US"/>
              <a:t>Does Not Contain CUI.</a:t>
            </a:r>
            <a:endParaRPr lang="en-US" dirty="0"/>
          </a:p>
        </p:txBody>
      </p:sp>
      <p:sp>
        <p:nvSpPr>
          <p:cNvPr id="11" name="Slide Number Placeholder 10"/>
          <p:cNvSpPr>
            <a:spLocks noGrp="1"/>
          </p:cNvSpPr>
          <p:nvPr>
            <p:ph type="sldNum" sz="quarter" idx="20"/>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678251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1"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8" name="Content Placeholder 7"/>
          <p:cNvSpPr>
            <a:spLocks noGrp="1"/>
          </p:cNvSpPr>
          <p:nvPr>
            <p:ph sz="quarter" idx="19"/>
          </p:nvPr>
        </p:nvSpPr>
        <p:spPr>
          <a:xfrm>
            <a:off x="457200" y="1600200"/>
            <a:ext cx="8229600" cy="4525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20"/>
          </p:nvPr>
        </p:nvSpPr>
        <p:spPr/>
        <p:txBody>
          <a:bodyPr/>
          <a:lstStyle/>
          <a:p>
            <a:fld id="{7B32462D-8C65-A84C-A97E-5ABA2C8BF575}" type="datetime1">
              <a:rPr lang="en-US" smtClean="0"/>
              <a:t>3/25/26</a:t>
            </a:fld>
            <a:endParaRPr lang="en-US" dirty="0"/>
          </a:p>
        </p:txBody>
      </p:sp>
      <p:sp>
        <p:nvSpPr>
          <p:cNvPr id="7" name="Footer Placeholder 6"/>
          <p:cNvSpPr>
            <a:spLocks noGrp="1"/>
          </p:cNvSpPr>
          <p:nvPr>
            <p:ph type="ftr" sz="quarter" idx="21"/>
          </p:nvPr>
        </p:nvSpPr>
        <p:spPr/>
        <p:txBody>
          <a:bodyPr/>
          <a:lstStyle/>
          <a:p>
            <a:r>
              <a:rPr lang="en-US"/>
              <a:t>Does Not Contain CUI.</a:t>
            </a:r>
            <a:endParaRPr lang="en-US" dirty="0"/>
          </a:p>
        </p:txBody>
      </p:sp>
      <p:sp>
        <p:nvSpPr>
          <p:cNvPr id="12" name="Slide Number Placeholder 11"/>
          <p:cNvSpPr>
            <a:spLocks noGrp="1"/>
          </p:cNvSpPr>
          <p:nvPr>
            <p:ph type="sldNum" sz="quarter" idx="22"/>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102769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3" name="Content Placeholder 14"/>
          <p:cNvSpPr>
            <a:spLocks noGrp="1"/>
          </p:cNvSpPr>
          <p:nvPr>
            <p:ph sz="quarter" idx="21"/>
          </p:nvPr>
        </p:nvSpPr>
        <p:spPr>
          <a:xfrm>
            <a:off x="457200" y="1599449"/>
            <a:ext cx="4038600" cy="4526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4"/>
          <p:cNvSpPr>
            <a:spLocks noGrp="1"/>
          </p:cNvSpPr>
          <p:nvPr>
            <p:ph sz="quarter" idx="22"/>
          </p:nvPr>
        </p:nvSpPr>
        <p:spPr>
          <a:xfrm>
            <a:off x="4648200" y="1599449"/>
            <a:ext cx="4038600" cy="4526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1" name="TextBox 10"/>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23"/>
          </p:nvPr>
        </p:nvSpPr>
        <p:spPr/>
        <p:txBody>
          <a:bodyPr/>
          <a:lstStyle/>
          <a:p>
            <a:fld id="{B2E3E4C7-5202-8D43-A321-0946FD670425}" type="datetime1">
              <a:rPr lang="en-US" smtClean="0"/>
              <a:t>3/25/26</a:t>
            </a:fld>
            <a:endParaRPr lang="en-US" dirty="0"/>
          </a:p>
        </p:txBody>
      </p:sp>
      <p:sp>
        <p:nvSpPr>
          <p:cNvPr id="8" name="Footer Placeholder 7"/>
          <p:cNvSpPr>
            <a:spLocks noGrp="1"/>
          </p:cNvSpPr>
          <p:nvPr>
            <p:ph type="ftr" sz="quarter" idx="24"/>
          </p:nvPr>
        </p:nvSpPr>
        <p:spPr/>
        <p:txBody>
          <a:bodyPr/>
          <a:lstStyle/>
          <a:p>
            <a:r>
              <a:rPr lang="en-US"/>
              <a:t>Does Not Contain CUI.</a:t>
            </a:r>
            <a:endParaRPr lang="en-US" dirty="0"/>
          </a:p>
        </p:txBody>
      </p:sp>
      <p:sp>
        <p:nvSpPr>
          <p:cNvPr id="9" name="Slide Number Placeholder 8"/>
          <p:cNvSpPr>
            <a:spLocks noGrp="1"/>
          </p:cNvSpPr>
          <p:nvPr>
            <p:ph type="sldNum" sz="quarter" idx="25"/>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2467199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3" name="Content Placeholder 14"/>
          <p:cNvSpPr>
            <a:spLocks noGrp="1"/>
          </p:cNvSpPr>
          <p:nvPr>
            <p:ph sz="quarter" idx="21"/>
          </p:nvPr>
        </p:nvSpPr>
        <p:spPr>
          <a:xfrm>
            <a:off x="457200" y="2174875"/>
            <a:ext cx="4038600" cy="395128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4"/>
          <p:cNvSpPr>
            <a:spLocks noGrp="1"/>
          </p:cNvSpPr>
          <p:nvPr>
            <p:ph sz="quarter" idx="22"/>
          </p:nvPr>
        </p:nvSpPr>
        <p:spPr>
          <a:xfrm>
            <a:off x="4648200" y="2174875"/>
            <a:ext cx="4038600" cy="395128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0" name="Text Placeholder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Box 15"/>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23"/>
          </p:nvPr>
        </p:nvSpPr>
        <p:spPr/>
        <p:txBody>
          <a:bodyPr/>
          <a:lstStyle/>
          <a:p>
            <a:fld id="{6009D43D-092B-7B41-967B-3B30F29B9FFD}" type="datetime1">
              <a:rPr lang="en-US" smtClean="0"/>
              <a:t>3/25/26</a:t>
            </a:fld>
            <a:endParaRPr lang="en-US" dirty="0"/>
          </a:p>
        </p:txBody>
      </p:sp>
      <p:sp>
        <p:nvSpPr>
          <p:cNvPr id="8" name="Footer Placeholder 7"/>
          <p:cNvSpPr>
            <a:spLocks noGrp="1"/>
          </p:cNvSpPr>
          <p:nvPr>
            <p:ph type="ftr" sz="quarter" idx="24"/>
          </p:nvPr>
        </p:nvSpPr>
        <p:spPr/>
        <p:txBody>
          <a:bodyPr/>
          <a:lstStyle/>
          <a:p>
            <a:r>
              <a:rPr lang="en-US"/>
              <a:t>Does Not Contain CUI.</a:t>
            </a:r>
            <a:endParaRPr lang="en-US" dirty="0"/>
          </a:p>
        </p:txBody>
      </p:sp>
      <p:sp>
        <p:nvSpPr>
          <p:cNvPr id="9" name="Slide Number Placeholder 8"/>
          <p:cNvSpPr>
            <a:spLocks noGrp="1"/>
          </p:cNvSpPr>
          <p:nvPr>
            <p:ph type="sldNum" sz="quarter" idx="25"/>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68917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7" name="Content Placeholder 2"/>
          <p:cNvSpPr>
            <a:spLocks noGrp="1"/>
          </p:cNvSpPr>
          <p:nvPr>
            <p:ph idx="1"/>
          </p:nvPr>
        </p:nvSpPr>
        <p:spPr>
          <a:xfrm>
            <a:off x="3575050" y="1596524"/>
            <a:ext cx="5111750" cy="4405898"/>
          </a:xfrm>
        </p:spPr>
        <p:txBody>
          <a:bodyPr>
            <a:no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3"/>
          <p:cNvSpPr>
            <a:spLocks noGrp="1"/>
          </p:cNvSpPr>
          <p:nvPr>
            <p:ph type="body" sz="half" idx="2"/>
          </p:nvPr>
        </p:nvSpPr>
        <p:spPr>
          <a:xfrm>
            <a:off x="457200" y="2758573"/>
            <a:ext cx="3008313" cy="3243849"/>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9" name="Text Placeholder 2"/>
          <p:cNvSpPr>
            <a:spLocks noGrp="1"/>
          </p:cNvSpPr>
          <p:nvPr>
            <p:ph type="body" idx="18" hasCustomPrompt="1"/>
          </p:nvPr>
        </p:nvSpPr>
        <p:spPr>
          <a:xfrm>
            <a:off x="457200" y="1596524"/>
            <a:ext cx="3008313" cy="1162049"/>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12" name="TextBox 11"/>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19"/>
          </p:nvPr>
        </p:nvSpPr>
        <p:spPr/>
        <p:txBody>
          <a:bodyPr/>
          <a:lstStyle/>
          <a:p>
            <a:fld id="{5627ED54-54AC-DA42-80BA-40700BEEB49C}" type="datetime1">
              <a:rPr lang="en-US" smtClean="0"/>
              <a:t>3/25/26</a:t>
            </a:fld>
            <a:endParaRPr lang="en-US" dirty="0"/>
          </a:p>
        </p:txBody>
      </p:sp>
      <p:sp>
        <p:nvSpPr>
          <p:cNvPr id="8" name="Footer Placeholder 7"/>
          <p:cNvSpPr>
            <a:spLocks noGrp="1"/>
          </p:cNvSpPr>
          <p:nvPr>
            <p:ph type="ftr" sz="quarter" idx="20"/>
          </p:nvPr>
        </p:nvSpPr>
        <p:spPr/>
        <p:txBody>
          <a:bodyPr/>
          <a:lstStyle/>
          <a:p>
            <a:r>
              <a:rPr lang="en-US"/>
              <a:t>Does Not Contain CUI.</a:t>
            </a:r>
            <a:endParaRPr lang="en-US" dirty="0"/>
          </a:p>
        </p:txBody>
      </p:sp>
      <p:sp>
        <p:nvSpPr>
          <p:cNvPr id="9" name="Slide Number Placeholder 8"/>
          <p:cNvSpPr>
            <a:spLocks noGrp="1"/>
          </p:cNvSpPr>
          <p:nvPr>
            <p:ph type="sldNum" sz="quarter" idx="21"/>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38825862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2" name="Picture Placeholder 2"/>
          <p:cNvSpPr>
            <a:spLocks noGrp="1"/>
          </p:cNvSpPr>
          <p:nvPr>
            <p:ph type="pic" idx="1"/>
          </p:nvPr>
        </p:nvSpPr>
        <p:spPr>
          <a:xfrm>
            <a:off x="1792288" y="1590842"/>
            <a:ext cx="5486400" cy="33839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3" name="Text Placeholder 3"/>
          <p:cNvSpPr>
            <a:spLocks noGrp="1"/>
          </p:cNvSpPr>
          <p:nvPr>
            <p:ph type="body" sz="half" idx="2"/>
          </p:nvPr>
        </p:nvSpPr>
        <p:spPr>
          <a:xfrm>
            <a:off x="1792288" y="5614565"/>
            <a:ext cx="5486400" cy="521540"/>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2"/>
          <p:cNvSpPr>
            <a:spLocks noGrp="1"/>
          </p:cNvSpPr>
          <p:nvPr>
            <p:ph type="body" idx="18" hasCustomPrompt="1"/>
          </p:nvPr>
        </p:nvSpPr>
        <p:spPr>
          <a:xfrm>
            <a:off x="1792288" y="4974802"/>
            <a:ext cx="5486400" cy="631073"/>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17" name="TextBox 16"/>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19"/>
          </p:nvPr>
        </p:nvSpPr>
        <p:spPr/>
        <p:txBody>
          <a:bodyPr/>
          <a:lstStyle/>
          <a:p>
            <a:fld id="{50465619-BFD7-FF43-9690-76AF303C9198}" type="datetime1">
              <a:rPr lang="en-US" smtClean="0"/>
              <a:t>3/25/26</a:t>
            </a:fld>
            <a:endParaRPr lang="en-US" dirty="0"/>
          </a:p>
        </p:txBody>
      </p:sp>
      <p:sp>
        <p:nvSpPr>
          <p:cNvPr id="8" name="Footer Placeholder 7"/>
          <p:cNvSpPr>
            <a:spLocks noGrp="1"/>
          </p:cNvSpPr>
          <p:nvPr>
            <p:ph type="ftr" sz="quarter" idx="20"/>
          </p:nvPr>
        </p:nvSpPr>
        <p:spPr/>
        <p:txBody>
          <a:bodyPr/>
          <a:lstStyle/>
          <a:p>
            <a:r>
              <a:rPr lang="en-US"/>
              <a:t>Does Not Contain CUI.</a:t>
            </a:r>
            <a:endParaRPr lang="en-US" dirty="0"/>
          </a:p>
        </p:txBody>
      </p:sp>
      <p:sp>
        <p:nvSpPr>
          <p:cNvPr id="9" name="Slide Number Placeholder 8"/>
          <p:cNvSpPr>
            <a:spLocks noGrp="1"/>
          </p:cNvSpPr>
          <p:nvPr>
            <p:ph type="sldNum" sz="quarter" idx="21"/>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2880278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Black Strip">
    <p:spTree>
      <p:nvGrpSpPr>
        <p:cNvPr id="1" name=""/>
        <p:cNvGrpSpPr/>
        <p:nvPr/>
      </p:nvGrpSpPr>
      <p:grpSpPr>
        <a:xfrm>
          <a:off x="0" y="0"/>
          <a:ext cx="0" cy="0"/>
          <a:chOff x="0" y="0"/>
          <a:chExt cx="0" cy="0"/>
        </a:xfrm>
      </p:grpSpPr>
      <p:sp>
        <p:nvSpPr>
          <p:cNvPr id="6"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7" name="Rectangle 6"/>
          <p:cNvSpPr/>
          <p:nvPr userDrawn="1"/>
        </p:nvSpPr>
        <p:spPr>
          <a:xfrm>
            <a:off x="0" y="1419226"/>
            <a:ext cx="9144000" cy="502919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4" name="Title 3"/>
          <p:cNvSpPr>
            <a:spLocks noGrp="1"/>
          </p:cNvSpPr>
          <p:nvPr>
            <p:ph type="title"/>
          </p:nvPr>
        </p:nvSpPr>
        <p:spPr/>
        <p:txBody>
          <a:bodyPr/>
          <a:lstStyle/>
          <a:p>
            <a:r>
              <a:rPr lang="en-US"/>
              <a:t>Click to edit Master title style</a:t>
            </a:r>
          </a:p>
        </p:txBody>
      </p:sp>
      <p:sp>
        <p:nvSpPr>
          <p:cNvPr id="13" name="TextBox 12"/>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8"/>
          </p:nvPr>
        </p:nvSpPr>
        <p:spPr/>
        <p:txBody>
          <a:bodyPr/>
          <a:lstStyle/>
          <a:p>
            <a:fld id="{8D4B17C0-AA90-1D45-9F76-0BD80F6104E2}" type="datetime1">
              <a:rPr lang="en-US" smtClean="0"/>
              <a:t>3/25/26</a:t>
            </a:fld>
            <a:endParaRPr lang="en-US" dirty="0"/>
          </a:p>
        </p:txBody>
      </p:sp>
      <p:sp>
        <p:nvSpPr>
          <p:cNvPr id="9" name="Footer Placeholder 8"/>
          <p:cNvSpPr>
            <a:spLocks noGrp="1"/>
          </p:cNvSpPr>
          <p:nvPr>
            <p:ph type="ftr" sz="quarter" idx="19"/>
          </p:nvPr>
        </p:nvSpPr>
        <p:spPr/>
        <p:txBody>
          <a:bodyPr/>
          <a:lstStyle/>
          <a:p>
            <a:r>
              <a:rPr lang="en-US"/>
              <a:t>Does Not Contain CUI.</a:t>
            </a:r>
            <a:endParaRPr lang="en-US" dirty="0"/>
          </a:p>
        </p:txBody>
      </p:sp>
      <p:sp>
        <p:nvSpPr>
          <p:cNvPr id="11" name="Slide Number Placeholder 10"/>
          <p:cNvSpPr>
            <a:spLocks noGrp="1"/>
          </p:cNvSpPr>
          <p:nvPr>
            <p:ph type="sldNum" sz="quarter" idx="20"/>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8890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Light Strip">
    <p:spTree>
      <p:nvGrpSpPr>
        <p:cNvPr id="1" name=""/>
        <p:cNvGrpSpPr/>
        <p:nvPr/>
      </p:nvGrpSpPr>
      <p:grpSpPr>
        <a:xfrm>
          <a:off x="0" y="0"/>
          <a:ext cx="0" cy="0"/>
          <a:chOff x="0" y="0"/>
          <a:chExt cx="0" cy="0"/>
        </a:xfrm>
      </p:grpSpPr>
      <p:sp>
        <p:nvSpPr>
          <p:cNvPr id="6" name="Rectangle 5"/>
          <p:cNvSpPr/>
          <p:nvPr userDrawn="1"/>
        </p:nvSpPr>
        <p:spPr>
          <a:xfrm>
            <a:off x="0" y="1419226"/>
            <a:ext cx="9144000" cy="50291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000000"/>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3" name="Title 2"/>
          <p:cNvSpPr>
            <a:spLocks noGrp="1"/>
          </p:cNvSpPr>
          <p:nvPr>
            <p:ph type="title"/>
          </p:nvPr>
        </p:nvSpPr>
        <p:spPr/>
        <p:txBody>
          <a:bodyPr/>
          <a:lstStyle/>
          <a:p>
            <a:r>
              <a:rPr lang="en-US"/>
              <a:t>Click to edit Master title style</a:t>
            </a:r>
          </a:p>
        </p:txBody>
      </p:sp>
      <p:sp>
        <p:nvSpPr>
          <p:cNvPr id="10" name="TextBox 9"/>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8" name="Date Placeholder 7"/>
          <p:cNvSpPr>
            <a:spLocks noGrp="1"/>
          </p:cNvSpPr>
          <p:nvPr>
            <p:ph type="dt" sz="half" idx="18"/>
          </p:nvPr>
        </p:nvSpPr>
        <p:spPr/>
        <p:txBody>
          <a:bodyPr/>
          <a:lstStyle/>
          <a:p>
            <a:fld id="{F6D68DA3-11B2-C741-A2D8-450A288F9ED4}" type="datetime1">
              <a:rPr lang="en-US" smtClean="0"/>
              <a:t>3/25/26</a:t>
            </a:fld>
            <a:endParaRPr lang="en-US" dirty="0"/>
          </a:p>
        </p:txBody>
      </p:sp>
      <p:sp>
        <p:nvSpPr>
          <p:cNvPr id="11" name="Footer Placeholder 10"/>
          <p:cNvSpPr>
            <a:spLocks noGrp="1"/>
          </p:cNvSpPr>
          <p:nvPr>
            <p:ph type="ftr" sz="quarter" idx="19"/>
          </p:nvPr>
        </p:nvSpPr>
        <p:spPr/>
        <p:txBody>
          <a:bodyPr/>
          <a:lstStyle/>
          <a:p>
            <a:r>
              <a:rPr lang="en-US"/>
              <a:t>Does Not Contain CUI.</a:t>
            </a:r>
            <a:endParaRPr lang="en-US" dirty="0"/>
          </a:p>
        </p:txBody>
      </p:sp>
      <p:sp>
        <p:nvSpPr>
          <p:cNvPr id="12" name="Slide Number Placeholder 11"/>
          <p:cNvSpPr>
            <a:spLocks noGrp="1"/>
          </p:cNvSpPr>
          <p:nvPr>
            <p:ph type="sldNum" sz="quarter" idx="20"/>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3008151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9" name="TextBox 8"/>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2" name="Date Placeholder 1"/>
          <p:cNvSpPr>
            <a:spLocks noGrp="1"/>
          </p:cNvSpPr>
          <p:nvPr>
            <p:ph type="dt" sz="half" idx="10"/>
          </p:nvPr>
        </p:nvSpPr>
        <p:spPr/>
        <p:txBody>
          <a:bodyPr/>
          <a:lstStyle/>
          <a:p>
            <a:fld id="{BE0BFC3A-7616-804A-B8BC-4C94C9A34E9B}" type="datetime1">
              <a:rPr lang="en-US" smtClean="0"/>
              <a:t>3/25/26</a:t>
            </a:fld>
            <a:endParaRPr lang="en-US" dirty="0"/>
          </a:p>
        </p:txBody>
      </p:sp>
      <p:sp>
        <p:nvSpPr>
          <p:cNvPr id="6" name="Footer Placeholder 5"/>
          <p:cNvSpPr>
            <a:spLocks noGrp="1"/>
          </p:cNvSpPr>
          <p:nvPr>
            <p:ph type="ftr" sz="quarter" idx="11"/>
          </p:nvPr>
        </p:nvSpPr>
        <p:spPr/>
        <p:txBody>
          <a:bodyPr/>
          <a:lstStyle/>
          <a:p>
            <a:r>
              <a:rPr lang="en-US"/>
              <a:t>Does Not Contain CUI.</a:t>
            </a:r>
            <a:endParaRPr lang="en-US" dirty="0"/>
          </a:p>
        </p:txBody>
      </p:sp>
      <p:sp>
        <p:nvSpPr>
          <p:cNvPr id="7" name="Slide Number Placeholder 6"/>
          <p:cNvSpPr>
            <a:spLocks noGrp="1"/>
          </p:cNvSpPr>
          <p:nvPr>
            <p:ph type="sldNum" sz="quarter" idx="12"/>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18158257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ext Placeholder 2"/>
          <p:cNvSpPr>
            <a:spLocks noGrp="1"/>
          </p:cNvSpPr>
          <p:nvPr>
            <p:ph type="body" sz="quarter" idx="10" hasCustomPrompt="1"/>
          </p:nvPr>
        </p:nvSpPr>
        <p:spPr>
          <a:xfrm>
            <a:off x="458107" y="2537619"/>
            <a:ext cx="8227786" cy="1782763"/>
          </a:xfrm>
        </p:spPr>
        <p:txBody>
          <a:bodyPr anchor="ctr"/>
          <a:lstStyle>
            <a:lvl1pPr marL="0" marR="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sz="4800" baseline="0">
                <a:solidFill>
                  <a:schemeClr val="tx1"/>
                </a:solidFill>
                <a:latin typeface="+mj-lt"/>
              </a:defRPr>
            </a:lvl1pPr>
          </a:lstStyle>
          <a:p>
            <a:pPr marL="0" marR="0" lvl="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a:pPr>
            <a:r>
              <a:rPr lang="en-US" dirty="0"/>
              <a:t>Click to add section header</a:t>
            </a:r>
          </a:p>
        </p:txBody>
      </p:sp>
      <p:sp>
        <p:nvSpPr>
          <p:cNvPr id="3" name="TextBox 2"/>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2" name="Date Placeholder 1"/>
          <p:cNvSpPr>
            <a:spLocks noGrp="1"/>
          </p:cNvSpPr>
          <p:nvPr>
            <p:ph type="dt" sz="half" idx="11"/>
          </p:nvPr>
        </p:nvSpPr>
        <p:spPr/>
        <p:txBody>
          <a:bodyPr/>
          <a:lstStyle/>
          <a:p>
            <a:fld id="{73A20CBD-6535-E848-A75C-346B0E5166B9}" type="datetime1">
              <a:rPr lang="en-US" smtClean="0"/>
              <a:t>3/25/26</a:t>
            </a:fld>
            <a:endParaRPr lang="en-US" dirty="0"/>
          </a:p>
        </p:txBody>
      </p:sp>
      <p:sp>
        <p:nvSpPr>
          <p:cNvPr id="4" name="Footer Placeholder 3"/>
          <p:cNvSpPr>
            <a:spLocks noGrp="1"/>
          </p:cNvSpPr>
          <p:nvPr>
            <p:ph type="ftr" sz="quarter" idx="12"/>
          </p:nvPr>
        </p:nvSpPr>
        <p:spPr/>
        <p:txBody>
          <a:bodyPr/>
          <a:lstStyle/>
          <a:p>
            <a:r>
              <a:rPr lang="en-US"/>
              <a:t>Does Not Contain CUI.</a:t>
            </a:r>
            <a:endParaRPr lang="en-US" dirty="0"/>
          </a:p>
        </p:txBody>
      </p:sp>
      <p:sp>
        <p:nvSpPr>
          <p:cNvPr id="5" name="Slide Number Placeholder 4"/>
          <p:cNvSpPr>
            <a:spLocks noGrp="1"/>
          </p:cNvSpPr>
          <p:nvPr>
            <p:ph type="sldNum" sz="quarter" idx="13"/>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3230327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_Gray">
    <p:bg>
      <p:bgPr>
        <a:solidFill>
          <a:schemeClr val="bg1">
            <a:lumMod val="65000"/>
          </a:schemeClr>
        </a:solidFill>
        <a:effectLst/>
      </p:bgPr>
    </p:bg>
    <p:spTree>
      <p:nvGrpSpPr>
        <p:cNvPr id="1" name=""/>
        <p:cNvGrpSpPr/>
        <p:nvPr/>
      </p:nvGrpSpPr>
      <p:grpSpPr>
        <a:xfrm>
          <a:off x="0" y="0"/>
          <a:ext cx="0" cy="0"/>
          <a:chOff x="0" y="0"/>
          <a:chExt cx="0" cy="0"/>
        </a:xfrm>
      </p:grpSpPr>
      <p:sp>
        <p:nvSpPr>
          <p:cNvPr id="7" name="Text Placeholder 2"/>
          <p:cNvSpPr>
            <a:spLocks noGrp="1"/>
          </p:cNvSpPr>
          <p:nvPr>
            <p:ph type="body" sz="quarter" idx="10" hasCustomPrompt="1"/>
          </p:nvPr>
        </p:nvSpPr>
        <p:spPr>
          <a:xfrm>
            <a:off x="458107" y="2537619"/>
            <a:ext cx="8227786" cy="1782763"/>
          </a:xfrm>
        </p:spPr>
        <p:txBody>
          <a:bodyPr anchor="ctr"/>
          <a:lstStyle>
            <a:lvl1pPr marL="0" marR="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sz="4800" baseline="0">
                <a:solidFill>
                  <a:schemeClr val="bg1"/>
                </a:solidFill>
                <a:latin typeface="+mj-lt"/>
              </a:defRPr>
            </a:lvl1pPr>
          </a:lstStyle>
          <a:p>
            <a:pPr marL="0" marR="0" lvl="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a:pPr>
            <a:r>
              <a:rPr lang="en-US" dirty="0"/>
              <a:t>Click to add section header</a:t>
            </a:r>
          </a:p>
        </p:txBody>
      </p:sp>
      <p:sp>
        <p:nvSpPr>
          <p:cNvPr id="3" name="TextBox 2"/>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2" name="Date Placeholder 1"/>
          <p:cNvSpPr>
            <a:spLocks noGrp="1"/>
          </p:cNvSpPr>
          <p:nvPr>
            <p:ph type="dt" sz="half" idx="11"/>
          </p:nvPr>
        </p:nvSpPr>
        <p:spPr/>
        <p:txBody>
          <a:bodyPr/>
          <a:lstStyle/>
          <a:p>
            <a:fld id="{6B0441C7-EA0C-4149-B8B5-018D7470B804}" type="datetime1">
              <a:rPr lang="en-US" smtClean="0"/>
              <a:t>3/25/26</a:t>
            </a:fld>
            <a:endParaRPr lang="en-US" dirty="0"/>
          </a:p>
        </p:txBody>
      </p:sp>
      <p:sp>
        <p:nvSpPr>
          <p:cNvPr id="4" name="Footer Placeholder 3"/>
          <p:cNvSpPr>
            <a:spLocks noGrp="1"/>
          </p:cNvSpPr>
          <p:nvPr>
            <p:ph type="ftr" sz="quarter" idx="12"/>
          </p:nvPr>
        </p:nvSpPr>
        <p:spPr/>
        <p:txBody>
          <a:bodyPr/>
          <a:lstStyle/>
          <a:p>
            <a:r>
              <a:rPr lang="en-US"/>
              <a:t>Does Not Contain CUI.</a:t>
            </a:r>
            <a:endParaRPr lang="en-US" dirty="0"/>
          </a:p>
        </p:txBody>
      </p:sp>
      <p:sp>
        <p:nvSpPr>
          <p:cNvPr id="5" name="Slide Number Placeholder 4"/>
          <p:cNvSpPr>
            <a:spLocks noGrp="1"/>
          </p:cNvSpPr>
          <p:nvPr>
            <p:ph type="sldNum" sz="quarter" idx="13"/>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986655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3B97F9-C168-624A-8538-E6379329788A}" type="datetime1">
              <a:rPr lang="en-US" smtClean="0"/>
              <a:t>3/25/26</a:t>
            </a:fld>
            <a:endParaRPr lang="en-US" dirty="0"/>
          </a:p>
        </p:txBody>
      </p:sp>
      <p:sp>
        <p:nvSpPr>
          <p:cNvPr id="3" name="Footer Placeholder 2"/>
          <p:cNvSpPr>
            <a:spLocks noGrp="1"/>
          </p:cNvSpPr>
          <p:nvPr>
            <p:ph type="ftr" sz="quarter" idx="11"/>
          </p:nvPr>
        </p:nvSpPr>
        <p:spPr/>
        <p:txBody>
          <a:bodyPr/>
          <a:lstStyle/>
          <a:p>
            <a:r>
              <a:rPr lang="en-US"/>
              <a:t>Does Not Contain CUI.</a:t>
            </a:r>
            <a:endParaRPr lang="en-US" dirty="0"/>
          </a:p>
        </p:txBody>
      </p:sp>
      <p:sp>
        <p:nvSpPr>
          <p:cNvPr id="4" name="Slide Number Placeholder 3"/>
          <p:cNvSpPr>
            <a:spLocks noGrp="1"/>
          </p:cNvSpPr>
          <p:nvPr>
            <p:ph type="sldNum" sz="quarter" idx="12"/>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23904379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cxnSp>
        <p:nvCxnSpPr>
          <p:cNvPr id="3" name="Straight Connector 2"/>
          <p:cNvCxnSpPr/>
          <p:nvPr userDrawn="1"/>
        </p:nvCxnSpPr>
        <p:spPr>
          <a:xfrm>
            <a:off x="2276323" y="3654169"/>
            <a:ext cx="4581678" cy="0"/>
          </a:xfrm>
          <a:prstGeom prst="line">
            <a:avLst/>
          </a:prstGeom>
          <a:ln w="6350" cmpd="sng">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userDrawn="1"/>
        </p:nvSpPr>
        <p:spPr>
          <a:xfrm>
            <a:off x="1" y="3863419"/>
            <a:ext cx="9144000" cy="400153"/>
          </a:xfrm>
          <a:prstGeom prst="rect">
            <a:avLst/>
          </a:prstGeom>
          <a:noFill/>
        </p:spPr>
        <p:txBody>
          <a:bodyPr wrap="square" rtlCol="0" anchor="ctr">
            <a:noAutofit/>
          </a:bodyPr>
          <a:lstStyle/>
          <a:p>
            <a:pPr algn="ctr"/>
            <a:r>
              <a:rPr lang="en-US" sz="2400" kern="0" spc="70" dirty="0">
                <a:solidFill>
                  <a:schemeClr val="accent1"/>
                </a:solidFill>
              </a:rPr>
              <a:t>jpl.nasa.gov</a:t>
            </a:r>
          </a:p>
        </p:txBody>
      </p:sp>
      <p:pic>
        <p:nvPicPr>
          <p:cNvPr id="6" name="Picture 5"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76856" y="2377440"/>
            <a:ext cx="4581144" cy="1272540"/>
          </a:xfrm>
          <a:prstGeom prst="rect">
            <a:avLst/>
          </a:prstGeom>
        </p:spPr>
      </p:pic>
      <p:sp>
        <p:nvSpPr>
          <p:cNvPr id="2" name="Date Placeholder 1"/>
          <p:cNvSpPr>
            <a:spLocks noGrp="1"/>
          </p:cNvSpPr>
          <p:nvPr>
            <p:ph type="dt" sz="half" idx="10"/>
          </p:nvPr>
        </p:nvSpPr>
        <p:spPr/>
        <p:txBody>
          <a:bodyPr/>
          <a:lstStyle/>
          <a:p>
            <a:fld id="{ADD543D1-B320-7540-A95A-09C89AC2D08F}" type="datetime1">
              <a:rPr lang="en-US" smtClean="0"/>
              <a:t>3/25/26</a:t>
            </a:fld>
            <a:endParaRPr lang="en-US" dirty="0"/>
          </a:p>
        </p:txBody>
      </p:sp>
      <p:sp>
        <p:nvSpPr>
          <p:cNvPr id="5" name="Footer Placeholder 4"/>
          <p:cNvSpPr>
            <a:spLocks noGrp="1"/>
          </p:cNvSpPr>
          <p:nvPr>
            <p:ph type="ftr" sz="quarter" idx="11"/>
          </p:nvPr>
        </p:nvSpPr>
        <p:spPr/>
        <p:txBody>
          <a:bodyPr/>
          <a:lstStyle/>
          <a:p>
            <a:r>
              <a:rPr lang="en-US"/>
              <a:t>Does Not Contain CUI.</a:t>
            </a:r>
            <a:endParaRPr lang="en-US" dirty="0"/>
          </a:p>
        </p:txBody>
      </p:sp>
      <p:sp>
        <p:nvSpPr>
          <p:cNvPr id="7" name="Slide Number Placeholder 6"/>
          <p:cNvSpPr>
            <a:spLocks noGrp="1"/>
          </p:cNvSpPr>
          <p:nvPr>
            <p:ph type="sldNum" sz="quarter" idx="12"/>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37942540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 2">
    <p:spTree>
      <p:nvGrpSpPr>
        <p:cNvPr id="1" name=""/>
        <p:cNvGrpSpPr/>
        <p:nvPr/>
      </p:nvGrpSpPr>
      <p:grpSpPr>
        <a:xfrm>
          <a:off x="0" y="0"/>
          <a:ext cx="0" cy="0"/>
          <a:chOff x="0" y="0"/>
          <a:chExt cx="0" cy="0"/>
        </a:xfrm>
      </p:grpSpPr>
      <p:pic>
        <p:nvPicPr>
          <p:cNvPr id="3" name="Picture 2"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81428" y="2792730"/>
            <a:ext cx="4581144" cy="1272540"/>
          </a:xfrm>
          <a:prstGeom prst="rect">
            <a:avLst/>
          </a:prstGeom>
        </p:spPr>
      </p:pic>
      <p:sp>
        <p:nvSpPr>
          <p:cNvPr id="2" name="Date Placeholder 1"/>
          <p:cNvSpPr>
            <a:spLocks noGrp="1"/>
          </p:cNvSpPr>
          <p:nvPr>
            <p:ph type="dt" sz="half" idx="10"/>
          </p:nvPr>
        </p:nvSpPr>
        <p:spPr/>
        <p:txBody>
          <a:bodyPr/>
          <a:lstStyle/>
          <a:p>
            <a:fld id="{0CFC0BFF-54EA-2B48-9A1A-249436D42D47}" type="datetime1">
              <a:rPr lang="en-US" smtClean="0"/>
              <a:t>3/25/26</a:t>
            </a:fld>
            <a:endParaRPr lang="en-US" dirty="0"/>
          </a:p>
        </p:txBody>
      </p:sp>
      <p:sp>
        <p:nvSpPr>
          <p:cNvPr id="4" name="Footer Placeholder 3"/>
          <p:cNvSpPr>
            <a:spLocks noGrp="1"/>
          </p:cNvSpPr>
          <p:nvPr>
            <p:ph type="ftr" sz="quarter" idx="11"/>
          </p:nvPr>
        </p:nvSpPr>
        <p:spPr/>
        <p:txBody>
          <a:bodyPr/>
          <a:lstStyle/>
          <a:p>
            <a:r>
              <a:rPr lang="en-US"/>
              <a:t>Does Not Contain CUI.</a:t>
            </a:r>
            <a:endParaRPr lang="en-US" dirty="0"/>
          </a:p>
        </p:txBody>
      </p:sp>
      <p:sp>
        <p:nvSpPr>
          <p:cNvPr id="5" name="Slide Number Placeholder 4"/>
          <p:cNvSpPr>
            <a:spLocks noGrp="1"/>
          </p:cNvSpPr>
          <p:nvPr>
            <p:ph type="sldNum" sz="quarter" idx="12"/>
          </p:nvPr>
        </p:nvSpPr>
        <p:spPr/>
        <p:txBody>
          <a:bodyPr/>
          <a:lstStyle/>
          <a:p>
            <a:fld id="{1915E00B-5913-49AE-8A9C-78D6EE50689D}" type="slidenum">
              <a:rPr lang="en-US" smtClean="0"/>
              <a:pPr/>
              <a:t>‹#›</a:t>
            </a:fld>
            <a:endParaRPr lang="en-US" dirty="0"/>
          </a:p>
        </p:txBody>
      </p:sp>
    </p:spTree>
    <p:extLst>
      <p:ext uri="{BB962C8B-B14F-4D97-AF65-F5344CB8AC3E}">
        <p14:creationId xmlns:p14="http://schemas.microsoft.com/office/powerpoint/2010/main" val="40254415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F7A7ED-CBDF-8E4B-9056-098246EC528D}" type="datetime1">
              <a:rPr lang="en-US" smtClean="0"/>
              <a:t>3/25/26</a:t>
            </a:fld>
            <a:endParaRPr lang="en-US"/>
          </a:p>
        </p:txBody>
      </p:sp>
      <p:sp>
        <p:nvSpPr>
          <p:cNvPr id="5" name="Footer Placeholder 4"/>
          <p:cNvSpPr>
            <a:spLocks noGrp="1"/>
          </p:cNvSpPr>
          <p:nvPr>
            <p:ph type="ftr" sz="quarter" idx="11"/>
          </p:nvPr>
        </p:nvSpPr>
        <p:spPr/>
        <p:txBody>
          <a:bodyPr/>
          <a:lstStyle/>
          <a:p>
            <a:r>
              <a:rPr lang="en-US"/>
              <a:t>Does Not Contain CUI.</a:t>
            </a:r>
          </a:p>
        </p:txBody>
      </p:sp>
      <p:sp>
        <p:nvSpPr>
          <p:cNvPr id="6" name="Slide Number Placeholder 5"/>
          <p:cNvSpPr>
            <a:spLocks noGrp="1"/>
          </p:cNvSpPr>
          <p:nvPr>
            <p:ph type="sldNum" sz="quarter" idx="12"/>
          </p:nvPr>
        </p:nvSpPr>
        <p:spPr/>
        <p:txBody>
          <a:bodyPr/>
          <a:lstStyle/>
          <a:p>
            <a:fld id="{B4CE5C4C-399A-B444-9B2A-945D2610250E}" type="slidenum">
              <a:rPr lang="en-US" smtClean="0"/>
              <a:t>‹#›</a:t>
            </a:fld>
            <a:endParaRPr lang="en-US"/>
          </a:p>
        </p:txBody>
      </p:sp>
    </p:spTree>
    <p:extLst>
      <p:ext uri="{BB962C8B-B14F-4D97-AF65-F5344CB8AC3E}">
        <p14:creationId xmlns:p14="http://schemas.microsoft.com/office/powerpoint/2010/main" val="34331592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CA513E-EE43-0548-9B08-17B83FB955EF}" type="datetime1">
              <a:rPr lang="en-US" smtClean="0"/>
              <a:t>3/25/26</a:t>
            </a:fld>
            <a:endParaRPr lang="en-US"/>
          </a:p>
        </p:txBody>
      </p:sp>
      <p:sp>
        <p:nvSpPr>
          <p:cNvPr id="6" name="Footer Placeholder 5"/>
          <p:cNvSpPr>
            <a:spLocks noGrp="1"/>
          </p:cNvSpPr>
          <p:nvPr>
            <p:ph type="ftr" sz="quarter" idx="11"/>
          </p:nvPr>
        </p:nvSpPr>
        <p:spPr/>
        <p:txBody>
          <a:bodyPr/>
          <a:lstStyle/>
          <a:p>
            <a:r>
              <a:rPr lang="en-US"/>
              <a:t>Does Not Contain CUI.</a:t>
            </a:r>
          </a:p>
        </p:txBody>
      </p:sp>
      <p:sp>
        <p:nvSpPr>
          <p:cNvPr id="7" name="Slide Number Placeholder 6"/>
          <p:cNvSpPr>
            <a:spLocks noGrp="1"/>
          </p:cNvSpPr>
          <p:nvPr>
            <p:ph type="sldNum" sz="quarter" idx="12"/>
          </p:nvPr>
        </p:nvSpPr>
        <p:spPr/>
        <p:txBody>
          <a:bodyPr/>
          <a:lstStyle/>
          <a:p>
            <a:fld id="{B4CE5C4C-399A-B444-9B2A-945D2610250E}" type="slidenum">
              <a:rPr lang="en-US" smtClean="0"/>
              <a:t>‹#›</a:t>
            </a:fld>
            <a:endParaRPr lang="en-US"/>
          </a:p>
        </p:txBody>
      </p:sp>
    </p:spTree>
    <p:extLst>
      <p:ext uri="{BB962C8B-B14F-4D97-AF65-F5344CB8AC3E}">
        <p14:creationId xmlns:p14="http://schemas.microsoft.com/office/powerpoint/2010/main" val="2945575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8E36CD-317F-134A-8E9D-4EB10800B803}" type="datetime1">
              <a:rPr lang="en-US" smtClean="0"/>
              <a:t>3/25/26</a:t>
            </a:fld>
            <a:endParaRPr lang="en-US"/>
          </a:p>
        </p:txBody>
      </p:sp>
      <p:sp>
        <p:nvSpPr>
          <p:cNvPr id="6" name="Footer Placeholder 5"/>
          <p:cNvSpPr>
            <a:spLocks noGrp="1"/>
          </p:cNvSpPr>
          <p:nvPr>
            <p:ph type="ftr" sz="quarter" idx="11"/>
          </p:nvPr>
        </p:nvSpPr>
        <p:spPr/>
        <p:txBody>
          <a:bodyPr/>
          <a:lstStyle/>
          <a:p>
            <a:r>
              <a:rPr lang="en-US"/>
              <a:t>Does Not Contain CUI.</a:t>
            </a:r>
          </a:p>
        </p:txBody>
      </p:sp>
      <p:sp>
        <p:nvSpPr>
          <p:cNvPr id="7" name="Slide Number Placeholder 6"/>
          <p:cNvSpPr>
            <a:spLocks noGrp="1"/>
          </p:cNvSpPr>
          <p:nvPr>
            <p:ph type="sldNum" sz="quarter" idx="12"/>
          </p:nvPr>
        </p:nvSpPr>
        <p:spPr/>
        <p:txBody>
          <a:bodyPr/>
          <a:lstStyle/>
          <a:p>
            <a:fld id="{B4CE5C4C-399A-B444-9B2A-945D2610250E}" type="slidenum">
              <a:rPr lang="en-US" smtClean="0"/>
              <a:t>‹#›</a:t>
            </a:fld>
            <a:endParaRPr lang="en-US"/>
          </a:p>
        </p:txBody>
      </p:sp>
    </p:spTree>
    <p:extLst>
      <p:ext uri="{BB962C8B-B14F-4D97-AF65-F5344CB8AC3E}">
        <p14:creationId xmlns:p14="http://schemas.microsoft.com/office/powerpoint/2010/main" val="2999297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64389E-FB89-AB4F-B03C-CBE95A92FBBB}" type="datetime1">
              <a:rPr lang="en-US" smtClean="0"/>
              <a:t>3/25/26</a:t>
            </a:fld>
            <a:endParaRPr lang="en-US"/>
          </a:p>
        </p:txBody>
      </p:sp>
      <p:sp>
        <p:nvSpPr>
          <p:cNvPr id="5" name="Footer Placeholder 4"/>
          <p:cNvSpPr>
            <a:spLocks noGrp="1"/>
          </p:cNvSpPr>
          <p:nvPr>
            <p:ph type="ftr" sz="quarter" idx="11"/>
          </p:nvPr>
        </p:nvSpPr>
        <p:spPr/>
        <p:txBody>
          <a:bodyPr/>
          <a:lstStyle/>
          <a:p>
            <a:r>
              <a:rPr lang="en-US"/>
              <a:t>Does Not Contain CUI.</a:t>
            </a:r>
          </a:p>
        </p:txBody>
      </p:sp>
      <p:sp>
        <p:nvSpPr>
          <p:cNvPr id="6" name="Slide Number Placeholder 5"/>
          <p:cNvSpPr>
            <a:spLocks noGrp="1"/>
          </p:cNvSpPr>
          <p:nvPr>
            <p:ph type="sldNum" sz="quarter" idx="12"/>
          </p:nvPr>
        </p:nvSpPr>
        <p:spPr/>
        <p:txBody>
          <a:bodyPr/>
          <a:lstStyle/>
          <a:p>
            <a:fld id="{B4CE5C4C-399A-B444-9B2A-945D2610250E}" type="slidenum">
              <a:rPr lang="en-US" smtClean="0"/>
              <a:t>‹#›</a:t>
            </a:fld>
            <a:endParaRPr lang="en-US"/>
          </a:p>
        </p:txBody>
      </p:sp>
    </p:spTree>
    <p:extLst>
      <p:ext uri="{BB962C8B-B14F-4D97-AF65-F5344CB8AC3E}">
        <p14:creationId xmlns:p14="http://schemas.microsoft.com/office/powerpoint/2010/main" val="4610177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2" name="Text Placeholder 4"/>
          <p:cNvSpPr>
            <a:spLocks noGrp="1"/>
          </p:cNvSpPr>
          <p:nvPr>
            <p:ph type="body" sz="quarter" idx="3" hasCustomPrompt="1"/>
          </p:nvPr>
        </p:nvSpPr>
        <p:spPr>
          <a:xfrm>
            <a:off x="912341" y="3221701"/>
            <a:ext cx="7513104" cy="500484"/>
          </a:xfrm>
          <a:prstGeom prst="rect">
            <a:avLst/>
          </a:prstGeom>
        </p:spPr>
        <p:txBody>
          <a:bodyPr anchor="t">
            <a:noAutofit/>
          </a:bodyPr>
          <a:lstStyle>
            <a:lvl1pPr marL="0" indent="0">
              <a:buNone/>
              <a:defRPr sz="2800" b="1" baseline="0">
                <a:solidFill>
                  <a:srgbClr val="FFFFFF"/>
                </a:solidFill>
                <a:latin typeface="+mj-lt"/>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Presentation Title</a:t>
            </a:r>
          </a:p>
        </p:txBody>
      </p:sp>
      <p:sp>
        <p:nvSpPr>
          <p:cNvPr id="3" name="Text Placeholder 20"/>
          <p:cNvSpPr>
            <a:spLocks noGrp="1"/>
          </p:cNvSpPr>
          <p:nvPr>
            <p:ph type="body" sz="quarter" idx="19" hasCustomPrompt="1"/>
          </p:nvPr>
        </p:nvSpPr>
        <p:spPr>
          <a:xfrm>
            <a:off x="912341" y="3722185"/>
            <a:ext cx="7498993" cy="1235772"/>
          </a:xfrm>
          <a:prstGeom prst="rect">
            <a:avLst/>
          </a:prstGeom>
        </p:spPr>
        <p:txBody>
          <a:bodyPr>
            <a:noAutofit/>
          </a:bodyPr>
          <a:lstStyle>
            <a:lvl1pPr marL="0" marR="0" indent="0" algn="l" defTabSz="457200" rtl="0" eaLnBrk="1" fontAlgn="auto" latinLnBrk="0" hangingPunct="1">
              <a:lnSpc>
                <a:spcPct val="100000"/>
              </a:lnSpc>
              <a:spcBef>
                <a:spcPct val="20000"/>
              </a:spcBef>
              <a:spcAft>
                <a:spcPts val="0"/>
              </a:spcAft>
              <a:buClrTx/>
              <a:buSzTx/>
              <a:buFontTx/>
              <a:buNone/>
              <a:tabLst/>
              <a:defRPr sz="2200" baseline="0">
                <a:solidFill>
                  <a:srgbClr val="FFFFFF"/>
                </a:solidFill>
                <a:latin typeface="+mj-lt"/>
                <a:cs typeface="Arial"/>
              </a:defRPr>
            </a:lvl1pPr>
          </a:lstStyle>
          <a:p>
            <a:pPr lvl="0"/>
            <a:r>
              <a:rPr lang="en-US" dirty="0"/>
              <a:t>Click to Add a Presentation Subtitle</a:t>
            </a:r>
          </a:p>
        </p:txBody>
      </p:sp>
      <p:sp>
        <p:nvSpPr>
          <p:cNvPr id="11" name="Text Placeholder 10"/>
          <p:cNvSpPr>
            <a:spLocks noGrp="1"/>
          </p:cNvSpPr>
          <p:nvPr>
            <p:ph type="body" sz="quarter" idx="22" hasCustomPrompt="1"/>
          </p:nvPr>
        </p:nvSpPr>
        <p:spPr>
          <a:xfrm>
            <a:off x="909983" y="5649583"/>
            <a:ext cx="7424737" cy="779462"/>
          </a:xfrm>
          <a:prstGeom prst="rect">
            <a:avLst/>
          </a:prstGeom>
        </p:spPr>
        <p:txBody>
          <a:bodyPr vert="horz" anchor="b">
            <a:noAutofit/>
          </a:bodyPr>
          <a:lstStyle>
            <a:lvl1pPr marL="0" indent="0">
              <a:buNone/>
              <a:defRPr sz="12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Presented by, Job Title, Date, etc.</a:t>
            </a:r>
          </a:p>
        </p:txBody>
      </p:sp>
      <p:sp>
        <p:nvSpPr>
          <p:cNvPr id="16" name="Text Placeholder 4"/>
          <p:cNvSpPr>
            <a:spLocks noGrp="1"/>
          </p:cNvSpPr>
          <p:nvPr>
            <p:ph type="body" sz="quarter" idx="17" hasCustomPrompt="1"/>
          </p:nvPr>
        </p:nvSpPr>
        <p:spPr>
          <a:xfrm>
            <a:off x="909983" y="2885929"/>
            <a:ext cx="7515462" cy="335773"/>
          </a:xfrm>
          <a:prstGeom prst="rect">
            <a:avLst/>
          </a:prstGeom>
        </p:spPr>
        <p:txBody>
          <a:bodyPr anchor="t">
            <a:noAutofit/>
          </a:bodyPr>
          <a:lstStyle>
            <a:lvl1pPr marL="0" indent="0" algn="l">
              <a:buNone/>
              <a:tabLst/>
              <a:defRPr sz="1600" baseline="0">
                <a:solidFill>
                  <a:schemeClr val="accent1"/>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Click to Add a Theme, Project or Mission Name (optional)</a:t>
            </a:r>
          </a:p>
        </p:txBody>
      </p:sp>
      <p:pic>
        <p:nvPicPr>
          <p:cNvPr id="10" name="Picture 9"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240" y="1956816"/>
            <a:ext cx="3337560" cy="927100"/>
          </a:xfrm>
          <a:prstGeom prst="rect">
            <a:avLst/>
          </a:prstGeom>
        </p:spPr>
      </p:pic>
      <p:sp>
        <p:nvSpPr>
          <p:cNvPr id="5" name="Footer Placeholder 4"/>
          <p:cNvSpPr>
            <a:spLocks noGrp="1"/>
          </p:cNvSpPr>
          <p:nvPr>
            <p:ph type="ftr" sz="quarter" idx="24"/>
          </p:nvPr>
        </p:nvSpPr>
        <p:spPr>
          <a:xfrm>
            <a:off x="909983" y="6457847"/>
            <a:ext cx="7424737" cy="400153"/>
          </a:xfrm>
        </p:spPr>
        <p:txBody>
          <a:bodyPr/>
          <a:lstStyle>
            <a:lvl1pPr algn="l">
              <a:defRPr/>
            </a:lvl1pPr>
          </a:lstStyle>
          <a:p>
            <a:r>
              <a:rPr lang="en-US"/>
              <a:t>Does Not Contain CUI.</a:t>
            </a:r>
            <a:endParaRPr lang="en-US" dirty="0"/>
          </a:p>
        </p:txBody>
      </p:sp>
    </p:spTree>
    <p:extLst>
      <p:ext uri="{BB962C8B-B14F-4D97-AF65-F5344CB8AC3E}">
        <p14:creationId xmlns:p14="http://schemas.microsoft.com/office/powerpoint/2010/main" val="22086446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ver_Horz Image">
    <p:spTree>
      <p:nvGrpSpPr>
        <p:cNvPr id="1" name=""/>
        <p:cNvGrpSpPr/>
        <p:nvPr/>
      </p:nvGrpSpPr>
      <p:grpSpPr>
        <a:xfrm>
          <a:off x="0" y="0"/>
          <a:ext cx="0" cy="0"/>
          <a:chOff x="0" y="0"/>
          <a:chExt cx="0" cy="0"/>
        </a:xfrm>
      </p:grpSpPr>
      <p:sp>
        <p:nvSpPr>
          <p:cNvPr id="2" name="Picture Placeholder 7"/>
          <p:cNvSpPr>
            <a:spLocks noGrp="1"/>
          </p:cNvSpPr>
          <p:nvPr>
            <p:ph type="pic" sz="quarter" idx="13"/>
          </p:nvPr>
        </p:nvSpPr>
        <p:spPr>
          <a:xfrm>
            <a:off x="0" y="0"/>
            <a:ext cx="9144000" cy="4465835"/>
          </a:xfrm>
          <a:prstGeom prst="rect">
            <a:avLst/>
          </a:prstGeom>
        </p:spPr>
        <p:txBody>
          <a:bodyPr vert="horz" anchor="ctr"/>
          <a:lstStyle>
            <a:lvl1pPr marL="0" indent="0" algn="ctr">
              <a:buFontTx/>
              <a:buNone/>
              <a:defRPr sz="1600">
                <a:solidFill>
                  <a:srgbClr val="FFFFFF"/>
                </a:solidFill>
              </a:defRPr>
            </a:lvl1pPr>
          </a:lstStyle>
          <a:p>
            <a:r>
              <a:rPr lang="en-US" dirty="0"/>
              <a:t>Drag picture to placeholder or click icon to add</a:t>
            </a:r>
          </a:p>
        </p:txBody>
      </p:sp>
      <p:sp>
        <p:nvSpPr>
          <p:cNvPr id="3" name="Text Placeholder 4"/>
          <p:cNvSpPr>
            <a:spLocks noGrp="1"/>
          </p:cNvSpPr>
          <p:nvPr>
            <p:ph type="body" sz="quarter" idx="3" hasCustomPrompt="1"/>
          </p:nvPr>
        </p:nvSpPr>
        <p:spPr>
          <a:xfrm>
            <a:off x="369198" y="4814634"/>
            <a:ext cx="8436135" cy="430183"/>
          </a:xfrm>
          <a:prstGeom prst="rect">
            <a:avLst/>
          </a:prstGeom>
        </p:spPr>
        <p:txBody>
          <a:bodyPr anchor="t">
            <a:noAutofit/>
          </a:bodyPr>
          <a:lstStyle>
            <a:lvl1pPr marL="0" indent="0" algn="l">
              <a:buNone/>
              <a:defRPr sz="2800" b="1" baseline="0">
                <a:solidFill>
                  <a:srgbClr val="FFFFFF"/>
                </a:solidFill>
                <a:latin typeface="+mj-lt"/>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Presentation Title</a:t>
            </a:r>
          </a:p>
        </p:txBody>
      </p:sp>
      <p:sp>
        <p:nvSpPr>
          <p:cNvPr id="9" name="Text Placeholder 4"/>
          <p:cNvSpPr>
            <a:spLocks noGrp="1"/>
          </p:cNvSpPr>
          <p:nvPr>
            <p:ph type="body" sz="quarter" idx="17" hasCustomPrompt="1"/>
          </p:nvPr>
        </p:nvSpPr>
        <p:spPr>
          <a:xfrm>
            <a:off x="369198" y="4523999"/>
            <a:ext cx="8436135" cy="290635"/>
          </a:xfrm>
          <a:prstGeom prst="rect">
            <a:avLst/>
          </a:prstGeom>
        </p:spPr>
        <p:txBody>
          <a:bodyPr anchor="t">
            <a:noAutofit/>
          </a:bodyPr>
          <a:lstStyle>
            <a:lvl1pPr marL="0" indent="0" algn="l">
              <a:buNone/>
              <a:tabLst/>
              <a:defRPr sz="1600" baseline="0">
                <a:solidFill>
                  <a:schemeClr val="accent1"/>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Click to Add a Theme, Project or Mission Name (optional)</a:t>
            </a:r>
          </a:p>
        </p:txBody>
      </p:sp>
      <p:sp>
        <p:nvSpPr>
          <p:cNvPr id="11" name="Text Placeholder 20"/>
          <p:cNvSpPr>
            <a:spLocks noGrp="1"/>
          </p:cNvSpPr>
          <p:nvPr>
            <p:ph type="body" sz="quarter" idx="18" hasCustomPrompt="1"/>
          </p:nvPr>
        </p:nvSpPr>
        <p:spPr>
          <a:xfrm>
            <a:off x="369199" y="5853545"/>
            <a:ext cx="5205433" cy="665791"/>
          </a:xfrm>
          <a:prstGeom prst="rect">
            <a:avLst/>
          </a:prstGeom>
        </p:spPr>
        <p:txBody>
          <a:bodyPr anchor="b">
            <a:noAutofit/>
          </a:bodyPr>
          <a:lstStyle>
            <a:lvl1pPr marL="0" marR="0" indent="0" algn="l" defTabSz="457200" rtl="0" eaLnBrk="1" fontAlgn="auto" latinLnBrk="0" hangingPunct="1">
              <a:lnSpc>
                <a:spcPct val="100000"/>
              </a:lnSpc>
              <a:spcBef>
                <a:spcPct val="20000"/>
              </a:spcBef>
              <a:spcAft>
                <a:spcPts val="0"/>
              </a:spcAft>
              <a:buClrTx/>
              <a:buSzTx/>
              <a:buFontTx/>
              <a:buNone/>
              <a:tabLst/>
              <a:defRPr sz="1200" baseline="0">
                <a:solidFill>
                  <a:srgbClr val="FFFFFF"/>
                </a:solidFill>
                <a:latin typeface="+mn-lt"/>
                <a:cs typeface="Arial"/>
              </a:defRPr>
            </a:lvl1pPr>
          </a:lstStyle>
          <a:p>
            <a:pPr lvl="0"/>
            <a:r>
              <a:rPr lang="en-US" dirty="0"/>
              <a:t>Presented by, Job Title, Date, etc.</a:t>
            </a:r>
          </a:p>
        </p:txBody>
      </p:sp>
      <p:sp>
        <p:nvSpPr>
          <p:cNvPr id="8" name="Text Placeholder 20"/>
          <p:cNvSpPr>
            <a:spLocks noGrp="1"/>
          </p:cNvSpPr>
          <p:nvPr>
            <p:ph type="body" sz="quarter" idx="19" hasCustomPrompt="1"/>
          </p:nvPr>
        </p:nvSpPr>
        <p:spPr>
          <a:xfrm>
            <a:off x="369199" y="5244817"/>
            <a:ext cx="8436134" cy="470183"/>
          </a:xfrm>
          <a:prstGeom prst="rect">
            <a:avLst/>
          </a:prstGeom>
        </p:spPr>
        <p:txBody>
          <a:bodyPr>
            <a:noAutofit/>
          </a:bodyPr>
          <a:lstStyle>
            <a:lvl1pPr marL="0" marR="0" indent="0" algn="l" defTabSz="457200" rtl="0" eaLnBrk="1" fontAlgn="auto" latinLnBrk="0" hangingPunct="1">
              <a:lnSpc>
                <a:spcPct val="100000"/>
              </a:lnSpc>
              <a:spcBef>
                <a:spcPct val="20000"/>
              </a:spcBef>
              <a:spcAft>
                <a:spcPts val="0"/>
              </a:spcAft>
              <a:buClrTx/>
              <a:buSzTx/>
              <a:buFontTx/>
              <a:buNone/>
              <a:tabLst/>
              <a:defRPr sz="2200" baseline="0">
                <a:solidFill>
                  <a:srgbClr val="FFFFFF"/>
                </a:solidFill>
                <a:latin typeface="+mj-lt"/>
                <a:cs typeface="Arial"/>
              </a:defRPr>
            </a:lvl1pPr>
          </a:lstStyle>
          <a:p>
            <a:pPr lvl="0"/>
            <a:r>
              <a:rPr lang="en-US" dirty="0"/>
              <a:t>Click to Add a Presentation Subtitle</a:t>
            </a:r>
          </a:p>
        </p:txBody>
      </p:sp>
      <p:pic>
        <p:nvPicPr>
          <p:cNvPr id="12" name="Picture 11"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87568" y="5833872"/>
            <a:ext cx="3337560" cy="927100"/>
          </a:xfrm>
          <a:prstGeom prst="rect">
            <a:avLst/>
          </a:prstGeom>
        </p:spPr>
      </p:pic>
      <p:sp>
        <p:nvSpPr>
          <p:cNvPr id="5" name="Footer Placeholder 4"/>
          <p:cNvSpPr>
            <a:spLocks noGrp="1"/>
          </p:cNvSpPr>
          <p:nvPr>
            <p:ph type="ftr" sz="quarter" idx="21"/>
          </p:nvPr>
        </p:nvSpPr>
        <p:spPr>
          <a:xfrm>
            <a:off x="369198" y="6457847"/>
            <a:ext cx="5205434" cy="400153"/>
          </a:xfrm>
        </p:spPr>
        <p:txBody>
          <a:bodyPr/>
          <a:lstStyle>
            <a:lvl1pPr algn="l">
              <a:defRPr/>
            </a:lvl1pPr>
          </a:lstStyle>
          <a:p>
            <a:r>
              <a:rPr lang="en-US"/>
              <a:t>Does Not Contain CUI.</a:t>
            </a:r>
            <a:endParaRPr lang="en-US" dirty="0"/>
          </a:p>
        </p:txBody>
      </p:sp>
    </p:spTree>
    <p:extLst>
      <p:ext uri="{BB962C8B-B14F-4D97-AF65-F5344CB8AC3E}">
        <p14:creationId xmlns:p14="http://schemas.microsoft.com/office/powerpoint/2010/main" val="1380187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_Vert Image">
    <p:spTree>
      <p:nvGrpSpPr>
        <p:cNvPr id="1" name=""/>
        <p:cNvGrpSpPr/>
        <p:nvPr/>
      </p:nvGrpSpPr>
      <p:grpSpPr>
        <a:xfrm>
          <a:off x="0" y="0"/>
          <a:ext cx="0" cy="0"/>
          <a:chOff x="0" y="0"/>
          <a:chExt cx="0" cy="0"/>
        </a:xfrm>
      </p:grpSpPr>
      <p:sp>
        <p:nvSpPr>
          <p:cNvPr id="2" name="Picture Placeholder 7"/>
          <p:cNvSpPr>
            <a:spLocks noGrp="1"/>
          </p:cNvSpPr>
          <p:nvPr>
            <p:ph type="pic" sz="quarter" idx="13"/>
          </p:nvPr>
        </p:nvSpPr>
        <p:spPr>
          <a:xfrm>
            <a:off x="0" y="0"/>
            <a:ext cx="5576455" cy="6858000"/>
          </a:xfrm>
          <a:prstGeom prst="rect">
            <a:avLst/>
          </a:prstGeom>
        </p:spPr>
        <p:txBody>
          <a:bodyPr vert="horz" anchor="ctr"/>
          <a:lstStyle>
            <a:lvl1pPr marL="0" indent="0" algn="ctr">
              <a:buFontTx/>
              <a:buNone/>
              <a:defRPr sz="1600">
                <a:solidFill>
                  <a:srgbClr val="FFFFFF"/>
                </a:solidFill>
              </a:defRPr>
            </a:lvl1pPr>
          </a:lstStyle>
          <a:p>
            <a:r>
              <a:rPr lang="en-US"/>
              <a:t>Drag picture to placeholder or click icon to add</a:t>
            </a:r>
            <a:endParaRPr lang="en-US" dirty="0"/>
          </a:p>
        </p:txBody>
      </p:sp>
      <p:sp>
        <p:nvSpPr>
          <p:cNvPr id="3" name="Text Placeholder 4"/>
          <p:cNvSpPr>
            <a:spLocks noGrp="1"/>
          </p:cNvSpPr>
          <p:nvPr>
            <p:ph type="body" sz="quarter" idx="19" hasCustomPrompt="1"/>
          </p:nvPr>
        </p:nvSpPr>
        <p:spPr>
          <a:xfrm>
            <a:off x="5687786" y="1919101"/>
            <a:ext cx="3347357" cy="883015"/>
          </a:xfrm>
          <a:prstGeom prst="rect">
            <a:avLst/>
          </a:prstGeom>
        </p:spPr>
        <p:txBody>
          <a:bodyPr anchor="t">
            <a:noAutofit/>
          </a:bodyPr>
          <a:lstStyle>
            <a:lvl1pPr marL="0" indent="0" algn="ctr">
              <a:lnSpc>
                <a:spcPct val="100000"/>
              </a:lnSpc>
              <a:buNone/>
              <a:defRPr sz="2400" b="1" baseline="0">
                <a:solidFill>
                  <a:srgbClr val="FFFFFF"/>
                </a:solidFill>
                <a:latin typeface="+mj-lt"/>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Presentation Title</a:t>
            </a:r>
          </a:p>
        </p:txBody>
      </p:sp>
      <p:sp>
        <p:nvSpPr>
          <p:cNvPr id="4" name="Text Placeholder 20"/>
          <p:cNvSpPr>
            <a:spLocks noGrp="1"/>
          </p:cNvSpPr>
          <p:nvPr>
            <p:ph type="body" sz="quarter" idx="20" hasCustomPrompt="1"/>
          </p:nvPr>
        </p:nvSpPr>
        <p:spPr>
          <a:xfrm>
            <a:off x="5687785" y="2783302"/>
            <a:ext cx="3347357" cy="1000129"/>
          </a:xfrm>
          <a:prstGeom prst="rect">
            <a:avLst/>
          </a:prstGeom>
        </p:spPr>
        <p:txBody>
          <a:bodyPr>
            <a:noAutofit/>
          </a:bodyPr>
          <a:lstStyle>
            <a:lvl1pPr marL="0" marR="0" indent="0" algn="ctr" defTabSz="457200" rtl="0" eaLnBrk="1" fontAlgn="auto" latinLnBrk="0" hangingPunct="1">
              <a:lnSpc>
                <a:spcPct val="100000"/>
              </a:lnSpc>
              <a:spcBef>
                <a:spcPct val="20000"/>
              </a:spcBef>
              <a:spcAft>
                <a:spcPts val="0"/>
              </a:spcAft>
              <a:buClrTx/>
              <a:buSzTx/>
              <a:buFontTx/>
              <a:buNone/>
              <a:tabLst/>
              <a:defRPr sz="1200" baseline="0">
                <a:solidFill>
                  <a:srgbClr val="FFFFFF"/>
                </a:solidFill>
                <a:latin typeface="+mn-lt"/>
                <a:cs typeface="Arial"/>
              </a:defRPr>
            </a:lvl1pPr>
          </a:lstStyle>
          <a:p>
            <a:pPr lvl="0"/>
            <a:r>
              <a:rPr lang="en-US" dirty="0"/>
              <a:t>Presented by, Job Title, Date, etc.</a:t>
            </a:r>
          </a:p>
        </p:txBody>
      </p:sp>
      <p:sp>
        <p:nvSpPr>
          <p:cNvPr id="8" name="Text Placeholder 4"/>
          <p:cNvSpPr>
            <a:spLocks noGrp="1"/>
          </p:cNvSpPr>
          <p:nvPr>
            <p:ph type="body" sz="quarter" idx="17" hasCustomPrompt="1"/>
          </p:nvPr>
        </p:nvSpPr>
        <p:spPr>
          <a:xfrm>
            <a:off x="5687784" y="1015999"/>
            <a:ext cx="3347359" cy="856873"/>
          </a:xfrm>
          <a:prstGeom prst="rect">
            <a:avLst/>
          </a:prstGeom>
        </p:spPr>
        <p:txBody>
          <a:bodyPr anchor="b">
            <a:noAutofit/>
          </a:bodyPr>
          <a:lstStyle>
            <a:lvl1pPr marL="0" indent="0" algn="ctr">
              <a:buNone/>
              <a:tabLst/>
              <a:defRPr sz="1400" baseline="0">
                <a:solidFill>
                  <a:schemeClr val="accent1"/>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Click to Add a Theme, Project or </a:t>
            </a:r>
            <a:br>
              <a:rPr lang="en-US" dirty="0"/>
            </a:br>
            <a:r>
              <a:rPr lang="en-US" dirty="0"/>
              <a:t>Mission Name (optional)</a:t>
            </a:r>
          </a:p>
        </p:txBody>
      </p:sp>
      <p:pic>
        <p:nvPicPr>
          <p:cNvPr id="10" name="Picture 9"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87568" y="5367528"/>
            <a:ext cx="3337560" cy="927100"/>
          </a:xfrm>
          <a:prstGeom prst="rect">
            <a:avLst/>
          </a:prstGeom>
        </p:spPr>
      </p:pic>
      <p:sp>
        <p:nvSpPr>
          <p:cNvPr id="6" name="Footer Placeholder 5"/>
          <p:cNvSpPr>
            <a:spLocks noGrp="1"/>
          </p:cNvSpPr>
          <p:nvPr>
            <p:ph type="ftr" sz="quarter" idx="22"/>
          </p:nvPr>
        </p:nvSpPr>
        <p:spPr>
          <a:xfrm>
            <a:off x="5687786" y="6457847"/>
            <a:ext cx="3337342" cy="400153"/>
          </a:xfrm>
        </p:spPr>
        <p:txBody>
          <a:bodyPr/>
          <a:lstStyle/>
          <a:p>
            <a:r>
              <a:rPr lang="en-US"/>
              <a:t>Does Not Contain CUI.</a:t>
            </a:r>
            <a:endParaRPr lang="en-US" dirty="0"/>
          </a:p>
        </p:txBody>
      </p:sp>
    </p:spTree>
    <p:extLst>
      <p:ext uri="{BB962C8B-B14F-4D97-AF65-F5344CB8AC3E}">
        <p14:creationId xmlns:p14="http://schemas.microsoft.com/office/powerpoint/2010/main" val="21499975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6"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0" name="Content Placeholder 9"/>
          <p:cNvSpPr>
            <a:spLocks noGrp="1"/>
          </p:cNvSpPr>
          <p:nvPr>
            <p:ph sz="quarter" idx="18"/>
          </p:nvPr>
        </p:nvSpPr>
        <p:spPr>
          <a:xfrm>
            <a:off x="457199" y="1600198"/>
            <a:ext cx="8229601" cy="4525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9"/>
          </p:nvPr>
        </p:nvSpPr>
        <p:spPr/>
        <p:txBody>
          <a:bodyPr/>
          <a:lstStyle/>
          <a:p>
            <a:fld id="{75CEC221-CD17-A749-860C-E33503782C57}" type="datetime1">
              <a:rPr lang="en-US" smtClean="0"/>
              <a:t>3/25/26</a:t>
            </a:fld>
            <a:endParaRPr lang="en-US" dirty="0"/>
          </a:p>
        </p:txBody>
      </p:sp>
      <p:sp>
        <p:nvSpPr>
          <p:cNvPr id="7" name="Footer Placeholder 6"/>
          <p:cNvSpPr>
            <a:spLocks noGrp="1"/>
          </p:cNvSpPr>
          <p:nvPr>
            <p:ph type="ftr" sz="quarter" idx="20"/>
          </p:nvPr>
        </p:nvSpPr>
        <p:spPr/>
        <p:txBody>
          <a:bodyPr/>
          <a:lstStyle/>
          <a:p>
            <a:r>
              <a:rPr lang="en-US"/>
              <a:t>Does Not Contain CUI.</a:t>
            </a:r>
            <a:endParaRPr lang="en-US" dirty="0"/>
          </a:p>
        </p:txBody>
      </p:sp>
      <p:sp>
        <p:nvSpPr>
          <p:cNvPr id="8" name="Slide Number Placeholder 7"/>
          <p:cNvSpPr>
            <a:spLocks noGrp="1"/>
          </p:cNvSpPr>
          <p:nvPr>
            <p:ph type="sldNum" sz="quarter" idx="21"/>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3082254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6" name="Text Placeholder 4"/>
          <p:cNvSpPr>
            <a:spLocks noGrp="1"/>
          </p:cNvSpPr>
          <p:nvPr>
            <p:ph type="body" sz="quarter" idx="17" hasCustomPrompt="1"/>
          </p:nvPr>
        </p:nvSpPr>
        <p:spPr>
          <a:xfrm>
            <a:off x="457199"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8" name="TextBox 7"/>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8"/>
          </p:nvPr>
        </p:nvSpPr>
        <p:spPr/>
        <p:txBody>
          <a:bodyPr/>
          <a:lstStyle/>
          <a:p>
            <a:fld id="{EB3F0D06-6F21-F248-A529-021E630C9412}" type="datetime1">
              <a:rPr lang="en-US" smtClean="0"/>
              <a:t>3/25/26</a:t>
            </a:fld>
            <a:endParaRPr lang="en-US" dirty="0"/>
          </a:p>
        </p:txBody>
      </p:sp>
      <p:sp>
        <p:nvSpPr>
          <p:cNvPr id="4" name="Footer Placeholder 3"/>
          <p:cNvSpPr>
            <a:spLocks noGrp="1"/>
          </p:cNvSpPr>
          <p:nvPr>
            <p:ph type="ftr" sz="quarter" idx="19"/>
          </p:nvPr>
        </p:nvSpPr>
        <p:spPr/>
        <p:txBody>
          <a:bodyPr/>
          <a:lstStyle/>
          <a:p>
            <a:r>
              <a:rPr lang="en-US"/>
              <a:t>Does Not Contain CUI.</a:t>
            </a:r>
            <a:endParaRPr lang="en-US" dirty="0"/>
          </a:p>
        </p:txBody>
      </p:sp>
      <p:sp>
        <p:nvSpPr>
          <p:cNvPr id="5" name="Slide Number Placeholder 4"/>
          <p:cNvSpPr>
            <a:spLocks noGrp="1"/>
          </p:cNvSpPr>
          <p:nvPr>
            <p:ph type="sldNum" sz="quarter" idx="20"/>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22556311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a:t>Click to edit Master title style</a:t>
            </a:r>
          </a:p>
        </p:txBody>
      </p:sp>
      <p:sp>
        <p:nvSpPr>
          <p:cNvPr id="6"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0" name="Content Placeholder 9"/>
          <p:cNvSpPr>
            <a:spLocks noGrp="1"/>
          </p:cNvSpPr>
          <p:nvPr>
            <p:ph sz="quarter" idx="18"/>
          </p:nvPr>
        </p:nvSpPr>
        <p:spPr>
          <a:xfrm>
            <a:off x="457199" y="1600198"/>
            <a:ext cx="8229601" cy="4525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9"/>
          </p:nvPr>
        </p:nvSpPr>
        <p:spPr/>
        <p:txBody>
          <a:bodyPr/>
          <a:lstStyle/>
          <a:p>
            <a:fld id="{EDE9B9D0-2F45-3242-9B71-A02AAF7430D1}" type="datetime1">
              <a:rPr lang="en-US" smtClean="0"/>
              <a:t>3/25/26</a:t>
            </a:fld>
            <a:endParaRPr lang="en-US" dirty="0"/>
          </a:p>
        </p:txBody>
      </p:sp>
      <p:sp>
        <p:nvSpPr>
          <p:cNvPr id="8" name="Footer Placeholder 7"/>
          <p:cNvSpPr>
            <a:spLocks noGrp="1"/>
          </p:cNvSpPr>
          <p:nvPr>
            <p:ph type="ftr" sz="quarter" idx="20"/>
          </p:nvPr>
        </p:nvSpPr>
        <p:spPr/>
        <p:txBody>
          <a:bodyPr/>
          <a:lstStyle/>
          <a:p>
            <a:r>
              <a:rPr lang="en-US"/>
              <a:t>Does Not Contain CUI.</a:t>
            </a:r>
            <a:endParaRPr lang="en-US" dirty="0"/>
          </a:p>
        </p:txBody>
      </p:sp>
      <p:sp>
        <p:nvSpPr>
          <p:cNvPr id="11" name="Slide Number Placeholder 10"/>
          <p:cNvSpPr>
            <a:spLocks noGrp="1"/>
          </p:cNvSpPr>
          <p:nvPr>
            <p:ph type="sldNum" sz="quarter" idx="21"/>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41567876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7"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0" name="TextBox 9"/>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8"/>
          </p:nvPr>
        </p:nvSpPr>
        <p:spPr/>
        <p:txBody>
          <a:bodyPr/>
          <a:lstStyle/>
          <a:p>
            <a:fld id="{6BC0102F-E429-014C-B3C8-8944AECC565C}" type="datetime1">
              <a:rPr lang="en-US" smtClean="0"/>
              <a:t>3/25/26</a:t>
            </a:fld>
            <a:endParaRPr lang="en-US" dirty="0"/>
          </a:p>
        </p:txBody>
      </p:sp>
      <p:sp>
        <p:nvSpPr>
          <p:cNvPr id="8" name="Footer Placeholder 7"/>
          <p:cNvSpPr>
            <a:spLocks noGrp="1"/>
          </p:cNvSpPr>
          <p:nvPr>
            <p:ph type="ftr" sz="quarter" idx="19"/>
          </p:nvPr>
        </p:nvSpPr>
        <p:spPr/>
        <p:txBody>
          <a:bodyPr/>
          <a:lstStyle/>
          <a:p>
            <a:r>
              <a:rPr lang="en-US"/>
              <a:t>Does Not Contain CUI.</a:t>
            </a:r>
            <a:endParaRPr lang="en-US" dirty="0"/>
          </a:p>
        </p:txBody>
      </p:sp>
      <p:sp>
        <p:nvSpPr>
          <p:cNvPr id="11" name="Slide Number Placeholder 10"/>
          <p:cNvSpPr>
            <a:spLocks noGrp="1"/>
          </p:cNvSpPr>
          <p:nvPr>
            <p:ph type="sldNum" sz="quarter" idx="20"/>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1466926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1"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8" name="Content Placeholder 7"/>
          <p:cNvSpPr>
            <a:spLocks noGrp="1"/>
          </p:cNvSpPr>
          <p:nvPr>
            <p:ph sz="quarter" idx="19"/>
          </p:nvPr>
        </p:nvSpPr>
        <p:spPr>
          <a:xfrm>
            <a:off x="457200" y="1600200"/>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20"/>
          </p:nvPr>
        </p:nvSpPr>
        <p:spPr/>
        <p:txBody>
          <a:bodyPr/>
          <a:lstStyle/>
          <a:p>
            <a:fld id="{F3A82524-5C47-0847-A2D3-7CB6580A1AD3}" type="datetime1">
              <a:rPr lang="en-US" smtClean="0"/>
              <a:t>3/25/26</a:t>
            </a:fld>
            <a:endParaRPr lang="en-US" dirty="0"/>
          </a:p>
        </p:txBody>
      </p:sp>
      <p:sp>
        <p:nvSpPr>
          <p:cNvPr id="7" name="Footer Placeholder 6"/>
          <p:cNvSpPr>
            <a:spLocks noGrp="1"/>
          </p:cNvSpPr>
          <p:nvPr>
            <p:ph type="ftr" sz="quarter" idx="21"/>
          </p:nvPr>
        </p:nvSpPr>
        <p:spPr/>
        <p:txBody>
          <a:bodyPr/>
          <a:lstStyle/>
          <a:p>
            <a:r>
              <a:rPr lang="en-US"/>
              <a:t>Does Not Contain CUI.</a:t>
            </a:r>
            <a:endParaRPr lang="en-US" dirty="0"/>
          </a:p>
        </p:txBody>
      </p:sp>
      <p:sp>
        <p:nvSpPr>
          <p:cNvPr id="12" name="Slide Number Placeholder 11"/>
          <p:cNvSpPr>
            <a:spLocks noGrp="1"/>
          </p:cNvSpPr>
          <p:nvPr>
            <p:ph type="sldNum" sz="quarter" idx="22"/>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23200268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3" name="Content Placeholder 14"/>
          <p:cNvSpPr>
            <a:spLocks noGrp="1"/>
          </p:cNvSpPr>
          <p:nvPr>
            <p:ph sz="quarter" idx="21"/>
          </p:nvPr>
        </p:nvSpPr>
        <p:spPr>
          <a:xfrm>
            <a:off x="457200" y="1599449"/>
            <a:ext cx="4038600" cy="4526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4"/>
          <p:cNvSpPr>
            <a:spLocks noGrp="1"/>
          </p:cNvSpPr>
          <p:nvPr>
            <p:ph sz="quarter" idx="22"/>
          </p:nvPr>
        </p:nvSpPr>
        <p:spPr>
          <a:xfrm>
            <a:off x="4648200" y="1599449"/>
            <a:ext cx="4038600" cy="4526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1" name="TextBox 10"/>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23"/>
          </p:nvPr>
        </p:nvSpPr>
        <p:spPr/>
        <p:txBody>
          <a:bodyPr/>
          <a:lstStyle/>
          <a:p>
            <a:fld id="{F67674EA-9833-584F-A548-C8258965222D}" type="datetime1">
              <a:rPr lang="en-US" smtClean="0"/>
              <a:t>3/25/26</a:t>
            </a:fld>
            <a:endParaRPr lang="en-US" dirty="0"/>
          </a:p>
        </p:txBody>
      </p:sp>
      <p:sp>
        <p:nvSpPr>
          <p:cNvPr id="8" name="Footer Placeholder 7"/>
          <p:cNvSpPr>
            <a:spLocks noGrp="1"/>
          </p:cNvSpPr>
          <p:nvPr>
            <p:ph type="ftr" sz="quarter" idx="24"/>
          </p:nvPr>
        </p:nvSpPr>
        <p:spPr/>
        <p:txBody>
          <a:bodyPr/>
          <a:lstStyle/>
          <a:p>
            <a:r>
              <a:rPr lang="en-US"/>
              <a:t>Does Not Contain CUI.</a:t>
            </a:r>
            <a:endParaRPr lang="en-US" dirty="0"/>
          </a:p>
        </p:txBody>
      </p:sp>
      <p:sp>
        <p:nvSpPr>
          <p:cNvPr id="9" name="Slide Number Placeholder 8"/>
          <p:cNvSpPr>
            <a:spLocks noGrp="1"/>
          </p:cNvSpPr>
          <p:nvPr>
            <p:ph type="sldNum" sz="quarter" idx="25"/>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6959457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3" name="Content Placeholder 14"/>
          <p:cNvSpPr>
            <a:spLocks noGrp="1"/>
          </p:cNvSpPr>
          <p:nvPr>
            <p:ph sz="quarter" idx="21"/>
          </p:nvPr>
        </p:nvSpPr>
        <p:spPr>
          <a:xfrm>
            <a:off x="457200" y="2174875"/>
            <a:ext cx="4038600" cy="395128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4"/>
          <p:cNvSpPr>
            <a:spLocks noGrp="1"/>
          </p:cNvSpPr>
          <p:nvPr>
            <p:ph sz="quarter" idx="22"/>
          </p:nvPr>
        </p:nvSpPr>
        <p:spPr>
          <a:xfrm>
            <a:off x="4648200" y="2174875"/>
            <a:ext cx="4038600" cy="395128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0" name="Text Placeholder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Box 15"/>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23"/>
          </p:nvPr>
        </p:nvSpPr>
        <p:spPr/>
        <p:txBody>
          <a:bodyPr/>
          <a:lstStyle/>
          <a:p>
            <a:fld id="{12272FFC-9996-774F-821A-ED7F0C1107F8}" type="datetime1">
              <a:rPr lang="en-US" smtClean="0"/>
              <a:t>3/25/26</a:t>
            </a:fld>
            <a:endParaRPr lang="en-US" dirty="0"/>
          </a:p>
        </p:txBody>
      </p:sp>
      <p:sp>
        <p:nvSpPr>
          <p:cNvPr id="8" name="Footer Placeholder 7"/>
          <p:cNvSpPr>
            <a:spLocks noGrp="1"/>
          </p:cNvSpPr>
          <p:nvPr>
            <p:ph type="ftr" sz="quarter" idx="24"/>
          </p:nvPr>
        </p:nvSpPr>
        <p:spPr/>
        <p:txBody>
          <a:bodyPr/>
          <a:lstStyle/>
          <a:p>
            <a:r>
              <a:rPr lang="en-US"/>
              <a:t>Does Not Contain CUI.</a:t>
            </a:r>
            <a:endParaRPr lang="en-US" dirty="0"/>
          </a:p>
        </p:txBody>
      </p:sp>
      <p:sp>
        <p:nvSpPr>
          <p:cNvPr id="9" name="Slide Number Placeholder 8"/>
          <p:cNvSpPr>
            <a:spLocks noGrp="1"/>
          </p:cNvSpPr>
          <p:nvPr>
            <p:ph type="sldNum" sz="quarter" idx="25"/>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3352689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7" name="Content Placeholder 2"/>
          <p:cNvSpPr>
            <a:spLocks noGrp="1"/>
          </p:cNvSpPr>
          <p:nvPr>
            <p:ph idx="1"/>
          </p:nvPr>
        </p:nvSpPr>
        <p:spPr>
          <a:xfrm>
            <a:off x="3575050" y="1596524"/>
            <a:ext cx="5111750" cy="4405898"/>
          </a:xfrm>
        </p:spPr>
        <p:txBody>
          <a:bodyPr>
            <a:no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
          <p:cNvSpPr>
            <a:spLocks noGrp="1"/>
          </p:cNvSpPr>
          <p:nvPr>
            <p:ph type="body" sz="half" idx="2"/>
          </p:nvPr>
        </p:nvSpPr>
        <p:spPr>
          <a:xfrm>
            <a:off x="457200" y="2758573"/>
            <a:ext cx="3008313" cy="3243849"/>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9" name="Text Placeholder 2"/>
          <p:cNvSpPr>
            <a:spLocks noGrp="1"/>
          </p:cNvSpPr>
          <p:nvPr>
            <p:ph type="body" idx="18" hasCustomPrompt="1"/>
          </p:nvPr>
        </p:nvSpPr>
        <p:spPr>
          <a:xfrm>
            <a:off x="457200" y="1596524"/>
            <a:ext cx="3008313" cy="1162049"/>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12" name="TextBox 11"/>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19"/>
          </p:nvPr>
        </p:nvSpPr>
        <p:spPr/>
        <p:txBody>
          <a:bodyPr/>
          <a:lstStyle/>
          <a:p>
            <a:fld id="{31FD064B-2AEC-934E-9DD0-08374EC28187}" type="datetime1">
              <a:rPr lang="en-US" smtClean="0"/>
              <a:t>3/25/26</a:t>
            </a:fld>
            <a:endParaRPr lang="en-US" dirty="0"/>
          </a:p>
        </p:txBody>
      </p:sp>
      <p:sp>
        <p:nvSpPr>
          <p:cNvPr id="8" name="Footer Placeholder 7"/>
          <p:cNvSpPr>
            <a:spLocks noGrp="1"/>
          </p:cNvSpPr>
          <p:nvPr>
            <p:ph type="ftr" sz="quarter" idx="20"/>
          </p:nvPr>
        </p:nvSpPr>
        <p:spPr/>
        <p:txBody>
          <a:bodyPr/>
          <a:lstStyle/>
          <a:p>
            <a:r>
              <a:rPr lang="en-US"/>
              <a:t>Does Not Contain CUI.</a:t>
            </a:r>
            <a:endParaRPr lang="en-US" dirty="0"/>
          </a:p>
        </p:txBody>
      </p:sp>
      <p:sp>
        <p:nvSpPr>
          <p:cNvPr id="9" name="Slide Number Placeholder 8"/>
          <p:cNvSpPr>
            <a:spLocks noGrp="1"/>
          </p:cNvSpPr>
          <p:nvPr>
            <p:ph type="sldNum" sz="quarter" idx="21"/>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18051356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4"/>
          <p:cNvSpPr>
            <a:spLocks noGrp="1"/>
          </p:cNvSpPr>
          <p:nvPr>
            <p:ph type="body" sz="quarter" idx="17" hasCustomPrompt="1"/>
          </p:nvPr>
        </p:nvSpPr>
        <p:spPr>
          <a:xfrm>
            <a:off x="457200" y="149733"/>
            <a:ext cx="8229601" cy="261959"/>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5"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12" name="Picture Placeholder 2"/>
          <p:cNvSpPr>
            <a:spLocks noGrp="1"/>
          </p:cNvSpPr>
          <p:nvPr>
            <p:ph type="pic" idx="1"/>
          </p:nvPr>
        </p:nvSpPr>
        <p:spPr>
          <a:xfrm>
            <a:off x="1792288" y="1590842"/>
            <a:ext cx="5486400" cy="33839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3" name="Text Placeholder 3"/>
          <p:cNvSpPr>
            <a:spLocks noGrp="1"/>
          </p:cNvSpPr>
          <p:nvPr>
            <p:ph type="body" sz="half" idx="2"/>
          </p:nvPr>
        </p:nvSpPr>
        <p:spPr>
          <a:xfrm>
            <a:off x="1792288" y="5614565"/>
            <a:ext cx="5486400" cy="521540"/>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2"/>
          <p:cNvSpPr>
            <a:spLocks noGrp="1"/>
          </p:cNvSpPr>
          <p:nvPr>
            <p:ph type="body" idx="18" hasCustomPrompt="1"/>
          </p:nvPr>
        </p:nvSpPr>
        <p:spPr>
          <a:xfrm>
            <a:off x="1792288" y="4974802"/>
            <a:ext cx="5486400" cy="631073"/>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17" name="TextBox 16"/>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7" name="Date Placeholder 6"/>
          <p:cNvSpPr>
            <a:spLocks noGrp="1"/>
          </p:cNvSpPr>
          <p:nvPr>
            <p:ph type="dt" sz="half" idx="19"/>
          </p:nvPr>
        </p:nvSpPr>
        <p:spPr/>
        <p:txBody>
          <a:bodyPr/>
          <a:lstStyle/>
          <a:p>
            <a:fld id="{E0AF166E-C051-0042-A117-3FBE2A105694}" type="datetime1">
              <a:rPr lang="en-US" smtClean="0"/>
              <a:t>3/25/26</a:t>
            </a:fld>
            <a:endParaRPr lang="en-US" dirty="0"/>
          </a:p>
        </p:txBody>
      </p:sp>
      <p:sp>
        <p:nvSpPr>
          <p:cNvPr id="8" name="Footer Placeholder 7"/>
          <p:cNvSpPr>
            <a:spLocks noGrp="1"/>
          </p:cNvSpPr>
          <p:nvPr>
            <p:ph type="ftr" sz="quarter" idx="20"/>
          </p:nvPr>
        </p:nvSpPr>
        <p:spPr/>
        <p:txBody>
          <a:bodyPr/>
          <a:lstStyle/>
          <a:p>
            <a:r>
              <a:rPr lang="en-US"/>
              <a:t>Does Not Contain CUI.</a:t>
            </a:r>
            <a:endParaRPr lang="en-US" dirty="0"/>
          </a:p>
        </p:txBody>
      </p:sp>
      <p:sp>
        <p:nvSpPr>
          <p:cNvPr id="9" name="Slide Number Placeholder 8"/>
          <p:cNvSpPr>
            <a:spLocks noGrp="1"/>
          </p:cNvSpPr>
          <p:nvPr>
            <p:ph type="sldNum" sz="quarter" idx="21"/>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3907875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ubtitle and White Strip">
    <p:spTree>
      <p:nvGrpSpPr>
        <p:cNvPr id="1" name=""/>
        <p:cNvGrpSpPr/>
        <p:nvPr/>
      </p:nvGrpSpPr>
      <p:grpSpPr>
        <a:xfrm>
          <a:off x="0" y="0"/>
          <a:ext cx="0" cy="0"/>
          <a:chOff x="0" y="0"/>
          <a:chExt cx="0" cy="0"/>
        </a:xfrm>
      </p:grpSpPr>
      <p:sp>
        <p:nvSpPr>
          <p:cNvPr id="6"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7" name="Rectangle 6"/>
          <p:cNvSpPr/>
          <p:nvPr userDrawn="1"/>
        </p:nvSpPr>
        <p:spPr>
          <a:xfrm>
            <a:off x="0" y="1419226"/>
            <a:ext cx="9144000" cy="502919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4" name="Title 3"/>
          <p:cNvSpPr>
            <a:spLocks noGrp="1"/>
          </p:cNvSpPr>
          <p:nvPr>
            <p:ph type="title"/>
          </p:nvPr>
        </p:nvSpPr>
        <p:spPr/>
        <p:txBody>
          <a:bodyPr/>
          <a:lstStyle/>
          <a:p>
            <a:r>
              <a:rPr lang="en-US"/>
              <a:t>Click to edit Master title style</a:t>
            </a:r>
          </a:p>
        </p:txBody>
      </p:sp>
      <p:sp>
        <p:nvSpPr>
          <p:cNvPr id="13" name="TextBox 12"/>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3" name="Date Placeholder 2"/>
          <p:cNvSpPr>
            <a:spLocks noGrp="1"/>
          </p:cNvSpPr>
          <p:nvPr>
            <p:ph type="dt" sz="half" idx="18"/>
          </p:nvPr>
        </p:nvSpPr>
        <p:spPr/>
        <p:txBody>
          <a:bodyPr/>
          <a:lstStyle/>
          <a:p>
            <a:fld id="{305ABF18-7195-3946-9909-6E82FB5BC7E3}" type="datetime1">
              <a:rPr lang="en-US" smtClean="0"/>
              <a:t>3/25/26</a:t>
            </a:fld>
            <a:endParaRPr lang="en-US" dirty="0"/>
          </a:p>
        </p:txBody>
      </p:sp>
      <p:sp>
        <p:nvSpPr>
          <p:cNvPr id="9" name="Footer Placeholder 8"/>
          <p:cNvSpPr>
            <a:spLocks noGrp="1"/>
          </p:cNvSpPr>
          <p:nvPr>
            <p:ph type="ftr" sz="quarter" idx="19"/>
          </p:nvPr>
        </p:nvSpPr>
        <p:spPr/>
        <p:txBody>
          <a:bodyPr/>
          <a:lstStyle/>
          <a:p>
            <a:r>
              <a:rPr lang="en-US"/>
              <a:t>Does Not Contain CUI.</a:t>
            </a:r>
            <a:endParaRPr lang="en-US" dirty="0"/>
          </a:p>
        </p:txBody>
      </p:sp>
      <p:sp>
        <p:nvSpPr>
          <p:cNvPr id="11" name="Slide Number Placeholder 10"/>
          <p:cNvSpPr>
            <a:spLocks noGrp="1"/>
          </p:cNvSpPr>
          <p:nvPr>
            <p:ph type="sldNum" sz="quarter" idx="20"/>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4079685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and Dark Strip">
    <p:spTree>
      <p:nvGrpSpPr>
        <p:cNvPr id="1" name=""/>
        <p:cNvGrpSpPr/>
        <p:nvPr/>
      </p:nvGrpSpPr>
      <p:grpSpPr>
        <a:xfrm>
          <a:off x="0" y="0"/>
          <a:ext cx="0" cy="0"/>
          <a:chOff x="0" y="0"/>
          <a:chExt cx="0" cy="0"/>
        </a:xfrm>
      </p:grpSpPr>
      <p:sp>
        <p:nvSpPr>
          <p:cNvPr id="6" name="Rectangle 5"/>
          <p:cNvSpPr/>
          <p:nvPr userDrawn="1"/>
        </p:nvSpPr>
        <p:spPr>
          <a:xfrm>
            <a:off x="0" y="1419226"/>
            <a:ext cx="9144000" cy="5029199"/>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 Placeholder 4"/>
          <p:cNvSpPr>
            <a:spLocks noGrp="1"/>
          </p:cNvSpPr>
          <p:nvPr>
            <p:ph type="body" sz="quarter" idx="17" hasCustomPrompt="1"/>
          </p:nvPr>
        </p:nvSpPr>
        <p:spPr>
          <a:xfrm>
            <a:off x="457200" y="149734"/>
            <a:ext cx="8229601" cy="251482"/>
          </a:xfrm>
          <a:prstGeom prst="rect">
            <a:avLst/>
          </a:prstGeom>
        </p:spPr>
        <p:txBody>
          <a:bodyPr anchor="t">
            <a:noAutofit/>
          </a:bodyPr>
          <a:lstStyle>
            <a:lvl1pPr marL="0" indent="0" algn="l">
              <a:buNone/>
              <a:tabLst/>
              <a:defRPr sz="10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ext Placeholder 13"/>
          <p:cNvSpPr>
            <a:spLocks noGrp="1"/>
          </p:cNvSpPr>
          <p:nvPr>
            <p:ph type="body" sz="quarter" idx="16" hasCustomPrompt="1"/>
          </p:nvPr>
        </p:nvSpPr>
        <p:spPr>
          <a:xfrm>
            <a:off x="457199" y="890176"/>
            <a:ext cx="8229601" cy="426006"/>
          </a:xfrm>
          <a:prstGeom prst="rect">
            <a:avLst/>
          </a:prstGeom>
        </p:spPr>
        <p:txBody>
          <a:bodyPr vert="horz">
            <a:noAutofit/>
          </a:bodyPr>
          <a:lstStyle>
            <a:lvl1pPr marL="0" indent="0">
              <a:buFontTx/>
              <a:buNone/>
              <a:defRPr sz="2200" baseline="0">
                <a:solidFill>
                  <a:srgbClr val="FFFFFF"/>
                </a:solidFill>
                <a:latin typeface="+mj-lt"/>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add subtitle</a:t>
            </a:r>
          </a:p>
        </p:txBody>
      </p:sp>
      <p:sp>
        <p:nvSpPr>
          <p:cNvPr id="3" name="Title 2"/>
          <p:cNvSpPr>
            <a:spLocks noGrp="1"/>
          </p:cNvSpPr>
          <p:nvPr>
            <p:ph type="title"/>
          </p:nvPr>
        </p:nvSpPr>
        <p:spPr/>
        <p:txBody>
          <a:bodyPr/>
          <a:lstStyle/>
          <a:p>
            <a:r>
              <a:rPr lang="en-US"/>
              <a:t>Click to edit Master title style</a:t>
            </a:r>
          </a:p>
        </p:txBody>
      </p:sp>
      <p:sp>
        <p:nvSpPr>
          <p:cNvPr id="10" name="TextBox 9"/>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8" name="Date Placeholder 7"/>
          <p:cNvSpPr>
            <a:spLocks noGrp="1"/>
          </p:cNvSpPr>
          <p:nvPr>
            <p:ph type="dt" sz="half" idx="18"/>
          </p:nvPr>
        </p:nvSpPr>
        <p:spPr/>
        <p:txBody>
          <a:bodyPr/>
          <a:lstStyle/>
          <a:p>
            <a:fld id="{A83ACF31-63BE-2C43-ACDF-606F658A9772}" type="datetime1">
              <a:rPr lang="en-US" smtClean="0"/>
              <a:t>3/25/26</a:t>
            </a:fld>
            <a:endParaRPr lang="en-US" dirty="0"/>
          </a:p>
        </p:txBody>
      </p:sp>
      <p:sp>
        <p:nvSpPr>
          <p:cNvPr id="11" name="Footer Placeholder 10"/>
          <p:cNvSpPr>
            <a:spLocks noGrp="1"/>
          </p:cNvSpPr>
          <p:nvPr>
            <p:ph type="ftr" sz="quarter" idx="19"/>
          </p:nvPr>
        </p:nvSpPr>
        <p:spPr/>
        <p:txBody>
          <a:bodyPr/>
          <a:lstStyle/>
          <a:p>
            <a:r>
              <a:rPr lang="en-US"/>
              <a:t>Does Not Contain CUI.</a:t>
            </a:r>
            <a:endParaRPr lang="en-US" dirty="0"/>
          </a:p>
        </p:txBody>
      </p:sp>
      <p:sp>
        <p:nvSpPr>
          <p:cNvPr id="12" name="Slide Number Placeholder 11"/>
          <p:cNvSpPr>
            <a:spLocks noGrp="1"/>
          </p:cNvSpPr>
          <p:nvPr>
            <p:ph type="sldNum" sz="quarter" idx="20"/>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22146462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9" name="TextBox 8"/>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2" name="Date Placeholder 1"/>
          <p:cNvSpPr>
            <a:spLocks noGrp="1"/>
          </p:cNvSpPr>
          <p:nvPr>
            <p:ph type="dt" sz="half" idx="10"/>
          </p:nvPr>
        </p:nvSpPr>
        <p:spPr/>
        <p:txBody>
          <a:bodyPr/>
          <a:lstStyle/>
          <a:p>
            <a:fld id="{79C92C07-95CF-EE4E-8825-20A437D831BD}" type="datetime1">
              <a:rPr lang="en-US" smtClean="0"/>
              <a:t>3/25/26</a:t>
            </a:fld>
            <a:endParaRPr lang="en-US" dirty="0"/>
          </a:p>
        </p:txBody>
      </p:sp>
      <p:sp>
        <p:nvSpPr>
          <p:cNvPr id="6" name="Footer Placeholder 5"/>
          <p:cNvSpPr>
            <a:spLocks noGrp="1"/>
          </p:cNvSpPr>
          <p:nvPr>
            <p:ph type="ftr" sz="quarter" idx="11"/>
          </p:nvPr>
        </p:nvSpPr>
        <p:spPr/>
        <p:txBody>
          <a:bodyPr/>
          <a:lstStyle/>
          <a:p>
            <a:r>
              <a:rPr lang="en-US"/>
              <a:t>Does Not Contain CUI.</a:t>
            </a:r>
            <a:endParaRPr lang="en-US" dirty="0"/>
          </a:p>
        </p:txBody>
      </p:sp>
      <p:sp>
        <p:nvSpPr>
          <p:cNvPr id="7" name="Slide Number Placeholder 6"/>
          <p:cNvSpPr>
            <a:spLocks noGrp="1"/>
          </p:cNvSpPr>
          <p:nvPr>
            <p:ph type="sldNum" sz="quarter" idx="12"/>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17399981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ext Placeholder 2"/>
          <p:cNvSpPr>
            <a:spLocks noGrp="1"/>
          </p:cNvSpPr>
          <p:nvPr>
            <p:ph type="body" sz="quarter" idx="10" hasCustomPrompt="1"/>
          </p:nvPr>
        </p:nvSpPr>
        <p:spPr>
          <a:xfrm>
            <a:off x="458107" y="2537619"/>
            <a:ext cx="8227786" cy="1782763"/>
          </a:xfrm>
        </p:spPr>
        <p:txBody>
          <a:bodyPr anchor="ctr"/>
          <a:lstStyle>
            <a:lvl1pPr marL="0" marR="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sz="4800" baseline="0">
                <a:solidFill>
                  <a:srgbClr val="FFFFFF"/>
                </a:solidFill>
                <a:latin typeface="+mj-lt"/>
              </a:defRPr>
            </a:lvl1pPr>
          </a:lstStyle>
          <a:p>
            <a:pPr marL="0" marR="0" lvl="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a:pPr>
            <a:r>
              <a:rPr lang="en-US" dirty="0"/>
              <a:t>Click to add section header</a:t>
            </a:r>
          </a:p>
        </p:txBody>
      </p:sp>
      <p:sp>
        <p:nvSpPr>
          <p:cNvPr id="3" name="TextBox 2"/>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2" name="Date Placeholder 1"/>
          <p:cNvSpPr>
            <a:spLocks noGrp="1"/>
          </p:cNvSpPr>
          <p:nvPr>
            <p:ph type="dt" sz="half" idx="11"/>
          </p:nvPr>
        </p:nvSpPr>
        <p:spPr/>
        <p:txBody>
          <a:bodyPr/>
          <a:lstStyle/>
          <a:p>
            <a:fld id="{760930A9-A63D-1D42-A518-AC63CF5AC1F6}" type="datetime1">
              <a:rPr lang="en-US" smtClean="0"/>
              <a:t>3/25/26</a:t>
            </a:fld>
            <a:endParaRPr lang="en-US" dirty="0"/>
          </a:p>
        </p:txBody>
      </p:sp>
      <p:sp>
        <p:nvSpPr>
          <p:cNvPr id="4" name="Footer Placeholder 3"/>
          <p:cNvSpPr>
            <a:spLocks noGrp="1"/>
          </p:cNvSpPr>
          <p:nvPr>
            <p:ph type="ftr" sz="quarter" idx="12"/>
          </p:nvPr>
        </p:nvSpPr>
        <p:spPr/>
        <p:txBody>
          <a:bodyPr/>
          <a:lstStyle/>
          <a:p>
            <a:r>
              <a:rPr lang="en-US"/>
              <a:t>Does Not Contain CUI.</a:t>
            </a:r>
            <a:endParaRPr lang="en-US" dirty="0"/>
          </a:p>
        </p:txBody>
      </p:sp>
      <p:sp>
        <p:nvSpPr>
          <p:cNvPr id="5" name="Slide Number Placeholder 4"/>
          <p:cNvSpPr>
            <a:spLocks noGrp="1"/>
          </p:cNvSpPr>
          <p:nvPr>
            <p:ph type="sldNum" sz="quarter" idx="13"/>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30654553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_Dark Gray">
    <p:bg>
      <p:bgPr>
        <a:solidFill>
          <a:schemeClr val="tx2">
            <a:lumMod val="50000"/>
          </a:schemeClr>
        </a:solidFill>
        <a:effectLst/>
      </p:bgPr>
    </p:bg>
    <p:spTree>
      <p:nvGrpSpPr>
        <p:cNvPr id="1" name=""/>
        <p:cNvGrpSpPr/>
        <p:nvPr/>
      </p:nvGrpSpPr>
      <p:grpSpPr>
        <a:xfrm>
          <a:off x="0" y="0"/>
          <a:ext cx="0" cy="0"/>
          <a:chOff x="0" y="0"/>
          <a:chExt cx="0" cy="0"/>
        </a:xfrm>
      </p:grpSpPr>
      <p:sp>
        <p:nvSpPr>
          <p:cNvPr id="7" name="Text Placeholder 2"/>
          <p:cNvSpPr>
            <a:spLocks noGrp="1"/>
          </p:cNvSpPr>
          <p:nvPr>
            <p:ph type="body" sz="quarter" idx="10" hasCustomPrompt="1"/>
          </p:nvPr>
        </p:nvSpPr>
        <p:spPr>
          <a:xfrm>
            <a:off x="458107" y="2537619"/>
            <a:ext cx="8227786" cy="1782763"/>
          </a:xfrm>
        </p:spPr>
        <p:txBody>
          <a:bodyPr anchor="ctr"/>
          <a:lstStyle>
            <a:lvl1pPr marL="0" marR="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sz="4800" baseline="0">
                <a:solidFill>
                  <a:schemeClr val="bg1"/>
                </a:solidFill>
                <a:latin typeface="+mj-lt"/>
              </a:defRPr>
            </a:lvl1pPr>
          </a:lstStyle>
          <a:p>
            <a:pPr marL="0" marR="0" lvl="0" indent="0" algn="ctr" defTabSz="914400" rtl="0" eaLnBrk="1" fontAlgn="auto" latinLnBrk="0" hangingPunct="1">
              <a:lnSpc>
                <a:spcPct val="100000"/>
              </a:lnSpc>
              <a:spcBef>
                <a:spcPct val="20000"/>
              </a:spcBef>
              <a:spcAft>
                <a:spcPts val="0"/>
              </a:spcAft>
              <a:buClr>
                <a:schemeClr val="bg1">
                  <a:lumMod val="50000"/>
                </a:schemeClr>
              </a:buClr>
              <a:buSzTx/>
              <a:buFont typeface="Arial" pitchFamily="34" charset="0"/>
              <a:buNone/>
              <a:tabLst/>
              <a:defRPr/>
            </a:pPr>
            <a:r>
              <a:rPr lang="en-US" dirty="0"/>
              <a:t>Click to add section header</a:t>
            </a:r>
          </a:p>
        </p:txBody>
      </p:sp>
      <p:sp>
        <p:nvSpPr>
          <p:cNvPr id="3" name="TextBox 2"/>
          <p:cNvSpPr txBox="1"/>
          <p:nvPr userDrawn="1"/>
        </p:nvSpPr>
        <p:spPr>
          <a:xfrm>
            <a:off x="7700212" y="6448776"/>
            <a:ext cx="1359944" cy="400153"/>
          </a:xfrm>
          <a:prstGeom prst="rect">
            <a:avLst/>
          </a:prstGeom>
          <a:noFill/>
        </p:spPr>
        <p:txBody>
          <a:bodyPr wrap="square" rtlCol="0" anchor="ctr">
            <a:noAutofit/>
          </a:bodyPr>
          <a:lstStyle/>
          <a:p>
            <a:pPr algn="r"/>
            <a:r>
              <a:rPr lang="en-US" sz="1200" b="1" kern="0" spc="70" dirty="0">
                <a:solidFill>
                  <a:schemeClr val="accent1"/>
                </a:solidFill>
              </a:rPr>
              <a:t>jpl.nasa.gov</a:t>
            </a:r>
          </a:p>
        </p:txBody>
      </p:sp>
      <p:sp>
        <p:nvSpPr>
          <p:cNvPr id="2" name="Date Placeholder 1"/>
          <p:cNvSpPr>
            <a:spLocks noGrp="1"/>
          </p:cNvSpPr>
          <p:nvPr>
            <p:ph type="dt" sz="half" idx="11"/>
          </p:nvPr>
        </p:nvSpPr>
        <p:spPr/>
        <p:txBody>
          <a:bodyPr/>
          <a:lstStyle/>
          <a:p>
            <a:fld id="{32F3B905-D259-8D47-AE61-13EDD8C4928E}" type="datetime1">
              <a:rPr lang="en-US" smtClean="0"/>
              <a:t>3/25/26</a:t>
            </a:fld>
            <a:endParaRPr lang="en-US" dirty="0"/>
          </a:p>
        </p:txBody>
      </p:sp>
      <p:sp>
        <p:nvSpPr>
          <p:cNvPr id="4" name="Footer Placeholder 3"/>
          <p:cNvSpPr>
            <a:spLocks noGrp="1"/>
          </p:cNvSpPr>
          <p:nvPr>
            <p:ph type="ftr" sz="quarter" idx="12"/>
          </p:nvPr>
        </p:nvSpPr>
        <p:spPr/>
        <p:txBody>
          <a:bodyPr/>
          <a:lstStyle/>
          <a:p>
            <a:r>
              <a:rPr lang="en-US"/>
              <a:t>Does Not Contain CUI.</a:t>
            </a:r>
            <a:endParaRPr lang="en-US" dirty="0"/>
          </a:p>
        </p:txBody>
      </p:sp>
      <p:sp>
        <p:nvSpPr>
          <p:cNvPr id="5" name="Slide Number Placeholder 4"/>
          <p:cNvSpPr>
            <a:spLocks noGrp="1"/>
          </p:cNvSpPr>
          <p:nvPr>
            <p:ph type="sldNum" sz="quarter" idx="13"/>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26347734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218681-EB5A-C149-B53D-CF1A7EA9078C}" type="datetime1">
              <a:rPr lang="en-US" smtClean="0"/>
              <a:t>3/25/26</a:t>
            </a:fld>
            <a:endParaRPr lang="en-US" dirty="0"/>
          </a:p>
        </p:txBody>
      </p:sp>
      <p:sp>
        <p:nvSpPr>
          <p:cNvPr id="3" name="Footer Placeholder 2"/>
          <p:cNvSpPr>
            <a:spLocks noGrp="1"/>
          </p:cNvSpPr>
          <p:nvPr>
            <p:ph type="ftr" sz="quarter" idx="11"/>
          </p:nvPr>
        </p:nvSpPr>
        <p:spPr/>
        <p:txBody>
          <a:bodyPr/>
          <a:lstStyle/>
          <a:p>
            <a:r>
              <a:rPr lang="en-US"/>
              <a:t>Does Not Contain CUI.</a:t>
            </a:r>
            <a:endParaRPr lang="en-US" dirty="0"/>
          </a:p>
        </p:txBody>
      </p:sp>
      <p:sp>
        <p:nvSpPr>
          <p:cNvPr id="4" name="Slide Number Placeholder 3"/>
          <p:cNvSpPr>
            <a:spLocks noGrp="1"/>
          </p:cNvSpPr>
          <p:nvPr>
            <p:ph type="sldNum" sz="quarter" idx="12"/>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41054982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cxnSp>
        <p:nvCxnSpPr>
          <p:cNvPr id="3" name="Straight Connector 2"/>
          <p:cNvCxnSpPr/>
          <p:nvPr userDrawn="1"/>
        </p:nvCxnSpPr>
        <p:spPr>
          <a:xfrm>
            <a:off x="2276323" y="3654169"/>
            <a:ext cx="4581678" cy="0"/>
          </a:xfrm>
          <a:prstGeom prst="line">
            <a:avLst/>
          </a:prstGeom>
          <a:ln w="6350"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userDrawn="1"/>
        </p:nvSpPr>
        <p:spPr>
          <a:xfrm>
            <a:off x="1" y="3863419"/>
            <a:ext cx="9144000" cy="400153"/>
          </a:xfrm>
          <a:prstGeom prst="rect">
            <a:avLst/>
          </a:prstGeom>
          <a:noFill/>
        </p:spPr>
        <p:txBody>
          <a:bodyPr wrap="square" rtlCol="0" anchor="ctr">
            <a:noAutofit/>
          </a:bodyPr>
          <a:lstStyle/>
          <a:p>
            <a:pPr algn="ctr"/>
            <a:r>
              <a:rPr lang="en-US" sz="2400" kern="0" spc="70" dirty="0">
                <a:solidFill>
                  <a:schemeClr val="accent1"/>
                </a:solidFill>
              </a:rPr>
              <a:t>jpl.nasa.gov</a:t>
            </a:r>
          </a:p>
        </p:txBody>
      </p:sp>
      <p:pic>
        <p:nvPicPr>
          <p:cNvPr id="5" name="Picture 4" descr="Tribrand_ColorWhite_rgb_16x3_160601.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276323" y="2381478"/>
            <a:ext cx="4581684" cy="1272691"/>
          </a:xfrm>
          <a:prstGeom prst="rect">
            <a:avLst/>
          </a:prstGeom>
        </p:spPr>
      </p:pic>
      <p:sp>
        <p:nvSpPr>
          <p:cNvPr id="2" name="Date Placeholder 1"/>
          <p:cNvSpPr>
            <a:spLocks noGrp="1"/>
          </p:cNvSpPr>
          <p:nvPr>
            <p:ph type="dt" sz="half" idx="10"/>
          </p:nvPr>
        </p:nvSpPr>
        <p:spPr/>
        <p:txBody>
          <a:bodyPr/>
          <a:lstStyle/>
          <a:p>
            <a:fld id="{E735C98F-2ECA-FF43-A3DB-27C371F7FB1F}" type="datetime1">
              <a:rPr lang="en-US" smtClean="0"/>
              <a:t>3/25/26</a:t>
            </a:fld>
            <a:endParaRPr lang="en-US" dirty="0"/>
          </a:p>
        </p:txBody>
      </p:sp>
      <p:sp>
        <p:nvSpPr>
          <p:cNvPr id="6" name="Footer Placeholder 5"/>
          <p:cNvSpPr>
            <a:spLocks noGrp="1"/>
          </p:cNvSpPr>
          <p:nvPr>
            <p:ph type="ftr" sz="quarter" idx="11"/>
          </p:nvPr>
        </p:nvSpPr>
        <p:spPr/>
        <p:txBody>
          <a:bodyPr/>
          <a:lstStyle/>
          <a:p>
            <a:r>
              <a:rPr lang="en-US"/>
              <a:t>Does Not Contain CUI.</a:t>
            </a:r>
            <a:endParaRPr lang="en-US" dirty="0"/>
          </a:p>
        </p:txBody>
      </p:sp>
      <p:sp>
        <p:nvSpPr>
          <p:cNvPr id="7" name="Slide Number Placeholder 6"/>
          <p:cNvSpPr>
            <a:spLocks noGrp="1"/>
          </p:cNvSpPr>
          <p:nvPr>
            <p:ph type="sldNum" sz="quarter" idx="12"/>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33832885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losing Slide 2">
    <p:spTree>
      <p:nvGrpSpPr>
        <p:cNvPr id="1" name=""/>
        <p:cNvGrpSpPr/>
        <p:nvPr/>
      </p:nvGrpSpPr>
      <p:grpSpPr>
        <a:xfrm>
          <a:off x="0" y="0"/>
          <a:ext cx="0" cy="0"/>
          <a:chOff x="0" y="0"/>
          <a:chExt cx="0" cy="0"/>
        </a:xfrm>
      </p:grpSpPr>
      <p:pic>
        <p:nvPicPr>
          <p:cNvPr id="5" name="Picture 4" descr="Tribrand_ColorWhite_rgb_16x3_160601.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276323" y="2792655"/>
            <a:ext cx="4581684" cy="1272691"/>
          </a:xfrm>
          <a:prstGeom prst="rect">
            <a:avLst/>
          </a:prstGeom>
        </p:spPr>
      </p:pic>
      <p:sp>
        <p:nvSpPr>
          <p:cNvPr id="2" name="Date Placeholder 1"/>
          <p:cNvSpPr>
            <a:spLocks noGrp="1"/>
          </p:cNvSpPr>
          <p:nvPr>
            <p:ph type="dt" sz="half" idx="10"/>
          </p:nvPr>
        </p:nvSpPr>
        <p:spPr/>
        <p:txBody>
          <a:bodyPr/>
          <a:lstStyle/>
          <a:p>
            <a:fld id="{398C582E-0FB3-6543-A597-19098C087819}" type="datetime1">
              <a:rPr lang="en-US" smtClean="0"/>
              <a:t>3/25/26</a:t>
            </a:fld>
            <a:endParaRPr lang="en-US" dirty="0"/>
          </a:p>
        </p:txBody>
      </p:sp>
      <p:sp>
        <p:nvSpPr>
          <p:cNvPr id="3" name="Footer Placeholder 2"/>
          <p:cNvSpPr>
            <a:spLocks noGrp="1"/>
          </p:cNvSpPr>
          <p:nvPr>
            <p:ph type="ftr" sz="quarter" idx="11"/>
          </p:nvPr>
        </p:nvSpPr>
        <p:spPr/>
        <p:txBody>
          <a:bodyPr/>
          <a:lstStyle/>
          <a:p>
            <a:r>
              <a:rPr lang="en-US"/>
              <a:t>Does Not Contain CUI.</a:t>
            </a:r>
            <a:endParaRPr lang="en-US" dirty="0"/>
          </a:p>
        </p:txBody>
      </p:sp>
      <p:sp>
        <p:nvSpPr>
          <p:cNvPr id="4" name="Slide Number Placeholder 3"/>
          <p:cNvSpPr>
            <a:spLocks noGrp="1"/>
          </p:cNvSpPr>
          <p:nvPr>
            <p:ph type="sldNum" sz="quarter" idx="12"/>
          </p:nvPr>
        </p:nvSpPr>
        <p:spPr/>
        <p:txBody>
          <a:body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2878119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theme" Target="../theme/theme2.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itle Placeholder 10"/>
          <p:cNvSpPr>
            <a:spLocks noGrp="1"/>
          </p:cNvSpPr>
          <p:nvPr>
            <p:ph type="title"/>
          </p:nvPr>
        </p:nvSpPr>
        <p:spPr>
          <a:xfrm>
            <a:off x="457200" y="411693"/>
            <a:ext cx="8229600" cy="478483"/>
          </a:xfrm>
          <a:prstGeom prst="rect">
            <a:avLst/>
          </a:prstGeom>
        </p:spPr>
        <p:txBody>
          <a:bodyPr vert="horz" lIns="91440" tIns="45720" rIns="91440" bIns="45720" rtlCol="0" anchor="t">
            <a:noAutofit/>
          </a:bodyPr>
          <a:lstStyle/>
          <a:p>
            <a:r>
              <a:rPr lang="en-US" dirty="0"/>
              <a:t>Click to edit Master title style</a:t>
            </a:r>
          </a:p>
        </p:txBody>
      </p:sp>
      <p:sp>
        <p:nvSpPr>
          <p:cNvPr id="16" name="Text Placeholder 15"/>
          <p:cNvSpPr>
            <a:spLocks noGrp="1"/>
          </p:cNvSpPr>
          <p:nvPr>
            <p:ph type="body" idx="1"/>
          </p:nvPr>
        </p:nvSpPr>
        <p:spPr>
          <a:xfrm>
            <a:off x="457200" y="1600200"/>
            <a:ext cx="82296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p:cNvSpPr>
            <a:spLocks noGrp="1"/>
          </p:cNvSpPr>
          <p:nvPr>
            <p:ph type="dt" sz="half" idx="2"/>
          </p:nvPr>
        </p:nvSpPr>
        <p:spPr>
          <a:xfrm>
            <a:off x="457200" y="6457847"/>
            <a:ext cx="1413986" cy="400153"/>
          </a:xfrm>
          <a:prstGeom prst="rect">
            <a:avLst/>
          </a:prstGeom>
        </p:spPr>
        <p:txBody>
          <a:bodyPr vert="horz" lIns="91440" tIns="45720" rIns="91440" bIns="45720" rtlCol="0" anchor="ctr">
            <a:noAutofit/>
          </a:bodyPr>
          <a:lstStyle>
            <a:lvl1pPr algn="l">
              <a:defRPr sz="900">
                <a:solidFill>
                  <a:schemeClr val="bg1">
                    <a:lumMod val="50000"/>
                  </a:schemeClr>
                </a:solidFill>
              </a:defRPr>
            </a:lvl1pPr>
          </a:lstStyle>
          <a:p>
            <a:fld id="{7E0DEBED-4147-1F4C-B2FC-BCF17E3DE614}" type="datetime1">
              <a:rPr lang="en-US" smtClean="0"/>
              <a:t>3/25/26</a:t>
            </a:fld>
            <a:endParaRPr lang="en-US" dirty="0"/>
          </a:p>
        </p:txBody>
      </p:sp>
      <p:sp>
        <p:nvSpPr>
          <p:cNvPr id="12" name="Footer Placeholder 1"/>
          <p:cNvSpPr>
            <a:spLocks noGrp="1"/>
          </p:cNvSpPr>
          <p:nvPr>
            <p:ph type="ftr" sz="quarter" idx="3"/>
          </p:nvPr>
        </p:nvSpPr>
        <p:spPr>
          <a:xfrm>
            <a:off x="1871186" y="6457847"/>
            <a:ext cx="5401628" cy="400153"/>
          </a:xfrm>
          <a:prstGeom prst="rect">
            <a:avLst/>
          </a:prstGeom>
        </p:spPr>
        <p:txBody>
          <a:bodyPr vert="horz" lIns="91440" tIns="45720" rIns="91440" bIns="45720" rtlCol="0" anchor="ctr">
            <a:noAutofit/>
          </a:bodyPr>
          <a:lstStyle>
            <a:lvl1pPr algn="ctr">
              <a:defRPr sz="900">
                <a:solidFill>
                  <a:schemeClr val="accent4"/>
                </a:solidFill>
              </a:defRPr>
            </a:lvl1pPr>
          </a:lstStyle>
          <a:p>
            <a:r>
              <a:rPr lang="en-US"/>
              <a:t>Does Not Contain CUI.</a:t>
            </a:r>
            <a:endParaRPr lang="en-US" dirty="0"/>
          </a:p>
        </p:txBody>
      </p:sp>
      <p:sp>
        <p:nvSpPr>
          <p:cNvPr id="13" name="Slide Number Placeholder 4"/>
          <p:cNvSpPr>
            <a:spLocks noGrp="1"/>
          </p:cNvSpPr>
          <p:nvPr>
            <p:ph type="sldNum" sz="quarter" idx="4"/>
          </p:nvPr>
        </p:nvSpPr>
        <p:spPr>
          <a:xfrm>
            <a:off x="7272814" y="6457847"/>
            <a:ext cx="643449" cy="400153"/>
          </a:xfrm>
          <a:prstGeom prst="rect">
            <a:avLst/>
          </a:prstGeom>
        </p:spPr>
        <p:txBody>
          <a:bodyPr vert="horz" lIns="91440" tIns="45720" rIns="91440" bIns="45720" rtlCol="0" anchor="ctr">
            <a:noAutofit/>
          </a:bodyPr>
          <a:lstStyle>
            <a:lvl1pPr algn="r">
              <a:defRPr sz="900">
                <a:solidFill>
                  <a:schemeClr val="bg1">
                    <a:lumMod val="50000"/>
                  </a:schemeClr>
                </a:solidFill>
              </a:defRPr>
            </a:lvl1pPr>
          </a:lstStyle>
          <a:p>
            <a:fld id="{1915E00B-5913-49AE-8A9C-78D6EE50689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79" r:id="rId1"/>
    <p:sldLayoutId id="2147483981" r:id="rId2"/>
    <p:sldLayoutId id="2147483983" r:id="rId3"/>
    <p:sldLayoutId id="2147484001" r:id="rId4"/>
    <p:sldLayoutId id="2147483985" r:id="rId5"/>
    <p:sldLayoutId id="2147483987" r:id="rId6"/>
    <p:sldLayoutId id="2147483986" r:id="rId7"/>
    <p:sldLayoutId id="2147483988" r:id="rId8"/>
    <p:sldLayoutId id="2147483997" r:id="rId9"/>
    <p:sldLayoutId id="2147483998" r:id="rId10"/>
    <p:sldLayoutId id="2147483999" r:id="rId11"/>
    <p:sldLayoutId id="2147484000" r:id="rId12"/>
    <p:sldLayoutId id="2147483989" r:id="rId13"/>
    <p:sldLayoutId id="2147483991" r:id="rId14"/>
    <p:sldLayoutId id="2147483993" r:id="rId15"/>
    <p:sldLayoutId id="2147483994" r:id="rId16"/>
    <p:sldLayoutId id="2147483995" r:id="rId17"/>
    <p:sldLayoutId id="2147483996" r:id="rId18"/>
    <p:sldLayoutId id="2147483984" r:id="rId19"/>
    <p:sldLayoutId id="2147484022" r:id="rId20"/>
    <p:sldLayoutId id="2147484024" r:id="rId21"/>
    <p:sldLayoutId id="2147484025" r:id="rId22"/>
    <p:sldLayoutId id="2147484026" r:id="rId23"/>
    <p:sldLayoutId id="2147484027" r:id="rId24"/>
  </p:sldLayoutIdLst>
  <p:hf hdr="0"/>
  <p:txStyles>
    <p:titleStyle>
      <a:lvl1pPr algn="l" defTabSz="914400" rtl="0" eaLnBrk="1" latinLnBrk="0" hangingPunct="1">
        <a:spcBef>
          <a:spcPct val="0"/>
        </a:spcBef>
        <a:buNone/>
        <a:defRPr sz="2800" b="1" i="0" u="none" kern="1200" cap="none" spc="0" baseline="0">
          <a:ln>
            <a:noFill/>
          </a:ln>
          <a:solidFill>
            <a:schemeClr val="tx1"/>
          </a:solidFill>
          <a:effectLst/>
          <a:latin typeface="+mj-lt"/>
          <a:ea typeface="+mj-ea"/>
          <a:cs typeface="+mj-cs"/>
        </a:defRPr>
      </a:lvl1pPr>
    </p:titleStyle>
    <p:bodyStyle>
      <a:lvl1pPr marL="230188" indent="-230188" algn="l" defTabSz="914400" rtl="0" eaLnBrk="1" latinLnBrk="0" hangingPunct="1">
        <a:spcBef>
          <a:spcPct val="20000"/>
        </a:spcBef>
        <a:buClr>
          <a:schemeClr val="bg1">
            <a:lumMod val="50000"/>
          </a:schemeClr>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bg1">
            <a:lumMod val="50000"/>
          </a:schemeClr>
        </a:buClr>
        <a:buFont typeface="Arial" pitchFamily="34" charset="0"/>
        <a:buChar char="•"/>
        <a:defRPr sz="2000" b="0" i="0" u="none" kern="1200">
          <a:solidFill>
            <a:schemeClr val="tx1"/>
          </a:solidFill>
          <a:latin typeface="+mn-lt"/>
          <a:ea typeface="+mn-ea"/>
          <a:cs typeface="+mn-cs"/>
        </a:defRPr>
      </a:lvl2pPr>
      <a:lvl3pPr marL="1005840" indent="-228600" algn="l" defTabSz="914400" rtl="0" eaLnBrk="1" latinLnBrk="0" hangingPunct="1">
        <a:spcBef>
          <a:spcPct val="20000"/>
        </a:spcBef>
        <a:buClr>
          <a:schemeClr val="bg1">
            <a:lumMod val="50000"/>
          </a:schemeClr>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bg1">
            <a:lumMod val="50000"/>
          </a:schemeClr>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7pPr>
      <a:lvl8pPr marL="210312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8pPr>
      <a:lvl9pPr marL="228600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1" name="Title Placeholder 10"/>
          <p:cNvSpPr>
            <a:spLocks noGrp="1"/>
          </p:cNvSpPr>
          <p:nvPr>
            <p:ph type="title"/>
          </p:nvPr>
        </p:nvSpPr>
        <p:spPr>
          <a:xfrm>
            <a:off x="457200" y="411693"/>
            <a:ext cx="8229600" cy="478483"/>
          </a:xfrm>
          <a:prstGeom prst="rect">
            <a:avLst/>
          </a:prstGeom>
        </p:spPr>
        <p:txBody>
          <a:bodyPr vert="horz" lIns="91440" tIns="45720" rIns="91440" bIns="45720" rtlCol="0" anchor="t">
            <a:noAutofit/>
          </a:bodyPr>
          <a:lstStyle/>
          <a:p>
            <a:r>
              <a:rPr lang="en-US" dirty="0"/>
              <a:t>Click to edit Master title style</a:t>
            </a:r>
          </a:p>
        </p:txBody>
      </p:sp>
      <p:sp>
        <p:nvSpPr>
          <p:cNvPr id="16" name="Text Placeholder 15"/>
          <p:cNvSpPr>
            <a:spLocks noGrp="1"/>
          </p:cNvSpPr>
          <p:nvPr>
            <p:ph type="body" idx="1"/>
          </p:nvPr>
        </p:nvSpPr>
        <p:spPr>
          <a:xfrm>
            <a:off x="457200" y="1600200"/>
            <a:ext cx="82296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p:cNvSpPr>
            <a:spLocks noGrp="1"/>
          </p:cNvSpPr>
          <p:nvPr>
            <p:ph type="dt" sz="half" idx="2"/>
          </p:nvPr>
        </p:nvSpPr>
        <p:spPr>
          <a:xfrm>
            <a:off x="457200" y="6457847"/>
            <a:ext cx="1413986" cy="400153"/>
          </a:xfrm>
          <a:prstGeom prst="rect">
            <a:avLst/>
          </a:prstGeom>
        </p:spPr>
        <p:txBody>
          <a:bodyPr vert="horz" lIns="91440" tIns="45720" rIns="91440" bIns="45720" rtlCol="0" anchor="ctr">
            <a:noAutofit/>
          </a:bodyPr>
          <a:lstStyle>
            <a:lvl1pPr algn="l">
              <a:defRPr sz="900">
                <a:solidFill>
                  <a:schemeClr val="bg1">
                    <a:lumMod val="50000"/>
                  </a:schemeClr>
                </a:solidFill>
              </a:defRPr>
            </a:lvl1pPr>
          </a:lstStyle>
          <a:p>
            <a:fld id="{7F87636F-8299-1049-825A-FA84025FF17D}" type="datetime1">
              <a:rPr lang="en-US" smtClean="0"/>
              <a:t>3/25/26</a:t>
            </a:fld>
            <a:endParaRPr lang="en-US" dirty="0"/>
          </a:p>
        </p:txBody>
      </p:sp>
      <p:sp>
        <p:nvSpPr>
          <p:cNvPr id="12" name="Footer Placeholder 1"/>
          <p:cNvSpPr>
            <a:spLocks noGrp="1"/>
          </p:cNvSpPr>
          <p:nvPr>
            <p:ph type="ftr" sz="quarter" idx="3"/>
          </p:nvPr>
        </p:nvSpPr>
        <p:spPr>
          <a:xfrm>
            <a:off x="1871186" y="6457847"/>
            <a:ext cx="5401628" cy="400153"/>
          </a:xfrm>
          <a:prstGeom prst="rect">
            <a:avLst/>
          </a:prstGeom>
        </p:spPr>
        <p:txBody>
          <a:bodyPr vert="horz" lIns="91440" tIns="45720" rIns="91440" bIns="45720" rtlCol="0" anchor="ctr">
            <a:noAutofit/>
          </a:bodyPr>
          <a:lstStyle>
            <a:lvl1pPr algn="ctr">
              <a:defRPr sz="900">
                <a:solidFill>
                  <a:schemeClr val="accent4"/>
                </a:solidFill>
              </a:defRPr>
            </a:lvl1pPr>
          </a:lstStyle>
          <a:p>
            <a:r>
              <a:rPr lang="en-US"/>
              <a:t>Does Not Contain CUI.</a:t>
            </a:r>
            <a:endParaRPr lang="en-US" dirty="0"/>
          </a:p>
        </p:txBody>
      </p:sp>
      <p:sp>
        <p:nvSpPr>
          <p:cNvPr id="13" name="Slide Number Placeholder 4"/>
          <p:cNvSpPr>
            <a:spLocks noGrp="1"/>
          </p:cNvSpPr>
          <p:nvPr>
            <p:ph type="sldNum" sz="quarter" idx="4"/>
          </p:nvPr>
        </p:nvSpPr>
        <p:spPr>
          <a:xfrm>
            <a:off x="7272814" y="6457847"/>
            <a:ext cx="643449" cy="400153"/>
          </a:xfrm>
          <a:prstGeom prst="rect">
            <a:avLst/>
          </a:prstGeom>
        </p:spPr>
        <p:txBody>
          <a:bodyPr vert="horz" lIns="91440" tIns="45720" rIns="91440" bIns="45720" rtlCol="0" anchor="ctr">
            <a:noAutofit/>
          </a:bodyPr>
          <a:lstStyle>
            <a:lvl1pPr algn="r">
              <a:defRPr sz="900">
                <a:solidFill>
                  <a:schemeClr val="bg1">
                    <a:lumMod val="50000"/>
                  </a:schemeClr>
                </a:solidFill>
              </a:defRPr>
            </a:lvl1pPr>
          </a:lstStyle>
          <a:p>
            <a:fld id="{81D14A5A-7CF0-4E01-9E4E-50F5A87419FC}" type="slidenum">
              <a:rPr lang="en-US" smtClean="0"/>
              <a:pPr/>
              <a:t>‹#›</a:t>
            </a:fld>
            <a:endParaRPr lang="en-US" dirty="0"/>
          </a:p>
        </p:txBody>
      </p:sp>
    </p:spTree>
    <p:extLst>
      <p:ext uri="{BB962C8B-B14F-4D97-AF65-F5344CB8AC3E}">
        <p14:creationId xmlns:p14="http://schemas.microsoft.com/office/powerpoint/2010/main" val="1946459242"/>
      </p:ext>
    </p:extLst>
  </p:cSld>
  <p:clrMap bg1="lt1" tx1="dk1" bg2="lt2" tx2="dk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4008" r:id="rId6"/>
    <p:sldLayoutId id="2147484009" r:id="rId7"/>
    <p:sldLayoutId id="2147484010" r:id="rId8"/>
    <p:sldLayoutId id="2147484011" r:id="rId9"/>
    <p:sldLayoutId id="2147484012" r:id="rId10"/>
    <p:sldLayoutId id="2147484013" r:id="rId11"/>
    <p:sldLayoutId id="2147484014" r:id="rId12"/>
    <p:sldLayoutId id="2147484015" r:id="rId13"/>
    <p:sldLayoutId id="2147484016" r:id="rId14"/>
    <p:sldLayoutId id="2147484017" r:id="rId15"/>
    <p:sldLayoutId id="2147484018" r:id="rId16"/>
    <p:sldLayoutId id="2147484019" r:id="rId17"/>
    <p:sldLayoutId id="2147484020" r:id="rId18"/>
    <p:sldLayoutId id="2147484021" r:id="rId19"/>
    <p:sldLayoutId id="2147484023" r:id="rId20"/>
  </p:sldLayoutIdLst>
  <p:hf hdr="0"/>
  <p:txStyles>
    <p:titleStyle>
      <a:lvl1pPr algn="l" defTabSz="914400" rtl="0" eaLnBrk="1" latinLnBrk="0" hangingPunct="1">
        <a:spcBef>
          <a:spcPct val="0"/>
        </a:spcBef>
        <a:buNone/>
        <a:defRPr sz="2800" b="1" kern="1200" cap="none" spc="0" baseline="0">
          <a:ln>
            <a:noFill/>
          </a:ln>
          <a:solidFill>
            <a:srgbClr val="FFFFFF"/>
          </a:solidFill>
          <a:effectLst/>
          <a:latin typeface="+mj-lt"/>
          <a:ea typeface="+mj-ea"/>
          <a:cs typeface="+mj-cs"/>
        </a:defRPr>
      </a:lvl1pPr>
    </p:titleStyle>
    <p:bodyStyle>
      <a:lvl1pPr marL="230188" indent="-230188" algn="l" defTabSz="914400" rtl="0" eaLnBrk="1" latinLnBrk="0" hangingPunct="1">
        <a:spcBef>
          <a:spcPct val="20000"/>
        </a:spcBef>
        <a:buClr>
          <a:schemeClr val="bg1">
            <a:lumMod val="50000"/>
          </a:schemeClr>
        </a:buClr>
        <a:buFont typeface="Arial" pitchFamily="34" charset="0"/>
        <a:buChar char="•"/>
        <a:defRPr sz="2200" kern="1200">
          <a:solidFill>
            <a:srgbClr val="FFFFFF"/>
          </a:solidFill>
          <a:latin typeface="+mn-lt"/>
          <a:ea typeface="+mn-ea"/>
          <a:cs typeface="+mn-cs"/>
        </a:defRPr>
      </a:lvl1pPr>
      <a:lvl2pPr marL="640080" indent="-228600" algn="l" defTabSz="914400" rtl="0" eaLnBrk="1" latinLnBrk="0" hangingPunct="1">
        <a:spcBef>
          <a:spcPct val="20000"/>
        </a:spcBef>
        <a:buClr>
          <a:schemeClr val="bg1">
            <a:lumMod val="50000"/>
          </a:schemeClr>
        </a:buClr>
        <a:buFont typeface="Arial" pitchFamily="34" charset="0"/>
        <a:buChar char="•"/>
        <a:defRPr sz="2000" kern="1200">
          <a:solidFill>
            <a:srgbClr val="FFFFFF"/>
          </a:solidFill>
          <a:latin typeface="+mn-lt"/>
          <a:ea typeface="+mn-ea"/>
          <a:cs typeface="+mn-cs"/>
        </a:defRPr>
      </a:lvl2pPr>
      <a:lvl3pPr marL="1005840" indent="-228600" algn="l" defTabSz="914400" rtl="0" eaLnBrk="1" latinLnBrk="0" hangingPunct="1">
        <a:spcBef>
          <a:spcPct val="20000"/>
        </a:spcBef>
        <a:buClr>
          <a:schemeClr val="bg1">
            <a:lumMod val="50000"/>
          </a:schemeClr>
        </a:buClr>
        <a:buFont typeface="Arial" pitchFamily="34" charset="0"/>
        <a:buChar char="•"/>
        <a:defRPr sz="1800" kern="1200">
          <a:solidFill>
            <a:srgbClr val="FFFFFF"/>
          </a:solidFill>
          <a:latin typeface="+mn-lt"/>
          <a:ea typeface="+mn-ea"/>
          <a:cs typeface="+mn-cs"/>
        </a:defRPr>
      </a:lvl3pPr>
      <a:lvl4pPr marL="1280160" indent="-228600" algn="l" defTabSz="914400" rtl="0" eaLnBrk="1" latinLnBrk="0" hangingPunct="1">
        <a:spcBef>
          <a:spcPct val="20000"/>
        </a:spcBef>
        <a:buClr>
          <a:schemeClr val="bg1">
            <a:lumMod val="50000"/>
          </a:schemeClr>
        </a:buClr>
        <a:buFont typeface="Arial" pitchFamily="34" charset="0"/>
        <a:buChar char="•"/>
        <a:defRPr sz="1600" kern="1200">
          <a:solidFill>
            <a:srgbClr val="FFFFFF"/>
          </a:solidFill>
          <a:latin typeface="+mn-lt"/>
          <a:ea typeface="+mn-ea"/>
          <a:cs typeface="+mn-cs"/>
        </a:defRPr>
      </a:lvl4pPr>
      <a:lvl5pPr marL="1554480" indent="-228600" algn="l" defTabSz="914400" rtl="0" eaLnBrk="1" latinLnBrk="0" hangingPunct="1">
        <a:spcBef>
          <a:spcPct val="20000"/>
        </a:spcBef>
        <a:buClr>
          <a:schemeClr val="bg1">
            <a:lumMod val="50000"/>
          </a:schemeClr>
        </a:buClr>
        <a:buFont typeface="Arial" pitchFamily="34" charset="0"/>
        <a:buChar char="•"/>
        <a:defRPr sz="1400" kern="1200" baseline="0">
          <a:solidFill>
            <a:srgbClr val="FFFFFF"/>
          </a:solidFill>
          <a:latin typeface="+mn-lt"/>
          <a:ea typeface="+mn-ea"/>
          <a:cs typeface="+mn-cs"/>
        </a:defRPr>
      </a:lvl5pPr>
      <a:lvl6pPr marL="173736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7pPr>
      <a:lvl8pPr marL="210312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8pPr>
      <a:lvl9pPr marL="2286000" indent="-182880" algn="l" defTabSz="914400" rtl="0" eaLnBrk="1" latinLnBrk="0" hangingPunct="1">
        <a:spcBef>
          <a:spcPct val="20000"/>
        </a:spcBef>
        <a:buClr>
          <a:schemeClr val="bg1">
            <a:lumMod val="50000"/>
          </a:schemeClr>
        </a:buClr>
        <a:buFont typeface="Arial" pitchFamily="34" charset="0"/>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8.png"/><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1.xml"/><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8.png"/><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2.png"/><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1.xml"/><Relationship Id="rId5" Type="http://schemas.openxmlformats.org/officeDocument/2006/relationships/image" Target="../media/image56.emf"/><Relationship Id="rId4" Type="http://schemas.openxmlformats.org/officeDocument/2006/relationships/image" Target="../media/image55.emf"/></Relationships>
</file>

<file path=ppt/slides/_rels/slide59.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4.emf"/><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8.emf"/><Relationship Id="rId1" Type="http://schemas.openxmlformats.org/officeDocument/2006/relationships/slideLayout" Target="../slideLayouts/slideLayout21.xml"/><Relationship Id="rId4" Type="http://schemas.openxmlformats.org/officeDocument/2006/relationships/image" Target="../media/image59.emf"/></Relationships>
</file>

<file path=ppt/slides/_rels/slide61.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4.emf"/><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61.emf"/><Relationship Id="rId1" Type="http://schemas.openxmlformats.org/officeDocument/2006/relationships/slideLayout" Target="../slideLayouts/slideLayout21.xml"/><Relationship Id="rId4" Type="http://schemas.openxmlformats.org/officeDocument/2006/relationships/image" Target="../media/image62.emf"/></Relationships>
</file>

<file path=ppt/slides/_rels/slide63.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21.xml"/><Relationship Id="rId5" Type="http://schemas.openxmlformats.org/officeDocument/2006/relationships/image" Target="../media/image68.emf"/><Relationship Id="rId4" Type="http://schemas.openxmlformats.org/officeDocument/2006/relationships/image" Target="../media/image67.emf"/></Relationships>
</file>

<file path=ppt/slides/_rels/slide65.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slideLayout" Target="../slideLayouts/slideLayout21.xml"/><Relationship Id="rId6" Type="http://schemas.openxmlformats.org/officeDocument/2006/relationships/image" Target="../media/image73.emf"/><Relationship Id="rId5" Type="http://schemas.openxmlformats.org/officeDocument/2006/relationships/image" Target="../media/image72.emf"/><Relationship Id="rId4" Type="http://schemas.openxmlformats.org/officeDocument/2006/relationships/image" Target="../media/image71.emf"/></Relationships>
</file>

<file path=ppt/slides/_rels/slide66.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80.emf"/><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slideLayout" Target="../slideLayouts/slideLayout22.xml"/></Relationships>
</file>

<file path=ppt/slides/_rels/slide7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2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77.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3.xml"/></Relationships>
</file>

<file path=ppt/slides/_rels/slide7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3.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7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3.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80.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99.png"/><Relationship Id="rId1" Type="http://schemas.openxmlformats.org/officeDocument/2006/relationships/slideLayout" Target="../slideLayouts/slideLayout23.xml"/><Relationship Id="rId5" Type="http://schemas.openxmlformats.org/officeDocument/2006/relationships/image" Target="../media/image105.emf"/><Relationship Id="rId4" Type="http://schemas.openxmlformats.org/officeDocument/2006/relationships/image" Target="../media/image104.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1.xml"/></Relationships>
</file>

<file path=ppt/slides/_rels/slide8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1.xml"/></Relationships>
</file>

<file path=ppt/slides/_rels/slide8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1.xml"/></Relationships>
</file>

<file path=ppt/slides/_rels/slide8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1.xml"/></Relationships>
</file>

<file path=ppt/slides/_rels/slide8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1.xml"/></Relationships>
</file>

<file path=ppt/slides/_rels/slide8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1.xml"/></Relationships>
</file>

<file path=ppt/slides/_rels/slide8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1.xml"/></Relationships>
</file>

<file path=ppt/slides/_rels/slide8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1.xml"/><Relationship Id="rId4" Type="http://schemas.openxmlformats.org/officeDocument/2006/relationships/image" Target="../media/image115.png"/></Relationships>
</file>

<file path=ppt/slides/_rels/slide90.xml.rels><?xml version="1.0" encoding="UTF-8" standalone="yes"?>
<Relationships xmlns="http://schemas.openxmlformats.org/package/2006/relationships"><Relationship Id="rId8" Type="http://schemas.openxmlformats.org/officeDocument/2006/relationships/image" Target="../media/image122.emf"/><Relationship Id="rId3" Type="http://schemas.openxmlformats.org/officeDocument/2006/relationships/image" Target="../media/image117.emf"/><Relationship Id="rId7" Type="http://schemas.openxmlformats.org/officeDocument/2006/relationships/image" Target="../media/image121.emf"/><Relationship Id="rId2" Type="http://schemas.openxmlformats.org/officeDocument/2006/relationships/image" Target="../media/image116.emf"/><Relationship Id="rId1" Type="http://schemas.openxmlformats.org/officeDocument/2006/relationships/slideLayout" Target="../slideLayouts/slideLayout21.xml"/><Relationship Id="rId6" Type="http://schemas.openxmlformats.org/officeDocument/2006/relationships/image" Target="../media/image120.emf"/><Relationship Id="rId5" Type="http://schemas.openxmlformats.org/officeDocument/2006/relationships/image" Target="../media/image119.emf"/><Relationship Id="rId10" Type="http://schemas.openxmlformats.org/officeDocument/2006/relationships/image" Target="../media/image124.emf"/><Relationship Id="rId4" Type="http://schemas.openxmlformats.org/officeDocument/2006/relationships/image" Target="../media/image118.emf"/><Relationship Id="rId9" Type="http://schemas.openxmlformats.org/officeDocument/2006/relationships/image" Target="../media/image123.emf"/></Relationships>
</file>

<file path=ppt/slides/_rels/slide91.xml.rels><?xml version="1.0" encoding="UTF-8" standalone="yes"?>
<Relationships xmlns="http://schemas.openxmlformats.org/package/2006/relationships"><Relationship Id="rId3" Type="http://schemas.openxmlformats.org/officeDocument/2006/relationships/image" Target="../media/image126.emf"/><Relationship Id="rId2" Type="http://schemas.openxmlformats.org/officeDocument/2006/relationships/image" Target="../media/image125.png"/><Relationship Id="rId1" Type="http://schemas.openxmlformats.org/officeDocument/2006/relationships/slideLayout" Target="../slideLayouts/slideLayout21.xml"/><Relationship Id="rId5" Type="http://schemas.openxmlformats.org/officeDocument/2006/relationships/image" Target="../media/image128.emf"/><Relationship Id="rId4" Type="http://schemas.openxmlformats.org/officeDocument/2006/relationships/image" Target="../media/image127.emf"/></Relationships>
</file>

<file path=ppt/slides/_rels/slide92.xml.rels><?xml version="1.0" encoding="UTF-8" standalone="yes"?>
<Relationships xmlns="http://schemas.openxmlformats.org/package/2006/relationships"><Relationship Id="rId3" Type="http://schemas.openxmlformats.org/officeDocument/2006/relationships/image" Target="../media/image130.emf"/><Relationship Id="rId7" Type="http://schemas.openxmlformats.org/officeDocument/2006/relationships/image" Target="../media/image134.emf"/><Relationship Id="rId2" Type="http://schemas.openxmlformats.org/officeDocument/2006/relationships/image" Target="../media/image129.emf"/><Relationship Id="rId1" Type="http://schemas.openxmlformats.org/officeDocument/2006/relationships/slideLayout" Target="../slideLayouts/slideLayout21.xml"/><Relationship Id="rId6" Type="http://schemas.openxmlformats.org/officeDocument/2006/relationships/image" Target="../media/image133.emf"/><Relationship Id="rId5" Type="http://schemas.openxmlformats.org/officeDocument/2006/relationships/image" Target="../media/image132.emf"/><Relationship Id="rId4" Type="http://schemas.openxmlformats.org/officeDocument/2006/relationships/image" Target="../media/image131.emf"/></Relationships>
</file>

<file path=ppt/slides/_rels/slide93.xml.rels><?xml version="1.0" encoding="UTF-8" standalone="yes"?>
<Relationships xmlns="http://schemas.openxmlformats.org/package/2006/relationships"><Relationship Id="rId2" Type="http://schemas.openxmlformats.org/officeDocument/2006/relationships/image" Target="../media/image135.emf"/><Relationship Id="rId1" Type="http://schemas.openxmlformats.org/officeDocument/2006/relationships/slideLayout" Target="../slideLayouts/slideLayout21.xml"/></Relationships>
</file>

<file path=ppt/slides/_rels/slide9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1.xml"/></Relationships>
</file>

<file path=ppt/slides/_rels/slide95.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1.xml"/></Relationships>
</file>

<file path=ppt/slides/_rels/slide9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1.xml"/></Relationships>
</file>

<file path=ppt/slides/_rels/slide97.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1.xml"/></Relationships>
</file>

<file path=ppt/slides/_rels/slide9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1.xml"/></Relationships>
</file>

<file path=ppt/slides/_rels/slide9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1.xml"/></Relationships>
</file>

<file path=ppt/slides/_rels/slide100.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Photo-2015-03-12-085758 - D2015_0302_D370_CMSalt2.jpg"/>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40317" b="6483"/>
          <a:stretch/>
        </p:blipFill>
        <p:spPr/>
      </p:pic>
      <p:sp>
        <p:nvSpPr>
          <p:cNvPr id="2" name="Text Placeholder 1"/>
          <p:cNvSpPr>
            <a:spLocks noGrp="1"/>
          </p:cNvSpPr>
          <p:nvPr>
            <p:ph type="body" sz="quarter" idx="3"/>
          </p:nvPr>
        </p:nvSpPr>
        <p:spPr>
          <a:xfrm>
            <a:off x="369198" y="5101432"/>
            <a:ext cx="8436135" cy="430183"/>
          </a:xfrm>
        </p:spPr>
        <p:txBody>
          <a:bodyPr/>
          <a:lstStyle/>
          <a:p>
            <a:r>
              <a:rPr lang="en-US" dirty="0"/>
              <a:t>Changing </a:t>
            </a:r>
            <a:r>
              <a:rPr lang="en-US" dirty="0" err="1"/>
              <a:t>PolSARproSim</a:t>
            </a:r>
            <a:endParaRPr lang="en-US" dirty="0"/>
          </a:p>
        </p:txBody>
      </p:sp>
      <p:sp>
        <p:nvSpPr>
          <p:cNvPr id="4" name="Text Placeholder 3"/>
          <p:cNvSpPr>
            <a:spLocks noGrp="1"/>
          </p:cNvSpPr>
          <p:nvPr>
            <p:ph type="body" sz="quarter" idx="17"/>
          </p:nvPr>
        </p:nvSpPr>
        <p:spPr>
          <a:xfrm>
            <a:off x="369198" y="4810797"/>
            <a:ext cx="8436135" cy="290635"/>
          </a:xfrm>
        </p:spPr>
        <p:txBody>
          <a:bodyPr/>
          <a:lstStyle/>
          <a:p>
            <a:r>
              <a:rPr lang="en-US" dirty="0" err="1"/>
              <a:t>PolSARproSim</a:t>
            </a:r>
            <a:r>
              <a:rPr lang="en-US" dirty="0"/>
              <a:t>+</a:t>
            </a:r>
          </a:p>
        </p:txBody>
      </p:sp>
      <p:sp>
        <p:nvSpPr>
          <p:cNvPr id="6" name="Text Placeholder 5"/>
          <p:cNvSpPr>
            <a:spLocks noGrp="1"/>
          </p:cNvSpPr>
          <p:nvPr>
            <p:ph type="body" sz="quarter" idx="18"/>
          </p:nvPr>
        </p:nvSpPr>
        <p:spPr>
          <a:xfrm>
            <a:off x="369198" y="5661835"/>
            <a:ext cx="4964801" cy="665791"/>
          </a:xfrm>
        </p:spPr>
        <p:txBody>
          <a:bodyPr/>
          <a:lstStyle/>
          <a:p>
            <a:r>
              <a:rPr lang="en-US" b="1" dirty="0"/>
              <a:t>Razi Ahmed</a:t>
            </a:r>
          </a:p>
          <a:p>
            <a:r>
              <a:rPr lang="en-US" dirty="0"/>
              <a:t>Jet Propulsion Laboratory, California Institute of Technology</a:t>
            </a:r>
          </a:p>
        </p:txBody>
      </p:sp>
      <p:sp>
        <p:nvSpPr>
          <p:cNvPr id="3" name="TextBox 2"/>
          <p:cNvSpPr txBox="1"/>
          <p:nvPr/>
        </p:nvSpPr>
        <p:spPr>
          <a:xfrm>
            <a:off x="1336842" y="-775368"/>
            <a:ext cx="914400" cy="914400"/>
          </a:xfrm>
          <a:prstGeom prst="rect">
            <a:avLst/>
          </a:prstGeom>
        </p:spPr>
        <p:txBody>
          <a:bodyPr vert="horz" wrap="none" lIns="91440" tIns="45720" rIns="91440" bIns="45720" rtlCol="0">
            <a:noAutofit/>
          </a:bodyPr>
          <a:lstStyle/>
          <a:p>
            <a:endParaRPr lang="en-US" dirty="0"/>
          </a:p>
        </p:txBody>
      </p:sp>
      <p:sp>
        <p:nvSpPr>
          <p:cNvPr id="5" name="Footer Placeholder 4"/>
          <p:cNvSpPr>
            <a:spLocks noGrp="1"/>
          </p:cNvSpPr>
          <p:nvPr>
            <p:ph type="ftr" sz="quarter" idx="21"/>
          </p:nvPr>
        </p:nvSpPr>
        <p:spPr/>
        <p:txBody>
          <a:bodyPr/>
          <a:lstStyle/>
          <a:p>
            <a:r>
              <a:rPr lang="en-US"/>
              <a:t>Does Not Contain CUI.</a:t>
            </a:r>
            <a:endParaRPr lang="en-US" dirty="0"/>
          </a:p>
        </p:txBody>
      </p:sp>
    </p:spTree>
    <p:extLst>
      <p:ext uri="{BB962C8B-B14F-4D97-AF65-F5344CB8AC3E}">
        <p14:creationId xmlns:p14="http://schemas.microsoft.com/office/powerpoint/2010/main" val="2138060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Current distribution of the software</a:t>
            </a:r>
          </a:p>
        </p:txBody>
      </p:sp>
      <p:sp>
        <p:nvSpPr>
          <p:cNvPr id="3" name="Content Placeholder 2"/>
          <p:cNvSpPr>
            <a:spLocks noGrp="1"/>
          </p:cNvSpPr>
          <p:nvPr>
            <p:ph idx="1"/>
          </p:nvPr>
        </p:nvSpPr>
        <p:spPr>
          <a:xfrm>
            <a:off x="463550" y="1600200"/>
            <a:ext cx="8229600" cy="4525963"/>
          </a:xfrm>
        </p:spPr>
        <p:txBody>
          <a:bodyPr>
            <a:normAutofit fontScale="77500" lnSpcReduction="20000"/>
          </a:bodyPr>
          <a:lstStyle/>
          <a:p>
            <a:r>
              <a:rPr lang="en-US" sz="2600" dirty="0"/>
              <a:t>All trees belong to one species (specified as a code in the parameter file)</a:t>
            </a:r>
          </a:p>
          <a:p>
            <a:r>
              <a:rPr lang="en-US" sz="2600" dirty="0"/>
              <a:t>Tree locations and the total number are calculated based on some predefined variables</a:t>
            </a:r>
          </a:p>
          <a:p>
            <a:r>
              <a:rPr lang="en-US" sz="2600" dirty="0"/>
              <a:t>Only one tree height is specified (input from the parameter file)</a:t>
            </a:r>
          </a:p>
          <a:p>
            <a:r>
              <a:rPr lang="en-US" sz="2600" dirty="0"/>
              <a:t>All other tree parameters such as stem diameter, canopy parameters are all </a:t>
            </a:r>
            <a:r>
              <a:rPr lang="en-US" sz="2600" dirty="0" err="1"/>
              <a:t>allometrically</a:t>
            </a:r>
            <a:r>
              <a:rPr lang="en-US" sz="2600" dirty="0"/>
              <a:t> calculated based on height.</a:t>
            </a:r>
          </a:p>
          <a:p>
            <a:r>
              <a:rPr lang="en-US" sz="2600" dirty="0"/>
              <a:t>Only simulates two tracks</a:t>
            </a:r>
          </a:p>
          <a:p>
            <a:r>
              <a:rPr lang="en-US" sz="2600" dirty="0"/>
              <a:t>Does not simulate temporal decorrelation</a:t>
            </a:r>
          </a:p>
          <a:p>
            <a:r>
              <a:rPr lang="en-US" sz="2600" dirty="0"/>
              <a:t>Implements a Gaussian Point Spread function </a:t>
            </a:r>
            <a:endParaRPr lang="en-US" dirty="0"/>
          </a:p>
          <a:p>
            <a:r>
              <a:rPr lang="en-US" sz="2600" dirty="0"/>
              <a:t>Is missing output layers such as Max tree height, look vectors etc.</a:t>
            </a:r>
          </a:p>
          <a:p>
            <a:r>
              <a:rPr lang="en-US" sz="2600" dirty="0"/>
              <a:t>Runs as a single process.</a:t>
            </a:r>
          </a:p>
          <a:p>
            <a:r>
              <a:rPr lang="en-US" sz="2600" dirty="0"/>
              <a:t>Cannot simulate a scene with arbitrary topography</a:t>
            </a:r>
          </a:p>
          <a:p>
            <a:r>
              <a:rPr lang="en-US" sz="2600" dirty="0"/>
              <a:t>Doesn’t include thermal noise effects</a:t>
            </a:r>
          </a:p>
        </p:txBody>
      </p:sp>
      <p:sp>
        <p:nvSpPr>
          <p:cNvPr id="4" name="Date Placeholder 3">
            <a:extLst>
              <a:ext uri="{FF2B5EF4-FFF2-40B4-BE49-F238E27FC236}">
                <a16:creationId xmlns:a16="http://schemas.microsoft.com/office/drawing/2014/main" id="{941C7F82-9DD6-4C4C-6D8D-3F5AB53F9284}"/>
              </a:ext>
            </a:extLst>
          </p:cNvPr>
          <p:cNvSpPr>
            <a:spLocks noGrp="1"/>
          </p:cNvSpPr>
          <p:nvPr>
            <p:ph type="dt" sz="half" idx="10"/>
          </p:nvPr>
        </p:nvSpPr>
        <p:spPr/>
        <p:txBody>
          <a:bodyPr/>
          <a:lstStyle/>
          <a:p>
            <a:fld id="{26A7957B-BC81-C142-909B-37B438D41993}" type="datetime1">
              <a:rPr lang="en-US" smtClean="0"/>
              <a:t>3/25/26</a:t>
            </a:fld>
            <a:endParaRPr lang="en-US"/>
          </a:p>
        </p:txBody>
      </p:sp>
      <p:sp>
        <p:nvSpPr>
          <p:cNvPr id="5" name="Footer Placeholder 4">
            <a:extLst>
              <a:ext uri="{FF2B5EF4-FFF2-40B4-BE49-F238E27FC236}">
                <a16:creationId xmlns:a16="http://schemas.microsoft.com/office/drawing/2014/main" id="{6CC465A5-7CA2-DD3A-DEBD-000F0D8C6AF2}"/>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98BBB8FF-3794-B12C-41EB-65FBDA86F194}"/>
              </a:ext>
            </a:extLst>
          </p:cNvPr>
          <p:cNvSpPr>
            <a:spLocks noGrp="1"/>
          </p:cNvSpPr>
          <p:nvPr>
            <p:ph type="sldNum" sz="quarter" idx="12"/>
          </p:nvPr>
        </p:nvSpPr>
        <p:spPr/>
        <p:txBody>
          <a:bodyPr/>
          <a:lstStyle/>
          <a:p>
            <a:fld id="{B4CE5C4C-399A-B444-9B2A-945D2610250E}" type="slidenum">
              <a:rPr lang="en-US" smtClean="0"/>
              <a:t>2</a:t>
            </a:fld>
            <a:endParaRPr lang="en-US"/>
          </a:p>
        </p:txBody>
      </p:sp>
    </p:spTree>
    <p:extLst>
      <p:ext uri="{BB962C8B-B14F-4D97-AF65-F5344CB8AC3E}">
        <p14:creationId xmlns:p14="http://schemas.microsoft.com/office/powerpoint/2010/main" val="2592415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Proposed Changes</a:t>
            </a:r>
          </a:p>
        </p:txBody>
      </p:sp>
      <p:sp>
        <p:nvSpPr>
          <p:cNvPr id="3" name="Content Placeholder 2"/>
          <p:cNvSpPr>
            <a:spLocks noGrp="1"/>
          </p:cNvSpPr>
          <p:nvPr>
            <p:ph idx="1"/>
          </p:nvPr>
        </p:nvSpPr>
        <p:spPr>
          <a:xfrm>
            <a:off x="457200" y="1411030"/>
            <a:ext cx="8229600" cy="4525963"/>
          </a:xfrm>
        </p:spPr>
        <p:txBody>
          <a:bodyPr>
            <a:normAutofit/>
          </a:bodyPr>
          <a:lstStyle/>
          <a:p>
            <a:pPr marL="0" indent="0">
              <a:buNone/>
            </a:pPr>
            <a:endParaRPr lang="en-US" sz="2000" dirty="0"/>
          </a:p>
          <a:p>
            <a:r>
              <a:rPr lang="en-US" sz="2000" dirty="0"/>
              <a:t>Be able to specify a forest for PolSARproSim to simulate </a:t>
            </a:r>
          </a:p>
          <a:p>
            <a:r>
              <a:rPr lang="en-US" sz="2000" dirty="0"/>
              <a:t>Be able to tell PolSARproSim to simulate different kind of tree species at the same time (i.e. mixed forests) not limited to four or five simple ones</a:t>
            </a:r>
          </a:p>
          <a:p>
            <a:r>
              <a:rPr lang="en-US" sz="2000" dirty="0"/>
              <a:t>Be able to simulate stacks of </a:t>
            </a:r>
            <a:r>
              <a:rPr lang="en-US" sz="2000" dirty="0" err="1"/>
              <a:t>interferograms</a:t>
            </a:r>
            <a:endParaRPr lang="en-US" sz="2000" dirty="0"/>
          </a:p>
          <a:p>
            <a:r>
              <a:rPr lang="en-US" sz="2000" dirty="0"/>
              <a:t>Be able to introduce temporal </a:t>
            </a:r>
            <a:r>
              <a:rPr lang="en-US" sz="2000" dirty="0" err="1"/>
              <a:t>decorrelation</a:t>
            </a:r>
            <a:r>
              <a:rPr lang="en-US" sz="2000" dirty="0"/>
              <a:t> through physical change such as movement of canopy elements (branches and leaves) simulating wind, moisture change simulating rain and removal simulating death or anthropogenic change.</a:t>
            </a:r>
          </a:p>
          <a:p>
            <a:r>
              <a:rPr lang="en-US" sz="2000" dirty="0"/>
              <a:t>Implement more realistic Point Spread Functions (such as </a:t>
            </a:r>
            <a:r>
              <a:rPr lang="en-US" sz="2000" dirty="0" err="1"/>
              <a:t>Sinc</a:t>
            </a:r>
            <a:r>
              <a:rPr lang="en-US" sz="2000" dirty="0"/>
              <a:t> or Hamming weighted)</a:t>
            </a:r>
          </a:p>
          <a:p>
            <a:r>
              <a:rPr lang="en-US" sz="2000" dirty="0"/>
              <a:t>Make the code run faster (i.e. multi-threaded implementation)</a:t>
            </a:r>
          </a:p>
          <a:p>
            <a:endParaRPr lang="en-US" sz="2000" dirty="0"/>
          </a:p>
          <a:p>
            <a:endParaRPr lang="en-US" sz="2000" dirty="0"/>
          </a:p>
          <a:p>
            <a:endParaRPr lang="en-US" sz="2000" dirty="0"/>
          </a:p>
          <a:p>
            <a:pPr lvl="1"/>
            <a:endParaRPr lang="en-US" sz="1600" dirty="0"/>
          </a:p>
          <a:p>
            <a:pPr lvl="1"/>
            <a:endParaRPr lang="en-US" sz="1600" dirty="0"/>
          </a:p>
          <a:p>
            <a:endParaRPr lang="en-US" sz="2000" dirty="0"/>
          </a:p>
          <a:p>
            <a:endParaRPr lang="en-US" sz="2000" dirty="0"/>
          </a:p>
        </p:txBody>
      </p:sp>
      <p:sp>
        <p:nvSpPr>
          <p:cNvPr id="4" name="Date Placeholder 3">
            <a:extLst>
              <a:ext uri="{FF2B5EF4-FFF2-40B4-BE49-F238E27FC236}">
                <a16:creationId xmlns:a16="http://schemas.microsoft.com/office/drawing/2014/main" id="{1BAB6C08-FB5C-9145-5C17-AE847DBBFE6F}"/>
              </a:ext>
            </a:extLst>
          </p:cNvPr>
          <p:cNvSpPr>
            <a:spLocks noGrp="1"/>
          </p:cNvSpPr>
          <p:nvPr>
            <p:ph type="dt" sz="half" idx="10"/>
          </p:nvPr>
        </p:nvSpPr>
        <p:spPr/>
        <p:txBody>
          <a:bodyPr/>
          <a:lstStyle/>
          <a:p>
            <a:fld id="{7B15F0A3-761A-C34F-BAAC-5EEA21420AD1}" type="datetime1">
              <a:rPr lang="en-US" smtClean="0"/>
              <a:t>3/25/26</a:t>
            </a:fld>
            <a:endParaRPr lang="en-US"/>
          </a:p>
        </p:txBody>
      </p:sp>
      <p:sp>
        <p:nvSpPr>
          <p:cNvPr id="5" name="Footer Placeholder 4">
            <a:extLst>
              <a:ext uri="{FF2B5EF4-FFF2-40B4-BE49-F238E27FC236}">
                <a16:creationId xmlns:a16="http://schemas.microsoft.com/office/drawing/2014/main" id="{7142F1DF-77E3-BA34-B37C-AE147752D58E}"/>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4BA693CE-96EE-A990-9FD2-681733BBA6C1}"/>
              </a:ext>
            </a:extLst>
          </p:cNvPr>
          <p:cNvSpPr>
            <a:spLocks noGrp="1"/>
          </p:cNvSpPr>
          <p:nvPr>
            <p:ph type="sldNum" sz="quarter" idx="12"/>
          </p:nvPr>
        </p:nvSpPr>
        <p:spPr/>
        <p:txBody>
          <a:bodyPr/>
          <a:lstStyle/>
          <a:p>
            <a:fld id="{B4CE5C4C-399A-B444-9B2A-945D2610250E}" type="slidenum">
              <a:rPr lang="en-US" smtClean="0"/>
              <a:t>3</a:t>
            </a:fld>
            <a:endParaRPr lang="en-US"/>
          </a:p>
        </p:txBody>
      </p:sp>
    </p:spTree>
    <p:extLst>
      <p:ext uri="{BB962C8B-B14F-4D97-AF65-F5344CB8AC3E}">
        <p14:creationId xmlns:p14="http://schemas.microsoft.com/office/powerpoint/2010/main" val="2208145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4991"/>
          </a:xfrm>
        </p:spPr>
        <p:txBody>
          <a:bodyPr>
            <a:normAutofit/>
          </a:bodyPr>
          <a:lstStyle/>
          <a:p>
            <a:r>
              <a:rPr lang="en-US" sz="2400" dirty="0" err="1"/>
              <a:t>PolSARproSim</a:t>
            </a:r>
            <a:r>
              <a:rPr lang="en-US" sz="2400" dirty="0"/>
              <a:t>+ Structure</a:t>
            </a:r>
          </a:p>
        </p:txBody>
      </p:sp>
      <p:sp>
        <p:nvSpPr>
          <p:cNvPr id="25" name="Rectangle 24">
            <a:extLst>
              <a:ext uri="{FF2B5EF4-FFF2-40B4-BE49-F238E27FC236}">
                <a16:creationId xmlns:a16="http://schemas.microsoft.com/office/drawing/2014/main" id="{5E762075-9B7A-AD8E-9A9A-A735D8012B51}"/>
              </a:ext>
            </a:extLst>
          </p:cNvPr>
          <p:cNvSpPr/>
          <p:nvPr/>
        </p:nvSpPr>
        <p:spPr>
          <a:xfrm>
            <a:off x="65802" y="839106"/>
            <a:ext cx="8960664" cy="5956107"/>
          </a:xfrm>
          <a:prstGeom prst="rect">
            <a:avLst/>
          </a:prstGeom>
          <a:solidFill>
            <a:srgbClr val="EEECE1">
              <a:lumMod val="90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 name="Rectangle 25">
            <a:extLst>
              <a:ext uri="{FF2B5EF4-FFF2-40B4-BE49-F238E27FC236}">
                <a16:creationId xmlns:a16="http://schemas.microsoft.com/office/drawing/2014/main" id="{D762A3CD-29D9-2B29-DA1E-1D024D952160}"/>
              </a:ext>
            </a:extLst>
          </p:cNvPr>
          <p:cNvSpPr/>
          <p:nvPr/>
        </p:nvSpPr>
        <p:spPr>
          <a:xfrm>
            <a:off x="3656353" y="962488"/>
            <a:ext cx="5243585" cy="5576838"/>
          </a:xfrm>
          <a:prstGeom prst="rect">
            <a:avLst/>
          </a:prstGeom>
          <a:solidFill>
            <a:srgbClr val="9BBB59">
              <a:lumMod val="20000"/>
              <a:lumOff val="80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t" anchorCtr="0"/>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a:ea typeface="+mn-ea"/>
                <a:cs typeface="+mn-cs"/>
              </a:rPr>
              <a:t>Forest Scattering</a:t>
            </a:r>
          </a:p>
        </p:txBody>
      </p:sp>
      <p:graphicFrame>
        <p:nvGraphicFramePr>
          <p:cNvPr id="27" name="Content Placeholder 8">
            <a:extLst>
              <a:ext uri="{FF2B5EF4-FFF2-40B4-BE49-F238E27FC236}">
                <a16:creationId xmlns:a16="http://schemas.microsoft.com/office/drawing/2014/main" id="{9FC363BE-1FA8-8AB3-1976-68F3B58A01E3}"/>
              </a:ext>
            </a:extLst>
          </p:cNvPr>
          <p:cNvGraphicFramePr>
            <a:graphicFrameLocks/>
          </p:cNvGraphicFramePr>
          <p:nvPr>
            <p:extLst>
              <p:ext uri="{D42A27DB-BD31-4B8C-83A1-F6EECF244321}">
                <p14:modId xmlns:p14="http://schemas.microsoft.com/office/powerpoint/2010/main" val="389713109"/>
              </p:ext>
            </p:extLst>
          </p:nvPr>
        </p:nvGraphicFramePr>
        <p:xfrm>
          <a:off x="179953" y="962489"/>
          <a:ext cx="8846513" cy="53080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8" name="Diagram 27">
            <a:extLst>
              <a:ext uri="{FF2B5EF4-FFF2-40B4-BE49-F238E27FC236}">
                <a16:creationId xmlns:a16="http://schemas.microsoft.com/office/drawing/2014/main" id="{59AA2D8D-7CCF-6CEF-1374-E2E6DF601C6A}"/>
              </a:ext>
            </a:extLst>
          </p:cNvPr>
          <p:cNvGraphicFramePr/>
          <p:nvPr>
            <p:extLst>
              <p:ext uri="{D42A27DB-BD31-4B8C-83A1-F6EECF244321}">
                <p14:modId xmlns:p14="http://schemas.microsoft.com/office/powerpoint/2010/main" val="1371409217"/>
              </p:ext>
            </p:extLst>
          </p:nvPr>
        </p:nvGraphicFramePr>
        <p:xfrm>
          <a:off x="5295736" y="2082492"/>
          <a:ext cx="3328705" cy="331656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29" name="Elbow Connector 28">
            <a:extLst>
              <a:ext uri="{FF2B5EF4-FFF2-40B4-BE49-F238E27FC236}">
                <a16:creationId xmlns:a16="http://schemas.microsoft.com/office/drawing/2014/main" id="{6D1B0189-5477-B4E9-EE9C-E554B15C4A4A}"/>
              </a:ext>
            </a:extLst>
          </p:cNvPr>
          <p:cNvCxnSpPr/>
          <p:nvPr/>
        </p:nvCxnSpPr>
        <p:spPr>
          <a:xfrm flipV="1">
            <a:off x="6852669" y="3914119"/>
            <a:ext cx="682423" cy="682366"/>
          </a:xfrm>
          <a:prstGeom prst="bentConnector3">
            <a:avLst/>
          </a:prstGeom>
          <a:noFill/>
          <a:ln w="12700" cap="flat" cmpd="sng" algn="ctr">
            <a:solidFill>
              <a:srgbClr val="1F497D"/>
            </a:solidFill>
            <a:prstDash val="solid"/>
          </a:ln>
          <a:effectLst/>
        </p:spPr>
      </p:cxnSp>
      <p:sp>
        <p:nvSpPr>
          <p:cNvPr id="30" name="TextBox 29">
            <a:extLst>
              <a:ext uri="{FF2B5EF4-FFF2-40B4-BE49-F238E27FC236}">
                <a16:creationId xmlns:a16="http://schemas.microsoft.com/office/drawing/2014/main" id="{84E707AF-3191-EE9A-1698-C62D3025C9A1}"/>
              </a:ext>
            </a:extLst>
          </p:cNvPr>
          <p:cNvSpPr txBox="1"/>
          <p:nvPr/>
        </p:nvSpPr>
        <p:spPr>
          <a:xfrm>
            <a:off x="1630233" y="5042794"/>
            <a:ext cx="3061427" cy="1631216"/>
          </a:xfrm>
          <a:prstGeom prst="rect">
            <a:avLst/>
          </a:prstGeom>
          <a:solidFill>
            <a:srgbClr val="8064A2">
              <a:lumMod val="20000"/>
              <a:lumOff val="80000"/>
              <a:alpha val="90000"/>
            </a:srgbClr>
          </a:solidFill>
          <a:ln>
            <a:solidFill>
              <a:srgbClr val="1F497D"/>
            </a:solidFill>
          </a:ln>
          <a:effectLst>
            <a:outerShdw blurRad="50800" dist="38100" dir="2700000" algn="tl" rotWithShape="0">
              <a:srgbClr val="000000">
                <a:alpha val="43000"/>
              </a:srgbClr>
            </a:outerShdw>
          </a:effectLst>
        </p:spPr>
        <p:txBody>
          <a:bodyPr wrap="square" lIns="182880" tIns="91440" rIns="182880" bIns="18288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rPr>
              <a:t>Monte Carlo Simulations</a:t>
            </a:r>
          </a:p>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Calibri"/>
            </a:endParaRPr>
          </a:p>
          <a:p>
            <a:pPr marL="0" marR="0" lvl="0" indent="0" algn="just" defTabSz="4572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rPr>
              <a:t>Small vegetation elements such as tertiary branches and foliage for the trees and short vegetation (&lt;30cm) are simulated stochastically. The understory is divided into areas smaller than a resolution cell, and each is populated with a number of random realizations of occupying scattering elements. Crowns are treated in a similar fashion: distributing realizations throughout the crown evenly and scaling the scattering amplitudes accordingly. Realizations are preserved between calculations for each track on the interferometric baseline. </a:t>
            </a:r>
          </a:p>
        </p:txBody>
      </p:sp>
      <p:cxnSp>
        <p:nvCxnSpPr>
          <p:cNvPr id="31" name="Straight Arrow Connector 30">
            <a:extLst>
              <a:ext uri="{FF2B5EF4-FFF2-40B4-BE49-F238E27FC236}">
                <a16:creationId xmlns:a16="http://schemas.microsoft.com/office/drawing/2014/main" id="{383F17F4-AAFE-4310-EFE3-116F0FE2BD93}"/>
              </a:ext>
            </a:extLst>
          </p:cNvPr>
          <p:cNvCxnSpPr/>
          <p:nvPr/>
        </p:nvCxnSpPr>
        <p:spPr>
          <a:xfrm>
            <a:off x="1489863" y="4885994"/>
            <a:ext cx="1879393" cy="0"/>
          </a:xfrm>
          <a:prstGeom prst="straightConnector1">
            <a:avLst/>
          </a:prstGeom>
          <a:noFill/>
          <a:ln w="12700" cap="flat" cmpd="sng" algn="ctr">
            <a:solidFill>
              <a:srgbClr val="1F497D"/>
            </a:solidFill>
            <a:prstDash val="solid"/>
            <a:tailEnd type="none"/>
          </a:ln>
          <a:effectLst/>
        </p:spPr>
      </p:cxnSp>
      <p:cxnSp>
        <p:nvCxnSpPr>
          <p:cNvPr id="32" name="Straight Connector 31">
            <a:extLst>
              <a:ext uri="{FF2B5EF4-FFF2-40B4-BE49-F238E27FC236}">
                <a16:creationId xmlns:a16="http://schemas.microsoft.com/office/drawing/2014/main" id="{6DB046FD-677A-5434-C3F3-D03105A8B930}"/>
              </a:ext>
            </a:extLst>
          </p:cNvPr>
          <p:cNvCxnSpPr/>
          <p:nvPr/>
        </p:nvCxnSpPr>
        <p:spPr>
          <a:xfrm flipH="1">
            <a:off x="328315" y="5937044"/>
            <a:ext cx="1" cy="513679"/>
          </a:xfrm>
          <a:prstGeom prst="line">
            <a:avLst/>
          </a:prstGeom>
          <a:noFill/>
          <a:ln w="12700" cap="flat" cmpd="sng" algn="ctr">
            <a:solidFill>
              <a:srgbClr val="1F497D"/>
            </a:solidFill>
            <a:prstDash val="solid"/>
          </a:ln>
          <a:effectLst/>
        </p:spPr>
      </p:cxnSp>
      <p:cxnSp>
        <p:nvCxnSpPr>
          <p:cNvPr id="33" name="Straight Connector 32">
            <a:extLst>
              <a:ext uri="{FF2B5EF4-FFF2-40B4-BE49-F238E27FC236}">
                <a16:creationId xmlns:a16="http://schemas.microsoft.com/office/drawing/2014/main" id="{1F9DBF93-71DB-3121-F99F-DB797B08458D}"/>
              </a:ext>
            </a:extLst>
          </p:cNvPr>
          <p:cNvCxnSpPr/>
          <p:nvPr/>
        </p:nvCxnSpPr>
        <p:spPr>
          <a:xfrm>
            <a:off x="321932" y="6450723"/>
            <a:ext cx="1174313" cy="0"/>
          </a:xfrm>
          <a:prstGeom prst="line">
            <a:avLst/>
          </a:prstGeom>
          <a:noFill/>
          <a:ln w="12700" cap="flat" cmpd="sng" algn="ctr">
            <a:solidFill>
              <a:srgbClr val="1F497D"/>
            </a:solidFill>
            <a:prstDash val="solid"/>
          </a:ln>
          <a:effectLst/>
        </p:spPr>
      </p:cxnSp>
      <p:cxnSp>
        <p:nvCxnSpPr>
          <p:cNvPr id="35" name="Straight Connector 34">
            <a:extLst>
              <a:ext uri="{FF2B5EF4-FFF2-40B4-BE49-F238E27FC236}">
                <a16:creationId xmlns:a16="http://schemas.microsoft.com/office/drawing/2014/main" id="{E5D89EF8-9065-E131-DCBA-5D759645587D}"/>
              </a:ext>
            </a:extLst>
          </p:cNvPr>
          <p:cNvCxnSpPr/>
          <p:nvPr/>
        </p:nvCxnSpPr>
        <p:spPr>
          <a:xfrm flipV="1">
            <a:off x="1489863" y="2336363"/>
            <a:ext cx="6382" cy="4114361"/>
          </a:xfrm>
          <a:prstGeom prst="line">
            <a:avLst/>
          </a:prstGeom>
          <a:noFill/>
          <a:ln w="12700" cap="flat" cmpd="sng" algn="ctr">
            <a:solidFill>
              <a:srgbClr val="1F497D"/>
            </a:solidFill>
            <a:prstDash val="solid"/>
          </a:ln>
          <a:effectLst/>
        </p:spPr>
      </p:cxnSp>
      <p:cxnSp>
        <p:nvCxnSpPr>
          <p:cNvPr id="36" name="Straight Connector 35">
            <a:extLst>
              <a:ext uri="{FF2B5EF4-FFF2-40B4-BE49-F238E27FC236}">
                <a16:creationId xmlns:a16="http://schemas.microsoft.com/office/drawing/2014/main" id="{407C5AD3-6713-0727-E85C-E0C97A3CC0BF}"/>
              </a:ext>
            </a:extLst>
          </p:cNvPr>
          <p:cNvCxnSpPr/>
          <p:nvPr/>
        </p:nvCxnSpPr>
        <p:spPr>
          <a:xfrm>
            <a:off x="1496245" y="2336363"/>
            <a:ext cx="300148" cy="0"/>
          </a:xfrm>
          <a:prstGeom prst="line">
            <a:avLst/>
          </a:prstGeom>
          <a:noFill/>
          <a:ln w="12700" cap="flat" cmpd="sng" algn="ctr">
            <a:solidFill>
              <a:srgbClr val="1F497D"/>
            </a:solidFill>
            <a:prstDash val="solid"/>
            <a:tailEnd type="none"/>
          </a:ln>
          <a:effectLst/>
        </p:spPr>
      </p:cxnSp>
      <p:cxnSp>
        <p:nvCxnSpPr>
          <p:cNvPr id="37" name="Elbow Connector 36">
            <a:extLst>
              <a:ext uri="{FF2B5EF4-FFF2-40B4-BE49-F238E27FC236}">
                <a16:creationId xmlns:a16="http://schemas.microsoft.com/office/drawing/2014/main" id="{1CA101A9-07F5-98BA-F179-E4F400D8F573}"/>
              </a:ext>
            </a:extLst>
          </p:cNvPr>
          <p:cNvCxnSpPr/>
          <p:nvPr/>
        </p:nvCxnSpPr>
        <p:spPr>
          <a:xfrm rot="5400000" flipH="1" flipV="1">
            <a:off x="2107857" y="3070899"/>
            <a:ext cx="3076496" cy="553696"/>
          </a:xfrm>
          <a:prstGeom prst="bentConnector3">
            <a:avLst>
              <a:gd name="adj1" fmla="val 99834"/>
            </a:avLst>
          </a:prstGeom>
          <a:noFill/>
          <a:ln w="12700" cap="flat" cmpd="sng" algn="ctr">
            <a:solidFill>
              <a:srgbClr val="1F497D"/>
            </a:solidFill>
            <a:prstDash val="solid"/>
          </a:ln>
          <a:effectLst/>
        </p:spPr>
      </p:cxnSp>
      <p:cxnSp>
        <p:nvCxnSpPr>
          <p:cNvPr id="38" name="Straight Connector 3">
            <a:extLst>
              <a:ext uri="{FF2B5EF4-FFF2-40B4-BE49-F238E27FC236}">
                <a16:creationId xmlns:a16="http://schemas.microsoft.com/office/drawing/2014/main" id="{C547D696-4510-CE1B-C30F-46CFE636364B}"/>
              </a:ext>
            </a:extLst>
          </p:cNvPr>
          <p:cNvCxnSpPr/>
          <p:nvPr/>
        </p:nvCxnSpPr>
        <p:spPr>
          <a:xfrm flipV="1">
            <a:off x="5089741" y="2445137"/>
            <a:ext cx="293822" cy="170592"/>
          </a:xfrm>
          <a:prstGeom prst="bentConnector3">
            <a:avLst>
              <a:gd name="adj1" fmla="val 50000"/>
            </a:avLst>
          </a:prstGeom>
          <a:noFill/>
          <a:ln w="12700" cap="flat" cmpd="sng" algn="ctr">
            <a:solidFill>
              <a:srgbClr val="1F497D"/>
            </a:solidFill>
            <a:prstDash val="solid"/>
          </a:ln>
          <a:effectLst/>
        </p:spPr>
      </p:cxnSp>
      <p:sp>
        <p:nvSpPr>
          <p:cNvPr id="39" name="TextBox 38">
            <a:extLst>
              <a:ext uri="{FF2B5EF4-FFF2-40B4-BE49-F238E27FC236}">
                <a16:creationId xmlns:a16="http://schemas.microsoft.com/office/drawing/2014/main" id="{F858D347-0DA1-A42F-D84A-A18F4E888F99}"/>
              </a:ext>
            </a:extLst>
          </p:cNvPr>
          <p:cNvSpPr txBox="1"/>
          <p:nvPr/>
        </p:nvSpPr>
        <p:spPr>
          <a:xfrm>
            <a:off x="7051709" y="1596408"/>
            <a:ext cx="1697423" cy="1754326"/>
          </a:xfrm>
          <a:prstGeom prst="rect">
            <a:avLst/>
          </a:prstGeom>
          <a:solidFill>
            <a:srgbClr val="9BBB59">
              <a:lumMod val="20000"/>
              <a:lumOff val="80000"/>
              <a:alpha val="90000"/>
            </a:srgbClr>
          </a:solidFill>
          <a:ln>
            <a:solidFill>
              <a:srgbClr val="1F497D"/>
            </a:solidFill>
          </a:ln>
          <a:effectLst>
            <a:outerShdw blurRad="50800" dist="38100" dir="2700000" algn="tl" rotWithShape="0">
              <a:srgbClr val="000000">
                <a:alpha val="43000"/>
              </a:srgbClr>
            </a:outerShdw>
          </a:effectLst>
        </p:spPr>
        <p:txBody>
          <a:bodyPr wrap="square" lIns="182880" tIns="91440" rIns="182880" bIns="18288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rPr>
              <a:t>Deterministic Simulations</a:t>
            </a:r>
          </a:p>
          <a:p>
            <a:pPr marL="0" marR="0" lvl="0" indent="0" algn="just" defTabSz="4572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Calibri"/>
            </a:endParaRPr>
          </a:p>
          <a:p>
            <a:pPr marL="0" marR="0" lvl="0" indent="0" algn="just" defTabSz="4572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rPr>
              <a:t>Scattering terms for large objects such as stems, primary and secondary branches are calculated in a deterministic fashion. Branches are divided into short segments, and scattering is modeled using an approximate but efficient form for the truncated infinite cylinder approximation. </a:t>
            </a:r>
          </a:p>
        </p:txBody>
      </p:sp>
      <p:sp>
        <p:nvSpPr>
          <p:cNvPr id="40" name="TextBox 39">
            <a:extLst>
              <a:ext uri="{FF2B5EF4-FFF2-40B4-BE49-F238E27FC236}">
                <a16:creationId xmlns:a16="http://schemas.microsoft.com/office/drawing/2014/main" id="{FE4C6C1D-8A18-A23A-B84D-179BB9E2C0B9}"/>
              </a:ext>
            </a:extLst>
          </p:cNvPr>
          <p:cNvSpPr txBox="1"/>
          <p:nvPr/>
        </p:nvSpPr>
        <p:spPr>
          <a:xfrm>
            <a:off x="4864703" y="4978005"/>
            <a:ext cx="2519581" cy="1384994"/>
          </a:xfrm>
          <a:prstGeom prst="rect">
            <a:avLst/>
          </a:prstGeom>
          <a:solidFill>
            <a:srgbClr val="4BACC6">
              <a:lumMod val="20000"/>
              <a:lumOff val="80000"/>
              <a:alpha val="90000"/>
            </a:srgbClr>
          </a:solidFill>
          <a:ln>
            <a:solidFill>
              <a:srgbClr val="1F497D"/>
            </a:solidFill>
          </a:ln>
          <a:effectLst>
            <a:outerShdw blurRad="50800" dist="38100" dir="2700000" algn="tl" rotWithShape="0">
              <a:srgbClr val="000000">
                <a:alpha val="43000"/>
              </a:srgbClr>
            </a:outerShdw>
          </a:effectLst>
        </p:spPr>
        <p:txBody>
          <a:bodyPr wrap="square" lIns="182880" tIns="91440" rIns="182880" bIns="18288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rPr>
              <a:t>Modeling Change</a:t>
            </a:r>
          </a:p>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Calibri"/>
            </a:endParaRPr>
          </a:p>
          <a:p>
            <a:pPr marL="0" marR="0" lvl="0" indent="0" algn="just" defTabSz="4572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rPr>
              <a:t>The effects of temporal decorrelation are simulated by randomly changing the position or moisture of individual scattering elements such as branches leaves etc. The amount of change in moisture or position is specified for each track as a quadratic or exponential function of the height of the </a:t>
            </a:r>
            <a:r>
              <a:rPr kumimoji="0" lang="en-US" sz="800" b="0" i="0" u="none" strike="noStrike" kern="0" cap="none" spc="0" normalizeH="0" baseline="0" noProof="0" dirty="0" err="1">
                <a:ln>
                  <a:noFill/>
                </a:ln>
                <a:solidFill>
                  <a:prstClr val="black"/>
                </a:solidFill>
                <a:effectLst/>
                <a:uLnTx/>
                <a:uFillTx/>
                <a:latin typeface="Calibri"/>
              </a:rPr>
              <a:t>scatterer</a:t>
            </a:r>
            <a:r>
              <a:rPr kumimoji="0" lang="en-US" sz="800" b="0" i="0" u="none" strike="noStrike" kern="0" cap="none" spc="0" normalizeH="0" baseline="0" noProof="0" dirty="0">
                <a:ln>
                  <a:noFill/>
                </a:ln>
                <a:solidFill>
                  <a:prstClr val="black"/>
                </a:solidFill>
                <a:effectLst/>
                <a:uLnTx/>
                <a:uFillTx/>
                <a:latin typeface="Calibri"/>
              </a:rPr>
              <a:t> (relative to the ground or the canopy). </a:t>
            </a:r>
          </a:p>
        </p:txBody>
      </p:sp>
      <p:sp>
        <p:nvSpPr>
          <p:cNvPr id="41" name="Date Placeholder 40">
            <a:extLst>
              <a:ext uri="{FF2B5EF4-FFF2-40B4-BE49-F238E27FC236}">
                <a16:creationId xmlns:a16="http://schemas.microsoft.com/office/drawing/2014/main" id="{CC577E19-C971-0909-5EF3-E3CE67D35283}"/>
              </a:ext>
            </a:extLst>
          </p:cNvPr>
          <p:cNvSpPr>
            <a:spLocks noGrp="1"/>
          </p:cNvSpPr>
          <p:nvPr>
            <p:ph type="dt" sz="half" idx="10"/>
          </p:nvPr>
        </p:nvSpPr>
        <p:spPr/>
        <p:txBody>
          <a:bodyPr/>
          <a:lstStyle/>
          <a:p>
            <a:fld id="{D65D2201-5DF1-E842-AB60-83B68975C6E8}" type="datetime1">
              <a:rPr lang="en-US" smtClean="0"/>
              <a:t>3/25/26</a:t>
            </a:fld>
            <a:endParaRPr lang="en-US"/>
          </a:p>
        </p:txBody>
      </p:sp>
      <p:sp>
        <p:nvSpPr>
          <p:cNvPr id="42" name="Footer Placeholder 41">
            <a:extLst>
              <a:ext uri="{FF2B5EF4-FFF2-40B4-BE49-F238E27FC236}">
                <a16:creationId xmlns:a16="http://schemas.microsoft.com/office/drawing/2014/main" id="{8E51998A-349A-8CAE-8B67-8D9BC7E21561}"/>
              </a:ext>
            </a:extLst>
          </p:cNvPr>
          <p:cNvSpPr>
            <a:spLocks noGrp="1"/>
          </p:cNvSpPr>
          <p:nvPr>
            <p:ph type="ftr" sz="quarter" idx="11"/>
          </p:nvPr>
        </p:nvSpPr>
        <p:spPr/>
        <p:txBody>
          <a:bodyPr/>
          <a:lstStyle/>
          <a:p>
            <a:r>
              <a:rPr lang="en-US"/>
              <a:t>Does Not Contain CUI.</a:t>
            </a:r>
          </a:p>
        </p:txBody>
      </p:sp>
      <p:sp>
        <p:nvSpPr>
          <p:cNvPr id="43" name="Slide Number Placeholder 42">
            <a:extLst>
              <a:ext uri="{FF2B5EF4-FFF2-40B4-BE49-F238E27FC236}">
                <a16:creationId xmlns:a16="http://schemas.microsoft.com/office/drawing/2014/main" id="{335F41D1-4E81-6CF1-80D0-2F5F3C6F2F5B}"/>
              </a:ext>
            </a:extLst>
          </p:cNvPr>
          <p:cNvSpPr>
            <a:spLocks noGrp="1"/>
          </p:cNvSpPr>
          <p:nvPr>
            <p:ph type="sldNum" sz="quarter" idx="12"/>
          </p:nvPr>
        </p:nvSpPr>
        <p:spPr/>
        <p:txBody>
          <a:bodyPr/>
          <a:lstStyle/>
          <a:p>
            <a:fld id="{B4CE5C4C-399A-B444-9B2A-945D2610250E}" type="slidenum">
              <a:rPr lang="en-US" smtClean="0"/>
              <a:t>4</a:t>
            </a:fld>
            <a:endParaRPr lang="en-US"/>
          </a:p>
        </p:txBody>
      </p:sp>
    </p:spTree>
    <p:extLst>
      <p:ext uri="{BB962C8B-B14F-4D97-AF65-F5344CB8AC3E}">
        <p14:creationId xmlns:p14="http://schemas.microsoft.com/office/powerpoint/2010/main" val="2800787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t>Reading Keyword Parameter File</a:t>
            </a:r>
          </a:p>
        </p:txBody>
      </p:sp>
      <p:sp>
        <p:nvSpPr>
          <p:cNvPr id="3" name="Content Placeholder 2"/>
          <p:cNvSpPr>
            <a:spLocks noGrp="1"/>
          </p:cNvSpPr>
          <p:nvPr>
            <p:ph idx="1"/>
          </p:nvPr>
        </p:nvSpPr>
        <p:spPr>
          <a:xfrm>
            <a:off x="457200" y="1216702"/>
            <a:ext cx="8229600" cy="3562112"/>
          </a:xfrm>
        </p:spPr>
        <p:txBody>
          <a:bodyPr>
            <a:normAutofit fontScale="32500" lnSpcReduction="20000"/>
          </a:bodyPr>
          <a:lstStyle/>
          <a:p>
            <a:r>
              <a:rPr lang="en-US" sz="4300" dirty="0"/>
              <a:t>Originally $</a:t>
            </a:r>
            <a:r>
              <a:rPr lang="en-US" sz="4300" dirty="0" err="1"/>
              <a:t>prefix.sar</a:t>
            </a:r>
            <a:r>
              <a:rPr lang="en-US" sz="4300" dirty="0"/>
              <a:t> is organized in so that parameters are input in a sequential (line by line) manner.</a:t>
            </a:r>
          </a:p>
          <a:p>
            <a:r>
              <a:rPr lang="en-US" sz="4300" dirty="0"/>
              <a:t>Added module </a:t>
            </a:r>
            <a:r>
              <a:rPr lang="en-US" sz="4300" dirty="0" err="1"/>
              <a:t>read_parfile.c</a:t>
            </a:r>
            <a:r>
              <a:rPr lang="en-US" sz="4300" dirty="0"/>
              <a:t> to allow reading of parameter file with keywords</a:t>
            </a:r>
          </a:p>
          <a:p>
            <a:r>
              <a:rPr lang="en-US" sz="4300" dirty="0"/>
              <a:t>Functions:</a:t>
            </a:r>
          </a:p>
          <a:p>
            <a:pPr lvl="1"/>
            <a:r>
              <a:rPr lang="en-US" sz="4300" dirty="0" err="1"/>
              <a:t>read_cflag</a:t>
            </a:r>
            <a:r>
              <a:rPr lang="en-US" sz="4300" dirty="0"/>
              <a:t>(FILE *</a:t>
            </a:r>
            <a:r>
              <a:rPr lang="en-US" sz="4300" dirty="0" err="1"/>
              <a:t>pFin</a:t>
            </a:r>
            <a:r>
              <a:rPr lang="en-US" sz="4300" dirty="0"/>
              <a:t>, </a:t>
            </a:r>
            <a:r>
              <a:rPr lang="en-US" sz="4300" dirty="0" err="1"/>
              <a:t>str</a:t>
            </a:r>
            <a:r>
              <a:rPr lang="en-US" sz="4300" dirty="0"/>
              <a:t> *keyword, char *data)	</a:t>
            </a:r>
          </a:p>
          <a:p>
            <a:pPr lvl="2"/>
            <a:r>
              <a:rPr lang="en-US" sz="4300" dirty="0"/>
              <a:t>reads a character from file stream </a:t>
            </a:r>
            <a:r>
              <a:rPr lang="en-US" sz="4300" dirty="0" err="1"/>
              <a:t>pFin</a:t>
            </a:r>
            <a:r>
              <a:rPr lang="en-US" sz="4300" dirty="0"/>
              <a:t> in line with keyword and store in data</a:t>
            </a:r>
          </a:p>
          <a:p>
            <a:pPr lvl="1"/>
            <a:r>
              <a:rPr lang="en-US" sz="4300" dirty="0" err="1"/>
              <a:t>read_float</a:t>
            </a:r>
            <a:r>
              <a:rPr lang="en-US" sz="4300" dirty="0"/>
              <a:t>(FILE *</a:t>
            </a:r>
            <a:r>
              <a:rPr lang="en-US" sz="4300" dirty="0" err="1"/>
              <a:t>pFin</a:t>
            </a:r>
            <a:r>
              <a:rPr lang="en-US" sz="4300" dirty="0"/>
              <a:t>, </a:t>
            </a:r>
            <a:r>
              <a:rPr lang="en-US" sz="4300" dirty="0" err="1"/>
              <a:t>str</a:t>
            </a:r>
            <a:r>
              <a:rPr lang="en-US" sz="4300" dirty="0"/>
              <a:t> *keyword, float *data)</a:t>
            </a:r>
          </a:p>
          <a:p>
            <a:pPr lvl="1"/>
            <a:r>
              <a:rPr lang="en-US" sz="4300" dirty="0" err="1"/>
              <a:t>read_integer</a:t>
            </a:r>
            <a:r>
              <a:rPr lang="en-US" sz="4300" dirty="0"/>
              <a:t>(FILE *</a:t>
            </a:r>
            <a:r>
              <a:rPr lang="en-US" sz="4300" dirty="0" err="1"/>
              <a:t>pFin</a:t>
            </a:r>
            <a:r>
              <a:rPr lang="en-US" sz="4300" dirty="0"/>
              <a:t>, </a:t>
            </a:r>
            <a:r>
              <a:rPr lang="en-US" sz="4300" dirty="0" err="1"/>
              <a:t>str</a:t>
            </a:r>
            <a:r>
              <a:rPr lang="en-US" sz="4300" dirty="0"/>
              <a:t> *keyword, </a:t>
            </a:r>
            <a:r>
              <a:rPr lang="en-US" sz="4300" dirty="0" err="1"/>
              <a:t>int</a:t>
            </a:r>
            <a:r>
              <a:rPr lang="en-US" sz="4300" dirty="0"/>
              <a:t> *data)</a:t>
            </a:r>
          </a:p>
          <a:p>
            <a:pPr lvl="1"/>
            <a:r>
              <a:rPr lang="en-US" sz="4300" dirty="0" err="1"/>
              <a:t>read_string</a:t>
            </a:r>
            <a:r>
              <a:rPr lang="en-US" sz="4300" dirty="0"/>
              <a:t>(FILE *</a:t>
            </a:r>
            <a:r>
              <a:rPr lang="en-US" sz="4300" dirty="0" err="1"/>
              <a:t>pFin</a:t>
            </a:r>
            <a:r>
              <a:rPr lang="en-US" sz="4300" dirty="0"/>
              <a:t>, </a:t>
            </a:r>
            <a:r>
              <a:rPr lang="en-US" sz="4300" dirty="0" err="1"/>
              <a:t>str</a:t>
            </a:r>
            <a:r>
              <a:rPr lang="en-US" sz="4300" dirty="0"/>
              <a:t> *keyword, char *data)</a:t>
            </a:r>
          </a:p>
          <a:p>
            <a:pPr lvl="1"/>
            <a:r>
              <a:rPr lang="en-US" sz="4300" dirty="0" err="1"/>
              <a:t>read_double</a:t>
            </a:r>
            <a:r>
              <a:rPr lang="en-US" sz="4300" dirty="0"/>
              <a:t>(FILE *</a:t>
            </a:r>
            <a:r>
              <a:rPr lang="en-US" sz="4300" dirty="0" err="1"/>
              <a:t>pFin</a:t>
            </a:r>
            <a:r>
              <a:rPr lang="en-US" sz="4300" dirty="0"/>
              <a:t>, </a:t>
            </a:r>
            <a:r>
              <a:rPr lang="en-US" sz="4300" dirty="0" err="1"/>
              <a:t>str</a:t>
            </a:r>
            <a:r>
              <a:rPr lang="en-US" sz="4300" dirty="0"/>
              <a:t> *keyword, double *data)</a:t>
            </a:r>
          </a:p>
          <a:p>
            <a:pPr lvl="1"/>
            <a:r>
              <a:rPr lang="en-US" sz="4300" dirty="0" err="1"/>
              <a:t>read_fvector</a:t>
            </a:r>
            <a:r>
              <a:rPr lang="en-US" sz="4300" dirty="0"/>
              <a:t>(File *</a:t>
            </a:r>
            <a:r>
              <a:rPr lang="en-US" sz="4300" dirty="0" err="1"/>
              <a:t>pFin</a:t>
            </a:r>
            <a:r>
              <a:rPr lang="en-US" sz="4300" dirty="0"/>
              <a:t>, </a:t>
            </a:r>
            <a:r>
              <a:rPr lang="en-US" sz="4300" dirty="0" err="1"/>
              <a:t>str</a:t>
            </a:r>
            <a:r>
              <a:rPr lang="en-US" sz="4300" dirty="0"/>
              <a:t> *keyword, float *data, </a:t>
            </a:r>
            <a:r>
              <a:rPr lang="en-US" sz="4300" dirty="0" err="1"/>
              <a:t>int</a:t>
            </a:r>
            <a:r>
              <a:rPr lang="en-US" sz="4300" dirty="0"/>
              <a:t> n)</a:t>
            </a:r>
          </a:p>
          <a:p>
            <a:pPr lvl="2"/>
            <a:r>
              <a:rPr lang="en-US" sz="4300" dirty="0"/>
              <a:t>Reads a vector of floats of length n from stream </a:t>
            </a:r>
            <a:r>
              <a:rPr lang="en-US" sz="4300" dirty="0" err="1"/>
              <a:t>pFin</a:t>
            </a:r>
            <a:r>
              <a:rPr lang="en-US" sz="4300" dirty="0"/>
              <a:t> from line with keyword</a:t>
            </a:r>
          </a:p>
          <a:p>
            <a:pPr lvl="1"/>
            <a:r>
              <a:rPr lang="en-US" sz="4300" dirty="0" err="1"/>
              <a:t>read_dvector</a:t>
            </a:r>
            <a:r>
              <a:rPr lang="en-US" sz="4300" dirty="0"/>
              <a:t>(FILE *</a:t>
            </a:r>
            <a:r>
              <a:rPr lang="en-US" sz="4300" dirty="0" err="1"/>
              <a:t>pFin</a:t>
            </a:r>
            <a:r>
              <a:rPr lang="en-US" sz="4300" dirty="0"/>
              <a:t>, </a:t>
            </a:r>
            <a:r>
              <a:rPr lang="en-US" sz="4300" dirty="0" err="1"/>
              <a:t>str</a:t>
            </a:r>
            <a:r>
              <a:rPr lang="en-US" sz="4300" dirty="0"/>
              <a:t> *keyword, double *data, </a:t>
            </a:r>
            <a:r>
              <a:rPr lang="en-US" sz="4300" dirty="0" err="1"/>
              <a:t>int</a:t>
            </a:r>
            <a:r>
              <a:rPr lang="en-US" sz="4300" dirty="0"/>
              <a:t> n)</a:t>
            </a:r>
          </a:p>
          <a:p>
            <a:r>
              <a:rPr lang="en-US" sz="4300" dirty="0"/>
              <a:t>If #define READ_KEYWORD_PARFILE then use keyword </a:t>
            </a:r>
            <a:r>
              <a:rPr lang="en-US" sz="4300" dirty="0" err="1"/>
              <a:t>parfile</a:t>
            </a:r>
            <a:r>
              <a:rPr lang="en-US" sz="4300" dirty="0"/>
              <a:t> otherwise use the older style version. Forest parameters are generated inside the program in this case. </a:t>
            </a:r>
          </a:p>
          <a:p>
            <a:endParaRPr lang="en-US" dirty="0"/>
          </a:p>
          <a:p>
            <a:pPr marL="0" indent="0">
              <a:buNone/>
            </a:pPr>
            <a:endParaRPr lang="en-US" dirty="0"/>
          </a:p>
          <a:p>
            <a:endParaRPr lang="en-US" dirty="0"/>
          </a:p>
        </p:txBody>
      </p:sp>
      <p:sp>
        <p:nvSpPr>
          <p:cNvPr id="5" name="TextBox 4"/>
          <p:cNvSpPr txBox="1"/>
          <p:nvPr/>
        </p:nvSpPr>
        <p:spPr>
          <a:xfrm>
            <a:off x="1715094" y="4591902"/>
            <a:ext cx="5575365" cy="2031325"/>
          </a:xfrm>
          <a:prstGeom prst="rect">
            <a:avLst/>
          </a:prstGeom>
          <a:solidFill>
            <a:schemeClr val="accent1">
              <a:lumMod val="20000"/>
              <a:lumOff val="80000"/>
              <a:alpha val="34000"/>
            </a:schemeClr>
          </a:solidFill>
          <a:effectLst>
            <a:outerShdw blurRad="50800" dist="38100" dir="2700000" algn="tl" rotWithShape="0">
              <a:srgbClr val="000000">
                <a:alpha val="43000"/>
              </a:srgbClr>
            </a:outerShdw>
          </a:effectLst>
        </p:spPr>
        <p:txBody>
          <a:bodyPr wrap="square" rtlCol="0">
            <a:spAutoFit/>
          </a:bodyPr>
          <a:lstStyle/>
          <a:p>
            <a:r>
              <a:rPr lang="en-US" sz="600" dirty="0">
                <a:latin typeface="American Typewriter"/>
                <a:cs typeface="American Typewriter"/>
              </a:rPr>
              <a:t>#PolSARproSim Configuration File</a:t>
            </a:r>
          </a:p>
          <a:p>
            <a:r>
              <a:rPr lang="en-US" sz="600" dirty="0">
                <a:latin typeface="American Typewriter"/>
                <a:cs typeface="American Typewriter"/>
              </a:rPr>
              <a:t>#PARAMETER NAME         VALUE           	DESCRIPTION</a:t>
            </a:r>
          </a:p>
          <a:p>
            <a:r>
              <a:rPr lang="en-US" sz="600" dirty="0">
                <a:latin typeface="American Typewriter"/>
                <a:cs typeface="American Typewriter"/>
              </a:rPr>
              <a:t>tracks                  	1               		/* The number of requested tracks                                */</a:t>
            </a:r>
          </a:p>
          <a:p>
            <a:r>
              <a:rPr lang="en-US" sz="600" dirty="0">
                <a:latin typeface="American Typewriter"/>
                <a:cs typeface="American Typewriter"/>
              </a:rPr>
              <a:t>center_slant_range_1    	1443.37567      	/* Slant range (broadside platform to scene </a:t>
            </a:r>
            <a:r>
              <a:rPr lang="en-US" sz="600" dirty="0" err="1">
                <a:latin typeface="American Typewriter"/>
                <a:cs typeface="American Typewriter"/>
              </a:rPr>
              <a:t>centre</a:t>
            </a:r>
            <a:r>
              <a:rPr lang="en-US" sz="600" dirty="0">
                <a:latin typeface="American Typewriter"/>
                <a:cs typeface="American Typewriter"/>
              </a:rPr>
              <a:t>) in </a:t>
            </a:r>
            <a:r>
              <a:rPr lang="en-US" sz="600" dirty="0" err="1">
                <a:latin typeface="American Typewriter"/>
                <a:cs typeface="American Typewriter"/>
              </a:rPr>
              <a:t>metres</a:t>
            </a:r>
            <a:r>
              <a:rPr lang="en-US" sz="600" dirty="0">
                <a:latin typeface="American Typewriter"/>
                <a:cs typeface="American Typewriter"/>
              </a:rPr>
              <a:t>    */</a:t>
            </a:r>
          </a:p>
          <a:p>
            <a:r>
              <a:rPr lang="en-US" sz="600" dirty="0">
                <a:latin typeface="American Typewriter"/>
                <a:cs typeface="American Typewriter"/>
              </a:rPr>
              <a:t>incidence_angle_1       	30.0000         	/* Incidence angle in degrees                                    */</a:t>
            </a:r>
          </a:p>
          <a:p>
            <a:r>
              <a:rPr lang="en-US" sz="600" dirty="0">
                <a:latin typeface="American Typewriter"/>
                <a:cs typeface="American Typewriter"/>
              </a:rPr>
              <a:t>center_slant_range_2    	1448.40156      	/* Slant range (broadside platform to scene </a:t>
            </a:r>
            <a:r>
              <a:rPr lang="en-US" sz="600" dirty="0" err="1">
                <a:latin typeface="American Typewriter"/>
                <a:cs typeface="American Typewriter"/>
              </a:rPr>
              <a:t>centre</a:t>
            </a:r>
            <a:r>
              <a:rPr lang="en-US" sz="600" dirty="0">
                <a:latin typeface="American Typewriter"/>
                <a:cs typeface="American Typewriter"/>
              </a:rPr>
              <a:t>) in </a:t>
            </a:r>
            <a:r>
              <a:rPr lang="en-US" sz="600" dirty="0" err="1">
                <a:latin typeface="American Typewriter"/>
                <a:cs typeface="American Typewriter"/>
              </a:rPr>
              <a:t>metres</a:t>
            </a:r>
            <a:r>
              <a:rPr lang="en-US" sz="600" dirty="0">
                <a:latin typeface="American Typewriter"/>
                <a:cs typeface="American Typewriter"/>
              </a:rPr>
              <a:t>    */</a:t>
            </a:r>
          </a:p>
          <a:p>
            <a:r>
              <a:rPr lang="en-US" sz="600" dirty="0">
                <a:latin typeface="American Typewriter"/>
                <a:cs typeface="American Typewriter"/>
              </a:rPr>
              <a:t>incidence_angle_2       	30.3426        	/* Incidence angle in degrees                                    */</a:t>
            </a:r>
          </a:p>
          <a:p>
            <a:r>
              <a:rPr lang="en-US" sz="600" dirty="0" err="1">
                <a:latin typeface="American Typewriter"/>
                <a:cs typeface="American Typewriter"/>
              </a:rPr>
              <a:t>radar_frequency</a:t>
            </a:r>
            <a:r>
              <a:rPr lang="en-US" sz="600" dirty="0">
                <a:latin typeface="American Typewriter"/>
                <a:cs typeface="American Typewriter"/>
              </a:rPr>
              <a:t>         	1.25            		/* Centre frequency in GHz                                       */</a:t>
            </a:r>
          </a:p>
          <a:p>
            <a:r>
              <a:rPr lang="en-US" sz="600" dirty="0" err="1">
                <a:latin typeface="American Typewriter"/>
                <a:cs typeface="American Typewriter"/>
              </a:rPr>
              <a:t>azimuth_resolution</a:t>
            </a:r>
            <a:r>
              <a:rPr lang="en-US" sz="600" dirty="0">
                <a:latin typeface="American Typewriter"/>
                <a:cs typeface="American Typewriter"/>
              </a:rPr>
              <a:t>      	0.6666       		/* Azimuth resolution (width at half-height power) in </a:t>
            </a:r>
            <a:r>
              <a:rPr lang="en-US" sz="600" dirty="0" err="1">
                <a:latin typeface="American Typewriter"/>
                <a:cs typeface="American Typewriter"/>
              </a:rPr>
              <a:t>metres</a:t>
            </a:r>
            <a:r>
              <a:rPr lang="en-US" sz="600" dirty="0">
                <a:latin typeface="American Typewriter"/>
                <a:cs typeface="American Typewriter"/>
              </a:rPr>
              <a:t>     */</a:t>
            </a:r>
          </a:p>
          <a:p>
            <a:r>
              <a:rPr lang="en-US" sz="600" dirty="0" err="1">
                <a:latin typeface="American Typewriter"/>
                <a:cs typeface="American Typewriter"/>
              </a:rPr>
              <a:t>slant_range_resolution</a:t>
            </a:r>
            <a:r>
              <a:rPr lang="en-US" sz="600" dirty="0">
                <a:latin typeface="American Typewriter"/>
                <a:cs typeface="American Typewriter"/>
              </a:rPr>
              <a:t>  	0.3333         		/* Slant range resolution (width at half-height power) in </a:t>
            </a:r>
            <a:r>
              <a:rPr lang="en-US" sz="600" dirty="0" err="1">
                <a:latin typeface="American Typewriter"/>
                <a:cs typeface="American Typewriter"/>
              </a:rPr>
              <a:t>metres</a:t>
            </a:r>
            <a:r>
              <a:rPr lang="en-US" sz="600" dirty="0">
                <a:latin typeface="American Typewriter"/>
                <a:cs typeface="American Typewriter"/>
              </a:rPr>
              <a:t> */</a:t>
            </a:r>
          </a:p>
          <a:p>
            <a:r>
              <a:rPr lang="en-US" sz="600" dirty="0" err="1">
                <a:latin typeface="American Typewriter"/>
                <a:cs typeface="American Typewriter"/>
              </a:rPr>
              <a:t>DEM_model</a:t>
            </a:r>
            <a:r>
              <a:rPr lang="en-US" sz="600" dirty="0">
                <a:latin typeface="American Typewriter"/>
                <a:cs typeface="American Typewriter"/>
              </a:rPr>
              <a:t>               	5              		/* DEM model: 0 = perfectly smooth, 10 = very rough              */</a:t>
            </a:r>
          </a:p>
          <a:p>
            <a:r>
              <a:rPr lang="en-US" sz="600" dirty="0" err="1">
                <a:latin typeface="American Typewriter"/>
                <a:cs typeface="American Typewriter"/>
              </a:rPr>
              <a:t>ground_slope_azimuth</a:t>
            </a:r>
            <a:r>
              <a:rPr lang="en-US" sz="600" dirty="0">
                <a:latin typeface="American Typewriter"/>
                <a:cs typeface="American Typewriter"/>
              </a:rPr>
              <a:t>    0.0000          		/* Ground slope in azimuth direction (dimensionless)             */</a:t>
            </a:r>
          </a:p>
          <a:p>
            <a:r>
              <a:rPr lang="en-US" sz="600" dirty="0" err="1">
                <a:latin typeface="American Typewriter"/>
                <a:cs typeface="American Typewriter"/>
              </a:rPr>
              <a:t>ground_slope_range</a:t>
            </a:r>
            <a:r>
              <a:rPr lang="en-US" sz="600" dirty="0">
                <a:latin typeface="American Typewriter"/>
                <a:cs typeface="American Typewriter"/>
              </a:rPr>
              <a:t>      	0.0000         		/* Ground slope in ground range direction (dimensionless)        */</a:t>
            </a:r>
          </a:p>
          <a:p>
            <a:r>
              <a:rPr lang="en-US" sz="600" dirty="0" err="1">
                <a:latin typeface="American Typewriter"/>
                <a:cs typeface="American Typewriter"/>
              </a:rPr>
              <a:t>randn_seed</a:t>
            </a:r>
            <a:r>
              <a:rPr lang="en-US" sz="600" dirty="0">
                <a:latin typeface="American Typewriter"/>
                <a:cs typeface="American Typewriter"/>
              </a:rPr>
              <a:t>              	45233           		/* Random number generator seed                                  */</a:t>
            </a:r>
          </a:p>
          <a:p>
            <a:r>
              <a:rPr lang="en-US" sz="600" dirty="0" err="1">
                <a:latin typeface="American Typewriter"/>
                <a:cs typeface="American Typewriter"/>
              </a:rPr>
              <a:t>global_tree_species</a:t>
            </a:r>
            <a:r>
              <a:rPr lang="en-US" sz="600" dirty="0">
                <a:latin typeface="American Typewriter"/>
                <a:cs typeface="American Typewriter"/>
              </a:rPr>
              <a:t>     	4              		/* Tree species: 0 = HEDGE, 1,2,3 = PINE, 4 = DECIDUOUS          */</a:t>
            </a:r>
          </a:p>
          <a:p>
            <a:r>
              <a:rPr lang="en-US" sz="600" dirty="0" err="1">
                <a:latin typeface="American Typewriter"/>
                <a:cs typeface="American Typewriter"/>
              </a:rPr>
              <a:t>global_tree_height</a:t>
            </a:r>
            <a:r>
              <a:rPr lang="en-US" sz="600" dirty="0">
                <a:latin typeface="American Typewriter"/>
                <a:cs typeface="American Typewriter"/>
              </a:rPr>
              <a:t>      	20.0000         	/* Mean tree height in </a:t>
            </a:r>
            <a:r>
              <a:rPr lang="en-US" sz="600" dirty="0" err="1">
                <a:latin typeface="American Typewriter"/>
                <a:cs typeface="American Typewriter"/>
              </a:rPr>
              <a:t>metres</a:t>
            </a:r>
            <a:r>
              <a:rPr lang="en-US" sz="600" dirty="0">
                <a:latin typeface="American Typewriter"/>
                <a:cs typeface="American Typewriter"/>
              </a:rPr>
              <a:t>                                    */</a:t>
            </a:r>
          </a:p>
          <a:p>
            <a:r>
              <a:rPr lang="en-US" sz="600" dirty="0" err="1">
                <a:latin typeface="American Typewriter"/>
                <a:cs typeface="American Typewriter"/>
              </a:rPr>
              <a:t>forest_stand_area</a:t>
            </a:r>
            <a:r>
              <a:rPr lang="en-US" sz="600" dirty="0">
                <a:latin typeface="American Typewriter"/>
                <a:cs typeface="American Typewriter"/>
              </a:rPr>
              <a:t>       	10000.0000      	/* Area of the forest stand in square </a:t>
            </a:r>
            <a:r>
              <a:rPr lang="en-US" sz="600" dirty="0" err="1">
                <a:latin typeface="American Typewriter"/>
                <a:cs typeface="American Typewriter"/>
              </a:rPr>
              <a:t>metres</a:t>
            </a:r>
            <a:r>
              <a:rPr lang="en-US" sz="600" dirty="0">
                <a:latin typeface="American Typewriter"/>
                <a:cs typeface="American Typewriter"/>
              </a:rPr>
              <a:t>                     */</a:t>
            </a:r>
          </a:p>
          <a:p>
            <a:r>
              <a:rPr lang="en-US" sz="600" dirty="0" err="1">
                <a:latin typeface="American Typewriter"/>
                <a:cs typeface="American Typewriter"/>
              </a:rPr>
              <a:t>stem_density</a:t>
            </a:r>
            <a:r>
              <a:rPr lang="en-US" sz="600" dirty="0">
                <a:latin typeface="American Typewriter"/>
                <a:cs typeface="American Typewriter"/>
              </a:rPr>
              <a:t>            	50.0000        	/* Desired stand density in stems per hectare                    */</a:t>
            </a:r>
          </a:p>
          <a:p>
            <a:r>
              <a:rPr lang="en-US" sz="600" dirty="0" err="1">
                <a:latin typeface="American Typewriter"/>
                <a:cs typeface="American Typewriter"/>
              </a:rPr>
              <a:t>ground_moisture</a:t>
            </a:r>
            <a:r>
              <a:rPr lang="en-US" sz="600" dirty="0">
                <a:latin typeface="American Typewriter"/>
                <a:cs typeface="American Typewriter"/>
              </a:rPr>
              <a:t>         	10              		/* Ground moisture content model: 0 = driest ... 10  = wettest   */</a:t>
            </a:r>
          </a:p>
          <a:p>
            <a:r>
              <a:rPr lang="en-US" sz="600" dirty="0" err="1">
                <a:latin typeface="American Typewriter"/>
                <a:cs typeface="American Typewriter"/>
              </a:rPr>
              <a:t>input_forest</a:t>
            </a:r>
            <a:r>
              <a:rPr lang="en-US" sz="600" dirty="0">
                <a:latin typeface="American Typewriter"/>
                <a:cs typeface="American Typewriter"/>
              </a:rPr>
              <a:t>            	1               		/* 1: Input forest from $(</a:t>
            </a:r>
            <a:r>
              <a:rPr lang="en-US" sz="600" dirty="0" err="1">
                <a:latin typeface="American Typewriter"/>
                <a:cs typeface="American Typewriter"/>
              </a:rPr>
              <a:t>prefix_canopy.txt</a:t>
            </a:r>
            <a:r>
              <a:rPr lang="en-US" sz="600" dirty="0">
                <a:latin typeface="American Typewriter"/>
                <a:cs typeface="American Typewriter"/>
              </a:rPr>
              <a:t>), 0: generate forest of </a:t>
            </a:r>
            <a:r>
              <a:rPr lang="en-US" sz="600" dirty="0" err="1">
                <a:latin typeface="American Typewriter"/>
                <a:cs typeface="American Typewriter"/>
              </a:rPr>
              <a:t>global_tree_species</a:t>
            </a:r>
            <a:r>
              <a:rPr lang="en-US" sz="600" dirty="0">
                <a:latin typeface="American Typewriter"/>
                <a:cs typeface="American Typewriter"/>
              </a:rPr>
              <a:t>  */</a:t>
            </a:r>
          </a:p>
          <a:p>
            <a:endParaRPr lang="en-US" sz="600" dirty="0">
              <a:latin typeface="American Typewriter"/>
              <a:cs typeface="American Typewriter"/>
            </a:endParaRPr>
          </a:p>
        </p:txBody>
      </p:sp>
      <p:sp>
        <p:nvSpPr>
          <p:cNvPr id="4" name="Date Placeholder 3">
            <a:extLst>
              <a:ext uri="{FF2B5EF4-FFF2-40B4-BE49-F238E27FC236}">
                <a16:creationId xmlns:a16="http://schemas.microsoft.com/office/drawing/2014/main" id="{974B88D6-78C2-6750-0F9B-A3CDC484164C}"/>
              </a:ext>
            </a:extLst>
          </p:cNvPr>
          <p:cNvSpPr>
            <a:spLocks noGrp="1"/>
          </p:cNvSpPr>
          <p:nvPr>
            <p:ph type="dt" sz="half" idx="10"/>
          </p:nvPr>
        </p:nvSpPr>
        <p:spPr/>
        <p:txBody>
          <a:bodyPr/>
          <a:lstStyle/>
          <a:p>
            <a:fld id="{081826FB-076B-3A40-9EFC-6353236D553F}" type="datetime1">
              <a:rPr lang="en-US" smtClean="0"/>
              <a:t>3/25/26</a:t>
            </a:fld>
            <a:endParaRPr lang="en-US"/>
          </a:p>
        </p:txBody>
      </p:sp>
      <p:sp>
        <p:nvSpPr>
          <p:cNvPr id="6" name="Footer Placeholder 5">
            <a:extLst>
              <a:ext uri="{FF2B5EF4-FFF2-40B4-BE49-F238E27FC236}">
                <a16:creationId xmlns:a16="http://schemas.microsoft.com/office/drawing/2014/main" id="{5B92B10B-7DBD-80AF-5CC7-F18727F93064}"/>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480326A2-DBB2-C3BC-E8F3-AF9282300BB3}"/>
              </a:ext>
            </a:extLst>
          </p:cNvPr>
          <p:cNvSpPr>
            <a:spLocks noGrp="1"/>
          </p:cNvSpPr>
          <p:nvPr>
            <p:ph type="sldNum" sz="quarter" idx="12"/>
          </p:nvPr>
        </p:nvSpPr>
        <p:spPr/>
        <p:txBody>
          <a:bodyPr/>
          <a:lstStyle/>
          <a:p>
            <a:fld id="{B4CE5C4C-399A-B444-9B2A-945D2610250E}" type="slidenum">
              <a:rPr lang="en-US" smtClean="0"/>
              <a:t>5</a:t>
            </a:fld>
            <a:endParaRPr lang="en-US"/>
          </a:p>
        </p:txBody>
      </p:sp>
    </p:spTree>
    <p:extLst>
      <p:ext uri="{BB962C8B-B14F-4D97-AF65-F5344CB8AC3E}">
        <p14:creationId xmlns:p14="http://schemas.microsoft.com/office/powerpoint/2010/main" val="2345357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0096"/>
            <a:ext cx="8229600" cy="1143000"/>
          </a:xfrm>
        </p:spPr>
        <p:txBody>
          <a:bodyPr>
            <a:normAutofit/>
          </a:bodyPr>
          <a:lstStyle/>
          <a:p>
            <a:r>
              <a:rPr lang="en-US" sz="2400" dirty="0"/>
              <a:t>Input forest description</a:t>
            </a:r>
          </a:p>
        </p:txBody>
      </p:sp>
      <p:sp>
        <p:nvSpPr>
          <p:cNvPr id="4" name="TextBox 3"/>
          <p:cNvSpPr txBox="1"/>
          <p:nvPr/>
        </p:nvSpPr>
        <p:spPr>
          <a:xfrm>
            <a:off x="238811" y="2279667"/>
            <a:ext cx="8770857" cy="3493264"/>
          </a:xfrm>
          <a:prstGeom prst="rect">
            <a:avLst/>
          </a:prstGeom>
          <a:solidFill>
            <a:schemeClr val="bg1">
              <a:lumMod val="95000"/>
            </a:schemeClr>
          </a:solidFill>
          <a:ln>
            <a:solidFill>
              <a:srgbClr val="DCE6F2"/>
            </a:solidFill>
          </a:ln>
        </p:spPr>
        <p:txBody>
          <a:bodyPr wrap="square" rtlCol="0">
            <a:spAutoFit/>
          </a:bodyPr>
          <a:lstStyle/>
          <a:p>
            <a:r>
              <a:rPr lang="en-US" sz="650" dirty="0">
                <a:latin typeface="Monaco"/>
                <a:cs typeface="Monaco"/>
              </a:rPr>
              <a:t>&lt;?xml version="1.0" encoding="ISO-8859-15"?&gt;</a:t>
            </a:r>
          </a:p>
          <a:p>
            <a:r>
              <a:rPr lang="en-US" sz="650" dirty="0">
                <a:latin typeface="Monaco"/>
                <a:cs typeface="Monaco"/>
              </a:rPr>
              <a:t>&lt;?xml-</a:t>
            </a:r>
            <a:r>
              <a:rPr lang="en-US" sz="650" dirty="0" err="1">
                <a:latin typeface="Monaco"/>
                <a:cs typeface="Monaco"/>
              </a:rPr>
              <a:t>stylesheet</a:t>
            </a:r>
            <a:r>
              <a:rPr lang="en-US" sz="650" dirty="0">
                <a:latin typeface="Monaco"/>
                <a:cs typeface="Monaco"/>
              </a:rPr>
              <a:t> type="text/</a:t>
            </a:r>
            <a:r>
              <a:rPr lang="en-US" sz="650" dirty="0" err="1">
                <a:latin typeface="Monaco"/>
                <a:cs typeface="Monaco"/>
              </a:rPr>
              <a:t>xsl</a:t>
            </a:r>
            <a:r>
              <a:rPr lang="en-US" sz="650" dirty="0">
                <a:latin typeface="Monaco"/>
                <a:cs typeface="Monaco"/>
              </a:rPr>
              <a:t>" </a:t>
            </a:r>
            <a:r>
              <a:rPr lang="en-US" sz="650" dirty="0" err="1">
                <a:latin typeface="Monaco"/>
                <a:cs typeface="Monaco"/>
              </a:rPr>
              <a:t>href</a:t>
            </a:r>
            <a:r>
              <a:rPr lang="en-US" sz="650" dirty="0">
                <a:latin typeface="Monaco"/>
                <a:cs typeface="Monaco"/>
              </a:rPr>
              <a:t>="</a:t>
            </a:r>
            <a:r>
              <a:rPr lang="en-US" sz="650" dirty="0" err="1">
                <a:latin typeface="Monaco"/>
                <a:cs typeface="Monaco"/>
              </a:rPr>
              <a:t>forest.xsl</a:t>
            </a:r>
            <a:r>
              <a:rPr lang="en-US" sz="650" dirty="0">
                <a:latin typeface="Monaco"/>
                <a:cs typeface="Monaco"/>
              </a:rPr>
              <a:t>"?&gt;</a:t>
            </a:r>
          </a:p>
          <a:p>
            <a:endParaRPr lang="en-US" sz="650" dirty="0">
              <a:latin typeface="Monaco"/>
              <a:cs typeface="Monaco"/>
            </a:endParaRPr>
          </a:p>
          <a:p>
            <a:r>
              <a:rPr lang="en-US" sz="650" dirty="0">
                <a:latin typeface="Monaco"/>
                <a:cs typeface="Monaco"/>
              </a:rPr>
              <a:t>&lt;forest&gt;</a:t>
            </a:r>
          </a:p>
          <a:p>
            <a:r>
              <a:rPr lang="en-US" sz="650" dirty="0">
                <a:latin typeface="Monaco"/>
                <a:cs typeface="Monaco"/>
              </a:rPr>
              <a:t>        &lt;meta&gt;</a:t>
            </a:r>
          </a:p>
          <a:p>
            <a:r>
              <a:rPr lang="en-US" sz="650" dirty="0">
                <a:latin typeface="Monaco"/>
                <a:cs typeface="Monaco"/>
              </a:rPr>
              <a:t>                &lt;</a:t>
            </a:r>
            <a:r>
              <a:rPr lang="en-US" sz="650" dirty="0" err="1">
                <a:latin typeface="Monaco"/>
                <a:cs typeface="Monaco"/>
              </a:rPr>
              <a:t>num_trees</a:t>
            </a:r>
            <a:r>
              <a:rPr lang="en-US" sz="650" dirty="0">
                <a:latin typeface="Monaco"/>
                <a:cs typeface="Monaco"/>
              </a:rPr>
              <a:t>      units="none"&gt;         470       &lt;/</a:t>
            </a:r>
            <a:r>
              <a:rPr lang="en-US" sz="650" dirty="0" err="1">
                <a:latin typeface="Monaco"/>
                <a:cs typeface="Monaco"/>
              </a:rPr>
              <a:t>num_trees</a:t>
            </a:r>
            <a:r>
              <a:rPr lang="en-US" sz="650" dirty="0">
                <a:latin typeface="Monaco"/>
                <a:cs typeface="Monaco"/>
              </a:rPr>
              <a:t>&gt;            &lt;!-- The total number of trees in this file                     --&gt;</a:t>
            </a:r>
          </a:p>
          <a:p>
            <a:r>
              <a:rPr lang="en-US" sz="650" dirty="0">
                <a:latin typeface="Monaco"/>
                <a:cs typeface="Monaco"/>
              </a:rPr>
              <a:t>                &lt;biome          units="none"&gt;   temperate       &lt;/biome&gt;                &lt;!-- The biome this forest belongs to                           --&gt;</a:t>
            </a:r>
          </a:p>
          <a:p>
            <a:r>
              <a:rPr lang="en-US" sz="650" dirty="0">
                <a:latin typeface="Monaco"/>
                <a:cs typeface="Monaco"/>
              </a:rPr>
              <a:t>                &lt;area           units="ha"&gt;        0.4604       &lt;/area&gt;                 &lt;!-- The total area of the forest                               --&gt;</a:t>
            </a:r>
          </a:p>
          <a:p>
            <a:r>
              <a:rPr lang="en-US" sz="650" dirty="0">
                <a:latin typeface="Monaco"/>
                <a:cs typeface="Monaco"/>
              </a:rPr>
              <a:t>        &lt;/meta&gt;</a:t>
            </a:r>
          </a:p>
          <a:p>
            <a:r>
              <a:rPr lang="en-US" sz="650" dirty="0">
                <a:latin typeface="Monaco"/>
                <a:cs typeface="Monaco"/>
              </a:rPr>
              <a:t>        &lt;tree&gt;</a:t>
            </a:r>
          </a:p>
          <a:p>
            <a:r>
              <a:rPr lang="en-US" sz="650" dirty="0">
                <a:latin typeface="Monaco"/>
                <a:cs typeface="Monaco"/>
              </a:rPr>
              <a:t>                &lt;species        units="none"&gt;        ACRU       &lt;/species&gt;              &lt;!-- </a:t>
            </a:r>
            <a:r>
              <a:rPr lang="en-US" sz="650" dirty="0" err="1">
                <a:latin typeface="Monaco"/>
                <a:cs typeface="Monaco"/>
              </a:rPr>
              <a:t>Pinus</a:t>
            </a:r>
            <a:r>
              <a:rPr lang="en-US" sz="650" dirty="0">
                <a:latin typeface="Monaco"/>
                <a:cs typeface="Monaco"/>
              </a:rPr>
              <a:t> </a:t>
            </a:r>
            <a:r>
              <a:rPr lang="en-US" sz="650" dirty="0" err="1">
                <a:latin typeface="Monaco"/>
                <a:cs typeface="Monaco"/>
              </a:rPr>
              <a:t>Resinosa</a:t>
            </a:r>
            <a:r>
              <a:rPr lang="en-US" sz="650" dirty="0">
                <a:latin typeface="Monaco"/>
                <a:cs typeface="Monaco"/>
              </a:rPr>
              <a:t>, Red Pine (see </a:t>
            </a:r>
            <a:r>
              <a:rPr lang="en-US" sz="650" dirty="0" err="1">
                <a:latin typeface="Monaco"/>
                <a:cs typeface="Monaco"/>
              </a:rPr>
              <a:t>allometry</a:t>
            </a:r>
            <a:r>
              <a:rPr lang="en-US" sz="650" dirty="0">
                <a:latin typeface="Monaco"/>
                <a:cs typeface="Monaco"/>
              </a:rPr>
              <a:t> file)              --&gt;</a:t>
            </a:r>
          </a:p>
          <a:p>
            <a:r>
              <a:rPr lang="en-US" sz="650" dirty="0">
                <a:latin typeface="Monaco"/>
                <a:cs typeface="Monaco"/>
              </a:rPr>
              <a:t>                &lt;</a:t>
            </a:r>
            <a:r>
              <a:rPr lang="en-US" sz="650" dirty="0" err="1">
                <a:latin typeface="Monaco"/>
                <a:cs typeface="Monaco"/>
              </a:rPr>
              <a:t>x_location</a:t>
            </a:r>
            <a:r>
              <a:rPr lang="en-US" sz="650" dirty="0">
                <a:latin typeface="Monaco"/>
                <a:cs typeface="Monaco"/>
              </a:rPr>
              <a:t>     units="meters"&gt;  -38.2800       &lt;/</a:t>
            </a:r>
            <a:r>
              <a:rPr lang="en-US" sz="650" dirty="0" err="1">
                <a:latin typeface="Monaco"/>
                <a:cs typeface="Monaco"/>
              </a:rPr>
              <a:t>x_location</a:t>
            </a:r>
            <a:r>
              <a:rPr lang="en-US" sz="650" dirty="0">
                <a:latin typeface="Monaco"/>
                <a:cs typeface="Monaco"/>
              </a:rPr>
              <a:t>&gt;           &lt;!-- X-axis location of tree, scene center is 0.00              --&gt;</a:t>
            </a:r>
          </a:p>
          <a:p>
            <a:r>
              <a:rPr lang="en-US" sz="650" dirty="0">
                <a:latin typeface="Monaco"/>
                <a:cs typeface="Monaco"/>
              </a:rPr>
              <a:t>                &lt;</a:t>
            </a:r>
            <a:r>
              <a:rPr lang="en-US" sz="650" dirty="0" err="1">
                <a:latin typeface="Monaco"/>
                <a:cs typeface="Monaco"/>
              </a:rPr>
              <a:t>y_location</a:t>
            </a:r>
            <a:r>
              <a:rPr lang="en-US" sz="650" dirty="0">
                <a:latin typeface="Monaco"/>
                <a:cs typeface="Monaco"/>
              </a:rPr>
              <a:t>     units="meters"&gt;  -15.3100       &lt;/</a:t>
            </a:r>
            <a:r>
              <a:rPr lang="en-US" sz="650" dirty="0" err="1">
                <a:latin typeface="Monaco"/>
                <a:cs typeface="Monaco"/>
              </a:rPr>
              <a:t>y_location</a:t>
            </a:r>
            <a:r>
              <a:rPr lang="en-US" sz="650" dirty="0">
                <a:latin typeface="Monaco"/>
                <a:cs typeface="Monaco"/>
              </a:rPr>
              <a:t>&gt;           &lt;!-- Y-axis location of tree, scene center is 0.00              --&gt;</a:t>
            </a:r>
          </a:p>
          <a:p>
            <a:r>
              <a:rPr lang="en-US" sz="650" dirty="0">
                <a:latin typeface="Monaco"/>
                <a:cs typeface="Monaco"/>
              </a:rPr>
              <a:t>                &lt;</a:t>
            </a:r>
            <a:r>
              <a:rPr lang="en-US" sz="650" dirty="0" err="1">
                <a:latin typeface="Monaco"/>
                <a:cs typeface="Monaco"/>
              </a:rPr>
              <a:t>tree_height</a:t>
            </a:r>
            <a:r>
              <a:rPr lang="en-US" sz="650" dirty="0">
                <a:latin typeface="Monaco"/>
                <a:cs typeface="Monaco"/>
              </a:rPr>
              <a:t>    units="meters"&gt;   20.0000       &lt;/</a:t>
            </a:r>
            <a:r>
              <a:rPr lang="en-US" sz="650" dirty="0" err="1">
                <a:latin typeface="Monaco"/>
                <a:cs typeface="Monaco"/>
              </a:rPr>
              <a:t>tree_height</a:t>
            </a:r>
            <a:r>
              <a:rPr lang="en-US" sz="650" dirty="0">
                <a:latin typeface="Monaco"/>
                <a:cs typeface="Monaco"/>
              </a:rPr>
              <a:t>&gt;          &lt;!-- Vertical extent from tree base to canopy top               --&gt;</a:t>
            </a:r>
          </a:p>
          <a:p>
            <a:r>
              <a:rPr lang="en-US" sz="650" dirty="0">
                <a:latin typeface="Monaco"/>
                <a:cs typeface="Monaco"/>
              </a:rPr>
              <a:t>                &lt;</a:t>
            </a:r>
            <a:r>
              <a:rPr lang="en-US" sz="650" dirty="0" err="1">
                <a:latin typeface="Monaco"/>
                <a:cs typeface="Monaco"/>
              </a:rPr>
              <a:t>canopy_radius</a:t>
            </a:r>
            <a:r>
              <a:rPr lang="en-US" sz="650" dirty="0">
                <a:latin typeface="Monaco"/>
                <a:cs typeface="Monaco"/>
              </a:rPr>
              <a:t>  units="meters"&gt;    2.0000       &lt;/</a:t>
            </a:r>
            <a:r>
              <a:rPr lang="en-US" sz="650" dirty="0" err="1">
                <a:latin typeface="Monaco"/>
                <a:cs typeface="Monaco"/>
              </a:rPr>
              <a:t>canopy_radius</a:t>
            </a:r>
            <a:r>
              <a:rPr lang="en-US" sz="650" dirty="0">
                <a:latin typeface="Monaco"/>
                <a:cs typeface="Monaco"/>
              </a:rPr>
              <a:t>&gt;        &lt;!-- The largest horizontal radius of the canopy                --&gt;</a:t>
            </a:r>
          </a:p>
          <a:p>
            <a:r>
              <a:rPr lang="en-US" sz="650" dirty="0">
                <a:latin typeface="Monaco"/>
                <a:cs typeface="Monaco"/>
              </a:rPr>
              <a:t>                &lt;</a:t>
            </a:r>
            <a:r>
              <a:rPr lang="en-US" sz="650" dirty="0" err="1">
                <a:latin typeface="Monaco"/>
                <a:cs typeface="Monaco"/>
              </a:rPr>
              <a:t>canopy_depth</a:t>
            </a:r>
            <a:r>
              <a:rPr lang="en-US" sz="650" dirty="0">
                <a:latin typeface="Monaco"/>
                <a:cs typeface="Monaco"/>
              </a:rPr>
              <a:t>   units="meters"&gt;    3.1980       &lt;/</a:t>
            </a:r>
            <a:r>
              <a:rPr lang="en-US" sz="650" dirty="0" err="1">
                <a:latin typeface="Monaco"/>
                <a:cs typeface="Monaco"/>
              </a:rPr>
              <a:t>canopy_depth</a:t>
            </a:r>
            <a:r>
              <a:rPr lang="en-US" sz="650" dirty="0">
                <a:latin typeface="Monaco"/>
                <a:cs typeface="Monaco"/>
              </a:rPr>
              <a:t>&gt;         &lt;!-- The depth of the live part of the canopy                   --&gt;</a:t>
            </a:r>
          </a:p>
          <a:p>
            <a:r>
              <a:rPr lang="en-US" sz="650" dirty="0">
                <a:latin typeface="Monaco"/>
                <a:cs typeface="Monaco"/>
              </a:rPr>
              <a:t>                &lt;</a:t>
            </a:r>
            <a:r>
              <a:rPr lang="en-US" sz="650" dirty="0" err="1">
                <a:latin typeface="Monaco"/>
                <a:cs typeface="Monaco"/>
              </a:rPr>
              <a:t>dry_depth</a:t>
            </a:r>
            <a:r>
              <a:rPr lang="en-US" sz="650" dirty="0">
                <a:latin typeface="Monaco"/>
                <a:cs typeface="Monaco"/>
              </a:rPr>
              <a:t>      units="meters"&gt;    0.3107       &lt;/</a:t>
            </a:r>
            <a:r>
              <a:rPr lang="en-US" sz="650" dirty="0" err="1">
                <a:latin typeface="Monaco"/>
                <a:cs typeface="Monaco"/>
              </a:rPr>
              <a:t>dry_depth</a:t>
            </a:r>
            <a:r>
              <a:rPr lang="en-US" sz="650" dirty="0">
                <a:latin typeface="Monaco"/>
                <a:cs typeface="Monaco"/>
              </a:rPr>
              <a:t>&gt;            &lt;!-- The depth of the dry part of the canopy                    --&gt;</a:t>
            </a:r>
          </a:p>
          <a:p>
            <a:r>
              <a:rPr lang="en-US" sz="650" dirty="0">
                <a:latin typeface="Monaco"/>
                <a:cs typeface="Monaco"/>
              </a:rPr>
              <a:t>                &lt;</a:t>
            </a:r>
            <a:r>
              <a:rPr lang="en-US" sz="650" dirty="0" err="1">
                <a:latin typeface="Monaco"/>
                <a:cs typeface="Monaco"/>
              </a:rPr>
              <a:t>stem_diameter</a:t>
            </a:r>
            <a:r>
              <a:rPr lang="en-US" sz="650" dirty="0">
                <a:latin typeface="Monaco"/>
                <a:cs typeface="Monaco"/>
              </a:rPr>
              <a:t>  units="meters"&gt;    0.6840       &lt;/</a:t>
            </a:r>
            <a:r>
              <a:rPr lang="en-US" sz="650" dirty="0" err="1">
                <a:latin typeface="Monaco"/>
                <a:cs typeface="Monaco"/>
              </a:rPr>
              <a:t>stem_diameter</a:t>
            </a:r>
            <a:r>
              <a:rPr lang="en-US" sz="650" dirty="0">
                <a:latin typeface="Monaco"/>
                <a:cs typeface="Monaco"/>
              </a:rPr>
              <a:t>&gt;        &lt;!-- Diameter of trunk at breast height (</a:t>
            </a:r>
            <a:r>
              <a:rPr lang="en-US" sz="650" dirty="0" err="1">
                <a:latin typeface="Monaco"/>
                <a:cs typeface="Monaco"/>
              </a:rPr>
              <a:t>dbh</a:t>
            </a:r>
            <a:r>
              <a:rPr lang="en-US" sz="650" dirty="0">
                <a:latin typeface="Monaco"/>
                <a:cs typeface="Monaco"/>
              </a:rPr>
              <a:t>)                   --&gt;</a:t>
            </a:r>
          </a:p>
          <a:p>
            <a:r>
              <a:rPr lang="en-US" sz="650" dirty="0">
                <a:latin typeface="Monaco"/>
                <a:cs typeface="Monaco"/>
              </a:rPr>
              <a:t>        &lt;/tree&gt;</a:t>
            </a:r>
          </a:p>
          <a:p>
            <a:r>
              <a:rPr lang="en-US" sz="650" dirty="0">
                <a:latin typeface="Monaco"/>
                <a:cs typeface="Monaco"/>
              </a:rPr>
              <a:t>        &lt;tree&gt;</a:t>
            </a:r>
          </a:p>
          <a:p>
            <a:r>
              <a:rPr lang="en-US" sz="650" dirty="0">
                <a:latin typeface="Monaco"/>
                <a:cs typeface="Monaco"/>
              </a:rPr>
              <a:t>                &lt;species        units="none"&gt;        PIRE       &lt;/species&gt;              &lt;!-- </a:t>
            </a:r>
            <a:r>
              <a:rPr lang="en-US" sz="650" dirty="0" err="1">
                <a:latin typeface="Monaco"/>
                <a:cs typeface="Monaco"/>
              </a:rPr>
              <a:t>Pinus</a:t>
            </a:r>
            <a:r>
              <a:rPr lang="en-US" sz="650" dirty="0">
                <a:latin typeface="Monaco"/>
                <a:cs typeface="Monaco"/>
              </a:rPr>
              <a:t> </a:t>
            </a:r>
            <a:r>
              <a:rPr lang="en-US" sz="650" dirty="0" err="1">
                <a:latin typeface="Monaco"/>
                <a:cs typeface="Monaco"/>
              </a:rPr>
              <a:t>Resinosa</a:t>
            </a:r>
            <a:r>
              <a:rPr lang="en-US" sz="650" dirty="0">
                <a:latin typeface="Monaco"/>
                <a:cs typeface="Monaco"/>
              </a:rPr>
              <a:t>, Red Pine (see </a:t>
            </a:r>
            <a:r>
              <a:rPr lang="en-US" sz="650" dirty="0" err="1">
                <a:latin typeface="Monaco"/>
                <a:cs typeface="Monaco"/>
              </a:rPr>
              <a:t>allometry</a:t>
            </a:r>
            <a:r>
              <a:rPr lang="en-US" sz="650" dirty="0">
                <a:latin typeface="Monaco"/>
                <a:cs typeface="Monaco"/>
              </a:rPr>
              <a:t> file)              --&gt;</a:t>
            </a:r>
          </a:p>
          <a:p>
            <a:r>
              <a:rPr lang="en-US" sz="650" dirty="0">
                <a:latin typeface="Monaco"/>
                <a:cs typeface="Monaco"/>
              </a:rPr>
              <a:t>                &lt;</a:t>
            </a:r>
            <a:r>
              <a:rPr lang="en-US" sz="650" dirty="0" err="1">
                <a:latin typeface="Monaco"/>
                <a:cs typeface="Monaco"/>
              </a:rPr>
              <a:t>x_location</a:t>
            </a:r>
            <a:r>
              <a:rPr lang="en-US" sz="650" dirty="0">
                <a:latin typeface="Monaco"/>
                <a:cs typeface="Monaco"/>
              </a:rPr>
              <a:t>     units="meters"&gt;  -37.7800       &lt;/</a:t>
            </a:r>
            <a:r>
              <a:rPr lang="en-US" sz="650" dirty="0" err="1">
                <a:latin typeface="Monaco"/>
                <a:cs typeface="Monaco"/>
              </a:rPr>
              <a:t>x_location</a:t>
            </a:r>
            <a:r>
              <a:rPr lang="en-US" sz="650" dirty="0">
                <a:latin typeface="Monaco"/>
                <a:cs typeface="Monaco"/>
              </a:rPr>
              <a:t>&gt;           &lt;!-- X-axis location of tree, scene center is 0.00              --&gt;</a:t>
            </a:r>
          </a:p>
          <a:p>
            <a:r>
              <a:rPr lang="en-US" sz="650" dirty="0">
                <a:latin typeface="Monaco"/>
                <a:cs typeface="Monaco"/>
              </a:rPr>
              <a:t>                &lt;</a:t>
            </a:r>
            <a:r>
              <a:rPr lang="en-US" sz="650" dirty="0" err="1">
                <a:latin typeface="Monaco"/>
                <a:cs typeface="Monaco"/>
              </a:rPr>
              <a:t>y_location</a:t>
            </a:r>
            <a:r>
              <a:rPr lang="en-US" sz="650" dirty="0">
                <a:latin typeface="Monaco"/>
                <a:cs typeface="Monaco"/>
              </a:rPr>
              <a:t>     units="meters"&gt;  -16.9100       &lt;/</a:t>
            </a:r>
            <a:r>
              <a:rPr lang="en-US" sz="650" dirty="0" err="1">
                <a:latin typeface="Monaco"/>
                <a:cs typeface="Monaco"/>
              </a:rPr>
              <a:t>y_location</a:t>
            </a:r>
            <a:r>
              <a:rPr lang="en-US" sz="650" dirty="0">
                <a:latin typeface="Monaco"/>
                <a:cs typeface="Monaco"/>
              </a:rPr>
              <a:t>&gt;           &lt;!-- Y-axis location of tree, scene center is 0.00              --&gt;</a:t>
            </a:r>
          </a:p>
          <a:p>
            <a:r>
              <a:rPr lang="en-US" sz="650" dirty="0">
                <a:latin typeface="Monaco"/>
                <a:cs typeface="Monaco"/>
              </a:rPr>
              <a:t>                &lt;</a:t>
            </a:r>
            <a:r>
              <a:rPr lang="en-US" sz="650" dirty="0" err="1">
                <a:latin typeface="Monaco"/>
                <a:cs typeface="Monaco"/>
              </a:rPr>
              <a:t>tree_height</a:t>
            </a:r>
            <a:r>
              <a:rPr lang="en-US" sz="650" dirty="0">
                <a:latin typeface="Monaco"/>
                <a:cs typeface="Monaco"/>
              </a:rPr>
              <a:t>    units="meters"&gt;   25.5700       &lt;/</a:t>
            </a:r>
            <a:r>
              <a:rPr lang="en-US" sz="650" dirty="0" err="1">
                <a:latin typeface="Monaco"/>
                <a:cs typeface="Monaco"/>
              </a:rPr>
              <a:t>tree_height</a:t>
            </a:r>
            <a:r>
              <a:rPr lang="en-US" sz="650" dirty="0">
                <a:latin typeface="Monaco"/>
                <a:cs typeface="Monaco"/>
              </a:rPr>
              <a:t>&gt;          &lt;!-- Vertical extent from tree base to canopy top               --&gt;</a:t>
            </a:r>
          </a:p>
          <a:p>
            <a:r>
              <a:rPr lang="en-US" sz="650" dirty="0">
                <a:latin typeface="Monaco"/>
                <a:cs typeface="Monaco"/>
              </a:rPr>
              <a:t>                &lt;</a:t>
            </a:r>
            <a:r>
              <a:rPr lang="en-US" sz="650" dirty="0" err="1">
                <a:latin typeface="Monaco"/>
                <a:cs typeface="Monaco"/>
              </a:rPr>
              <a:t>canopy_radius</a:t>
            </a:r>
            <a:r>
              <a:rPr lang="en-US" sz="650" dirty="0">
                <a:latin typeface="Monaco"/>
                <a:cs typeface="Monaco"/>
              </a:rPr>
              <a:t>  units="meters"&gt;    1.1100       &lt;/</a:t>
            </a:r>
            <a:r>
              <a:rPr lang="en-US" sz="650" dirty="0" err="1">
                <a:latin typeface="Monaco"/>
                <a:cs typeface="Monaco"/>
              </a:rPr>
              <a:t>canopy_radius</a:t>
            </a:r>
            <a:r>
              <a:rPr lang="en-US" sz="650" dirty="0">
                <a:latin typeface="Monaco"/>
                <a:cs typeface="Monaco"/>
              </a:rPr>
              <a:t>&gt;        &lt;!-- The largest horizontal radius of the canopy                --&gt;</a:t>
            </a:r>
          </a:p>
          <a:p>
            <a:r>
              <a:rPr lang="en-US" sz="650" dirty="0">
                <a:latin typeface="Monaco"/>
                <a:cs typeface="Monaco"/>
              </a:rPr>
              <a:t>                &lt;</a:t>
            </a:r>
            <a:r>
              <a:rPr lang="en-US" sz="650" dirty="0" err="1">
                <a:latin typeface="Monaco"/>
                <a:cs typeface="Monaco"/>
              </a:rPr>
              <a:t>canopy_depth</a:t>
            </a:r>
            <a:r>
              <a:rPr lang="en-US" sz="650" dirty="0">
                <a:latin typeface="Monaco"/>
                <a:cs typeface="Monaco"/>
              </a:rPr>
              <a:t>   units="meters"&gt;    1.7820       &lt;/</a:t>
            </a:r>
            <a:r>
              <a:rPr lang="en-US" sz="650" dirty="0" err="1">
                <a:latin typeface="Monaco"/>
                <a:cs typeface="Monaco"/>
              </a:rPr>
              <a:t>canopy_depth</a:t>
            </a:r>
            <a:r>
              <a:rPr lang="en-US" sz="650" dirty="0">
                <a:latin typeface="Monaco"/>
                <a:cs typeface="Monaco"/>
              </a:rPr>
              <a:t>&gt;         &lt;!-- The depth of the live part of the canopy                   --&gt;</a:t>
            </a:r>
          </a:p>
          <a:p>
            <a:r>
              <a:rPr lang="en-US" sz="650" dirty="0">
                <a:latin typeface="Monaco"/>
                <a:cs typeface="Monaco"/>
              </a:rPr>
              <a:t>                &lt;</a:t>
            </a:r>
            <a:r>
              <a:rPr lang="en-US" sz="650" dirty="0" err="1">
                <a:latin typeface="Monaco"/>
                <a:cs typeface="Monaco"/>
              </a:rPr>
              <a:t>dry_depth</a:t>
            </a:r>
            <a:r>
              <a:rPr lang="en-US" sz="650" dirty="0">
                <a:latin typeface="Monaco"/>
                <a:cs typeface="Monaco"/>
              </a:rPr>
              <a:t>      units="meters"&gt;    0.3960       &lt;/</a:t>
            </a:r>
            <a:r>
              <a:rPr lang="en-US" sz="650" dirty="0" err="1">
                <a:latin typeface="Monaco"/>
                <a:cs typeface="Monaco"/>
              </a:rPr>
              <a:t>dry_depth</a:t>
            </a:r>
            <a:r>
              <a:rPr lang="en-US" sz="650" dirty="0">
                <a:latin typeface="Monaco"/>
                <a:cs typeface="Monaco"/>
              </a:rPr>
              <a:t>&gt;            &lt;!-- The depth of the dry part of the canopy                    --&gt;</a:t>
            </a:r>
          </a:p>
          <a:p>
            <a:r>
              <a:rPr lang="en-US" sz="650" dirty="0">
                <a:latin typeface="Monaco"/>
                <a:cs typeface="Monaco"/>
              </a:rPr>
              <a:t>                &lt;</a:t>
            </a:r>
            <a:r>
              <a:rPr lang="en-US" sz="650" dirty="0" err="1">
                <a:latin typeface="Monaco"/>
                <a:cs typeface="Monaco"/>
              </a:rPr>
              <a:t>stem_diameter</a:t>
            </a:r>
            <a:r>
              <a:rPr lang="en-US" sz="650" dirty="0">
                <a:latin typeface="Monaco"/>
                <a:cs typeface="Monaco"/>
              </a:rPr>
              <a:t>  units="meters"&gt;    0.8745       &lt;/</a:t>
            </a:r>
            <a:r>
              <a:rPr lang="en-US" sz="650" dirty="0" err="1">
                <a:latin typeface="Monaco"/>
                <a:cs typeface="Monaco"/>
              </a:rPr>
              <a:t>stem_diameter</a:t>
            </a:r>
            <a:r>
              <a:rPr lang="en-US" sz="650" dirty="0">
                <a:latin typeface="Monaco"/>
                <a:cs typeface="Monaco"/>
              </a:rPr>
              <a:t>&gt;        &lt;!-- Diameter of trunk at breast height (</a:t>
            </a:r>
            <a:r>
              <a:rPr lang="en-US" sz="650" dirty="0" err="1">
                <a:latin typeface="Monaco"/>
                <a:cs typeface="Monaco"/>
              </a:rPr>
              <a:t>dbh</a:t>
            </a:r>
            <a:r>
              <a:rPr lang="en-US" sz="650" dirty="0">
                <a:latin typeface="Monaco"/>
                <a:cs typeface="Monaco"/>
              </a:rPr>
              <a:t>)                   --&gt;</a:t>
            </a:r>
          </a:p>
          <a:p>
            <a:r>
              <a:rPr lang="en-US" sz="650" dirty="0">
                <a:latin typeface="Monaco"/>
                <a:cs typeface="Monaco"/>
              </a:rPr>
              <a:t>        &lt;/tree&gt;</a:t>
            </a:r>
          </a:p>
          <a:p>
            <a:r>
              <a:rPr lang="en-US" sz="650" dirty="0">
                <a:latin typeface="Monaco"/>
                <a:cs typeface="Monaco"/>
              </a:rPr>
              <a:t>	.</a:t>
            </a:r>
          </a:p>
          <a:p>
            <a:r>
              <a:rPr lang="en-US" sz="650" dirty="0">
                <a:latin typeface="Monaco"/>
                <a:cs typeface="Monaco"/>
              </a:rPr>
              <a:t>	.</a:t>
            </a:r>
          </a:p>
          <a:p>
            <a:r>
              <a:rPr lang="en-US" sz="650" dirty="0">
                <a:latin typeface="Monaco"/>
                <a:cs typeface="Monaco"/>
              </a:rPr>
              <a:t>	.</a:t>
            </a:r>
          </a:p>
          <a:p>
            <a:r>
              <a:rPr lang="en-US" sz="650" dirty="0">
                <a:latin typeface="Monaco"/>
                <a:cs typeface="Monaco"/>
              </a:rPr>
              <a:t>	.</a:t>
            </a:r>
          </a:p>
          <a:p>
            <a:r>
              <a:rPr lang="en-US" sz="650" dirty="0">
                <a:latin typeface="Monaco"/>
                <a:cs typeface="Monaco"/>
              </a:rPr>
              <a:t> &lt;/forest&gt;</a:t>
            </a:r>
          </a:p>
        </p:txBody>
      </p:sp>
      <p:sp>
        <p:nvSpPr>
          <p:cNvPr id="5" name="Content Placeholder 2"/>
          <p:cNvSpPr>
            <a:spLocks noGrp="1"/>
          </p:cNvSpPr>
          <p:nvPr>
            <p:ph idx="1"/>
          </p:nvPr>
        </p:nvSpPr>
        <p:spPr>
          <a:xfrm>
            <a:off x="359505" y="1299241"/>
            <a:ext cx="8229600" cy="3562112"/>
          </a:xfrm>
        </p:spPr>
        <p:txBody>
          <a:bodyPr>
            <a:normAutofit/>
          </a:bodyPr>
          <a:lstStyle/>
          <a:p>
            <a:r>
              <a:rPr lang="en-US" sz="2000" dirty="0"/>
              <a:t>Added the ability to read in forest primitives in the form of XML files</a:t>
            </a:r>
          </a:p>
          <a:p>
            <a:pPr marL="0" indent="0">
              <a:buNone/>
            </a:pPr>
            <a:endParaRPr lang="en-US" dirty="0"/>
          </a:p>
          <a:p>
            <a:endParaRPr lang="en-US" dirty="0"/>
          </a:p>
        </p:txBody>
      </p:sp>
      <p:sp>
        <p:nvSpPr>
          <p:cNvPr id="3" name="Date Placeholder 2">
            <a:extLst>
              <a:ext uri="{FF2B5EF4-FFF2-40B4-BE49-F238E27FC236}">
                <a16:creationId xmlns:a16="http://schemas.microsoft.com/office/drawing/2014/main" id="{E01AE2C3-CC01-46AE-105E-0675E2E28CA0}"/>
              </a:ext>
            </a:extLst>
          </p:cNvPr>
          <p:cNvSpPr>
            <a:spLocks noGrp="1"/>
          </p:cNvSpPr>
          <p:nvPr>
            <p:ph type="dt" sz="half" idx="10"/>
          </p:nvPr>
        </p:nvSpPr>
        <p:spPr/>
        <p:txBody>
          <a:bodyPr/>
          <a:lstStyle/>
          <a:p>
            <a:fld id="{A6E1330D-B943-1B43-81D0-F5AC7DBC1C31}" type="datetime1">
              <a:rPr lang="en-US" smtClean="0"/>
              <a:t>3/25/26</a:t>
            </a:fld>
            <a:endParaRPr lang="en-US"/>
          </a:p>
        </p:txBody>
      </p:sp>
      <p:sp>
        <p:nvSpPr>
          <p:cNvPr id="6" name="Footer Placeholder 5">
            <a:extLst>
              <a:ext uri="{FF2B5EF4-FFF2-40B4-BE49-F238E27FC236}">
                <a16:creationId xmlns:a16="http://schemas.microsoft.com/office/drawing/2014/main" id="{CCC2AAA2-5656-1525-8497-E3014E9075AE}"/>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4567667D-6FD9-6F3D-0A93-CB1850D6425C}"/>
              </a:ext>
            </a:extLst>
          </p:cNvPr>
          <p:cNvSpPr>
            <a:spLocks noGrp="1"/>
          </p:cNvSpPr>
          <p:nvPr>
            <p:ph type="sldNum" sz="quarter" idx="12"/>
          </p:nvPr>
        </p:nvSpPr>
        <p:spPr/>
        <p:txBody>
          <a:bodyPr/>
          <a:lstStyle/>
          <a:p>
            <a:fld id="{B4CE5C4C-399A-B444-9B2A-945D2610250E}" type="slidenum">
              <a:rPr lang="en-US" smtClean="0"/>
              <a:t>6</a:t>
            </a:fld>
            <a:endParaRPr lang="en-US"/>
          </a:p>
        </p:txBody>
      </p:sp>
    </p:spTree>
    <p:extLst>
      <p:ext uri="{BB962C8B-B14F-4D97-AF65-F5344CB8AC3E}">
        <p14:creationId xmlns:p14="http://schemas.microsoft.com/office/powerpoint/2010/main" val="2670534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Reading in forest primitives (XML)</a:t>
            </a:r>
          </a:p>
        </p:txBody>
      </p:sp>
      <p:sp>
        <p:nvSpPr>
          <p:cNvPr id="3" name="Content Placeholder 2"/>
          <p:cNvSpPr>
            <a:spLocks noGrp="1"/>
          </p:cNvSpPr>
          <p:nvPr>
            <p:ph idx="1"/>
          </p:nvPr>
        </p:nvSpPr>
        <p:spPr>
          <a:xfrm>
            <a:off x="457200" y="1244600"/>
            <a:ext cx="8229600" cy="5156200"/>
          </a:xfrm>
        </p:spPr>
        <p:txBody>
          <a:bodyPr>
            <a:normAutofit fontScale="25000" lnSpcReduction="20000"/>
          </a:bodyPr>
          <a:lstStyle/>
          <a:p>
            <a:r>
              <a:rPr lang="en-US" sz="3600" dirty="0"/>
              <a:t>Added module </a:t>
            </a:r>
            <a:r>
              <a:rPr lang="en-US" sz="3600" b="1" dirty="0" err="1"/>
              <a:t>read_forest.c</a:t>
            </a:r>
            <a:r>
              <a:rPr lang="en-US" sz="3600" dirty="0"/>
              <a:t> (with </a:t>
            </a:r>
            <a:r>
              <a:rPr lang="en-US" sz="3600" dirty="0" err="1"/>
              <a:t>read_forest.h</a:t>
            </a:r>
            <a:r>
              <a:rPr lang="en-US" sz="3600" dirty="0"/>
              <a:t>), which now also includes</a:t>
            </a:r>
          </a:p>
          <a:p>
            <a:pPr lvl="1"/>
            <a:r>
              <a:rPr lang="en-US" sz="3600" dirty="0" err="1"/>
              <a:t>InputPolSARproSim_Forest_XML</a:t>
            </a:r>
            <a:r>
              <a:rPr lang="en-US" sz="3600" dirty="0"/>
              <a:t>(*</a:t>
            </a:r>
            <a:r>
              <a:rPr lang="en-US" sz="3600" dirty="0" err="1"/>
              <a:t>pPR</a:t>
            </a:r>
            <a:r>
              <a:rPr lang="en-US" sz="3600" dirty="0"/>
              <a:t>) </a:t>
            </a:r>
          </a:p>
          <a:p>
            <a:pPr lvl="2"/>
            <a:r>
              <a:rPr lang="en-US" sz="3600" dirty="0"/>
              <a:t>to read forest primitives file and compute some parameters for the Master Record</a:t>
            </a:r>
          </a:p>
          <a:p>
            <a:pPr lvl="3"/>
            <a:r>
              <a:rPr lang="en-US" sz="3600" dirty="0" err="1"/>
              <a:t>pPR</a:t>
            </a:r>
            <a:r>
              <a:rPr lang="en-US" sz="3600" dirty="0"/>
              <a:t>-&gt;</a:t>
            </a:r>
            <a:r>
              <a:rPr lang="en-US" sz="3600" dirty="0" err="1"/>
              <a:t>mean_crown_radius</a:t>
            </a:r>
            <a:r>
              <a:rPr lang="en-US" sz="3600" dirty="0"/>
              <a:t>, </a:t>
            </a:r>
            <a:r>
              <a:rPr lang="en-US" sz="3600" dirty="0" err="1"/>
              <a:t>pPR</a:t>
            </a:r>
            <a:r>
              <a:rPr lang="en-US" sz="3600" dirty="0"/>
              <a:t>-&gt;</a:t>
            </a:r>
            <a:r>
              <a:rPr lang="en-US" sz="3600" dirty="0" err="1"/>
              <a:t>Layover_distance</a:t>
            </a:r>
            <a:r>
              <a:rPr lang="en-US" sz="3600" dirty="0"/>
              <a:t>, </a:t>
            </a:r>
            <a:r>
              <a:rPr lang="en-US" sz="3600" dirty="0" err="1"/>
              <a:t>pPR</a:t>
            </a:r>
            <a:r>
              <a:rPr lang="en-US" sz="3600" dirty="0"/>
              <a:t>-&gt;</a:t>
            </a:r>
            <a:r>
              <a:rPr lang="en-US" sz="3600" dirty="0" err="1"/>
              <a:t>Shadow_distance</a:t>
            </a:r>
            <a:r>
              <a:rPr lang="en-US" sz="3600" dirty="0"/>
              <a:t>, </a:t>
            </a:r>
            <a:r>
              <a:rPr lang="en-US" sz="3600" dirty="0" err="1"/>
              <a:t>pPR</a:t>
            </a:r>
            <a:r>
              <a:rPr lang="en-US" sz="3600" dirty="0"/>
              <a:t>-&gt;</a:t>
            </a:r>
            <a:r>
              <a:rPr lang="en-US" sz="3600" dirty="0" err="1"/>
              <a:t>Gap_distance</a:t>
            </a:r>
            <a:r>
              <a:rPr lang="en-US" sz="3600" dirty="0"/>
              <a:t>, </a:t>
            </a:r>
            <a:r>
              <a:rPr lang="en-US" sz="3600" dirty="0" err="1"/>
              <a:t>pPR</a:t>
            </a:r>
            <a:r>
              <a:rPr lang="en-US" sz="3600" dirty="0"/>
              <a:t>-&gt;</a:t>
            </a:r>
            <a:r>
              <a:rPr lang="en-US" sz="3600" dirty="0" err="1"/>
              <a:t>Stand_radius</a:t>
            </a:r>
            <a:r>
              <a:rPr lang="en-US" sz="3600" dirty="0"/>
              <a:t>, </a:t>
            </a:r>
            <a:r>
              <a:rPr lang="en-US" sz="3600" dirty="0" err="1"/>
              <a:t>pPR</a:t>
            </a:r>
            <a:r>
              <a:rPr lang="en-US" sz="3600" dirty="0"/>
              <a:t>-&gt;Lx, </a:t>
            </a:r>
            <a:r>
              <a:rPr lang="en-US" sz="3600" dirty="0" err="1"/>
              <a:t>pPR</a:t>
            </a:r>
            <a:r>
              <a:rPr lang="en-US" sz="3600" dirty="0"/>
              <a:t>-&gt;Ly, </a:t>
            </a:r>
            <a:r>
              <a:rPr lang="en-US" sz="3600" dirty="0" err="1"/>
              <a:t>pPR</a:t>
            </a:r>
            <a:r>
              <a:rPr lang="en-US" sz="3600" dirty="0"/>
              <a:t>-&gt;Area, </a:t>
            </a:r>
            <a:r>
              <a:rPr lang="en-US" sz="3600" dirty="0" err="1"/>
              <a:t>pPR</a:t>
            </a:r>
            <a:r>
              <a:rPr lang="en-US" sz="3600" dirty="0"/>
              <a:t>-&gt;Hectares, </a:t>
            </a:r>
            <a:r>
              <a:rPr lang="en-US" sz="3600" dirty="0" err="1"/>
              <a:t>pPR</a:t>
            </a:r>
            <a:r>
              <a:rPr lang="en-US" sz="3600" dirty="0"/>
              <a:t>-&gt;</a:t>
            </a:r>
            <a:r>
              <a:rPr lang="en-US" sz="3600" dirty="0" err="1"/>
              <a:t>nx</a:t>
            </a:r>
            <a:r>
              <a:rPr lang="en-US" sz="3600" dirty="0"/>
              <a:t>, </a:t>
            </a:r>
            <a:r>
              <a:rPr lang="en-US" sz="3600" dirty="0" err="1"/>
              <a:t>pPR</a:t>
            </a:r>
            <a:r>
              <a:rPr lang="en-US" sz="3600" dirty="0"/>
              <a:t>-&gt;</a:t>
            </a:r>
            <a:r>
              <a:rPr lang="en-US" sz="3600" dirty="0" err="1"/>
              <a:t>ny</a:t>
            </a:r>
            <a:r>
              <a:rPr lang="en-US" sz="3600" dirty="0"/>
              <a:t>, </a:t>
            </a:r>
            <a:r>
              <a:rPr lang="en-US" sz="3600" dirty="0" err="1"/>
              <a:t>pPR</a:t>
            </a:r>
            <a:r>
              <a:rPr lang="en-US" sz="3600" dirty="0"/>
              <a:t>-&gt;</a:t>
            </a:r>
            <a:r>
              <a:rPr lang="en-US" sz="3600" dirty="0" err="1"/>
              <a:t>deltax</a:t>
            </a:r>
            <a:r>
              <a:rPr lang="en-US" sz="3600" dirty="0"/>
              <a:t>, </a:t>
            </a:r>
            <a:r>
              <a:rPr lang="en-US" sz="3600" dirty="0" err="1"/>
              <a:t>pPR</a:t>
            </a:r>
            <a:r>
              <a:rPr lang="en-US" sz="3600" dirty="0"/>
              <a:t>-&gt;</a:t>
            </a:r>
            <a:r>
              <a:rPr lang="en-US" sz="3600" dirty="0" err="1"/>
              <a:t>deltay</a:t>
            </a:r>
            <a:r>
              <a:rPr lang="en-US" sz="3600" dirty="0"/>
              <a:t>, </a:t>
            </a:r>
            <a:r>
              <a:rPr lang="en-US" sz="3600" dirty="0" err="1"/>
              <a:t>pPR</a:t>
            </a:r>
            <a:r>
              <a:rPr lang="en-US" sz="3600" dirty="0"/>
              <a:t>-&gt;Trees</a:t>
            </a:r>
          </a:p>
          <a:p>
            <a:pPr lvl="3"/>
            <a:r>
              <a:rPr lang="en-US" sz="3600" dirty="0"/>
              <a:t>Added field </a:t>
            </a:r>
            <a:r>
              <a:rPr lang="en-US" sz="3600" dirty="0" err="1"/>
              <a:t>pPR</a:t>
            </a:r>
            <a:r>
              <a:rPr lang="en-US" sz="3600" dirty="0"/>
              <a:t>-&gt;</a:t>
            </a:r>
            <a:r>
              <a:rPr lang="en-US" sz="3600" dirty="0" err="1"/>
              <a:t>max_tree_height</a:t>
            </a:r>
            <a:endParaRPr lang="en-US" sz="3600" dirty="0"/>
          </a:p>
          <a:p>
            <a:pPr lvl="2"/>
            <a:r>
              <a:rPr lang="en-US" sz="4000" dirty="0"/>
              <a:t>Calls</a:t>
            </a:r>
          </a:p>
          <a:p>
            <a:pPr lvl="3"/>
            <a:r>
              <a:rPr lang="en-US" sz="3600" dirty="0" err="1"/>
              <a:t>parse_XML_tree_tag</a:t>
            </a:r>
            <a:r>
              <a:rPr lang="en-US" sz="3600" dirty="0"/>
              <a:t>() and </a:t>
            </a:r>
            <a:r>
              <a:rPr lang="en-US" sz="3600" dirty="0" err="1"/>
              <a:t>parse_XML_meta_tag</a:t>
            </a:r>
            <a:r>
              <a:rPr lang="en-US" sz="3600" dirty="0"/>
              <a:t>() to read the &lt;tree&gt; tags and the &lt;meta&gt; tag. </a:t>
            </a:r>
          </a:p>
          <a:p>
            <a:pPr lvl="4"/>
            <a:r>
              <a:rPr lang="en-US" sz="3600" dirty="0"/>
              <a:t>Only parses the first N trees where N is read in from &lt;</a:t>
            </a:r>
            <a:r>
              <a:rPr lang="en-US" sz="3600" dirty="0" err="1"/>
              <a:t>num_trees</a:t>
            </a:r>
            <a:r>
              <a:rPr lang="en-US" sz="3600" dirty="0"/>
              <a:t>&gt; in &lt;meta&gt;</a:t>
            </a:r>
          </a:p>
          <a:p>
            <a:pPr lvl="3"/>
            <a:r>
              <a:rPr lang="en-US" sz="3600" dirty="0" err="1"/>
              <a:t>trimwhitespaces</a:t>
            </a:r>
            <a:r>
              <a:rPr lang="en-US" sz="3600" dirty="0"/>
              <a:t>() is a little function to strip out white spaces before and after the first and last non-space characters in a string. So that I can have good formatting in the XML file. </a:t>
            </a:r>
          </a:p>
          <a:p>
            <a:pPr lvl="2"/>
            <a:endParaRPr lang="en-US" sz="4000" dirty="0"/>
          </a:p>
          <a:p>
            <a:pPr lvl="1"/>
            <a:r>
              <a:rPr lang="en-US" sz="3600" dirty="0" err="1"/>
              <a:t>CheckPolSARprSim_Forest</a:t>
            </a:r>
            <a:r>
              <a:rPr lang="en-US" sz="3600" dirty="0"/>
              <a:t>(*</a:t>
            </a:r>
            <a:r>
              <a:rPr lang="en-US" sz="3600" dirty="0" err="1"/>
              <a:t>pPR</a:t>
            </a:r>
            <a:r>
              <a:rPr lang="en-US" sz="3600" dirty="0"/>
              <a:t>) (to check forest primitives)</a:t>
            </a:r>
          </a:p>
          <a:p>
            <a:pPr lvl="2"/>
            <a:r>
              <a:rPr lang="en-US" sz="3600" dirty="0"/>
              <a:t>to check forest primitives read in from $</a:t>
            </a:r>
            <a:r>
              <a:rPr lang="en-US" sz="3600" dirty="0" err="1"/>
              <a:t>prefix_forest.xml</a:t>
            </a:r>
            <a:endParaRPr lang="en-US" sz="3600" dirty="0"/>
          </a:p>
          <a:p>
            <a:pPr marL="914400" lvl="2" indent="0">
              <a:buNone/>
            </a:pPr>
            <a:endParaRPr lang="en-US" sz="3600" dirty="0"/>
          </a:p>
          <a:p>
            <a:r>
              <a:rPr lang="en-US" sz="3600" dirty="0"/>
              <a:t>Added field  *</a:t>
            </a:r>
            <a:r>
              <a:rPr lang="en-US" sz="3600" dirty="0" err="1"/>
              <a:t>ForestData</a:t>
            </a:r>
            <a:r>
              <a:rPr lang="en-US" sz="3600" dirty="0"/>
              <a:t>  of type (char) to </a:t>
            </a:r>
            <a:r>
              <a:rPr lang="en-US" sz="3600" dirty="0" err="1"/>
              <a:t>Master_Record</a:t>
            </a:r>
            <a:r>
              <a:rPr lang="en-US" sz="3600" dirty="0"/>
              <a:t> to store name of file that contains forest primitives. This name is computed in main() as $</a:t>
            </a:r>
            <a:r>
              <a:rPr lang="en-US" sz="3600" dirty="0" err="1"/>
              <a:t>prefix_forest.xml</a:t>
            </a:r>
            <a:endParaRPr lang="en-US" sz="3600" dirty="0"/>
          </a:p>
          <a:p>
            <a:pPr marL="0" indent="0">
              <a:buNone/>
            </a:pPr>
            <a:r>
              <a:rPr lang="en-US" sz="3600" dirty="0"/>
              <a:t>  </a:t>
            </a:r>
          </a:p>
          <a:p>
            <a:r>
              <a:rPr lang="en-US" sz="3600" dirty="0"/>
              <a:t>Added field </a:t>
            </a:r>
            <a:r>
              <a:rPr lang="en-US" sz="3600" dirty="0" err="1"/>
              <a:t>ForestInput_Flag</a:t>
            </a:r>
            <a:r>
              <a:rPr lang="en-US" sz="3600" dirty="0"/>
              <a:t> [</a:t>
            </a:r>
            <a:r>
              <a:rPr lang="en-US" sz="3600" dirty="0" err="1"/>
              <a:t>int</a:t>
            </a:r>
            <a:r>
              <a:rPr lang="en-US" sz="3600" dirty="0"/>
              <a:t>] in </a:t>
            </a:r>
            <a:r>
              <a:rPr lang="en-US" sz="3600" dirty="0" err="1"/>
              <a:t>Master_Record</a:t>
            </a:r>
            <a:r>
              <a:rPr lang="en-US" sz="3600" dirty="0"/>
              <a:t>. When it is set (to global flag EXTERNAL_FOREST_DEFINITION) </a:t>
            </a:r>
          </a:p>
          <a:p>
            <a:pPr lvl="1"/>
            <a:r>
              <a:rPr lang="en-US" sz="3600" dirty="0" err="1"/>
              <a:t>InputPolSARproSim_Forest_XML</a:t>
            </a:r>
            <a:r>
              <a:rPr lang="en-US" sz="3600" dirty="0"/>
              <a:t>() is invoked from </a:t>
            </a:r>
            <a:r>
              <a:rPr lang="en-US" sz="3600" dirty="0" err="1"/>
              <a:t>InputPolSARproSim_Record</a:t>
            </a:r>
            <a:r>
              <a:rPr lang="en-US" sz="3600" dirty="0"/>
              <a:t>() in </a:t>
            </a:r>
            <a:r>
              <a:rPr lang="en-US" sz="3600" dirty="0" err="1"/>
              <a:t>PolSARproSim_Procedures.c</a:t>
            </a:r>
            <a:endParaRPr lang="en-US" sz="3600" dirty="0"/>
          </a:p>
          <a:p>
            <a:pPr lvl="1"/>
            <a:r>
              <a:rPr lang="en-US" sz="3600" dirty="0" err="1"/>
              <a:t>ChecPolSARproSim_Forest</a:t>
            </a:r>
            <a:r>
              <a:rPr lang="en-US" sz="3600" dirty="0"/>
              <a:t>() is invoked from </a:t>
            </a:r>
            <a:r>
              <a:rPr lang="en-US" sz="3600" dirty="0" err="1"/>
              <a:t>InputPolSARproSim_Record</a:t>
            </a:r>
            <a:r>
              <a:rPr lang="en-US" sz="3600" dirty="0"/>
              <a:t>() in </a:t>
            </a:r>
            <a:r>
              <a:rPr lang="en-US" sz="3600" dirty="0" err="1"/>
              <a:t>PolSARproSim_Procedures.c</a:t>
            </a:r>
            <a:endParaRPr lang="en-US" sz="3600" dirty="0"/>
          </a:p>
          <a:p>
            <a:pPr lvl="1"/>
            <a:r>
              <a:rPr lang="en-US" sz="3600" dirty="0" err="1"/>
              <a:t>Tree_Location_Generation</a:t>
            </a:r>
            <a:r>
              <a:rPr lang="en-US" sz="3600" dirty="0"/>
              <a:t>() is not called in main() in </a:t>
            </a:r>
            <a:r>
              <a:rPr lang="en-US" sz="3600" dirty="0" err="1"/>
              <a:t>PolSARproSim.c</a:t>
            </a:r>
            <a:endParaRPr lang="en-US" sz="3600" dirty="0"/>
          </a:p>
          <a:p>
            <a:endParaRPr lang="en-US" sz="3600" dirty="0"/>
          </a:p>
          <a:p>
            <a:r>
              <a:rPr lang="en-US" sz="3600" dirty="0"/>
              <a:t>Added fields to </a:t>
            </a:r>
            <a:r>
              <a:rPr lang="en-US" sz="3600" dirty="0" err="1"/>
              <a:t>TreeLoc</a:t>
            </a:r>
            <a:r>
              <a:rPr lang="en-US" sz="3600" dirty="0"/>
              <a:t> structure</a:t>
            </a:r>
          </a:p>
          <a:p>
            <a:pPr lvl="1"/>
            <a:r>
              <a:rPr lang="en-US" sz="3600" dirty="0" err="1"/>
              <a:t>TreeLoc.species</a:t>
            </a:r>
            <a:r>
              <a:rPr lang="en-US" sz="3600" dirty="0"/>
              <a:t>, </a:t>
            </a:r>
            <a:r>
              <a:rPr lang="en-US" sz="3600" dirty="0" err="1"/>
              <a:t>TreeLoc.canopy_depth</a:t>
            </a:r>
            <a:r>
              <a:rPr lang="en-US" sz="3600" dirty="0"/>
              <a:t>, </a:t>
            </a:r>
            <a:r>
              <a:rPr lang="en-US" sz="3600" dirty="0" err="1"/>
              <a:t>TreeLoc.canopy_dry_depth</a:t>
            </a:r>
            <a:r>
              <a:rPr lang="en-US" sz="3600" dirty="0"/>
              <a:t>, </a:t>
            </a:r>
            <a:r>
              <a:rPr lang="en-US" sz="3600" dirty="0" err="1"/>
              <a:t>TreeLoc.dbh</a:t>
            </a:r>
            <a:endParaRPr lang="en-US" sz="3600" dirty="0"/>
          </a:p>
          <a:p>
            <a:pPr lvl="1"/>
            <a:r>
              <a:rPr lang="en-US" sz="3600" dirty="0"/>
              <a:t>These fields are filled in </a:t>
            </a:r>
            <a:r>
              <a:rPr lang="en-US" sz="3600" dirty="0" err="1"/>
              <a:t>InputPolSARproSim_Forest_XML</a:t>
            </a:r>
            <a:r>
              <a:rPr lang="en-US" sz="3600" dirty="0"/>
              <a:t> for each tree, e.g. </a:t>
            </a:r>
            <a:r>
              <a:rPr lang="en-US" sz="3600" dirty="0" err="1"/>
              <a:t>pPR</a:t>
            </a:r>
            <a:r>
              <a:rPr lang="en-US" sz="3600" dirty="0"/>
              <a:t>-&gt;</a:t>
            </a:r>
            <a:r>
              <a:rPr lang="en-US" sz="3600" dirty="0" err="1"/>
              <a:t>Tree_Location</a:t>
            </a:r>
            <a:r>
              <a:rPr lang="en-US" sz="3600" dirty="0"/>
              <a:t>[</a:t>
            </a:r>
            <a:r>
              <a:rPr lang="en-US" sz="3600" dirty="0" err="1"/>
              <a:t>itree</a:t>
            </a:r>
            <a:r>
              <a:rPr lang="en-US" sz="3600" dirty="0"/>
              <a:t>].species = &lt;name&gt;;  </a:t>
            </a:r>
            <a:r>
              <a:rPr lang="en-US" sz="3600" dirty="0" err="1"/>
              <a:t>etc</a:t>
            </a:r>
            <a:r>
              <a:rPr lang="en-US" sz="3600" dirty="0"/>
              <a:t> (see later slides)</a:t>
            </a:r>
          </a:p>
          <a:p>
            <a:pPr lvl="1"/>
            <a:r>
              <a:rPr lang="en-US" sz="3600" dirty="0"/>
              <a:t>These fields are checked by </a:t>
            </a:r>
            <a:r>
              <a:rPr lang="en-US" sz="3600" dirty="0" err="1"/>
              <a:t>ChecPolSARproSim_Forest</a:t>
            </a:r>
            <a:r>
              <a:rPr lang="en-US" sz="3600" dirty="0"/>
              <a:t>() (see later slides)</a:t>
            </a:r>
          </a:p>
          <a:p>
            <a:endParaRPr lang="en-US" sz="3600" dirty="0"/>
          </a:p>
          <a:p>
            <a:r>
              <a:rPr lang="en-US" sz="3600" dirty="0" err="1"/>
              <a:t>InputPolSARproSim_Forest_XML</a:t>
            </a:r>
            <a:r>
              <a:rPr lang="en-US" sz="3600" dirty="0"/>
              <a:t>() reads primitives from </a:t>
            </a:r>
            <a:r>
              <a:rPr lang="en-US" sz="3600" dirty="0" err="1"/>
              <a:t>pPR</a:t>
            </a:r>
            <a:r>
              <a:rPr lang="en-US" sz="3600" dirty="0"/>
              <a:t>-&gt;</a:t>
            </a:r>
            <a:r>
              <a:rPr lang="en-US" sz="3600" dirty="0" err="1"/>
              <a:t>ForestData</a:t>
            </a:r>
            <a:r>
              <a:rPr lang="en-US" sz="3600" dirty="0"/>
              <a:t> which is supposed to be an XML file with the necessary tags (without which the program will exit)</a:t>
            </a:r>
          </a:p>
          <a:p>
            <a:pPr marL="971550" lvl="1" indent="-514350">
              <a:buFont typeface="+mj-lt"/>
              <a:buAutoNum type="arabicPeriod"/>
            </a:pPr>
            <a:r>
              <a:rPr lang="en-US" sz="3600" dirty="0"/>
              <a:t>&lt;species&gt; 	Name string &lt;ASCII&gt; e.g. ACRU. This is then related to the </a:t>
            </a:r>
            <a:r>
              <a:rPr lang="en-US" sz="3600" dirty="0" err="1"/>
              <a:t>SpeciesDataBase</a:t>
            </a:r>
            <a:r>
              <a:rPr lang="en-US" sz="3600" dirty="0"/>
              <a:t> (see later slides)</a:t>
            </a:r>
          </a:p>
          <a:p>
            <a:pPr marL="971550" lvl="1" indent="-514350">
              <a:buFont typeface="+mj-lt"/>
              <a:buAutoNum type="arabicPeriod"/>
            </a:pPr>
            <a:r>
              <a:rPr lang="en-US" sz="3600" dirty="0"/>
              <a:t>&lt;</a:t>
            </a:r>
            <a:r>
              <a:rPr lang="en-US" sz="3600" dirty="0" err="1"/>
              <a:t>x_location</a:t>
            </a:r>
            <a:r>
              <a:rPr lang="en-US" sz="3600" dirty="0"/>
              <a:t>&gt;	Tree X location: &lt;double&gt; [meters] </a:t>
            </a:r>
          </a:p>
          <a:p>
            <a:pPr marL="971550" lvl="1" indent="-514350">
              <a:buFont typeface="+mj-lt"/>
              <a:buAutoNum type="arabicPeriod"/>
            </a:pPr>
            <a:r>
              <a:rPr lang="en-US" sz="3600" dirty="0"/>
              <a:t>&lt;</a:t>
            </a:r>
            <a:r>
              <a:rPr lang="en-US" sz="3600" dirty="0" err="1"/>
              <a:t>y_location</a:t>
            </a:r>
            <a:r>
              <a:rPr lang="en-US" sz="3600" dirty="0"/>
              <a:t>&gt;	Tree Y location: &lt;double&gt; [meters]</a:t>
            </a:r>
          </a:p>
          <a:p>
            <a:pPr marL="971550" lvl="1" indent="-514350">
              <a:buFont typeface="+mj-lt"/>
              <a:buAutoNum type="arabicPeriod"/>
            </a:pPr>
            <a:r>
              <a:rPr lang="en-US" sz="3600" dirty="0"/>
              <a:t>&lt;</a:t>
            </a:r>
            <a:r>
              <a:rPr lang="en-US" sz="3600" dirty="0" err="1"/>
              <a:t>tree_height</a:t>
            </a:r>
            <a:r>
              <a:rPr lang="en-US" sz="3600" dirty="0"/>
              <a:t>&gt;	Tree height: &lt;double&gt; [meters]</a:t>
            </a:r>
          </a:p>
          <a:p>
            <a:pPr marL="971550" lvl="1" indent="-514350">
              <a:buFont typeface="+mj-lt"/>
              <a:buAutoNum type="arabicPeriod"/>
            </a:pPr>
            <a:r>
              <a:rPr lang="en-US" sz="3600" dirty="0"/>
              <a:t>&lt;</a:t>
            </a:r>
            <a:r>
              <a:rPr lang="en-US" sz="3600" dirty="0" err="1"/>
              <a:t>canopy_radius</a:t>
            </a:r>
            <a:r>
              <a:rPr lang="en-US" sz="3600" dirty="0"/>
              <a:t>&gt;	Canopy Radius: &lt;double&gt; [meters]</a:t>
            </a:r>
          </a:p>
          <a:p>
            <a:pPr marL="971550" lvl="1" indent="-514350">
              <a:buFont typeface="+mj-lt"/>
              <a:buAutoNum type="arabicPeriod"/>
            </a:pPr>
            <a:r>
              <a:rPr lang="en-US" sz="3600" dirty="0"/>
              <a:t>&lt;</a:t>
            </a:r>
            <a:r>
              <a:rPr lang="en-US" sz="3600" dirty="0" err="1"/>
              <a:t>canopy_depth</a:t>
            </a:r>
            <a:r>
              <a:rPr lang="en-US" sz="3600" dirty="0"/>
              <a:t>&gt;	Canopy depth: &lt;double&gt; [meters]</a:t>
            </a:r>
          </a:p>
          <a:p>
            <a:pPr marL="971550" lvl="1" indent="-514350">
              <a:buFont typeface="+mj-lt"/>
              <a:buAutoNum type="arabicPeriod"/>
            </a:pPr>
            <a:r>
              <a:rPr lang="en-US" sz="3600" dirty="0"/>
              <a:t>&lt;</a:t>
            </a:r>
            <a:r>
              <a:rPr lang="en-US" sz="3600" dirty="0" err="1"/>
              <a:t>dry_depth</a:t>
            </a:r>
            <a:r>
              <a:rPr lang="en-US" sz="3600" dirty="0"/>
              <a:t>&gt;	Canopy dry depth: &lt;double&gt; [meters]</a:t>
            </a:r>
          </a:p>
          <a:p>
            <a:pPr marL="971550" lvl="1" indent="-514350">
              <a:buFont typeface="+mj-lt"/>
              <a:buAutoNum type="arabicPeriod"/>
            </a:pPr>
            <a:r>
              <a:rPr lang="en-US" sz="3600" dirty="0"/>
              <a:t>&lt;</a:t>
            </a:r>
            <a:r>
              <a:rPr lang="en-US" sz="3600" dirty="0" err="1"/>
              <a:t>stem_diameter</a:t>
            </a:r>
            <a:r>
              <a:rPr lang="en-US" sz="3600" dirty="0"/>
              <a:t>&gt;	</a:t>
            </a:r>
            <a:r>
              <a:rPr lang="en-US" sz="3600" dirty="0" err="1"/>
              <a:t>Dbh</a:t>
            </a:r>
            <a:r>
              <a:rPr lang="en-US" sz="3600" dirty="0"/>
              <a:t>: &lt;double&gt; [meters] stem start diameter</a:t>
            </a:r>
          </a:p>
          <a:p>
            <a:pPr marL="57150" indent="0">
              <a:buNone/>
            </a:pPr>
            <a:endParaRPr lang="en-US" dirty="0"/>
          </a:p>
          <a:p>
            <a:pPr marL="57150" indent="0">
              <a:buNone/>
            </a:pPr>
            <a:endParaRPr lang="en-US" dirty="0"/>
          </a:p>
          <a:p>
            <a:pPr marL="971550" lvl="1" indent="-514350">
              <a:buFont typeface="+mj-lt"/>
              <a:buAutoNum type="arabicPeriod"/>
            </a:pPr>
            <a:endParaRPr lang="en-US" dirty="0"/>
          </a:p>
          <a:p>
            <a:pPr lvl="1"/>
            <a:endParaRPr lang="en-US" dirty="0"/>
          </a:p>
          <a:p>
            <a:endParaRPr lang="en-US" dirty="0"/>
          </a:p>
          <a:p>
            <a:endParaRPr lang="en-US" dirty="0"/>
          </a:p>
        </p:txBody>
      </p:sp>
      <p:sp>
        <p:nvSpPr>
          <p:cNvPr id="4" name="Date Placeholder 3">
            <a:extLst>
              <a:ext uri="{FF2B5EF4-FFF2-40B4-BE49-F238E27FC236}">
                <a16:creationId xmlns:a16="http://schemas.microsoft.com/office/drawing/2014/main" id="{0992EB5F-9812-A2F2-6715-C36D83B371E1}"/>
              </a:ext>
            </a:extLst>
          </p:cNvPr>
          <p:cNvSpPr>
            <a:spLocks noGrp="1"/>
          </p:cNvSpPr>
          <p:nvPr>
            <p:ph type="dt" sz="half" idx="10"/>
          </p:nvPr>
        </p:nvSpPr>
        <p:spPr/>
        <p:txBody>
          <a:bodyPr/>
          <a:lstStyle/>
          <a:p>
            <a:fld id="{C878A3B7-FD4E-AA42-8A11-5FB738028D74}" type="datetime1">
              <a:rPr lang="en-US" smtClean="0"/>
              <a:t>3/25/26</a:t>
            </a:fld>
            <a:endParaRPr lang="en-US"/>
          </a:p>
        </p:txBody>
      </p:sp>
      <p:sp>
        <p:nvSpPr>
          <p:cNvPr id="5" name="Footer Placeholder 4">
            <a:extLst>
              <a:ext uri="{FF2B5EF4-FFF2-40B4-BE49-F238E27FC236}">
                <a16:creationId xmlns:a16="http://schemas.microsoft.com/office/drawing/2014/main" id="{E8502BC3-E6EC-9BB2-93DC-E576D8FCDE07}"/>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CFEC8279-816B-7175-CA12-19DEC6FF2338}"/>
              </a:ext>
            </a:extLst>
          </p:cNvPr>
          <p:cNvSpPr>
            <a:spLocks noGrp="1"/>
          </p:cNvSpPr>
          <p:nvPr>
            <p:ph type="sldNum" sz="quarter" idx="12"/>
          </p:nvPr>
        </p:nvSpPr>
        <p:spPr/>
        <p:txBody>
          <a:bodyPr/>
          <a:lstStyle/>
          <a:p>
            <a:fld id="{B4CE5C4C-399A-B444-9B2A-945D2610250E}" type="slidenum">
              <a:rPr lang="en-US" smtClean="0"/>
              <a:t>7</a:t>
            </a:fld>
            <a:endParaRPr lang="en-US"/>
          </a:p>
        </p:txBody>
      </p:sp>
    </p:spTree>
    <p:extLst>
      <p:ext uri="{BB962C8B-B14F-4D97-AF65-F5344CB8AC3E}">
        <p14:creationId xmlns:p14="http://schemas.microsoft.com/office/powerpoint/2010/main" val="499617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tree locations</a:t>
            </a:r>
          </a:p>
        </p:txBody>
      </p:sp>
      <p:pic>
        <p:nvPicPr>
          <p:cNvPr id="4" name="Picture 3" descr="Screen Shot 2012-07-31 at 1.58.25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447733" y="4006739"/>
            <a:ext cx="3807024" cy="2682395"/>
          </a:xfrm>
          <a:prstGeom prst="rect">
            <a:avLst/>
          </a:prstGeom>
        </p:spPr>
      </p:pic>
      <p:sp>
        <p:nvSpPr>
          <p:cNvPr id="5" name="Oval 4"/>
          <p:cNvSpPr/>
          <p:nvPr/>
        </p:nvSpPr>
        <p:spPr>
          <a:xfrm>
            <a:off x="5951605" y="4102961"/>
            <a:ext cx="645744" cy="591904"/>
          </a:xfrm>
          <a:prstGeom prst="ellipse">
            <a:avLst/>
          </a:prstGeom>
          <a:no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descr="locations_image.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18806" y="4016867"/>
            <a:ext cx="3847098" cy="2682394"/>
          </a:xfrm>
          <a:prstGeom prst="rect">
            <a:avLst/>
          </a:prstGeom>
        </p:spPr>
      </p:pic>
      <p:sp>
        <p:nvSpPr>
          <p:cNvPr id="7" name="Oval 6"/>
          <p:cNvSpPr/>
          <p:nvPr/>
        </p:nvSpPr>
        <p:spPr>
          <a:xfrm>
            <a:off x="808907" y="5062501"/>
            <a:ext cx="645744" cy="591904"/>
          </a:xfrm>
          <a:prstGeom prst="ellipse">
            <a:avLst/>
          </a:prstGeom>
          <a:no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Screen Shot 2012-05-09 at 4.48.07 PM.pn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131865" y="1620884"/>
            <a:ext cx="2413478" cy="1335701"/>
          </a:xfrm>
          <a:prstGeom prst="rect">
            <a:avLst/>
          </a:prstGeom>
        </p:spPr>
      </p:pic>
      <p:sp>
        <p:nvSpPr>
          <p:cNvPr id="9" name="Content Placeholder 2"/>
          <p:cNvSpPr>
            <a:spLocks noGrp="1"/>
          </p:cNvSpPr>
          <p:nvPr>
            <p:ph idx="1"/>
          </p:nvPr>
        </p:nvSpPr>
        <p:spPr>
          <a:xfrm>
            <a:off x="457200" y="1600201"/>
            <a:ext cx="5171533" cy="2101882"/>
          </a:xfrm>
        </p:spPr>
        <p:txBody>
          <a:bodyPr>
            <a:normAutofit lnSpcReduction="10000"/>
          </a:bodyPr>
          <a:lstStyle/>
          <a:p>
            <a:r>
              <a:rPr lang="en-US" dirty="0"/>
              <a:t>Currently tree locations are generated by a randomizing a grid and avoiding collisions.</a:t>
            </a:r>
          </a:p>
          <a:p>
            <a:endParaRPr lang="en-US" dirty="0"/>
          </a:p>
          <a:p>
            <a:r>
              <a:rPr lang="en-US" dirty="0"/>
              <a:t>Edited PolSARproSim to include arbitrary tree locations</a:t>
            </a:r>
          </a:p>
        </p:txBody>
      </p:sp>
      <p:sp>
        <p:nvSpPr>
          <p:cNvPr id="10" name="TextBox 9"/>
          <p:cNvSpPr txBox="1"/>
          <p:nvPr/>
        </p:nvSpPr>
        <p:spPr>
          <a:xfrm>
            <a:off x="6131865" y="3067132"/>
            <a:ext cx="2413478" cy="369332"/>
          </a:xfrm>
          <a:prstGeom prst="rect">
            <a:avLst/>
          </a:prstGeom>
          <a:noFill/>
        </p:spPr>
        <p:txBody>
          <a:bodyPr wrap="square" rtlCol="0">
            <a:spAutoFit/>
          </a:bodyPr>
          <a:lstStyle/>
          <a:p>
            <a:pPr algn="ctr"/>
            <a:r>
              <a:rPr lang="en-US" dirty="0"/>
              <a:t>original</a:t>
            </a:r>
          </a:p>
        </p:txBody>
      </p:sp>
      <p:cxnSp>
        <p:nvCxnSpPr>
          <p:cNvPr id="12" name="Straight Arrow Connector 11"/>
          <p:cNvCxnSpPr/>
          <p:nvPr/>
        </p:nvCxnSpPr>
        <p:spPr>
          <a:xfrm>
            <a:off x="778831" y="6489407"/>
            <a:ext cx="718869" cy="0"/>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778831" y="5772786"/>
            <a:ext cx="116175" cy="716622"/>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497700" y="6331303"/>
            <a:ext cx="654779" cy="261610"/>
          </a:xfrm>
          <a:prstGeom prst="rect">
            <a:avLst/>
          </a:prstGeom>
          <a:noFill/>
          <a:ln>
            <a:noFill/>
          </a:ln>
        </p:spPr>
        <p:txBody>
          <a:bodyPr wrap="square" rtlCol="0">
            <a:spAutoFit/>
          </a:bodyPr>
          <a:lstStyle/>
          <a:p>
            <a:r>
              <a:rPr lang="en-US" sz="1100" dirty="0">
                <a:solidFill>
                  <a:srgbClr val="FFFFFF"/>
                </a:solidFill>
              </a:rPr>
              <a:t>Azimuth</a:t>
            </a:r>
          </a:p>
        </p:txBody>
      </p:sp>
      <p:sp>
        <p:nvSpPr>
          <p:cNvPr id="18" name="TextBox 17"/>
          <p:cNvSpPr txBox="1"/>
          <p:nvPr/>
        </p:nvSpPr>
        <p:spPr>
          <a:xfrm>
            <a:off x="927293" y="5772786"/>
            <a:ext cx="654779" cy="261610"/>
          </a:xfrm>
          <a:prstGeom prst="rect">
            <a:avLst/>
          </a:prstGeom>
          <a:noFill/>
          <a:ln>
            <a:noFill/>
          </a:ln>
        </p:spPr>
        <p:txBody>
          <a:bodyPr wrap="square" rtlCol="0">
            <a:spAutoFit/>
          </a:bodyPr>
          <a:lstStyle/>
          <a:p>
            <a:r>
              <a:rPr lang="en-US" sz="1100" dirty="0">
                <a:solidFill>
                  <a:srgbClr val="FFFFFF"/>
                </a:solidFill>
              </a:rPr>
              <a:t>Range</a:t>
            </a:r>
          </a:p>
        </p:txBody>
      </p:sp>
      <p:cxnSp>
        <p:nvCxnSpPr>
          <p:cNvPr id="19" name="Straight Arrow Connector 18"/>
          <p:cNvCxnSpPr/>
          <p:nvPr/>
        </p:nvCxnSpPr>
        <p:spPr>
          <a:xfrm>
            <a:off x="4540572" y="6027282"/>
            <a:ext cx="718869" cy="0"/>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4539413" y="6012878"/>
            <a:ext cx="0" cy="664546"/>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39413" y="6377505"/>
            <a:ext cx="654779" cy="261610"/>
          </a:xfrm>
          <a:prstGeom prst="rect">
            <a:avLst/>
          </a:prstGeom>
          <a:noFill/>
          <a:ln>
            <a:noFill/>
          </a:ln>
        </p:spPr>
        <p:txBody>
          <a:bodyPr wrap="square" rtlCol="0">
            <a:spAutoFit/>
          </a:bodyPr>
          <a:lstStyle/>
          <a:p>
            <a:r>
              <a:rPr lang="en-US" sz="1100" dirty="0">
                <a:solidFill>
                  <a:srgbClr val="FFFFFF"/>
                </a:solidFill>
              </a:rPr>
              <a:t>Azimuth</a:t>
            </a:r>
          </a:p>
        </p:txBody>
      </p:sp>
      <p:sp>
        <p:nvSpPr>
          <p:cNvPr id="22" name="TextBox 21"/>
          <p:cNvSpPr txBox="1"/>
          <p:nvPr/>
        </p:nvSpPr>
        <p:spPr>
          <a:xfrm>
            <a:off x="4671634" y="5772786"/>
            <a:ext cx="654779" cy="261610"/>
          </a:xfrm>
          <a:prstGeom prst="rect">
            <a:avLst/>
          </a:prstGeom>
          <a:noFill/>
          <a:ln>
            <a:noFill/>
          </a:ln>
        </p:spPr>
        <p:txBody>
          <a:bodyPr wrap="square" rtlCol="0">
            <a:spAutoFit/>
          </a:bodyPr>
          <a:lstStyle/>
          <a:p>
            <a:r>
              <a:rPr lang="en-US" sz="1100" dirty="0">
                <a:solidFill>
                  <a:srgbClr val="FFFFFF"/>
                </a:solidFill>
              </a:rPr>
              <a:t>Range</a:t>
            </a:r>
          </a:p>
        </p:txBody>
      </p:sp>
      <p:sp>
        <p:nvSpPr>
          <p:cNvPr id="3" name="Date Placeholder 2">
            <a:extLst>
              <a:ext uri="{FF2B5EF4-FFF2-40B4-BE49-F238E27FC236}">
                <a16:creationId xmlns:a16="http://schemas.microsoft.com/office/drawing/2014/main" id="{337F5B85-57AA-9BAC-9E6C-CA7C2278A6A1}"/>
              </a:ext>
            </a:extLst>
          </p:cNvPr>
          <p:cNvSpPr>
            <a:spLocks noGrp="1"/>
          </p:cNvSpPr>
          <p:nvPr>
            <p:ph type="dt" sz="half" idx="10"/>
          </p:nvPr>
        </p:nvSpPr>
        <p:spPr/>
        <p:txBody>
          <a:bodyPr/>
          <a:lstStyle/>
          <a:p>
            <a:fld id="{078EE8EA-E989-3749-8D17-401D9CF8A7F0}" type="datetime1">
              <a:rPr lang="en-US" smtClean="0"/>
              <a:t>3/25/26</a:t>
            </a:fld>
            <a:endParaRPr lang="en-US"/>
          </a:p>
        </p:txBody>
      </p:sp>
      <p:sp>
        <p:nvSpPr>
          <p:cNvPr id="11" name="Footer Placeholder 10">
            <a:extLst>
              <a:ext uri="{FF2B5EF4-FFF2-40B4-BE49-F238E27FC236}">
                <a16:creationId xmlns:a16="http://schemas.microsoft.com/office/drawing/2014/main" id="{EB2CACC7-6987-57D7-2FD9-3556DB916187}"/>
              </a:ext>
            </a:extLst>
          </p:cNvPr>
          <p:cNvSpPr>
            <a:spLocks noGrp="1"/>
          </p:cNvSpPr>
          <p:nvPr>
            <p:ph type="ftr" sz="quarter" idx="11"/>
          </p:nvPr>
        </p:nvSpPr>
        <p:spPr/>
        <p:txBody>
          <a:bodyPr/>
          <a:lstStyle/>
          <a:p>
            <a:r>
              <a:rPr lang="en-US"/>
              <a:t>Does Not Contain CUI.</a:t>
            </a:r>
          </a:p>
        </p:txBody>
      </p:sp>
      <p:sp>
        <p:nvSpPr>
          <p:cNvPr id="14" name="Slide Number Placeholder 13">
            <a:extLst>
              <a:ext uri="{FF2B5EF4-FFF2-40B4-BE49-F238E27FC236}">
                <a16:creationId xmlns:a16="http://schemas.microsoft.com/office/drawing/2014/main" id="{5FB54811-272C-F031-006B-EEEB5488724C}"/>
              </a:ext>
            </a:extLst>
          </p:cNvPr>
          <p:cNvSpPr>
            <a:spLocks noGrp="1"/>
          </p:cNvSpPr>
          <p:nvPr>
            <p:ph type="sldNum" sz="quarter" idx="12"/>
          </p:nvPr>
        </p:nvSpPr>
        <p:spPr/>
        <p:txBody>
          <a:bodyPr/>
          <a:lstStyle/>
          <a:p>
            <a:fld id="{B4CE5C4C-399A-B444-9B2A-945D2610250E}" type="slidenum">
              <a:rPr lang="en-US" smtClean="0"/>
              <a:t>8</a:t>
            </a:fld>
            <a:endParaRPr lang="en-US"/>
          </a:p>
        </p:txBody>
      </p:sp>
    </p:spTree>
    <p:extLst>
      <p:ext uri="{BB962C8B-B14F-4D97-AF65-F5344CB8AC3E}">
        <p14:creationId xmlns:p14="http://schemas.microsoft.com/office/powerpoint/2010/main" val="2845113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Locations</a:t>
            </a:r>
          </a:p>
        </p:txBody>
      </p:sp>
      <p:sp>
        <p:nvSpPr>
          <p:cNvPr id="3" name="Content Placeholder 2"/>
          <p:cNvSpPr>
            <a:spLocks noGrp="1"/>
          </p:cNvSpPr>
          <p:nvPr>
            <p:ph idx="1"/>
          </p:nvPr>
        </p:nvSpPr>
        <p:spPr/>
        <p:txBody>
          <a:bodyPr>
            <a:normAutofit fontScale="70000" lnSpcReduction="20000"/>
          </a:bodyPr>
          <a:lstStyle/>
          <a:p>
            <a:r>
              <a:rPr lang="en-US" dirty="0" err="1"/>
              <a:t>TreeLoc.x</a:t>
            </a:r>
            <a:r>
              <a:rPr lang="en-US" dirty="0"/>
              <a:t> and </a:t>
            </a:r>
            <a:r>
              <a:rPr lang="en-US" dirty="0" err="1"/>
              <a:t>TreeLoc.y</a:t>
            </a:r>
            <a:r>
              <a:rPr lang="en-US" dirty="0"/>
              <a:t> already exist</a:t>
            </a:r>
          </a:p>
          <a:p>
            <a:endParaRPr lang="en-US" dirty="0"/>
          </a:p>
          <a:p>
            <a:r>
              <a:rPr lang="en-US" dirty="0"/>
              <a:t>Originally tree locations are generated by </a:t>
            </a:r>
            <a:r>
              <a:rPr lang="en-US" dirty="0" err="1"/>
              <a:t>Tree_Location_Generation</a:t>
            </a:r>
            <a:r>
              <a:rPr lang="en-US" dirty="0"/>
              <a:t>() in </a:t>
            </a:r>
            <a:r>
              <a:rPr lang="en-US" dirty="0" err="1"/>
              <a:t>PolSARproSim.c</a:t>
            </a:r>
            <a:r>
              <a:rPr lang="en-US" dirty="0"/>
              <a:t>, called by main().</a:t>
            </a:r>
          </a:p>
          <a:p>
            <a:pPr lvl="1"/>
            <a:r>
              <a:rPr lang="en-US" dirty="0"/>
              <a:t>Uses a randomizing algorithm in </a:t>
            </a:r>
            <a:r>
              <a:rPr lang="en-US" dirty="0" err="1"/>
              <a:t>Shuffling.c</a:t>
            </a:r>
            <a:endParaRPr lang="en-US" dirty="0"/>
          </a:p>
          <a:p>
            <a:pPr lvl="1"/>
            <a:r>
              <a:rPr lang="en-US" dirty="0"/>
              <a:t>These are stored for each Tree by setting </a:t>
            </a:r>
          </a:p>
          <a:p>
            <a:pPr lvl="2"/>
            <a:r>
              <a:rPr lang="en-US" dirty="0" err="1"/>
              <a:t>pPR</a:t>
            </a:r>
            <a:r>
              <a:rPr lang="en-US" dirty="0"/>
              <a:t>-&gt;</a:t>
            </a:r>
            <a:r>
              <a:rPr lang="en-US" dirty="0" err="1"/>
              <a:t>Tree_Location</a:t>
            </a:r>
            <a:r>
              <a:rPr lang="en-US" dirty="0"/>
              <a:t>[</a:t>
            </a:r>
            <a:r>
              <a:rPr lang="en-US" dirty="0" err="1"/>
              <a:t>itree</a:t>
            </a:r>
            <a:r>
              <a:rPr lang="en-US" dirty="0"/>
              <a:t>].x= generated x location;</a:t>
            </a:r>
          </a:p>
          <a:p>
            <a:pPr lvl="2"/>
            <a:r>
              <a:rPr lang="en-US" dirty="0" err="1"/>
              <a:t>pPR</a:t>
            </a:r>
            <a:r>
              <a:rPr lang="en-US" dirty="0"/>
              <a:t>-&gt;</a:t>
            </a:r>
            <a:r>
              <a:rPr lang="en-US" dirty="0" err="1"/>
              <a:t>Tree_Location</a:t>
            </a:r>
            <a:r>
              <a:rPr lang="en-US" dirty="0"/>
              <a:t>[</a:t>
            </a:r>
            <a:r>
              <a:rPr lang="en-US" dirty="0" err="1"/>
              <a:t>itree</a:t>
            </a:r>
            <a:r>
              <a:rPr lang="en-US" dirty="0"/>
              <a:t>].y= generated y location;</a:t>
            </a:r>
          </a:p>
          <a:p>
            <a:endParaRPr lang="en-US" dirty="0"/>
          </a:p>
          <a:p>
            <a:r>
              <a:rPr lang="en-US" dirty="0" err="1"/>
              <a:t>TreeLoc.x</a:t>
            </a:r>
            <a:r>
              <a:rPr lang="en-US" dirty="0"/>
              <a:t> and </a:t>
            </a:r>
            <a:r>
              <a:rPr lang="en-US" dirty="0" err="1"/>
              <a:t>TreeLoc.y</a:t>
            </a:r>
            <a:r>
              <a:rPr lang="en-US" dirty="0"/>
              <a:t> were edited to be read in from the canopy file </a:t>
            </a:r>
            <a:r>
              <a:rPr lang="en-US" dirty="0" err="1"/>
              <a:t>pPR</a:t>
            </a:r>
            <a:r>
              <a:rPr lang="en-US" dirty="0"/>
              <a:t>-&gt;</a:t>
            </a:r>
            <a:r>
              <a:rPr lang="en-US" dirty="0" err="1"/>
              <a:t>ForestData</a:t>
            </a:r>
            <a:endParaRPr lang="en-US" dirty="0"/>
          </a:p>
          <a:p>
            <a:pPr lvl="1"/>
            <a:r>
              <a:rPr lang="en-US" dirty="0"/>
              <a:t>In </a:t>
            </a:r>
            <a:r>
              <a:rPr lang="en-US" dirty="0" err="1"/>
              <a:t>InputPolSARproSim_Forest_XML</a:t>
            </a:r>
            <a:r>
              <a:rPr lang="en-US" dirty="0"/>
              <a:t>()</a:t>
            </a:r>
          </a:p>
          <a:p>
            <a:pPr lvl="2"/>
            <a:r>
              <a:rPr lang="en-US" dirty="0" err="1"/>
              <a:t>pPR</a:t>
            </a:r>
            <a:r>
              <a:rPr lang="en-US" dirty="0"/>
              <a:t>-&gt;</a:t>
            </a:r>
            <a:r>
              <a:rPr lang="en-US" dirty="0" err="1"/>
              <a:t>Tree_Location</a:t>
            </a:r>
            <a:r>
              <a:rPr lang="en-US" dirty="0"/>
              <a:t>[</a:t>
            </a:r>
            <a:r>
              <a:rPr lang="en-US" dirty="0" err="1"/>
              <a:t>itree</a:t>
            </a:r>
            <a:r>
              <a:rPr lang="en-US" dirty="0"/>
              <a:t>].x = XMLDB.&lt;</a:t>
            </a:r>
            <a:r>
              <a:rPr lang="en-US" dirty="0" err="1"/>
              <a:t>x_location</a:t>
            </a:r>
            <a:r>
              <a:rPr lang="en-US" dirty="0"/>
              <a:t>&gt;</a:t>
            </a:r>
          </a:p>
          <a:p>
            <a:pPr lvl="2"/>
            <a:r>
              <a:rPr lang="en-US" dirty="0" err="1"/>
              <a:t>pPR</a:t>
            </a:r>
            <a:r>
              <a:rPr lang="en-US" dirty="0"/>
              <a:t>-&gt;</a:t>
            </a:r>
            <a:r>
              <a:rPr lang="en-US" dirty="0" err="1"/>
              <a:t>Tree_Location</a:t>
            </a:r>
            <a:r>
              <a:rPr lang="en-US" dirty="0"/>
              <a:t>[</a:t>
            </a:r>
            <a:r>
              <a:rPr lang="en-US" dirty="0" err="1"/>
              <a:t>itree</a:t>
            </a:r>
            <a:r>
              <a:rPr lang="en-US" dirty="0"/>
              <a:t>].y = XMLDB.&lt;</a:t>
            </a:r>
            <a:r>
              <a:rPr lang="en-US" dirty="0" err="1"/>
              <a:t>y_location</a:t>
            </a:r>
            <a:r>
              <a:rPr lang="en-US" dirty="0"/>
              <a:t>&gt;</a:t>
            </a:r>
          </a:p>
          <a:p>
            <a:pPr lvl="1"/>
            <a:r>
              <a:rPr lang="en-US" dirty="0"/>
              <a:t>In </a:t>
            </a:r>
            <a:r>
              <a:rPr lang="en-US" dirty="0" err="1"/>
              <a:t>CheckPolSARproSim_Forest</a:t>
            </a:r>
            <a:r>
              <a:rPr lang="en-US" dirty="0"/>
              <a:t>() exit if |</a:t>
            </a:r>
            <a:r>
              <a:rPr lang="en-US" dirty="0" err="1"/>
              <a:t>pPR</a:t>
            </a:r>
            <a:r>
              <a:rPr lang="en-US" dirty="0"/>
              <a:t>-&gt;</a:t>
            </a:r>
            <a:r>
              <a:rPr lang="en-US" dirty="0" err="1"/>
              <a:t>Tree_Location</a:t>
            </a:r>
            <a:r>
              <a:rPr lang="en-US" dirty="0"/>
              <a:t>[</a:t>
            </a:r>
            <a:r>
              <a:rPr lang="en-US" dirty="0" err="1"/>
              <a:t>itree</a:t>
            </a:r>
            <a:r>
              <a:rPr lang="en-US" dirty="0"/>
              <a:t>].x| or |</a:t>
            </a:r>
            <a:r>
              <a:rPr lang="en-US" dirty="0" err="1"/>
              <a:t>pPR</a:t>
            </a:r>
            <a:r>
              <a:rPr lang="en-US" dirty="0"/>
              <a:t>-&gt;</a:t>
            </a:r>
            <a:r>
              <a:rPr lang="en-US" dirty="0" err="1"/>
              <a:t>Tree_Location</a:t>
            </a:r>
            <a:r>
              <a:rPr lang="en-US" dirty="0"/>
              <a:t>[</a:t>
            </a:r>
            <a:r>
              <a:rPr lang="en-US" dirty="0" err="1"/>
              <a:t>itree</a:t>
            </a:r>
            <a:r>
              <a:rPr lang="en-US" dirty="0"/>
              <a:t>].y| are &gt; </a:t>
            </a:r>
            <a:r>
              <a:rPr lang="en-US" dirty="0" err="1"/>
              <a:t>pPR</a:t>
            </a:r>
            <a:r>
              <a:rPr lang="en-US" dirty="0"/>
              <a:t>-&gt;Lx or </a:t>
            </a:r>
            <a:r>
              <a:rPr lang="en-US" dirty="0" err="1"/>
              <a:t>pPR</a:t>
            </a:r>
            <a:r>
              <a:rPr lang="en-US" dirty="0"/>
              <a:t>-&gt;Ly respectively. Will not happen since </a:t>
            </a:r>
            <a:r>
              <a:rPr lang="en-US" dirty="0" err="1"/>
              <a:t>pPR</a:t>
            </a:r>
            <a:r>
              <a:rPr lang="en-US" dirty="0"/>
              <a:t>-&gt;Lx and </a:t>
            </a:r>
            <a:r>
              <a:rPr lang="en-US" dirty="0" err="1"/>
              <a:t>pPR</a:t>
            </a:r>
            <a:r>
              <a:rPr lang="en-US" dirty="0"/>
              <a:t>-&gt;Ly are decided from the input locations.</a:t>
            </a:r>
          </a:p>
          <a:p>
            <a:endParaRPr lang="en-US" dirty="0"/>
          </a:p>
          <a:p>
            <a:r>
              <a:rPr lang="en-US" dirty="0"/>
              <a:t>In main(), don’t call </a:t>
            </a:r>
            <a:r>
              <a:rPr lang="en-US" dirty="0" err="1"/>
              <a:t>Tree_Location_Generation</a:t>
            </a:r>
            <a:r>
              <a:rPr lang="en-US" dirty="0"/>
              <a:t>() if </a:t>
            </a:r>
            <a:r>
              <a:rPr lang="en-US" dirty="0" err="1"/>
              <a:t>pPR</a:t>
            </a:r>
            <a:r>
              <a:rPr lang="en-US" dirty="0"/>
              <a:t>-&gt;</a:t>
            </a:r>
            <a:r>
              <a:rPr lang="en-US" dirty="0" err="1"/>
              <a:t>ForestInput_Flag</a:t>
            </a:r>
            <a:r>
              <a:rPr lang="en-US" dirty="0"/>
              <a:t> is set to EXTERNAL_FOREST_DEFINITION.</a:t>
            </a:r>
          </a:p>
        </p:txBody>
      </p:sp>
      <p:sp>
        <p:nvSpPr>
          <p:cNvPr id="4" name="Date Placeholder 3">
            <a:extLst>
              <a:ext uri="{FF2B5EF4-FFF2-40B4-BE49-F238E27FC236}">
                <a16:creationId xmlns:a16="http://schemas.microsoft.com/office/drawing/2014/main" id="{7A0A8F77-14B5-4802-6C83-F79FF7FC198C}"/>
              </a:ext>
            </a:extLst>
          </p:cNvPr>
          <p:cNvSpPr>
            <a:spLocks noGrp="1"/>
          </p:cNvSpPr>
          <p:nvPr>
            <p:ph type="dt" sz="half" idx="10"/>
          </p:nvPr>
        </p:nvSpPr>
        <p:spPr/>
        <p:txBody>
          <a:bodyPr/>
          <a:lstStyle/>
          <a:p>
            <a:fld id="{46C3EE06-7F40-EF48-8ED8-FF54811E3FE7}" type="datetime1">
              <a:rPr lang="en-US" smtClean="0"/>
              <a:t>3/25/26</a:t>
            </a:fld>
            <a:endParaRPr lang="en-US"/>
          </a:p>
        </p:txBody>
      </p:sp>
      <p:sp>
        <p:nvSpPr>
          <p:cNvPr id="5" name="Footer Placeholder 4">
            <a:extLst>
              <a:ext uri="{FF2B5EF4-FFF2-40B4-BE49-F238E27FC236}">
                <a16:creationId xmlns:a16="http://schemas.microsoft.com/office/drawing/2014/main" id="{259AF538-2E24-34F2-1C4F-7250560997F0}"/>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0911E57F-8BE0-3DC0-F95E-2A2BA15857D7}"/>
              </a:ext>
            </a:extLst>
          </p:cNvPr>
          <p:cNvSpPr>
            <a:spLocks noGrp="1"/>
          </p:cNvSpPr>
          <p:nvPr>
            <p:ph type="sldNum" sz="quarter" idx="12"/>
          </p:nvPr>
        </p:nvSpPr>
        <p:spPr/>
        <p:txBody>
          <a:bodyPr/>
          <a:lstStyle/>
          <a:p>
            <a:fld id="{B4CE5C4C-399A-B444-9B2A-945D2610250E}" type="slidenum">
              <a:rPr lang="en-US" smtClean="0"/>
              <a:t>9</a:t>
            </a:fld>
            <a:endParaRPr lang="en-US"/>
          </a:p>
        </p:txBody>
      </p:sp>
    </p:spTree>
    <p:extLst>
      <p:ext uri="{BB962C8B-B14F-4D97-AF65-F5344CB8AC3E}">
        <p14:creationId xmlns:p14="http://schemas.microsoft.com/office/powerpoint/2010/main" val="1960113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tree heights</a:t>
            </a:r>
          </a:p>
        </p:txBody>
      </p:sp>
      <p:sp>
        <p:nvSpPr>
          <p:cNvPr id="5" name="Oval 4"/>
          <p:cNvSpPr/>
          <p:nvPr/>
        </p:nvSpPr>
        <p:spPr>
          <a:xfrm>
            <a:off x="5951605" y="4102961"/>
            <a:ext cx="645744" cy="591904"/>
          </a:xfrm>
          <a:prstGeom prst="ellipse">
            <a:avLst/>
          </a:prstGeom>
          <a:no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Screen Shot 2012-05-09 at 4.48.07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131865" y="1620884"/>
            <a:ext cx="2413478" cy="1335701"/>
          </a:xfrm>
          <a:prstGeom prst="rect">
            <a:avLst/>
          </a:prstGeom>
        </p:spPr>
      </p:pic>
      <p:sp>
        <p:nvSpPr>
          <p:cNvPr id="9" name="Content Placeholder 2"/>
          <p:cNvSpPr>
            <a:spLocks noGrp="1"/>
          </p:cNvSpPr>
          <p:nvPr>
            <p:ph idx="1"/>
          </p:nvPr>
        </p:nvSpPr>
        <p:spPr>
          <a:xfrm>
            <a:off x="457200" y="1600201"/>
            <a:ext cx="5171533" cy="2101882"/>
          </a:xfrm>
        </p:spPr>
        <p:txBody>
          <a:bodyPr>
            <a:normAutofit fontScale="92500"/>
          </a:bodyPr>
          <a:lstStyle/>
          <a:p>
            <a:r>
              <a:rPr lang="en-US" dirty="0"/>
              <a:t>Currently the height of each tree is the input global tree height +- a predefined standard deviation.</a:t>
            </a:r>
          </a:p>
          <a:p>
            <a:endParaRPr lang="en-US" dirty="0"/>
          </a:p>
          <a:p>
            <a:r>
              <a:rPr lang="en-US" dirty="0"/>
              <a:t>Edited PolSARproSim to allow specification of the height of each tree.</a:t>
            </a:r>
          </a:p>
        </p:txBody>
      </p:sp>
      <p:sp>
        <p:nvSpPr>
          <p:cNvPr id="10" name="TextBox 9"/>
          <p:cNvSpPr txBox="1"/>
          <p:nvPr/>
        </p:nvSpPr>
        <p:spPr>
          <a:xfrm>
            <a:off x="6131865" y="3067132"/>
            <a:ext cx="2413478" cy="369332"/>
          </a:xfrm>
          <a:prstGeom prst="rect">
            <a:avLst/>
          </a:prstGeom>
          <a:noFill/>
        </p:spPr>
        <p:txBody>
          <a:bodyPr wrap="square" rtlCol="0">
            <a:spAutoFit/>
          </a:bodyPr>
          <a:lstStyle/>
          <a:p>
            <a:pPr algn="ctr"/>
            <a:r>
              <a:rPr lang="en-US" dirty="0"/>
              <a:t>original</a:t>
            </a:r>
          </a:p>
        </p:txBody>
      </p:sp>
      <p:pic>
        <p:nvPicPr>
          <p:cNvPr id="3" name="Picture 2" descr="largeheights_image.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57200" y="3974725"/>
            <a:ext cx="3893671" cy="2724536"/>
          </a:xfrm>
          <a:prstGeom prst="rect">
            <a:avLst/>
          </a:prstGeom>
        </p:spPr>
      </p:pic>
      <p:sp>
        <p:nvSpPr>
          <p:cNvPr id="11" name="Oval 10"/>
          <p:cNvSpPr/>
          <p:nvPr/>
        </p:nvSpPr>
        <p:spPr>
          <a:xfrm>
            <a:off x="668996" y="4694864"/>
            <a:ext cx="805452" cy="815211"/>
          </a:xfrm>
          <a:prstGeom prst="ellipse">
            <a:avLst/>
          </a:prstGeom>
          <a:no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p:cNvSpPr txBox="1"/>
          <p:nvPr/>
        </p:nvSpPr>
        <p:spPr>
          <a:xfrm>
            <a:off x="737224" y="5648266"/>
            <a:ext cx="1474448" cy="646331"/>
          </a:xfrm>
          <a:prstGeom prst="rect">
            <a:avLst/>
          </a:prstGeom>
          <a:noFill/>
        </p:spPr>
        <p:txBody>
          <a:bodyPr wrap="square" rtlCol="0">
            <a:spAutoFit/>
          </a:bodyPr>
          <a:lstStyle/>
          <a:p>
            <a:r>
              <a:rPr lang="en-US" dirty="0"/>
              <a:t>80m tall trees!</a:t>
            </a:r>
          </a:p>
        </p:txBody>
      </p:sp>
      <p:pic>
        <p:nvPicPr>
          <p:cNvPr id="13" name="Picture 12" descr="Screen Shot 2012-07-31 at 2.45.48 PM.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535667" y="3974724"/>
            <a:ext cx="3406981" cy="2717929"/>
          </a:xfrm>
          <a:prstGeom prst="rect">
            <a:avLst/>
          </a:prstGeom>
        </p:spPr>
      </p:pic>
      <p:sp>
        <p:nvSpPr>
          <p:cNvPr id="14" name="Oval 13"/>
          <p:cNvSpPr/>
          <p:nvPr/>
        </p:nvSpPr>
        <p:spPr>
          <a:xfrm>
            <a:off x="5548879" y="3931748"/>
            <a:ext cx="805452" cy="815211"/>
          </a:xfrm>
          <a:prstGeom prst="ellipse">
            <a:avLst/>
          </a:prstGeom>
          <a:no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73A864AD-51C9-3D18-0DEB-C9AD0278CC45}"/>
              </a:ext>
            </a:extLst>
          </p:cNvPr>
          <p:cNvSpPr>
            <a:spLocks noGrp="1"/>
          </p:cNvSpPr>
          <p:nvPr>
            <p:ph type="dt" sz="half" idx="10"/>
          </p:nvPr>
        </p:nvSpPr>
        <p:spPr/>
        <p:txBody>
          <a:bodyPr/>
          <a:lstStyle/>
          <a:p>
            <a:fld id="{AE143945-C479-F740-A71D-100E85620979}" type="datetime1">
              <a:rPr lang="en-US" smtClean="0"/>
              <a:t>3/25/26</a:t>
            </a:fld>
            <a:endParaRPr lang="en-US"/>
          </a:p>
        </p:txBody>
      </p:sp>
      <p:sp>
        <p:nvSpPr>
          <p:cNvPr id="6" name="Footer Placeholder 5">
            <a:extLst>
              <a:ext uri="{FF2B5EF4-FFF2-40B4-BE49-F238E27FC236}">
                <a16:creationId xmlns:a16="http://schemas.microsoft.com/office/drawing/2014/main" id="{A6625766-9AC2-CAA1-001B-886F2C3EF4B4}"/>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4BE4ECFF-F5A6-4FFD-685B-387F5A31D58C}"/>
              </a:ext>
            </a:extLst>
          </p:cNvPr>
          <p:cNvSpPr>
            <a:spLocks noGrp="1"/>
          </p:cNvSpPr>
          <p:nvPr>
            <p:ph type="sldNum" sz="quarter" idx="12"/>
          </p:nvPr>
        </p:nvSpPr>
        <p:spPr/>
        <p:txBody>
          <a:bodyPr/>
          <a:lstStyle/>
          <a:p>
            <a:fld id="{B4CE5C4C-399A-B444-9B2A-945D2610250E}" type="slidenum">
              <a:rPr lang="en-US" smtClean="0"/>
              <a:t>10</a:t>
            </a:fld>
            <a:endParaRPr lang="en-US"/>
          </a:p>
        </p:txBody>
      </p:sp>
    </p:spTree>
    <p:extLst>
      <p:ext uri="{BB962C8B-B14F-4D97-AF65-F5344CB8AC3E}">
        <p14:creationId xmlns:p14="http://schemas.microsoft.com/office/powerpoint/2010/main" val="4220909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Heights</a:t>
            </a:r>
          </a:p>
        </p:txBody>
      </p:sp>
      <p:sp>
        <p:nvSpPr>
          <p:cNvPr id="3" name="Content Placeholder 2"/>
          <p:cNvSpPr>
            <a:spLocks noGrp="1"/>
          </p:cNvSpPr>
          <p:nvPr>
            <p:ph idx="1"/>
          </p:nvPr>
        </p:nvSpPr>
        <p:spPr>
          <a:xfrm>
            <a:off x="457200" y="1324708"/>
            <a:ext cx="8229600" cy="4525963"/>
          </a:xfrm>
        </p:spPr>
        <p:txBody>
          <a:bodyPr>
            <a:normAutofit fontScale="92500"/>
          </a:bodyPr>
          <a:lstStyle/>
          <a:p>
            <a:r>
              <a:rPr lang="en-US" sz="1600" dirty="0" err="1"/>
              <a:t>TreeLoc.height</a:t>
            </a:r>
            <a:r>
              <a:rPr lang="en-US" sz="1600" dirty="0"/>
              <a:t> already exists</a:t>
            </a:r>
          </a:p>
          <a:p>
            <a:endParaRPr lang="en-US" sz="1600" dirty="0"/>
          </a:p>
          <a:p>
            <a:r>
              <a:rPr lang="en-US" sz="1600" dirty="0"/>
              <a:t>It is originally filled in by </a:t>
            </a:r>
            <a:r>
              <a:rPr lang="en-US" sz="1600" dirty="0" err="1"/>
              <a:t>InputPolSARproSim_Record</a:t>
            </a:r>
            <a:r>
              <a:rPr lang="en-US" sz="1600" dirty="0"/>
              <a:t>() in </a:t>
            </a:r>
            <a:r>
              <a:rPr lang="en-US" sz="1600" dirty="0" err="1"/>
              <a:t>PolSARproSim_Procedures.c</a:t>
            </a:r>
            <a:r>
              <a:rPr lang="en-US" sz="1600" dirty="0"/>
              <a:t> as</a:t>
            </a:r>
          </a:p>
          <a:p>
            <a:pPr lvl="1"/>
            <a:r>
              <a:rPr lang="en-US" sz="1600" dirty="0" err="1"/>
              <a:t>pPR</a:t>
            </a:r>
            <a:r>
              <a:rPr lang="en-US" sz="1600" dirty="0"/>
              <a:t>-&gt;</a:t>
            </a:r>
            <a:r>
              <a:rPr lang="en-US" sz="1600" dirty="0" err="1"/>
              <a:t>Tree_Location</a:t>
            </a:r>
            <a:r>
              <a:rPr lang="en-US" sz="1600" dirty="0"/>
              <a:t>[</a:t>
            </a:r>
            <a:r>
              <a:rPr lang="en-US" sz="1600" dirty="0" err="1"/>
              <a:t>itree</a:t>
            </a:r>
            <a:r>
              <a:rPr lang="en-US" sz="1600" dirty="0"/>
              <a:t>].height = </a:t>
            </a:r>
            <a:r>
              <a:rPr lang="en-US" sz="1600" dirty="0" err="1"/>
              <a:t>Realise_Tree_Height</a:t>
            </a:r>
            <a:r>
              <a:rPr lang="en-US" sz="1600" dirty="0"/>
              <a:t>(</a:t>
            </a:r>
            <a:r>
              <a:rPr lang="en-US" sz="1600" dirty="0" err="1"/>
              <a:t>pPR</a:t>
            </a:r>
            <a:r>
              <a:rPr lang="en-US" sz="1600" dirty="0"/>
              <a:t>-&gt;</a:t>
            </a:r>
            <a:r>
              <a:rPr lang="en-US" sz="1600" dirty="0" err="1"/>
              <a:t>mean_tree_height</a:t>
            </a:r>
            <a:r>
              <a:rPr lang="en-US" sz="1600" dirty="0"/>
              <a:t>)</a:t>
            </a:r>
          </a:p>
          <a:p>
            <a:pPr lvl="1"/>
            <a:r>
              <a:rPr lang="en-US" sz="1600" dirty="0" err="1"/>
              <a:t>Realise_Tree_Height</a:t>
            </a:r>
            <a:r>
              <a:rPr lang="en-US" sz="1600" dirty="0"/>
              <a:t>() defined in </a:t>
            </a:r>
            <a:r>
              <a:rPr lang="en-US" sz="1600" dirty="0" err="1"/>
              <a:t>Allometrics.c</a:t>
            </a:r>
            <a:r>
              <a:rPr lang="en-US" sz="1600" dirty="0"/>
              <a:t>, determines the height of each tree by adding a random number of standard deviation defined by TREE_STDDEV_FACTOR, to </a:t>
            </a:r>
            <a:r>
              <a:rPr lang="en-US" sz="1600" dirty="0" err="1"/>
              <a:t>pPR</a:t>
            </a:r>
            <a:r>
              <a:rPr lang="en-US" sz="1600" dirty="0"/>
              <a:t>-&gt;</a:t>
            </a:r>
            <a:r>
              <a:rPr lang="en-US" sz="1600" dirty="0" err="1"/>
              <a:t>mean_tree_height</a:t>
            </a:r>
            <a:r>
              <a:rPr lang="en-US" sz="1600" dirty="0"/>
              <a:t>.</a:t>
            </a:r>
          </a:p>
          <a:p>
            <a:endParaRPr lang="en-US" sz="1600" dirty="0"/>
          </a:p>
          <a:p>
            <a:r>
              <a:rPr lang="en-US" sz="1600" dirty="0"/>
              <a:t>I edited out </a:t>
            </a:r>
            <a:r>
              <a:rPr lang="en-US" sz="1600" dirty="0" err="1"/>
              <a:t>InputPolSARproSim_Record</a:t>
            </a:r>
            <a:r>
              <a:rPr lang="en-US" sz="1600" dirty="0"/>
              <a:t>() to not use that part of the code when </a:t>
            </a:r>
            <a:r>
              <a:rPr lang="en-US" sz="1600" dirty="0" err="1"/>
              <a:t>pPR</a:t>
            </a:r>
            <a:r>
              <a:rPr lang="en-US" sz="1600" dirty="0"/>
              <a:t>-&gt;</a:t>
            </a:r>
            <a:r>
              <a:rPr lang="en-US" sz="1600" dirty="0" err="1"/>
              <a:t>ForestInput_Flag</a:t>
            </a:r>
            <a:r>
              <a:rPr lang="en-US" sz="1600" dirty="0"/>
              <a:t> is set to EXTERNAL_FOREST_DEFINTION, rather use </a:t>
            </a:r>
            <a:r>
              <a:rPr lang="en-US" sz="1600" dirty="0" err="1"/>
              <a:t>Input_PolSARproSim_Forest</a:t>
            </a:r>
            <a:r>
              <a:rPr lang="en-US" sz="1600" dirty="0"/>
              <a:t>(). </a:t>
            </a:r>
          </a:p>
          <a:p>
            <a:endParaRPr lang="en-US" sz="1600" dirty="0"/>
          </a:p>
          <a:p>
            <a:r>
              <a:rPr lang="en-US" sz="1600" dirty="0" err="1"/>
              <a:t>Input_PolSARproSim_Forest_XML</a:t>
            </a:r>
            <a:r>
              <a:rPr lang="en-US" sz="1600" dirty="0"/>
              <a:t>() reads </a:t>
            </a:r>
            <a:r>
              <a:rPr lang="en-US" sz="1600" dirty="0" err="1"/>
              <a:t>pPR</a:t>
            </a:r>
            <a:r>
              <a:rPr lang="en-US" sz="1600" dirty="0"/>
              <a:t>-&gt;</a:t>
            </a:r>
            <a:r>
              <a:rPr lang="en-US" sz="1600" dirty="0" err="1"/>
              <a:t>ForestData</a:t>
            </a:r>
            <a:r>
              <a:rPr lang="en-US" sz="1600" dirty="0"/>
              <a:t> where height is in the 4</a:t>
            </a:r>
            <a:r>
              <a:rPr lang="en-US" sz="1600" baseline="30000" dirty="0"/>
              <a:t>th</a:t>
            </a:r>
            <a:r>
              <a:rPr lang="en-US" sz="1600" dirty="0"/>
              <a:t> column</a:t>
            </a:r>
          </a:p>
          <a:p>
            <a:pPr lvl="1"/>
            <a:r>
              <a:rPr lang="en-US" sz="1600" dirty="0" err="1"/>
              <a:t>pPR</a:t>
            </a:r>
            <a:r>
              <a:rPr lang="en-US" sz="1600" dirty="0"/>
              <a:t>-&gt;</a:t>
            </a:r>
            <a:r>
              <a:rPr lang="en-US" sz="1600" dirty="0" err="1"/>
              <a:t>Tree.Location</a:t>
            </a:r>
            <a:r>
              <a:rPr lang="en-US" sz="1600" dirty="0"/>
              <a:t>[</a:t>
            </a:r>
            <a:r>
              <a:rPr lang="en-US" sz="1600" dirty="0" err="1"/>
              <a:t>itree</a:t>
            </a:r>
            <a:r>
              <a:rPr lang="en-US" sz="1600" dirty="0"/>
              <a:t>].height = XMLDB.&lt;</a:t>
            </a:r>
            <a:r>
              <a:rPr lang="en-US" sz="1600" dirty="0" err="1"/>
              <a:t>tree_height</a:t>
            </a:r>
            <a:r>
              <a:rPr lang="en-US" sz="1600" dirty="0"/>
              <a:t>&gt;</a:t>
            </a:r>
          </a:p>
          <a:p>
            <a:endParaRPr lang="en-US" sz="1600" dirty="0"/>
          </a:p>
          <a:p>
            <a:r>
              <a:rPr lang="en-US" sz="1600" dirty="0" err="1"/>
              <a:t>Check_PolSARproSim_Forest</a:t>
            </a:r>
            <a:r>
              <a:rPr lang="en-US" sz="1600" dirty="0"/>
              <a:t>() exits program if </a:t>
            </a:r>
            <a:r>
              <a:rPr lang="en-US" sz="1600" dirty="0" err="1"/>
              <a:t>pPR</a:t>
            </a:r>
            <a:r>
              <a:rPr lang="en-US" sz="1600" dirty="0"/>
              <a:t>-&gt;</a:t>
            </a:r>
            <a:r>
              <a:rPr lang="en-US" sz="1600" dirty="0" err="1"/>
              <a:t>Tree_Location</a:t>
            </a:r>
            <a:r>
              <a:rPr lang="en-US" sz="1600" dirty="0"/>
              <a:t>[</a:t>
            </a:r>
            <a:r>
              <a:rPr lang="en-US" sz="1600" dirty="0" err="1"/>
              <a:t>itree</a:t>
            </a:r>
            <a:r>
              <a:rPr lang="en-US" sz="1600" dirty="0"/>
              <a:t>].height &lt; 0.</a:t>
            </a:r>
          </a:p>
        </p:txBody>
      </p:sp>
      <p:sp>
        <p:nvSpPr>
          <p:cNvPr id="4" name="Date Placeholder 3">
            <a:extLst>
              <a:ext uri="{FF2B5EF4-FFF2-40B4-BE49-F238E27FC236}">
                <a16:creationId xmlns:a16="http://schemas.microsoft.com/office/drawing/2014/main" id="{EDC04DC9-CCAC-08D2-7D00-C85A132768F6}"/>
              </a:ext>
            </a:extLst>
          </p:cNvPr>
          <p:cNvSpPr>
            <a:spLocks noGrp="1"/>
          </p:cNvSpPr>
          <p:nvPr>
            <p:ph type="dt" sz="half" idx="10"/>
          </p:nvPr>
        </p:nvSpPr>
        <p:spPr/>
        <p:txBody>
          <a:bodyPr/>
          <a:lstStyle/>
          <a:p>
            <a:fld id="{4C87C587-1975-2746-9E8A-A0195889EA35}" type="datetime1">
              <a:rPr lang="en-US" smtClean="0"/>
              <a:t>3/25/26</a:t>
            </a:fld>
            <a:endParaRPr lang="en-US"/>
          </a:p>
        </p:txBody>
      </p:sp>
      <p:sp>
        <p:nvSpPr>
          <p:cNvPr id="5" name="Footer Placeholder 4">
            <a:extLst>
              <a:ext uri="{FF2B5EF4-FFF2-40B4-BE49-F238E27FC236}">
                <a16:creationId xmlns:a16="http://schemas.microsoft.com/office/drawing/2014/main" id="{78D94FA7-6121-0004-B6FF-A5D1063FC5CB}"/>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57540A9D-C590-5163-5E31-E10A93452B3C}"/>
              </a:ext>
            </a:extLst>
          </p:cNvPr>
          <p:cNvSpPr>
            <a:spLocks noGrp="1"/>
          </p:cNvSpPr>
          <p:nvPr>
            <p:ph type="sldNum" sz="quarter" idx="12"/>
          </p:nvPr>
        </p:nvSpPr>
        <p:spPr/>
        <p:txBody>
          <a:bodyPr/>
          <a:lstStyle/>
          <a:p>
            <a:fld id="{B4CE5C4C-399A-B444-9B2A-945D2610250E}" type="slidenum">
              <a:rPr lang="en-US" smtClean="0"/>
              <a:t>11</a:t>
            </a:fld>
            <a:endParaRPr lang="en-US"/>
          </a:p>
        </p:txBody>
      </p:sp>
    </p:spTree>
    <p:extLst>
      <p:ext uri="{BB962C8B-B14F-4D97-AF65-F5344CB8AC3E}">
        <p14:creationId xmlns:p14="http://schemas.microsoft.com/office/powerpoint/2010/main" val="1629647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stem diameters</a:t>
            </a:r>
          </a:p>
        </p:txBody>
      </p:sp>
      <p:pic>
        <p:nvPicPr>
          <p:cNvPr id="8" name="Picture 7" descr="Screen Shot 2012-05-09 at 4.48.07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131865" y="1417638"/>
            <a:ext cx="2413478" cy="1335701"/>
          </a:xfrm>
          <a:prstGeom prst="rect">
            <a:avLst/>
          </a:prstGeom>
        </p:spPr>
      </p:pic>
      <p:sp>
        <p:nvSpPr>
          <p:cNvPr id="9" name="Content Placeholder 2"/>
          <p:cNvSpPr>
            <a:spLocks noGrp="1"/>
          </p:cNvSpPr>
          <p:nvPr>
            <p:ph idx="1"/>
          </p:nvPr>
        </p:nvSpPr>
        <p:spPr>
          <a:xfrm>
            <a:off x="457200" y="1600201"/>
            <a:ext cx="5171533" cy="2101882"/>
          </a:xfrm>
        </p:spPr>
        <p:txBody>
          <a:bodyPr>
            <a:normAutofit fontScale="92500"/>
          </a:bodyPr>
          <a:lstStyle/>
          <a:p>
            <a:r>
              <a:rPr lang="en-US" dirty="0"/>
              <a:t>Currently the stem diameter of each tree is derived </a:t>
            </a:r>
            <a:r>
              <a:rPr lang="en-US" dirty="0" err="1"/>
              <a:t>allometrically</a:t>
            </a:r>
            <a:r>
              <a:rPr lang="en-US" dirty="0"/>
              <a:t> from its height.</a:t>
            </a:r>
          </a:p>
          <a:p>
            <a:endParaRPr lang="en-US" dirty="0"/>
          </a:p>
          <a:p>
            <a:r>
              <a:rPr lang="en-US" dirty="0"/>
              <a:t>Edited PolSARproSim to allow specification of the stem diameter of each tree as </a:t>
            </a:r>
            <a:r>
              <a:rPr lang="en-US" dirty="0" err="1"/>
              <a:t>dbh</a:t>
            </a:r>
            <a:r>
              <a:rPr lang="en-US" dirty="0"/>
              <a:t>. </a:t>
            </a:r>
          </a:p>
        </p:txBody>
      </p:sp>
      <p:sp>
        <p:nvSpPr>
          <p:cNvPr id="10" name="TextBox 9"/>
          <p:cNvSpPr txBox="1"/>
          <p:nvPr/>
        </p:nvSpPr>
        <p:spPr>
          <a:xfrm>
            <a:off x="6131865" y="2895229"/>
            <a:ext cx="2413478" cy="369332"/>
          </a:xfrm>
          <a:prstGeom prst="rect">
            <a:avLst/>
          </a:prstGeom>
          <a:noFill/>
        </p:spPr>
        <p:txBody>
          <a:bodyPr wrap="square" rtlCol="0">
            <a:spAutoFit/>
          </a:bodyPr>
          <a:lstStyle/>
          <a:p>
            <a:pPr algn="ctr"/>
            <a:r>
              <a:rPr lang="en-US" dirty="0"/>
              <a:t>original</a:t>
            </a:r>
          </a:p>
        </p:txBody>
      </p:sp>
      <p:pic>
        <p:nvPicPr>
          <p:cNvPr id="4" name="Picture 3" descr="dbh_image.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830509" y="3619703"/>
            <a:ext cx="1286107" cy="1139044"/>
          </a:xfrm>
          <a:prstGeom prst="rect">
            <a:avLst/>
          </a:prstGeom>
        </p:spPr>
      </p:pic>
      <p:sp>
        <p:nvSpPr>
          <p:cNvPr id="16" name="TextBox 15"/>
          <p:cNvSpPr txBox="1"/>
          <p:nvPr/>
        </p:nvSpPr>
        <p:spPr>
          <a:xfrm>
            <a:off x="704936" y="4012462"/>
            <a:ext cx="1759652" cy="369332"/>
          </a:xfrm>
          <a:prstGeom prst="rect">
            <a:avLst/>
          </a:prstGeom>
          <a:noFill/>
        </p:spPr>
        <p:txBody>
          <a:bodyPr wrap="square" rtlCol="0">
            <a:spAutoFit/>
          </a:bodyPr>
          <a:lstStyle/>
          <a:p>
            <a:r>
              <a:rPr lang="en-US" dirty="0"/>
              <a:t>Thicker stems!</a:t>
            </a:r>
          </a:p>
        </p:txBody>
      </p:sp>
      <p:pic>
        <p:nvPicPr>
          <p:cNvPr id="17" name="Picture 16" descr="differentspecies_image.jp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2830509" y="5264752"/>
            <a:ext cx="1286107" cy="1139044"/>
          </a:xfrm>
          <a:prstGeom prst="rect">
            <a:avLst/>
          </a:prstGeom>
        </p:spPr>
      </p:pic>
      <p:pic>
        <p:nvPicPr>
          <p:cNvPr id="6" name="Picture 5" descr="Screen Shot 2012-07-31 at 3.58.30 PM.pn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524243" y="5081801"/>
            <a:ext cx="2751137" cy="1591065"/>
          </a:xfrm>
          <a:prstGeom prst="rect">
            <a:avLst/>
          </a:prstGeom>
        </p:spPr>
      </p:pic>
      <p:pic>
        <p:nvPicPr>
          <p:cNvPr id="7" name="Picture 6" descr="Screen Shot 2012-07-31 at 4.16.59 PM.png"/>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524243" y="3406654"/>
            <a:ext cx="2751137" cy="1570201"/>
          </a:xfrm>
          <a:prstGeom prst="rect">
            <a:avLst/>
          </a:prstGeom>
        </p:spPr>
      </p:pic>
      <p:sp>
        <p:nvSpPr>
          <p:cNvPr id="3" name="Date Placeholder 2">
            <a:extLst>
              <a:ext uri="{FF2B5EF4-FFF2-40B4-BE49-F238E27FC236}">
                <a16:creationId xmlns:a16="http://schemas.microsoft.com/office/drawing/2014/main" id="{145E0E10-DE39-A239-AF1D-C3E43A322E66}"/>
              </a:ext>
            </a:extLst>
          </p:cNvPr>
          <p:cNvSpPr>
            <a:spLocks noGrp="1"/>
          </p:cNvSpPr>
          <p:nvPr>
            <p:ph type="dt" sz="half" idx="10"/>
          </p:nvPr>
        </p:nvSpPr>
        <p:spPr/>
        <p:txBody>
          <a:bodyPr/>
          <a:lstStyle/>
          <a:p>
            <a:fld id="{8AEBBE25-7F5B-504F-B72B-8A0F41B939BF}" type="datetime1">
              <a:rPr lang="en-US" smtClean="0"/>
              <a:t>3/25/26</a:t>
            </a:fld>
            <a:endParaRPr lang="en-US"/>
          </a:p>
        </p:txBody>
      </p:sp>
      <p:sp>
        <p:nvSpPr>
          <p:cNvPr id="5" name="Footer Placeholder 4">
            <a:extLst>
              <a:ext uri="{FF2B5EF4-FFF2-40B4-BE49-F238E27FC236}">
                <a16:creationId xmlns:a16="http://schemas.microsoft.com/office/drawing/2014/main" id="{5A9D4B97-B172-DAFB-5832-1D3CAFCFF613}"/>
              </a:ext>
            </a:extLst>
          </p:cNvPr>
          <p:cNvSpPr>
            <a:spLocks noGrp="1"/>
          </p:cNvSpPr>
          <p:nvPr>
            <p:ph type="ftr" sz="quarter" idx="11"/>
          </p:nvPr>
        </p:nvSpPr>
        <p:spPr/>
        <p:txBody>
          <a:bodyPr/>
          <a:lstStyle/>
          <a:p>
            <a:r>
              <a:rPr lang="en-US"/>
              <a:t>Does Not Contain CUI.</a:t>
            </a:r>
          </a:p>
        </p:txBody>
      </p:sp>
      <p:sp>
        <p:nvSpPr>
          <p:cNvPr id="11" name="Slide Number Placeholder 10">
            <a:extLst>
              <a:ext uri="{FF2B5EF4-FFF2-40B4-BE49-F238E27FC236}">
                <a16:creationId xmlns:a16="http://schemas.microsoft.com/office/drawing/2014/main" id="{638C01AD-9AEF-88AD-A2C5-4A0258072EC1}"/>
              </a:ext>
            </a:extLst>
          </p:cNvPr>
          <p:cNvSpPr>
            <a:spLocks noGrp="1"/>
          </p:cNvSpPr>
          <p:nvPr>
            <p:ph type="sldNum" sz="quarter" idx="12"/>
          </p:nvPr>
        </p:nvSpPr>
        <p:spPr/>
        <p:txBody>
          <a:bodyPr/>
          <a:lstStyle/>
          <a:p>
            <a:fld id="{B4CE5C4C-399A-B444-9B2A-945D2610250E}" type="slidenum">
              <a:rPr lang="en-US" smtClean="0"/>
              <a:t>12</a:t>
            </a:fld>
            <a:endParaRPr lang="en-US"/>
          </a:p>
        </p:txBody>
      </p:sp>
    </p:spTree>
    <p:extLst>
      <p:ext uri="{BB962C8B-B14F-4D97-AF65-F5344CB8AC3E}">
        <p14:creationId xmlns:p14="http://schemas.microsoft.com/office/powerpoint/2010/main" val="302221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Diameters</a:t>
            </a:r>
          </a:p>
        </p:txBody>
      </p:sp>
      <p:sp>
        <p:nvSpPr>
          <p:cNvPr id="3" name="Content Placeholder 2"/>
          <p:cNvSpPr>
            <a:spLocks noGrp="1"/>
          </p:cNvSpPr>
          <p:nvPr>
            <p:ph idx="1"/>
          </p:nvPr>
        </p:nvSpPr>
        <p:spPr>
          <a:xfrm>
            <a:off x="457200" y="1166018"/>
            <a:ext cx="8229600" cy="5146859"/>
          </a:xfrm>
        </p:spPr>
        <p:txBody>
          <a:bodyPr>
            <a:noAutofit/>
          </a:bodyPr>
          <a:lstStyle/>
          <a:p>
            <a:r>
              <a:rPr lang="en-US" sz="1400" dirty="0"/>
              <a:t>Originally stem radius is computed by </a:t>
            </a:r>
            <a:r>
              <a:rPr lang="en-US" sz="1400" dirty="0" err="1"/>
              <a:t>Realise_Stem</a:t>
            </a:r>
            <a:r>
              <a:rPr lang="en-US" sz="1400" dirty="0"/>
              <a:t>() in </a:t>
            </a:r>
            <a:r>
              <a:rPr lang="en-US" sz="1400" dirty="0" err="1"/>
              <a:t>Realisation.c</a:t>
            </a:r>
            <a:r>
              <a:rPr lang="en-US" sz="1400" dirty="0"/>
              <a:t> through a call to </a:t>
            </a:r>
            <a:r>
              <a:rPr lang="en-US" sz="1400" dirty="0" err="1"/>
              <a:t>Stem_Start_Radius</a:t>
            </a:r>
            <a:r>
              <a:rPr lang="en-US" sz="1400" dirty="0"/>
              <a:t>() in </a:t>
            </a:r>
            <a:r>
              <a:rPr lang="en-US" sz="1400" dirty="0" err="1"/>
              <a:t>Allometrics.c</a:t>
            </a:r>
            <a:r>
              <a:rPr lang="en-US" sz="1400" dirty="0"/>
              <a:t> that returns a radius equal to STEM_RADIUS_FACTOR*height/100. </a:t>
            </a:r>
          </a:p>
          <a:p>
            <a:endParaRPr lang="en-US" sz="1400" dirty="0"/>
          </a:p>
          <a:p>
            <a:r>
              <a:rPr lang="en-US" sz="1400" dirty="0"/>
              <a:t>Added </a:t>
            </a:r>
            <a:r>
              <a:rPr lang="en-US" sz="1400" dirty="0" err="1"/>
              <a:t>TreeLoc.dbh</a:t>
            </a:r>
            <a:r>
              <a:rPr lang="en-US" sz="1400" dirty="0"/>
              <a:t> and </a:t>
            </a:r>
            <a:r>
              <a:rPr lang="en-US" sz="1400" dirty="0" err="1"/>
              <a:t>Tree.dbh</a:t>
            </a:r>
            <a:r>
              <a:rPr lang="en-US" sz="1400" dirty="0"/>
              <a:t> to allow </a:t>
            </a:r>
            <a:r>
              <a:rPr lang="en-US" sz="1400" dirty="0" err="1"/>
              <a:t>dbh</a:t>
            </a:r>
            <a:r>
              <a:rPr lang="en-US" sz="1400" dirty="0"/>
              <a:t> inputs for each tree from </a:t>
            </a:r>
            <a:r>
              <a:rPr lang="en-US" sz="1400" dirty="0" err="1"/>
              <a:t>pPR</a:t>
            </a:r>
            <a:r>
              <a:rPr lang="en-US" sz="1400" dirty="0"/>
              <a:t>-&gt;</a:t>
            </a:r>
            <a:r>
              <a:rPr lang="en-US" sz="1400" dirty="0" err="1"/>
              <a:t>ForestData</a:t>
            </a:r>
            <a:endParaRPr lang="en-US" sz="1400" dirty="0"/>
          </a:p>
          <a:p>
            <a:pPr lvl="1"/>
            <a:r>
              <a:rPr lang="en-US" sz="1400" dirty="0"/>
              <a:t>In </a:t>
            </a:r>
            <a:r>
              <a:rPr lang="en-US" sz="1400" dirty="0" err="1"/>
              <a:t>InputPolSARproSim_Forest_XML</a:t>
            </a:r>
            <a:r>
              <a:rPr lang="en-US" sz="1400" dirty="0"/>
              <a:t>() </a:t>
            </a:r>
          </a:p>
          <a:p>
            <a:pPr lvl="2"/>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dbh</a:t>
            </a:r>
            <a:r>
              <a:rPr lang="en-US" sz="1400" dirty="0"/>
              <a:t> = XMLDB.&lt;</a:t>
            </a:r>
            <a:r>
              <a:rPr lang="en-US" sz="1400" dirty="0" err="1"/>
              <a:t>stem_diameter</a:t>
            </a:r>
            <a:r>
              <a:rPr lang="en-US" sz="1400" dirty="0"/>
              <a:t>&gt;</a:t>
            </a:r>
          </a:p>
          <a:p>
            <a:pPr lvl="1"/>
            <a:r>
              <a:rPr lang="en-US" sz="1400" dirty="0"/>
              <a:t>In </a:t>
            </a:r>
            <a:r>
              <a:rPr lang="en-US" sz="1400" dirty="0" err="1"/>
              <a:t>CheckPolsARproSim_Forest</a:t>
            </a:r>
            <a:r>
              <a:rPr lang="en-US" sz="1400" dirty="0"/>
              <a:t>(), exit program if </a:t>
            </a:r>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dbh</a:t>
            </a:r>
            <a:r>
              <a:rPr lang="en-US" sz="1400" dirty="0"/>
              <a:t> &lt; 0</a:t>
            </a:r>
          </a:p>
          <a:p>
            <a:endParaRPr lang="en-US" sz="1400" dirty="0"/>
          </a:p>
          <a:p>
            <a:r>
              <a:rPr lang="en-US" sz="1400" dirty="0"/>
              <a:t>In </a:t>
            </a:r>
            <a:r>
              <a:rPr lang="en-US" sz="1400" dirty="0" err="1"/>
              <a:t>Realise_Tree</a:t>
            </a:r>
            <a:r>
              <a:rPr lang="en-US" sz="1400" dirty="0"/>
              <a:t>(</a:t>
            </a:r>
            <a:r>
              <a:rPr lang="en-US" sz="1400" dirty="0" err="1"/>
              <a:t>pPR,i</a:t>
            </a:r>
            <a:r>
              <a:rPr lang="en-US" sz="1400" dirty="0"/>
              <a:t>) set </a:t>
            </a:r>
            <a:r>
              <a:rPr lang="en-US" sz="1400" dirty="0" err="1"/>
              <a:t>pT</a:t>
            </a:r>
            <a:r>
              <a:rPr lang="en-US" sz="1400" dirty="0"/>
              <a:t>-&gt;</a:t>
            </a:r>
            <a:r>
              <a:rPr lang="en-US" sz="1400" dirty="0" err="1"/>
              <a:t>dbh</a:t>
            </a:r>
            <a:r>
              <a:rPr lang="en-US" sz="1400" dirty="0"/>
              <a:t> = </a:t>
            </a:r>
            <a:r>
              <a:rPr lang="en-US" sz="1400" dirty="0" err="1"/>
              <a:t>pPR</a:t>
            </a:r>
            <a:r>
              <a:rPr lang="en-US" sz="1400" dirty="0"/>
              <a:t>-&gt;</a:t>
            </a:r>
            <a:r>
              <a:rPr lang="en-US" sz="1400" dirty="0" err="1"/>
              <a:t>Tree_Location</a:t>
            </a:r>
            <a:r>
              <a:rPr lang="en-US" sz="1400" dirty="0"/>
              <a:t>[</a:t>
            </a:r>
            <a:r>
              <a:rPr lang="en-US" sz="1400" dirty="0" err="1"/>
              <a:t>i</a:t>
            </a:r>
            <a:r>
              <a:rPr lang="en-US" sz="1400" dirty="0"/>
              <a:t>].</a:t>
            </a:r>
            <a:r>
              <a:rPr lang="en-US" sz="1400" dirty="0" err="1"/>
              <a:t>dbh</a:t>
            </a:r>
            <a:r>
              <a:rPr lang="en-US" sz="1400" dirty="0"/>
              <a:t> to associate input </a:t>
            </a:r>
            <a:r>
              <a:rPr lang="en-US" sz="1400" dirty="0" err="1"/>
              <a:t>dbh</a:t>
            </a:r>
            <a:r>
              <a:rPr lang="en-US" sz="1400" dirty="0"/>
              <a:t> with a particular Tree’s </a:t>
            </a:r>
            <a:r>
              <a:rPr lang="en-US" sz="1400" dirty="0" err="1"/>
              <a:t>dbh</a:t>
            </a:r>
            <a:r>
              <a:rPr lang="en-US" sz="1400" dirty="0"/>
              <a:t>.</a:t>
            </a:r>
          </a:p>
          <a:p>
            <a:endParaRPr lang="en-US" sz="1400" dirty="0"/>
          </a:p>
          <a:p>
            <a:r>
              <a:rPr lang="en-US" sz="1400" dirty="0"/>
              <a:t>In </a:t>
            </a:r>
            <a:r>
              <a:rPr lang="en-US" sz="1400" dirty="0" err="1"/>
              <a:t>Realise_Stem</a:t>
            </a:r>
            <a:r>
              <a:rPr lang="en-US" sz="1400" dirty="0"/>
              <a:t>() set </a:t>
            </a:r>
            <a:r>
              <a:rPr lang="en-US" sz="1400" dirty="0" err="1"/>
              <a:t>start_radius</a:t>
            </a:r>
            <a:r>
              <a:rPr lang="en-US" sz="1400" dirty="0"/>
              <a:t> = </a:t>
            </a:r>
            <a:r>
              <a:rPr lang="en-US" sz="1400" dirty="0" err="1"/>
              <a:t>pT</a:t>
            </a:r>
            <a:r>
              <a:rPr lang="en-US" sz="1400" dirty="0"/>
              <a:t>-&gt;</a:t>
            </a:r>
            <a:r>
              <a:rPr lang="en-US" sz="1400" dirty="0" err="1"/>
              <a:t>dbh</a:t>
            </a:r>
            <a:r>
              <a:rPr lang="en-US" sz="1400" dirty="0"/>
              <a:t>/2 instead of </a:t>
            </a:r>
            <a:r>
              <a:rPr lang="en-US" sz="1400" dirty="0" err="1"/>
              <a:t>start_radius</a:t>
            </a:r>
            <a:r>
              <a:rPr lang="en-US" sz="1400" dirty="0"/>
              <a:t> = </a:t>
            </a:r>
            <a:r>
              <a:rPr lang="en-US" sz="1400" dirty="0" err="1"/>
              <a:t>Stem_Start_Radius</a:t>
            </a:r>
            <a:r>
              <a:rPr lang="en-US" sz="1400" dirty="0"/>
              <a:t>() to </a:t>
            </a:r>
            <a:r>
              <a:rPr lang="en-US" sz="1400" dirty="0" err="1"/>
              <a:t>realise</a:t>
            </a:r>
            <a:r>
              <a:rPr lang="en-US" sz="1400" dirty="0"/>
              <a:t> stem diameter from input if </a:t>
            </a:r>
            <a:r>
              <a:rPr lang="en-US" sz="1400" dirty="0" err="1"/>
              <a:t>pPR</a:t>
            </a:r>
            <a:r>
              <a:rPr lang="en-US" sz="1400" dirty="0"/>
              <a:t>-&gt;</a:t>
            </a:r>
            <a:r>
              <a:rPr lang="en-US" sz="1400" dirty="0" err="1"/>
              <a:t>ForestInput_Flag</a:t>
            </a:r>
            <a:r>
              <a:rPr lang="en-US" sz="1400" dirty="0"/>
              <a:t> is set to EXTERNAL_FOREST_DEFINITION.</a:t>
            </a:r>
          </a:p>
          <a:p>
            <a:endParaRPr lang="en-US" sz="1400" dirty="0"/>
          </a:p>
          <a:p>
            <a:r>
              <a:rPr lang="en-US" sz="1400" dirty="0"/>
              <a:t>Change function </a:t>
            </a:r>
            <a:r>
              <a:rPr lang="en-US" sz="1400" dirty="0" err="1"/>
              <a:t>Primary_Radius</a:t>
            </a:r>
            <a:r>
              <a:rPr lang="en-US" sz="1400" dirty="0"/>
              <a:t>(</a:t>
            </a:r>
            <a:r>
              <a:rPr lang="en-US" sz="1400" dirty="0" err="1"/>
              <a:t>int</a:t>
            </a:r>
            <a:r>
              <a:rPr lang="en-US" sz="1400" dirty="0"/>
              <a:t> species, double height) to </a:t>
            </a:r>
            <a:r>
              <a:rPr lang="en-US" sz="1400" dirty="0" err="1"/>
              <a:t>Primary_Radius</a:t>
            </a:r>
            <a:r>
              <a:rPr lang="en-US" sz="1400" dirty="0"/>
              <a:t>(Tree *</a:t>
            </a:r>
            <a:r>
              <a:rPr lang="en-US" sz="1400" dirty="0" err="1"/>
              <a:t>pT</a:t>
            </a:r>
            <a:r>
              <a:rPr lang="en-US" sz="1400" dirty="0"/>
              <a:t>, </a:t>
            </a:r>
            <a:r>
              <a:rPr lang="en-US" sz="1400" dirty="0" err="1"/>
              <a:t>PolSARproSim_Record</a:t>
            </a:r>
            <a:r>
              <a:rPr lang="en-US" sz="1400" dirty="0"/>
              <a:t> *</a:t>
            </a:r>
            <a:r>
              <a:rPr lang="en-US" sz="1400" dirty="0" err="1"/>
              <a:t>pPR</a:t>
            </a:r>
            <a:r>
              <a:rPr lang="en-US" sz="1400" dirty="0"/>
              <a:t>) so that sr0=</a:t>
            </a:r>
            <a:r>
              <a:rPr lang="en-US" sz="1400" dirty="0" err="1"/>
              <a:t>pT</a:t>
            </a:r>
            <a:r>
              <a:rPr lang="en-US" sz="1400" dirty="0"/>
              <a:t>-&gt;</a:t>
            </a:r>
            <a:r>
              <a:rPr lang="en-US" sz="1400" dirty="0" err="1"/>
              <a:t>dbh</a:t>
            </a:r>
            <a:r>
              <a:rPr lang="en-US" sz="1400" dirty="0"/>
              <a:t>/2 if </a:t>
            </a:r>
            <a:r>
              <a:rPr lang="en-US" sz="1400" dirty="0" err="1"/>
              <a:t>pPR</a:t>
            </a:r>
            <a:r>
              <a:rPr lang="en-US" sz="1400" dirty="0"/>
              <a:t>-&gt;</a:t>
            </a:r>
            <a:r>
              <a:rPr lang="en-US" sz="1400" dirty="0" err="1"/>
              <a:t>ForestInput_Flag</a:t>
            </a:r>
            <a:r>
              <a:rPr lang="en-US" sz="1400" dirty="0"/>
              <a:t> is set to EXTERNAL_FOREST_DEFINITION, otherwise sr0=</a:t>
            </a:r>
            <a:r>
              <a:rPr lang="en-US" sz="1400" dirty="0" err="1"/>
              <a:t>Stem_Start_Radius</a:t>
            </a:r>
            <a:r>
              <a:rPr lang="en-US" sz="1400" dirty="0"/>
              <a:t>(species, height).</a:t>
            </a:r>
          </a:p>
          <a:p>
            <a:endParaRPr lang="en-US" sz="1400" dirty="0"/>
          </a:p>
        </p:txBody>
      </p:sp>
      <p:sp>
        <p:nvSpPr>
          <p:cNvPr id="4" name="Date Placeholder 3">
            <a:extLst>
              <a:ext uri="{FF2B5EF4-FFF2-40B4-BE49-F238E27FC236}">
                <a16:creationId xmlns:a16="http://schemas.microsoft.com/office/drawing/2014/main" id="{57EBF311-D000-2A92-DF81-51D8C2EDD645}"/>
              </a:ext>
            </a:extLst>
          </p:cNvPr>
          <p:cNvSpPr>
            <a:spLocks noGrp="1"/>
          </p:cNvSpPr>
          <p:nvPr>
            <p:ph type="dt" sz="half" idx="10"/>
          </p:nvPr>
        </p:nvSpPr>
        <p:spPr/>
        <p:txBody>
          <a:bodyPr/>
          <a:lstStyle/>
          <a:p>
            <a:fld id="{5504D38E-61A9-8C44-8083-3043D8C4DECF}" type="datetime1">
              <a:rPr lang="en-US" smtClean="0"/>
              <a:t>3/25/26</a:t>
            </a:fld>
            <a:endParaRPr lang="en-US"/>
          </a:p>
        </p:txBody>
      </p:sp>
      <p:sp>
        <p:nvSpPr>
          <p:cNvPr id="5" name="Footer Placeholder 4">
            <a:extLst>
              <a:ext uri="{FF2B5EF4-FFF2-40B4-BE49-F238E27FC236}">
                <a16:creationId xmlns:a16="http://schemas.microsoft.com/office/drawing/2014/main" id="{82CE2604-C413-FB2D-2D70-5827FCE352F8}"/>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454C952E-6787-AE63-EF9A-EE8269FDAF28}"/>
              </a:ext>
            </a:extLst>
          </p:cNvPr>
          <p:cNvSpPr>
            <a:spLocks noGrp="1"/>
          </p:cNvSpPr>
          <p:nvPr>
            <p:ph type="sldNum" sz="quarter" idx="12"/>
          </p:nvPr>
        </p:nvSpPr>
        <p:spPr/>
        <p:txBody>
          <a:bodyPr/>
          <a:lstStyle/>
          <a:p>
            <a:fld id="{B4CE5C4C-399A-B444-9B2A-945D2610250E}" type="slidenum">
              <a:rPr lang="en-US" smtClean="0"/>
              <a:t>13</a:t>
            </a:fld>
            <a:endParaRPr lang="en-US"/>
          </a:p>
        </p:txBody>
      </p:sp>
    </p:spTree>
    <p:extLst>
      <p:ext uri="{BB962C8B-B14F-4D97-AF65-F5344CB8AC3E}">
        <p14:creationId xmlns:p14="http://schemas.microsoft.com/office/powerpoint/2010/main" val="393529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crown radii</a:t>
            </a:r>
          </a:p>
        </p:txBody>
      </p:sp>
      <p:sp>
        <p:nvSpPr>
          <p:cNvPr id="9" name="Content Placeholder 2"/>
          <p:cNvSpPr>
            <a:spLocks noGrp="1"/>
          </p:cNvSpPr>
          <p:nvPr>
            <p:ph idx="1"/>
          </p:nvPr>
        </p:nvSpPr>
        <p:spPr>
          <a:xfrm>
            <a:off x="457200" y="1600201"/>
            <a:ext cx="8229600" cy="1111790"/>
          </a:xfrm>
        </p:spPr>
        <p:txBody>
          <a:bodyPr>
            <a:normAutofit fontScale="77500" lnSpcReduction="20000"/>
          </a:bodyPr>
          <a:lstStyle/>
          <a:p>
            <a:r>
              <a:rPr lang="en-US" dirty="0"/>
              <a:t>Currently crown radius is </a:t>
            </a:r>
            <a:r>
              <a:rPr lang="en-US" dirty="0" err="1"/>
              <a:t>allometrically</a:t>
            </a:r>
            <a:r>
              <a:rPr lang="en-US" dirty="0"/>
              <a:t> derived from tree height.</a:t>
            </a:r>
          </a:p>
          <a:p>
            <a:endParaRPr lang="en-US" dirty="0"/>
          </a:p>
          <a:p>
            <a:r>
              <a:rPr lang="en-US" dirty="0"/>
              <a:t>Edited PolSARproSim to allow specification of the crown radius of each tree</a:t>
            </a:r>
          </a:p>
        </p:txBody>
      </p:sp>
      <p:pic>
        <p:nvPicPr>
          <p:cNvPr id="7" name="Picture 6" descr="Screen Shot 2012-07-31 at 4.16.59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44426" y="2819398"/>
            <a:ext cx="3228718" cy="1963737"/>
          </a:xfrm>
          <a:prstGeom prst="rect">
            <a:avLst/>
          </a:prstGeom>
        </p:spPr>
      </p:pic>
      <p:pic>
        <p:nvPicPr>
          <p:cNvPr id="3" name="Picture 2" descr="Screen Shot 2012-07-31 at 4.29.19 PM.pn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144426" y="5004319"/>
            <a:ext cx="3228718" cy="1733577"/>
          </a:xfrm>
          <a:prstGeom prst="rect">
            <a:avLst/>
          </a:prstGeom>
        </p:spPr>
      </p:pic>
      <p:pic>
        <p:nvPicPr>
          <p:cNvPr id="12" name="Picture 11" descr="differentspecies_image.jp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35232" y="2819399"/>
            <a:ext cx="4138343" cy="1963737"/>
          </a:xfrm>
          <a:prstGeom prst="rect">
            <a:avLst/>
          </a:prstGeom>
        </p:spPr>
      </p:pic>
      <p:pic>
        <p:nvPicPr>
          <p:cNvPr id="5" name="Picture 4" descr="canopy_radius_image.jpg"/>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635232" y="5004320"/>
            <a:ext cx="4138343" cy="1736854"/>
          </a:xfrm>
          <a:prstGeom prst="rect">
            <a:avLst/>
          </a:prstGeom>
        </p:spPr>
      </p:pic>
      <p:sp>
        <p:nvSpPr>
          <p:cNvPr id="4" name="Date Placeholder 3">
            <a:extLst>
              <a:ext uri="{FF2B5EF4-FFF2-40B4-BE49-F238E27FC236}">
                <a16:creationId xmlns:a16="http://schemas.microsoft.com/office/drawing/2014/main" id="{E19A0468-7F41-58A5-2E24-8DD3A01CDF03}"/>
              </a:ext>
            </a:extLst>
          </p:cNvPr>
          <p:cNvSpPr>
            <a:spLocks noGrp="1"/>
          </p:cNvSpPr>
          <p:nvPr>
            <p:ph type="dt" sz="half" idx="10"/>
          </p:nvPr>
        </p:nvSpPr>
        <p:spPr/>
        <p:txBody>
          <a:bodyPr/>
          <a:lstStyle/>
          <a:p>
            <a:fld id="{C474798C-230E-8345-AA41-0082CA15414F}" type="datetime1">
              <a:rPr lang="en-US" smtClean="0"/>
              <a:t>3/25/26</a:t>
            </a:fld>
            <a:endParaRPr lang="en-US"/>
          </a:p>
        </p:txBody>
      </p:sp>
      <p:sp>
        <p:nvSpPr>
          <p:cNvPr id="6" name="Footer Placeholder 5">
            <a:extLst>
              <a:ext uri="{FF2B5EF4-FFF2-40B4-BE49-F238E27FC236}">
                <a16:creationId xmlns:a16="http://schemas.microsoft.com/office/drawing/2014/main" id="{D9D91E92-34E9-612C-E942-A5A96F78D4C0}"/>
              </a:ext>
            </a:extLst>
          </p:cNvPr>
          <p:cNvSpPr>
            <a:spLocks noGrp="1"/>
          </p:cNvSpPr>
          <p:nvPr>
            <p:ph type="ftr" sz="quarter" idx="11"/>
          </p:nvPr>
        </p:nvSpPr>
        <p:spPr/>
        <p:txBody>
          <a:bodyPr/>
          <a:lstStyle/>
          <a:p>
            <a:r>
              <a:rPr lang="en-US"/>
              <a:t>Does Not Contain CUI.</a:t>
            </a:r>
          </a:p>
        </p:txBody>
      </p:sp>
      <p:sp>
        <p:nvSpPr>
          <p:cNvPr id="8" name="Slide Number Placeholder 7">
            <a:extLst>
              <a:ext uri="{FF2B5EF4-FFF2-40B4-BE49-F238E27FC236}">
                <a16:creationId xmlns:a16="http://schemas.microsoft.com/office/drawing/2014/main" id="{8F11E23E-6C03-06B6-FD09-E04573D67CB7}"/>
              </a:ext>
            </a:extLst>
          </p:cNvPr>
          <p:cNvSpPr>
            <a:spLocks noGrp="1"/>
          </p:cNvSpPr>
          <p:nvPr>
            <p:ph type="sldNum" sz="quarter" idx="12"/>
          </p:nvPr>
        </p:nvSpPr>
        <p:spPr/>
        <p:txBody>
          <a:bodyPr/>
          <a:lstStyle/>
          <a:p>
            <a:fld id="{B4CE5C4C-399A-B444-9B2A-945D2610250E}" type="slidenum">
              <a:rPr lang="en-US" smtClean="0"/>
              <a:t>14</a:t>
            </a:fld>
            <a:endParaRPr lang="en-US"/>
          </a:p>
        </p:txBody>
      </p:sp>
    </p:spTree>
    <p:extLst>
      <p:ext uri="{BB962C8B-B14F-4D97-AF65-F5344CB8AC3E}">
        <p14:creationId xmlns:p14="http://schemas.microsoft.com/office/powerpoint/2010/main" val="1456616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Crown Radius</a:t>
            </a:r>
          </a:p>
        </p:txBody>
      </p:sp>
      <p:sp>
        <p:nvSpPr>
          <p:cNvPr id="3" name="Content Placeholder 2"/>
          <p:cNvSpPr>
            <a:spLocks noGrp="1"/>
          </p:cNvSpPr>
          <p:nvPr>
            <p:ph idx="1"/>
          </p:nvPr>
        </p:nvSpPr>
        <p:spPr/>
        <p:txBody>
          <a:bodyPr>
            <a:normAutofit fontScale="92500" lnSpcReduction="20000"/>
          </a:bodyPr>
          <a:lstStyle/>
          <a:p>
            <a:r>
              <a:rPr lang="en-US" sz="1600" dirty="0" err="1"/>
              <a:t>TreeLoc.radius</a:t>
            </a:r>
            <a:r>
              <a:rPr lang="en-US" sz="1600" dirty="0"/>
              <a:t> already exists</a:t>
            </a:r>
          </a:p>
          <a:p>
            <a:endParaRPr lang="en-US" sz="1600" dirty="0"/>
          </a:p>
          <a:p>
            <a:r>
              <a:rPr lang="en-US" sz="1600" dirty="0"/>
              <a:t>Originally crown radius is computed for each tree by a call to </a:t>
            </a:r>
            <a:r>
              <a:rPr lang="en-US" sz="1600" dirty="0" err="1"/>
              <a:t>Realise_Tree_Crown_Radius</a:t>
            </a:r>
            <a:r>
              <a:rPr lang="en-US" sz="1600" dirty="0"/>
              <a:t>(species, height) in </a:t>
            </a:r>
            <a:r>
              <a:rPr lang="en-US" sz="1600" dirty="0" err="1"/>
              <a:t>Allometrics.c</a:t>
            </a:r>
            <a:r>
              <a:rPr lang="en-US" sz="1600" dirty="0"/>
              <a:t> called by </a:t>
            </a:r>
            <a:r>
              <a:rPr lang="en-US" sz="1600" dirty="0" err="1"/>
              <a:t>InputPolSARproSim_Record</a:t>
            </a:r>
            <a:r>
              <a:rPr lang="en-US" sz="1600" dirty="0"/>
              <a:t>() in </a:t>
            </a:r>
            <a:r>
              <a:rPr lang="en-US" sz="1600" dirty="0" err="1"/>
              <a:t>PolSARproSim_Procedures.c</a:t>
            </a:r>
            <a:endParaRPr lang="en-US" sz="1600" dirty="0"/>
          </a:p>
          <a:p>
            <a:pPr lvl="1"/>
            <a:r>
              <a:rPr lang="en-US" sz="1600" dirty="0" err="1"/>
              <a:t>pPR</a:t>
            </a:r>
            <a:r>
              <a:rPr lang="en-US" sz="1600" dirty="0"/>
              <a:t>-&gt;</a:t>
            </a:r>
            <a:r>
              <a:rPr lang="en-US" sz="1600" dirty="0" err="1"/>
              <a:t>Tree_Location</a:t>
            </a:r>
            <a:r>
              <a:rPr lang="en-US" sz="1600" dirty="0"/>
              <a:t>[</a:t>
            </a:r>
            <a:r>
              <a:rPr lang="en-US" sz="1600" dirty="0" err="1"/>
              <a:t>itree</a:t>
            </a:r>
            <a:r>
              <a:rPr lang="en-US" sz="1600" dirty="0"/>
              <a:t>].radius = </a:t>
            </a:r>
            <a:r>
              <a:rPr lang="en-US" sz="1600" dirty="0" err="1"/>
              <a:t>Realise_Tree_Crown_Radius</a:t>
            </a:r>
            <a:r>
              <a:rPr lang="en-US" sz="1600" dirty="0"/>
              <a:t>(</a:t>
            </a:r>
            <a:r>
              <a:rPr lang="en-US" sz="1600" dirty="0" err="1"/>
              <a:t>pPR</a:t>
            </a:r>
            <a:r>
              <a:rPr lang="en-US" sz="1600" dirty="0"/>
              <a:t>-&gt;species, </a:t>
            </a:r>
            <a:r>
              <a:rPr lang="en-US" sz="1600" dirty="0" err="1"/>
              <a:t>pPR</a:t>
            </a:r>
            <a:r>
              <a:rPr lang="en-US" sz="1600" dirty="0"/>
              <a:t>-&gt;</a:t>
            </a:r>
            <a:r>
              <a:rPr lang="en-US" sz="1600" dirty="0" err="1"/>
              <a:t>Tree_Location</a:t>
            </a:r>
            <a:r>
              <a:rPr lang="en-US" sz="1600" dirty="0"/>
              <a:t>[</a:t>
            </a:r>
            <a:r>
              <a:rPr lang="en-US" sz="1600" dirty="0" err="1"/>
              <a:t>itree</a:t>
            </a:r>
            <a:r>
              <a:rPr lang="en-US" sz="1600" dirty="0"/>
              <a:t>].height</a:t>
            </a:r>
          </a:p>
          <a:p>
            <a:endParaRPr lang="en-US" sz="1600" dirty="0"/>
          </a:p>
          <a:p>
            <a:r>
              <a:rPr lang="en-US" sz="1600" dirty="0"/>
              <a:t>Edited to read crown radius from </a:t>
            </a:r>
            <a:r>
              <a:rPr lang="en-US" sz="1600" dirty="0" err="1"/>
              <a:t>pPR</a:t>
            </a:r>
            <a:r>
              <a:rPr lang="en-US" sz="1600" dirty="0"/>
              <a:t>-&gt;</a:t>
            </a:r>
            <a:r>
              <a:rPr lang="en-US" sz="1600" dirty="0" err="1"/>
              <a:t>ForestData</a:t>
            </a:r>
            <a:endParaRPr lang="en-US" sz="1600" dirty="0"/>
          </a:p>
          <a:p>
            <a:pPr lvl="1"/>
            <a:r>
              <a:rPr lang="en-US" sz="1600" dirty="0" err="1"/>
              <a:t>InptPolSARproSim_Forest_XML</a:t>
            </a:r>
            <a:r>
              <a:rPr lang="en-US" sz="1600" dirty="0"/>
              <a:t>() reads in radius</a:t>
            </a:r>
          </a:p>
          <a:p>
            <a:pPr lvl="2"/>
            <a:r>
              <a:rPr lang="en-US" sz="1600" dirty="0" err="1"/>
              <a:t>pPR</a:t>
            </a:r>
            <a:r>
              <a:rPr lang="en-US" sz="1600" dirty="0"/>
              <a:t>-&gt;</a:t>
            </a:r>
            <a:r>
              <a:rPr lang="en-US" sz="1600" dirty="0" err="1"/>
              <a:t>Tree_Location</a:t>
            </a:r>
            <a:r>
              <a:rPr lang="en-US" sz="1600" dirty="0"/>
              <a:t>[</a:t>
            </a:r>
            <a:r>
              <a:rPr lang="en-US" sz="1600" dirty="0" err="1"/>
              <a:t>itree</a:t>
            </a:r>
            <a:r>
              <a:rPr lang="en-US" sz="1600" dirty="0"/>
              <a:t>].radius = XMLDB.&lt;</a:t>
            </a:r>
            <a:r>
              <a:rPr lang="en-US" sz="1600" dirty="0" err="1"/>
              <a:t>canopy_radius</a:t>
            </a:r>
            <a:r>
              <a:rPr lang="en-US" sz="1600" dirty="0"/>
              <a:t>&gt;</a:t>
            </a:r>
          </a:p>
          <a:p>
            <a:pPr lvl="1"/>
            <a:r>
              <a:rPr lang="en-US" sz="1600" dirty="0" err="1"/>
              <a:t>CheckPolSARproSim_Forest</a:t>
            </a:r>
            <a:r>
              <a:rPr lang="en-US" sz="1600" dirty="0"/>
              <a:t> exits of </a:t>
            </a:r>
            <a:r>
              <a:rPr lang="en-US" sz="1600" dirty="0" err="1"/>
              <a:t>pPR</a:t>
            </a:r>
            <a:r>
              <a:rPr lang="en-US" sz="1600" dirty="0"/>
              <a:t>-&gt;</a:t>
            </a:r>
            <a:r>
              <a:rPr lang="en-US" sz="1600" dirty="0" err="1"/>
              <a:t>Tree_Location</a:t>
            </a:r>
            <a:r>
              <a:rPr lang="en-US" sz="1600" dirty="0"/>
              <a:t>[</a:t>
            </a:r>
            <a:r>
              <a:rPr lang="en-US" sz="1600" dirty="0" err="1"/>
              <a:t>itree</a:t>
            </a:r>
            <a:r>
              <a:rPr lang="en-US" sz="1600" dirty="0"/>
              <a:t>].radius &lt; 0</a:t>
            </a:r>
          </a:p>
          <a:p>
            <a:endParaRPr lang="en-US" sz="1600" dirty="0"/>
          </a:p>
          <a:p>
            <a:r>
              <a:rPr lang="en-US" sz="1600" dirty="0"/>
              <a:t>Mean crown radius </a:t>
            </a:r>
            <a:r>
              <a:rPr lang="en-US" sz="1600" dirty="0" err="1"/>
              <a:t>pPR</a:t>
            </a:r>
            <a:r>
              <a:rPr lang="en-US" sz="1600" dirty="0"/>
              <a:t>-&gt;</a:t>
            </a:r>
            <a:r>
              <a:rPr lang="en-US" sz="1600" dirty="0" err="1"/>
              <a:t>mean_crown_radius</a:t>
            </a:r>
            <a:r>
              <a:rPr lang="en-US" sz="1600" dirty="0"/>
              <a:t> is computed as an average of the crown radii in </a:t>
            </a:r>
            <a:r>
              <a:rPr lang="en-US" sz="1600" dirty="0" err="1"/>
              <a:t>pPR</a:t>
            </a:r>
            <a:r>
              <a:rPr lang="en-US" sz="1600" dirty="0"/>
              <a:t>-&gt;</a:t>
            </a:r>
            <a:r>
              <a:rPr lang="en-US" sz="1600" dirty="0" err="1"/>
              <a:t>ForestData</a:t>
            </a:r>
            <a:endParaRPr lang="en-US" sz="1600" dirty="0"/>
          </a:p>
          <a:p>
            <a:endParaRPr lang="en-US" sz="1600" dirty="0"/>
          </a:p>
          <a:p>
            <a:r>
              <a:rPr lang="en-US" sz="1600" dirty="0"/>
              <a:t>Not sure why </a:t>
            </a:r>
            <a:r>
              <a:rPr lang="en-US" sz="1600" dirty="0" err="1"/>
              <a:t>Surface_Parameters</a:t>
            </a:r>
            <a:r>
              <a:rPr lang="en-US" sz="1600" dirty="0"/>
              <a:t>() is using </a:t>
            </a:r>
            <a:r>
              <a:rPr lang="en-US" sz="1600" dirty="0" err="1"/>
              <a:t>Mean_Tree_Crown_Radius</a:t>
            </a:r>
            <a:r>
              <a:rPr lang="en-US" sz="1600" dirty="0"/>
              <a:t> instead of </a:t>
            </a:r>
            <a:r>
              <a:rPr lang="en-US" sz="1600" dirty="0" err="1"/>
              <a:t>pPR</a:t>
            </a:r>
            <a:r>
              <a:rPr lang="en-US" sz="1600" dirty="0"/>
              <a:t>-&gt;</a:t>
            </a:r>
            <a:r>
              <a:rPr lang="en-US" sz="1600" dirty="0" err="1"/>
              <a:t>mean_crown_radius</a:t>
            </a:r>
            <a:r>
              <a:rPr lang="en-US" sz="1600" dirty="0"/>
              <a:t>. It sets </a:t>
            </a:r>
            <a:r>
              <a:rPr lang="en-US" sz="1600" dirty="0" err="1"/>
              <a:t>pPR</a:t>
            </a:r>
            <a:r>
              <a:rPr lang="en-US" sz="1600" dirty="0"/>
              <a:t>-&gt;</a:t>
            </a:r>
            <a:r>
              <a:rPr lang="en-US" sz="1600" dirty="0" err="1"/>
              <a:t>large_scale_length</a:t>
            </a:r>
            <a:r>
              <a:rPr lang="en-US" sz="1600" dirty="0"/>
              <a:t>, that is used in generation of ground heights.</a:t>
            </a:r>
          </a:p>
        </p:txBody>
      </p:sp>
      <p:sp>
        <p:nvSpPr>
          <p:cNvPr id="4" name="Date Placeholder 3">
            <a:extLst>
              <a:ext uri="{FF2B5EF4-FFF2-40B4-BE49-F238E27FC236}">
                <a16:creationId xmlns:a16="http://schemas.microsoft.com/office/drawing/2014/main" id="{FB10353C-33F6-E979-D7CD-CD23DEAE4F3B}"/>
              </a:ext>
            </a:extLst>
          </p:cNvPr>
          <p:cNvSpPr>
            <a:spLocks noGrp="1"/>
          </p:cNvSpPr>
          <p:nvPr>
            <p:ph type="dt" sz="half" idx="10"/>
          </p:nvPr>
        </p:nvSpPr>
        <p:spPr/>
        <p:txBody>
          <a:bodyPr/>
          <a:lstStyle/>
          <a:p>
            <a:fld id="{E12A7410-8C88-5043-BD4E-9CD11862D650}" type="datetime1">
              <a:rPr lang="en-US" smtClean="0"/>
              <a:t>3/25/26</a:t>
            </a:fld>
            <a:endParaRPr lang="en-US"/>
          </a:p>
        </p:txBody>
      </p:sp>
      <p:sp>
        <p:nvSpPr>
          <p:cNvPr id="5" name="Footer Placeholder 4">
            <a:extLst>
              <a:ext uri="{FF2B5EF4-FFF2-40B4-BE49-F238E27FC236}">
                <a16:creationId xmlns:a16="http://schemas.microsoft.com/office/drawing/2014/main" id="{42B71776-7F26-8670-A0FC-5446C8A250F1}"/>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91B0DD26-78F3-8A08-5329-A53D5A4444FE}"/>
              </a:ext>
            </a:extLst>
          </p:cNvPr>
          <p:cNvSpPr>
            <a:spLocks noGrp="1"/>
          </p:cNvSpPr>
          <p:nvPr>
            <p:ph type="sldNum" sz="quarter" idx="12"/>
          </p:nvPr>
        </p:nvSpPr>
        <p:spPr/>
        <p:txBody>
          <a:bodyPr/>
          <a:lstStyle/>
          <a:p>
            <a:fld id="{B4CE5C4C-399A-B444-9B2A-945D2610250E}" type="slidenum">
              <a:rPr lang="en-US" smtClean="0"/>
              <a:t>15</a:t>
            </a:fld>
            <a:endParaRPr lang="en-US"/>
          </a:p>
        </p:txBody>
      </p:sp>
    </p:spTree>
    <p:extLst>
      <p:ext uri="{BB962C8B-B14F-4D97-AF65-F5344CB8AC3E}">
        <p14:creationId xmlns:p14="http://schemas.microsoft.com/office/powerpoint/2010/main" val="2521077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crown depths</a:t>
            </a:r>
          </a:p>
        </p:txBody>
      </p:sp>
      <p:sp>
        <p:nvSpPr>
          <p:cNvPr id="9" name="Content Placeholder 2"/>
          <p:cNvSpPr>
            <a:spLocks noGrp="1"/>
          </p:cNvSpPr>
          <p:nvPr>
            <p:ph idx="1"/>
          </p:nvPr>
        </p:nvSpPr>
        <p:spPr>
          <a:xfrm>
            <a:off x="457200" y="1600201"/>
            <a:ext cx="8229600" cy="1111790"/>
          </a:xfrm>
        </p:spPr>
        <p:txBody>
          <a:bodyPr>
            <a:normAutofit fontScale="77500" lnSpcReduction="20000"/>
          </a:bodyPr>
          <a:lstStyle/>
          <a:p>
            <a:r>
              <a:rPr lang="en-US" dirty="0"/>
              <a:t>Currently crown depth is </a:t>
            </a:r>
            <a:r>
              <a:rPr lang="en-US" dirty="0" err="1"/>
              <a:t>allometrically</a:t>
            </a:r>
            <a:r>
              <a:rPr lang="en-US" dirty="0"/>
              <a:t> derived from tree height.</a:t>
            </a:r>
          </a:p>
          <a:p>
            <a:endParaRPr lang="en-US" dirty="0"/>
          </a:p>
          <a:p>
            <a:r>
              <a:rPr lang="en-US" dirty="0"/>
              <a:t>Edited PolSARproSim to allow specification of the crown depth and crown dry depth of each tree</a:t>
            </a:r>
          </a:p>
        </p:txBody>
      </p:sp>
      <p:pic>
        <p:nvPicPr>
          <p:cNvPr id="4" name="Picture 3" descr="canopy_depth_image.jp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709253" y="2975679"/>
            <a:ext cx="3785430" cy="1624401"/>
          </a:xfrm>
          <a:prstGeom prst="rect">
            <a:avLst/>
          </a:prstGeom>
        </p:spPr>
      </p:pic>
      <p:pic>
        <p:nvPicPr>
          <p:cNvPr id="6" name="Picture 5" descr="Screen Shot 2012-08-01 at 11.59.43 AM.pn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709253" y="4672052"/>
            <a:ext cx="5847211" cy="1965250"/>
          </a:xfrm>
          <a:prstGeom prst="rect">
            <a:avLst/>
          </a:prstGeom>
        </p:spPr>
      </p:pic>
      <p:pic>
        <p:nvPicPr>
          <p:cNvPr id="8" name="Picture 7" descr="Screen Shot 2012-08-01 at 1.46.08 PM.pn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7166751" y="3549567"/>
            <a:ext cx="1814369" cy="1675150"/>
          </a:xfrm>
          <a:prstGeom prst="rect">
            <a:avLst/>
          </a:prstGeom>
        </p:spPr>
      </p:pic>
      <p:sp>
        <p:nvSpPr>
          <p:cNvPr id="10" name="TextBox 9"/>
          <p:cNvSpPr txBox="1"/>
          <p:nvPr/>
        </p:nvSpPr>
        <p:spPr>
          <a:xfrm>
            <a:off x="7166751" y="5232964"/>
            <a:ext cx="1814370" cy="646331"/>
          </a:xfrm>
          <a:prstGeom prst="rect">
            <a:avLst/>
          </a:prstGeom>
          <a:noFill/>
        </p:spPr>
        <p:txBody>
          <a:bodyPr wrap="square" rtlCol="0">
            <a:spAutoFit/>
          </a:bodyPr>
          <a:lstStyle/>
          <a:p>
            <a:pPr algn="ctr"/>
            <a:r>
              <a:rPr lang="en-US" dirty="0"/>
              <a:t>Crown depths set to zero</a:t>
            </a:r>
          </a:p>
        </p:txBody>
      </p:sp>
      <p:sp>
        <p:nvSpPr>
          <p:cNvPr id="3" name="Date Placeholder 2">
            <a:extLst>
              <a:ext uri="{FF2B5EF4-FFF2-40B4-BE49-F238E27FC236}">
                <a16:creationId xmlns:a16="http://schemas.microsoft.com/office/drawing/2014/main" id="{61F3C427-69DC-432C-95A4-ECB2520552F8}"/>
              </a:ext>
            </a:extLst>
          </p:cNvPr>
          <p:cNvSpPr>
            <a:spLocks noGrp="1"/>
          </p:cNvSpPr>
          <p:nvPr>
            <p:ph type="dt" sz="half" idx="10"/>
          </p:nvPr>
        </p:nvSpPr>
        <p:spPr/>
        <p:txBody>
          <a:bodyPr/>
          <a:lstStyle/>
          <a:p>
            <a:fld id="{EE79930E-0B20-BF48-9910-734BD8D24D9C}" type="datetime1">
              <a:rPr lang="en-US" smtClean="0"/>
              <a:t>3/25/26</a:t>
            </a:fld>
            <a:endParaRPr lang="en-US"/>
          </a:p>
        </p:txBody>
      </p:sp>
      <p:sp>
        <p:nvSpPr>
          <p:cNvPr id="5" name="Footer Placeholder 4">
            <a:extLst>
              <a:ext uri="{FF2B5EF4-FFF2-40B4-BE49-F238E27FC236}">
                <a16:creationId xmlns:a16="http://schemas.microsoft.com/office/drawing/2014/main" id="{4F0AE7F2-27DE-0129-1B86-1EAA24B17FEF}"/>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8970CAE2-1190-E095-FA81-04BA2B2A32A5}"/>
              </a:ext>
            </a:extLst>
          </p:cNvPr>
          <p:cNvSpPr>
            <a:spLocks noGrp="1"/>
          </p:cNvSpPr>
          <p:nvPr>
            <p:ph type="sldNum" sz="quarter" idx="12"/>
          </p:nvPr>
        </p:nvSpPr>
        <p:spPr/>
        <p:txBody>
          <a:bodyPr/>
          <a:lstStyle/>
          <a:p>
            <a:fld id="{B4CE5C4C-399A-B444-9B2A-945D2610250E}" type="slidenum">
              <a:rPr lang="en-US" smtClean="0"/>
              <a:t>16</a:t>
            </a:fld>
            <a:endParaRPr lang="en-US"/>
          </a:p>
        </p:txBody>
      </p:sp>
    </p:spTree>
    <p:extLst>
      <p:ext uri="{BB962C8B-B14F-4D97-AF65-F5344CB8AC3E}">
        <p14:creationId xmlns:p14="http://schemas.microsoft.com/office/powerpoint/2010/main" val="932694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Crown Depth</a:t>
            </a:r>
          </a:p>
        </p:txBody>
      </p:sp>
      <p:sp>
        <p:nvSpPr>
          <p:cNvPr id="3" name="Content Placeholder 2"/>
          <p:cNvSpPr>
            <a:spLocks noGrp="1"/>
          </p:cNvSpPr>
          <p:nvPr>
            <p:ph idx="1"/>
          </p:nvPr>
        </p:nvSpPr>
        <p:spPr>
          <a:xfrm>
            <a:off x="457200" y="1166018"/>
            <a:ext cx="8229600" cy="5378001"/>
          </a:xfrm>
        </p:spPr>
        <p:txBody>
          <a:bodyPr>
            <a:normAutofit fontScale="92500" lnSpcReduction="10000"/>
          </a:bodyPr>
          <a:lstStyle/>
          <a:p>
            <a:r>
              <a:rPr lang="en-US" sz="1400" dirty="0"/>
              <a:t>Originally crown depth and crown dry depth are estimated </a:t>
            </a:r>
            <a:r>
              <a:rPr lang="en-US" sz="1400" dirty="0" err="1"/>
              <a:t>allometrically</a:t>
            </a:r>
            <a:r>
              <a:rPr lang="en-US" sz="1400" dirty="0"/>
              <a:t> by </a:t>
            </a:r>
            <a:r>
              <a:rPr lang="en-US" sz="1400" dirty="0" err="1"/>
              <a:t>Mean_Living_Crown_Depth</a:t>
            </a:r>
            <a:r>
              <a:rPr lang="en-US" sz="1400" dirty="0"/>
              <a:t>(species, height) and </a:t>
            </a:r>
            <a:r>
              <a:rPr lang="en-US" sz="1400" dirty="0" err="1"/>
              <a:t>Crown_Fractional_Dry_Depth</a:t>
            </a:r>
            <a:r>
              <a:rPr lang="en-US" sz="1400" dirty="0"/>
              <a:t>(species, height).</a:t>
            </a:r>
          </a:p>
          <a:p>
            <a:endParaRPr lang="en-US" sz="1400" dirty="0"/>
          </a:p>
          <a:p>
            <a:r>
              <a:rPr lang="en-US" sz="1400" dirty="0"/>
              <a:t>Added </a:t>
            </a:r>
            <a:r>
              <a:rPr lang="en-US" sz="1400" dirty="0" err="1"/>
              <a:t>TreeLoc.crown_depth</a:t>
            </a:r>
            <a:r>
              <a:rPr lang="en-US" sz="1400" dirty="0"/>
              <a:t> and </a:t>
            </a:r>
            <a:r>
              <a:rPr lang="en-US" sz="1400" dirty="0" err="1"/>
              <a:t>TreeLoc.crown_dry_depth</a:t>
            </a:r>
            <a:r>
              <a:rPr lang="en-US" sz="1400" dirty="0"/>
              <a:t> to read in canopy depth and </a:t>
            </a:r>
            <a:r>
              <a:rPr lang="en-US" sz="1400" dirty="0" err="1"/>
              <a:t>canopy_dry_depth</a:t>
            </a:r>
            <a:r>
              <a:rPr lang="en-US" sz="1400" dirty="0"/>
              <a:t> from </a:t>
            </a:r>
            <a:r>
              <a:rPr lang="en-US" sz="1400" dirty="0" err="1"/>
              <a:t>pPR</a:t>
            </a:r>
            <a:r>
              <a:rPr lang="en-US" sz="1400" dirty="0"/>
              <a:t>-&gt;</a:t>
            </a:r>
            <a:r>
              <a:rPr lang="en-US" sz="1400" dirty="0" err="1"/>
              <a:t>ForestData</a:t>
            </a:r>
            <a:endParaRPr lang="en-US" sz="1400" dirty="0"/>
          </a:p>
          <a:p>
            <a:pPr lvl="1"/>
            <a:r>
              <a:rPr lang="en-US" sz="1400" dirty="0"/>
              <a:t>Read in </a:t>
            </a:r>
            <a:r>
              <a:rPr lang="en-US" sz="1400" dirty="0" err="1"/>
              <a:t>InputPolSARproSim_Forest_XML</a:t>
            </a:r>
            <a:r>
              <a:rPr lang="en-US" sz="1400" dirty="0"/>
              <a:t>()</a:t>
            </a:r>
          </a:p>
          <a:p>
            <a:pPr lvl="2"/>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canopy_depth</a:t>
            </a:r>
            <a:r>
              <a:rPr lang="en-US" sz="1400" dirty="0"/>
              <a:t> = XMLDB.&lt;</a:t>
            </a:r>
            <a:r>
              <a:rPr lang="en-US" sz="1400" dirty="0" err="1"/>
              <a:t>canopy_depth</a:t>
            </a:r>
            <a:r>
              <a:rPr lang="en-US" sz="1400" dirty="0"/>
              <a:t>&gt;</a:t>
            </a:r>
          </a:p>
          <a:p>
            <a:pPr lvl="2"/>
            <a:r>
              <a:rPr lang="en-US" sz="1400" dirty="0" err="1"/>
              <a:t>pPR</a:t>
            </a:r>
            <a:r>
              <a:rPr lang="en-US" sz="1400" dirty="0"/>
              <a:t>-&gt;</a:t>
            </a:r>
            <a:r>
              <a:rPr lang="en-US" sz="1400" dirty="0" err="1"/>
              <a:t>Tree_Locaiton</a:t>
            </a:r>
            <a:r>
              <a:rPr lang="en-US" sz="1400" dirty="0"/>
              <a:t>[</a:t>
            </a:r>
            <a:r>
              <a:rPr lang="en-US" sz="1400" dirty="0" err="1"/>
              <a:t>itree</a:t>
            </a:r>
            <a:r>
              <a:rPr lang="en-US" sz="1400" dirty="0"/>
              <a:t>].</a:t>
            </a:r>
            <a:r>
              <a:rPr lang="en-US" sz="1400" dirty="0" err="1"/>
              <a:t>canopy_dry_depth</a:t>
            </a:r>
            <a:r>
              <a:rPr lang="en-US" sz="1400" dirty="0"/>
              <a:t> = XMLDB.&lt;</a:t>
            </a:r>
            <a:r>
              <a:rPr lang="en-US" sz="1400" dirty="0" err="1"/>
              <a:t>dry_depth</a:t>
            </a:r>
            <a:r>
              <a:rPr lang="en-US" sz="1400" dirty="0"/>
              <a:t>&gt;</a:t>
            </a:r>
          </a:p>
          <a:p>
            <a:pPr lvl="1"/>
            <a:r>
              <a:rPr lang="en-US" sz="1400" dirty="0"/>
              <a:t>In </a:t>
            </a:r>
            <a:r>
              <a:rPr lang="en-US" sz="1400" dirty="0" err="1"/>
              <a:t>CheckPolSARproSim_Forest</a:t>
            </a:r>
            <a:r>
              <a:rPr lang="en-US" sz="1400" dirty="0"/>
              <a:t>()</a:t>
            </a:r>
          </a:p>
          <a:p>
            <a:pPr lvl="2"/>
            <a:r>
              <a:rPr lang="en-US" sz="1400" dirty="0"/>
              <a:t>Exit if </a:t>
            </a:r>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canopy_depth</a:t>
            </a:r>
            <a:r>
              <a:rPr lang="en-US" sz="1400" dirty="0"/>
              <a:t> &lt; 0</a:t>
            </a:r>
          </a:p>
          <a:p>
            <a:pPr lvl="2"/>
            <a:r>
              <a:rPr lang="en-US" sz="1400" dirty="0"/>
              <a:t>Exit if </a:t>
            </a:r>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canopy_dry_depth</a:t>
            </a:r>
            <a:r>
              <a:rPr lang="en-US" sz="1400" dirty="0"/>
              <a:t> + </a:t>
            </a:r>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canopy_depth</a:t>
            </a:r>
            <a:r>
              <a:rPr lang="en-US" sz="1400" dirty="0"/>
              <a:t> &gt; </a:t>
            </a:r>
            <a:r>
              <a:rPr lang="en-US" sz="1400" dirty="0" err="1"/>
              <a:t>pPR</a:t>
            </a:r>
            <a:r>
              <a:rPr lang="en-US" sz="1400" dirty="0"/>
              <a:t>-&gt;</a:t>
            </a:r>
            <a:r>
              <a:rPr lang="en-US" sz="1400" dirty="0" err="1"/>
              <a:t>Tree_Location</a:t>
            </a:r>
            <a:r>
              <a:rPr lang="en-US" sz="1400" dirty="0"/>
              <a:t>[</a:t>
            </a:r>
            <a:r>
              <a:rPr lang="en-US" sz="1400" dirty="0" err="1"/>
              <a:t>itree</a:t>
            </a:r>
            <a:r>
              <a:rPr lang="en-US" sz="1400" dirty="0"/>
              <a:t>].height</a:t>
            </a:r>
          </a:p>
          <a:p>
            <a:pPr lvl="2"/>
            <a:endParaRPr lang="en-US" sz="1400" dirty="0"/>
          </a:p>
          <a:p>
            <a:r>
              <a:rPr lang="en-US" sz="1400" dirty="0"/>
              <a:t>Added </a:t>
            </a:r>
            <a:r>
              <a:rPr lang="en-US" sz="1400" dirty="0" err="1"/>
              <a:t>Tree.canopy_depth</a:t>
            </a:r>
            <a:r>
              <a:rPr lang="en-US" sz="1400" dirty="0"/>
              <a:t> and </a:t>
            </a:r>
            <a:r>
              <a:rPr lang="en-US" sz="1400" dirty="0" err="1"/>
              <a:t>Tree.canopy_dry_depth</a:t>
            </a:r>
            <a:r>
              <a:rPr lang="en-US" sz="1400" dirty="0"/>
              <a:t>. </a:t>
            </a:r>
          </a:p>
          <a:p>
            <a:endParaRPr lang="en-US" sz="1400" dirty="0"/>
          </a:p>
          <a:p>
            <a:r>
              <a:rPr lang="en-US" sz="1400" dirty="0"/>
              <a:t>In </a:t>
            </a:r>
            <a:r>
              <a:rPr lang="en-US" sz="1400" dirty="0" err="1"/>
              <a:t>Realise_Tree</a:t>
            </a:r>
            <a:r>
              <a:rPr lang="en-US" sz="1400" dirty="0"/>
              <a:t>() and </a:t>
            </a:r>
            <a:r>
              <a:rPr lang="en-US" sz="1400" dirty="0" err="1"/>
              <a:t>Realise_Tree_Crown</a:t>
            </a:r>
            <a:r>
              <a:rPr lang="en-US" sz="1400" dirty="0"/>
              <a:t>() if </a:t>
            </a:r>
            <a:r>
              <a:rPr lang="en-US" sz="1400" dirty="0" err="1"/>
              <a:t>pPR</a:t>
            </a:r>
            <a:r>
              <a:rPr lang="en-US" sz="1400" dirty="0"/>
              <a:t>-&gt;</a:t>
            </a:r>
            <a:r>
              <a:rPr lang="en-US" sz="1400" dirty="0" err="1"/>
              <a:t>InputForest_Flag</a:t>
            </a:r>
            <a:r>
              <a:rPr lang="en-US" sz="1400" dirty="0"/>
              <a:t> is set to EXTERNAL_FOREST_DEFINITION</a:t>
            </a:r>
          </a:p>
          <a:p>
            <a:pPr lvl="1"/>
            <a:r>
              <a:rPr lang="en-US" sz="1400" dirty="0" err="1"/>
              <a:t>pT</a:t>
            </a:r>
            <a:r>
              <a:rPr lang="en-US" sz="1400" dirty="0"/>
              <a:t>-&gt;</a:t>
            </a:r>
            <a:r>
              <a:rPr lang="en-US" sz="1400" dirty="0" err="1"/>
              <a:t>canopy_depth</a:t>
            </a:r>
            <a:r>
              <a:rPr lang="en-US" sz="1400" dirty="0"/>
              <a:t> = </a:t>
            </a:r>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canopy_depth</a:t>
            </a:r>
            <a:endParaRPr lang="en-US" sz="1400" dirty="0"/>
          </a:p>
          <a:p>
            <a:pPr lvl="1"/>
            <a:r>
              <a:rPr lang="en-US" sz="1400" dirty="0" err="1"/>
              <a:t>pT</a:t>
            </a:r>
            <a:r>
              <a:rPr lang="en-US" sz="1400" dirty="0"/>
              <a:t>-&gt;</a:t>
            </a:r>
            <a:r>
              <a:rPr lang="en-US" sz="1400" dirty="0" err="1"/>
              <a:t>canopy_dry_depth</a:t>
            </a:r>
            <a:r>
              <a:rPr lang="en-US" sz="1400" dirty="0"/>
              <a:t> = </a:t>
            </a:r>
            <a:r>
              <a:rPr lang="en-US" sz="1400" dirty="0" err="1"/>
              <a:t>pPR</a:t>
            </a:r>
            <a:r>
              <a:rPr lang="en-US" sz="1400" dirty="0"/>
              <a:t>-&gt;</a:t>
            </a:r>
            <a:r>
              <a:rPr lang="en-US" sz="1400" dirty="0" err="1"/>
              <a:t>Tree_Location</a:t>
            </a:r>
            <a:r>
              <a:rPr lang="en-US" sz="1400" dirty="0"/>
              <a:t>[</a:t>
            </a:r>
            <a:r>
              <a:rPr lang="en-US" sz="1400" dirty="0" err="1"/>
              <a:t>itree</a:t>
            </a:r>
            <a:r>
              <a:rPr lang="en-US" sz="1400" dirty="0"/>
              <a:t>].</a:t>
            </a:r>
            <a:r>
              <a:rPr lang="en-US" sz="1400" dirty="0" err="1"/>
              <a:t>canopy_dry_depth</a:t>
            </a:r>
            <a:endParaRPr lang="en-US" sz="1400" dirty="0"/>
          </a:p>
          <a:p>
            <a:endParaRPr lang="en-US" sz="1400" dirty="0"/>
          </a:p>
          <a:p>
            <a:r>
              <a:rPr lang="en-US" sz="1400" dirty="0"/>
              <a:t>Changed Create_PINE00n_Global_Crown() and Create_DECIDUOUS001_Globa_Crown() to use </a:t>
            </a:r>
            <a:r>
              <a:rPr lang="en-US" sz="1400" dirty="0" err="1"/>
              <a:t>pT</a:t>
            </a:r>
            <a:r>
              <a:rPr lang="en-US" sz="1400" dirty="0"/>
              <a:t>-&gt;</a:t>
            </a:r>
            <a:r>
              <a:rPr lang="en-US" sz="1400" dirty="0" err="1"/>
              <a:t>canopy_depth</a:t>
            </a:r>
            <a:r>
              <a:rPr lang="en-US" sz="1400" dirty="0"/>
              <a:t> and </a:t>
            </a:r>
            <a:r>
              <a:rPr lang="en-US" sz="1400" dirty="0" err="1"/>
              <a:t>pT</a:t>
            </a:r>
            <a:r>
              <a:rPr lang="en-US" sz="1400" dirty="0"/>
              <a:t>-&gt;</a:t>
            </a:r>
            <a:r>
              <a:rPr lang="en-US" sz="1400" dirty="0" err="1"/>
              <a:t>canopy_dry_depth</a:t>
            </a:r>
            <a:r>
              <a:rPr lang="en-US" sz="1400" dirty="0"/>
              <a:t> instead of using </a:t>
            </a:r>
            <a:r>
              <a:rPr lang="en-US" sz="1400" dirty="0" err="1"/>
              <a:t>Realise_Living_Crown_Depth</a:t>
            </a:r>
            <a:r>
              <a:rPr lang="en-US" sz="1400" dirty="0"/>
              <a:t>() and </a:t>
            </a:r>
            <a:r>
              <a:rPr lang="en-US" sz="1400" dirty="0" err="1"/>
              <a:t>Fractional_Dry_Depth</a:t>
            </a:r>
            <a:r>
              <a:rPr lang="en-US" sz="1400" dirty="0"/>
              <a:t>() if </a:t>
            </a:r>
            <a:r>
              <a:rPr lang="en-US" sz="1400" dirty="0" err="1"/>
              <a:t>pPR</a:t>
            </a:r>
            <a:r>
              <a:rPr lang="en-US" sz="1400" dirty="0"/>
              <a:t>-&gt;</a:t>
            </a:r>
            <a:r>
              <a:rPr lang="en-US" sz="1400" dirty="0" err="1"/>
              <a:t>InputForest_Flag</a:t>
            </a:r>
            <a:r>
              <a:rPr lang="en-US" sz="1400" dirty="0"/>
              <a:t> is set to EXTERNAL_FOREST_DEFINITION</a:t>
            </a:r>
          </a:p>
          <a:p>
            <a:endParaRPr lang="en-US" sz="1400" dirty="0"/>
          </a:p>
          <a:p>
            <a:r>
              <a:rPr lang="en-US" sz="1400" dirty="0"/>
              <a:t>These parameters are used to constrain primary/secondary branch sizes and tertiary/foliage numbers.</a:t>
            </a:r>
          </a:p>
        </p:txBody>
      </p:sp>
      <p:sp>
        <p:nvSpPr>
          <p:cNvPr id="4" name="Date Placeholder 3">
            <a:extLst>
              <a:ext uri="{FF2B5EF4-FFF2-40B4-BE49-F238E27FC236}">
                <a16:creationId xmlns:a16="http://schemas.microsoft.com/office/drawing/2014/main" id="{42D5DA23-A7B9-EF38-4160-CB664C42F542}"/>
              </a:ext>
            </a:extLst>
          </p:cNvPr>
          <p:cNvSpPr>
            <a:spLocks noGrp="1"/>
          </p:cNvSpPr>
          <p:nvPr>
            <p:ph type="dt" sz="half" idx="10"/>
          </p:nvPr>
        </p:nvSpPr>
        <p:spPr/>
        <p:txBody>
          <a:bodyPr/>
          <a:lstStyle/>
          <a:p>
            <a:fld id="{B8A0C9C2-DEF3-EB4A-9369-A74CEEEDFD47}" type="datetime1">
              <a:rPr lang="en-US" smtClean="0"/>
              <a:t>3/25/26</a:t>
            </a:fld>
            <a:endParaRPr lang="en-US"/>
          </a:p>
        </p:txBody>
      </p:sp>
      <p:sp>
        <p:nvSpPr>
          <p:cNvPr id="5" name="Footer Placeholder 4">
            <a:extLst>
              <a:ext uri="{FF2B5EF4-FFF2-40B4-BE49-F238E27FC236}">
                <a16:creationId xmlns:a16="http://schemas.microsoft.com/office/drawing/2014/main" id="{EB766900-9FFD-8E94-41F8-91CDC3E64516}"/>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9B359529-E43F-4463-5668-DC02BE1FE65D}"/>
              </a:ext>
            </a:extLst>
          </p:cNvPr>
          <p:cNvSpPr>
            <a:spLocks noGrp="1"/>
          </p:cNvSpPr>
          <p:nvPr>
            <p:ph type="sldNum" sz="quarter" idx="12"/>
          </p:nvPr>
        </p:nvSpPr>
        <p:spPr/>
        <p:txBody>
          <a:bodyPr/>
          <a:lstStyle/>
          <a:p>
            <a:fld id="{B4CE5C4C-399A-B444-9B2A-945D2610250E}" type="slidenum">
              <a:rPr lang="en-US" smtClean="0"/>
              <a:t>17</a:t>
            </a:fld>
            <a:endParaRPr lang="en-US"/>
          </a:p>
        </p:txBody>
      </p:sp>
    </p:spTree>
    <p:extLst>
      <p:ext uri="{BB962C8B-B14F-4D97-AF65-F5344CB8AC3E}">
        <p14:creationId xmlns:p14="http://schemas.microsoft.com/office/powerpoint/2010/main" val="98776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tree species</a:t>
            </a:r>
          </a:p>
        </p:txBody>
      </p:sp>
      <p:pic>
        <p:nvPicPr>
          <p:cNvPr id="8" name="Picture 7" descr="Screen Shot 2012-05-09 at 4.48.07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131865" y="1620884"/>
            <a:ext cx="2413478" cy="1335701"/>
          </a:xfrm>
          <a:prstGeom prst="rect">
            <a:avLst/>
          </a:prstGeom>
        </p:spPr>
      </p:pic>
      <p:sp>
        <p:nvSpPr>
          <p:cNvPr id="9" name="Content Placeholder 2"/>
          <p:cNvSpPr>
            <a:spLocks noGrp="1"/>
          </p:cNvSpPr>
          <p:nvPr>
            <p:ph idx="1"/>
          </p:nvPr>
        </p:nvSpPr>
        <p:spPr>
          <a:xfrm>
            <a:off x="457200" y="1600200"/>
            <a:ext cx="5502208" cy="2296945"/>
          </a:xfrm>
        </p:spPr>
        <p:txBody>
          <a:bodyPr>
            <a:normAutofit fontScale="62500" lnSpcReduction="20000"/>
          </a:bodyPr>
          <a:lstStyle/>
          <a:p>
            <a:r>
              <a:rPr lang="en-US" dirty="0"/>
              <a:t>Currently every tree belongs to one global tree species, specified in the parameter file by code:</a:t>
            </a:r>
          </a:p>
          <a:p>
            <a:pPr lvl="1"/>
            <a:r>
              <a:rPr lang="en-US" dirty="0"/>
              <a:t>0 : Hedge</a:t>
            </a:r>
          </a:p>
          <a:p>
            <a:pPr lvl="1"/>
            <a:r>
              <a:rPr lang="en-US" dirty="0"/>
              <a:t>1 : Pine with spherical Crown</a:t>
            </a:r>
          </a:p>
          <a:p>
            <a:pPr lvl="1"/>
            <a:r>
              <a:rPr lang="en-US" dirty="0"/>
              <a:t>2 : Pine with conical crown</a:t>
            </a:r>
          </a:p>
          <a:p>
            <a:pPr lvl="1"/>
            <a:r>
              <a:rPr lang="en-US" dirty="0"/>
              <a:t>3 : Pine with randomly chosen crown</a:t>
            </a:r>
          </a:p>
          <a:p>
            <a:pPr lvl="1"/>
            <a:r>
              <a:rPr lang="en-US" dirty="0"/>
              <a:t>4 : Deciduous with spherical crown</a:t>
            </a:r>
          </a:p>
          <a:p>
            <a:pPr lvl="1"/>
            <a:r>
              <a:rPr lang="en-US" dirty="0"/>
              <a:t> </a:t>
            </a:r>
          </a:p>
          <a:p>
            <a:r>
              <a:rPr lang="en-US" dirty="0"/>
              <a:t>Edited PolSARproSim to allow specification of arbitrary species for each tree, with a species defined in a separate species database (XML) file.</a:t>
            </a:r>
          </a:p>
        </p:txBody>
      </p:sp>
      <p:sp>
        <p:nvSpPr>
          <p:cNvPr id="10" name="TextBox 9"/>
          <p:cNvSpPr txBox="1"/>
          <p:nvPr/>
        </p:nvSpPr>
        <p:spPr>
          <a:xfrm>
            <a:off x="6131865" y="3067132"/>
            <a:ext cx="2413478" cy="369332"/>
          </a:xfrm>
          <a:prstGeom prst="rect">
            <a:avLst/>
          </a:prstGeom>
          <a:noFill/>
        </p:spPr>
        <p:txBody>
          <a:bodyPr wrap="square" rtlCol="0">
            <a:spAutoFit/>
          </a:bodyPr>
          <a:lstStyle/>
          <a:p>
            <a:pPr algn="ctr"/>
            <a:r>
              <a:rPr lang="en-US" dirty="0"/>
              <a:t>original</a:t>
            </a:r>
          </a:p>
        </p:txBody>
      </p:sp>
      <p:pic>
        <p:nvPicPr>
          <p:cNvPr id="4" name="Picture 3" descr="differentspecies_image.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47534" y="4102961"/>
            <a:ext cx="4241039" cy="2666254"/>
          </a:xfrm>
          <a:prstGeom prst="rect">
            <a:avLst/>
          </a:prstGeom>
        </p:spPr>
      </p:pic>
      <p:sp>
        <p:nvSpPr>
          <p:cNvPr id="7" name="Right Brace 6"/>
          <p:cNvSpPr/>
          <p:nvPr/>
        </p:nvSpPr>
        <p:spPr>
          <a:xfrm rot="5400000">
            <a:off x="1549423" y="4896215"/>
            <a:ext cx="302072" cy="2647549"/>
          </a:xfrm>
          <a:prstGeom prst="rightBrace">
            <a:avLst>
              <a:gd name="adj1" fmla="val 34217"/>
              <a:gd name="adj2" fmla="val 50799"/>
            </a:avLst>
          </a:prstGeom>
          <a:noFill/>
          <a:ln>
            <a:solidFill>
              <a:srgbClr val="FFFFF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p:cNvSpPr txBox="1"/>
          <p:nvPr/>
        </p:nvSpPr>
        <p:spPr>
          <a:xfrm>
            <a:off x="1004300" y="6371026"/>
            <a:ext cx="1346622" cy="369332"/>
          </a:xfrm>
          <a:prstGeom prst="rect">
            <a:avLst/>
          </a:prstGeom>
          <a:noFill/>
        </p:spPr>
        <p:txBody>
          <a:bodyPr wrap="square" rtlCol="0">
            <a:spAutoFit/>
          </a:bodyPr>
          <a:lstStyle/>
          <a:p>
            <a:pPr algn="ctr"/>
            <a:r>
              <a:rPr lang="en-US" dirty="0"/>
              <a:t>Pine</a:t>
            </a:r>
          </a:p>
        </p:txBody>
      </p:sp>
      <p:sp>
        <p:nvSpPr>
          <p:cNvPr id="16" name="Right Brace 15"/>
          <p:cNvSpPr/>
          <p:nvPr/>
        </p:nvSpPr>
        <p:spPr>
          <a:xfrm rot="5400000">
            <a:off x="3497416" y="5597135"/>
            <a:ext cx="302072" cy="1248438"/>
          </a:xfrm>
          <a:prstGeom prst="rightBrace">
            <a:avLst>
              <a:gd name="adj1" fmla="val 34217"/>
              <a:gd name="adj2" fmla="val 50799"/>
            </a:avLst>
          </a:prstGeom>
          <a:noFill/>
          <a:ln>
            <a:solidFill>
              <a:srgbClr val="FFFFF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p:cNvSpPr txBox="1"/>
          <p:nvPr/>
        </p:nvSpPr>
        <p:spPr>
          <a:xfrm>
            <a:off x="2958335" y="6383522"/>
            <a:ext cx="1346622" cy="369332"/>
          </a:xfrm>
          <a:prstGeom prst="rect">
            <a:avLst/>
          </a:prstGeom>
          <a:noFill/>
        </p:spPr>
        <p:txBody>
          <a:bodyPr wrap="square" rtlCol="0">
            <a:spAutoFit/>
          </a:bodyPr>
          <a:lstStyle/>
          <a:p>
            <a:pPr algn="ctr"/>
            <a:r>
              <a:rPr lang="en-US" dirty="0"/>
              <a:t>Deciduous</a:t>
            </a:r>
          </a:p>
        </p:txBody>
      </p:sp>
      <p:pic>
        <p:nvPicPr>
          <p:cNvPr id="18" name="Picture 17" descr="Screen Shot 2012-07-31 at 3.58.30 PM.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90537" y="4102960"/>
            <a:ext cx="4368354" cy="2649894"/>
          </a:xfrm>
          <a:prstGeom prst="rect">
            <a:avLst/>
          </a:prstGeom>
        </p:spPr>
      </p:pic>
      <p:sp>
        <p:nvSpPr>
          <p:cNvPr id="19" name="Right Brace 18"/>
          <p:cNvSpPr/>
          <p:nvPr/>
        </p:nvSpPr>
        <p:spPr>
          <a:xfrm>
            <a:off x="7534318" y="4197128"/>
            <a:ext cx="302072" cy="1216091"/>
          </a:xfrm>
          <a:prstGeom prst="rightBrace">
            <a:avLst>
              <a:gd name="adj1" fmla="val 34217"/>
              <a:gd name="adj2" fmla="val 50799"/>
            </a:avLst>
          </a:prstGeom>
          <a:noFill/>
          <a:ln>
            <a:solidFill>
              <a:srgbClr val="FFFFF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TextBox 19"/>
          <p:cNvSpPr txBox="1"/>
          <p:nvPr/>
        </p:nvSpPr>
        <p:spPr>
          <a:xfrm>
            <a:off x="7834385" y="4693908"/>
            <a:ext cx="1346622" cy="369332"/>
          </a:xfrm>
          <a:prstGeom prst="rect">
            <a:avLst/>
          </a:prstGeom>
          <a:noFill/>
        </p:spPr>
        <p:txBody>
          <a:bodyPr wrap="square" rtlCol="0">
            <a:spAutoFit/>
          </a:bodyPr>
          <a:lstStyle/>
          <a:p>
            <a:r>
              <a:rPr lang="en-US" dirty="0">
                <a:solidFill>
                  <a:schemeClr val="bg1"/>
                </a:solidFill>
              </a:rPr>
              <a:t>Pine </a:t>
            </a:r>
          </a:p>
        </p:txBody>
      </p:sp>
      <p:sp>
        <p:nvSpPr>
          <p:cNvPr id="21" name="Right Brace 20"/>
          <p:cNvSpPr/>
          <p:nvPr/>
        </p:nvSpPr>
        <p:spPr>
          <a:xfrm>
            <a:off x="7532313" y="5413219"/>
            <a:ext cx="302072" cy="657099"/>
          </a:xfrm>
          <a:prstGeom prst="rightBrace">
            <a:avLst>
              <a:gd name="adj1" fmla="val 33066"/>
              <a:gd name="adj2" fmla="val 50799"/>
            </a:avLst>
          </a:prstGeom>
          <a:noFill/>
          <a:ln>
            <a:solidFill>
              <a:srgbClr val="FFFFF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TextBox 21"/>
          <p:cNvSpPr txBox="1"/>
          <p:nvPr/>
        </p:nvSpPr>
        <p:spPr>
          <a:xfrm>
            <a:off x="7900966" y="5556592"/>
            <a:ext cx="1346622" cy="369332"/>
          </a:xfrm>
          <a:prstGeom prst="rect">
            <a:avLst/>
          </a:prstGeom>
          <a:noFill/>
        </p:spPr>
        <p:txBody>
          <a:bodyPr wrap="square" rtlCol="0">
            <a:spAutoFit/>
          </a:bodyPr>
          <a:lstStyle/>
          <a:p>
            <a:r>
              <a:rPr lang="en-US" dirty="0" err="1">
                <a:solidFill>
                  <a:schemeClr val="bg1"/>
                </a:solidFill>
              </a:rPr>
              <a:t>Decid</a:t>
            </a:r>
            <a:r>
              <a:rPr lang="en-US" dirty="0">
                <a:solidFill>
                  <a:schemeClr val="bg1"/>
                </a:solidFill>
              </a:rPr>
              <a:t> </a:t>
            </a:r>
          </a:p>
        </p:txBody>
      </p:sp>
      <p:sp>
        <p:nvSpPr>
          <p:cNvPr id="3" name="Date Placeholder 2">
            <a:extLst>
              <a:ext uri="{FF2B5EF4-FFF2-40B4-BE49-F238E27FC236}">
                <a16:creationId xmlns:a16="http://schemas.microsoft.com/office/drawing/2014/main" id="{60624BDB-C927-FD23-E578-42F36ABDABC1}"/>
              </a:ext>
            </a:extLst>
          </p:cNvPr>
          <p:cNvSpPr>
            <a:spLocks noGrp="1"/>
          </p:cNvSpPr>
          <p:nvPr>
            <p:ph type="dt" sz="half" idx="10"/>
          </p:nvPr>
        </p:nvSpPr>
        <p:spPr/>
        <p:txBody>
          <a:bodyPr/>
          <a:lstStyle/>
          <a:p>
            <a:fld id="{F76BD597-8977-2B48-B475-E2F19FE3F257}" type="datetime1">
              <a:rPr lang="en-US" smtClean="0"/>
              <a:t>3/25/26</a:t>
            </a:fld>
            <a:endParaRPr lang="en-US"/>
          </a:p>
        </p:txBody>
      </p:sp>
      <p:sp>
        <p:nvSpPr>
          <p:cNvPr id="5" name="Footer Placeholder 4">
            <a:extLst>
              <a:ext uri="{FF2B5EF4-FFF2-40B4-BE49-F238E27FC236}">
                <a16:creationId xmlns:a16="http://schemas.microsoft.com/office/drawing/2014/main" id="{E420103D-DF9C-03C2-85F9-A0492EE94F77}"/>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41D1585D-436F-4F6E-0623-0C50F1A7EEFC}"/>
              </a:ext>
            </a:extLst>
          </p:cNvPr>
          <p:cNvSpPr>
            <a:spLocks noGrp="1"/>
          </p:cNvSpPr>
          <p:nvPr>
            <p:ph type="sldNum" sz="quarter" idx="12"/>
          </p:nvPr>
        </p:nvSpPr>
        <p:spPr/>
        <p:txBody>
          <a:bodyPr/>
          <a:lstStyle/>
          <a:p>
            <a:fld id="{B4CE5C4C-399A-B444-9B2A-945D2610250E}" type="slidenum">
              <a:rPr lang="en-US" smtClean="0"/>
              <a:t>18</a:t>
            </a:fld>
            <a:endParaRPr lang="en-US"/>
          </a:p>
        </p:txBody>
      </p:sp>
    </p:spTree>
    <p:extLst>
      <p:ext uri="{BB962C8B-B14F-4D97-AF65-F5344CB8AC3E}">
        <p14:creationId xmlns:p14="http://schemas.microsoft.com/office/powerpoint/2010/main" val="1484371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0096"/>
            <a:ext cx="8229600" cy="1143000"/>
          </a:xfrm>
        </p:spPr>
        <p:txBody>
          <a:bodyPr>
            <a:normAutofit/>
          </a:bodyPr>
          <a:lstStyle/>
          <a:p>
            <a:r>
              <a:rPr lang="en-US" sz="2400" dirty="0"/>
              <a:t>XML Species Database</a:t>
            </a:r>
          </a:p>
        </p:txBody>
      </p:sp>
      <p:sp>
        <p:nvSpPr>
          <p:cNvPr id="5" name="TextBox 4"/>
          <p:cNvSpPr txBox="1"/>
          <p:nvPr/>
        </p:nvSpPr>
        <p:spPr>
          <a:xfrm>
            <a:off x="644769" y="933126"/>
            <a:ext cx="7660063" cy="5539981"/>
          </a:xfrm>
          <a:prstGeom prst="rect">
            <a:avLst/>
          </a:prstGeom>
          <a:solidFill>
            <a:schemeClr val="bg1">
              <a:lumMod val="95000"/>
            </a:schemeClr>
          </a:solidFill>
          <a:ln>
            <a:solidFill>
              <a:schemeClr val="accent1">
                <a:lumMod val="20000"/>
                <a:lumOff val="80000"/>
              </a:schemeClr>
            </a:solidFill>
          </a:ln>
          <a:effectLst/>
        </p:spPr>
        <p:txBody>
          <a:bodyPr wrap="square" rtlCol="0">
            <a:spAutoFit/>
          </a:bodyPr>
          <a:lstStyle/>
          <a:p>
            <a:r>
              <a:rPr lang="en-US" sz="600" dirty="0">
                <a:latin typeface="Monaco"/>
                <a:cs typeface="Monaco"/>
              </a:rPr>
              <a:t>&lt;?xml version="1.0" encoding="ISO-8859-15"?&gt;</a:t>
            </a:r>
          </a:p>
          <a:p>
            <a:r>
              <a:rPr lang="en-US" sz="600" dirty="0">
                <a:latin typeface="Monaco"/>
                <a:cs typeface="Monaco"/>
              </a:rPr>
              <a:t>&lt;?xml-</a:t>
            </a:r>
            <a:r>
              <a:rPr lang="en-US" sz="600" dirty="0" err="1">
                <a:latin typeface="Monaco"/>
                <a:cs typeface="Monaco"/>
              </a:rPr>
              <a:t>stylesheet</a:t>
            </a:r>
            <a:r>
              <a:rPr lang="en-US" sz="600" dirty="0">
                <a:latin typeface="Monaco"/>
                <a:cs typeface="Monaco"/>
              </a:rPr>
              <a:t> type="text/</a:t>
            </a:r>
            <a:r>
              <a:rPr lang="en-US" sz="600" dirty="0" err="1">
                <a:latin typeface="Monaco"/>
                <a:cs typeface="Monaco"/>
              </a:rPr>
              <a:t>xsl</a:t>
            </a:r>
            <a:r>
              <a:rPr lang="en-US" sz="600" dirty="0">
                <a:latin typeface="Monaco"/>
                <a:cs typeface="Monaco"/>
              </a:rPr>
              <a:t>" </a:t>
            </a:r>
            <a:r>
              <a:rPr lang="en-US" sz="600" dirty="0" err="1">
                <a:latin typeface="Monaco"/>
                <a:cs typeface="Monaco"/>
              </a:rPr>
              <a:t>href</a:t>
            </a:r>
            <a:r>
              <a:rPr lang="en-US" sz="600" dirty="0">
                <a:latin typeface="Monaco"/>
                <a:cs typeface="Monaco"/>
              </a:rPr>
              <a:t>="</a:t>
            </a:r>
            <a:r>
              <a:rPr lang="en-US" sz="600" dirty="0" err="1">
                <a:latin typeface="Monaco"/>
                <a:cs typeface="Monaco"/>
              </a:rPr>
              <a:t>forest.xsl</a:t>
            </a:r>
            <a:r>
              <a:rPr lang="en-US" sz="600" dirty="0">
                <a:latin typeface="Monaco"/>
                <a:cs typeface="Monaco"/>
              </a:rPr>
              <a:t>"?&gt;</a:t>
            </a:r>
          </a:p>
          <a:p>
            <a:endParaRPr lang="en-US" sz="600" dirty="0">
              <a:latin typeface="Monaco"/>
              <a:cs typeface="Monaco"/>
            </a:endParaRPr>
          </a:p>
          <a:p>
            <a:r>
              <a:rPr lang="en-US" sz="600" dirty="0">
                <a:latin typeface="Monaco"/>
                <a:cs typeface="Monaco"/>
              </a:rPr>
              <a:t>&lt;</a:t>
            </a:r>
            <a:r>
              <a:rPr lang="en-US" sz="600" dirty="0" err="1">
                <a:latin typeface="Monaco"/>
                <a:cs typeface="Monaco"/>
              </a:rPr>
              <a:t>allometry</a:t>
            </a:r>
            <a:r>
              <a:rPr lang="en-US" sz="600" dirty="0">
                <a:latin typeface="Monaco"/>
                <a:cs typeface="Monaco"/>
              </a:rPr>
              <a:t>&gt;</a:t>
            </a:r>
          </a:p>
          <a:p>
            <a:r>
              <a:rPr lang="en-US" sz="600" dirty="0">
                <a:latin typeface="Monaco"/>
                <a:cs typeface="Monaco"/>
              </a:rPr>
              <a:t>        &lt;</a:t>
            </a:r>
            <a:r>
              <a:rPr lang="en-US" sz="600" dirty="0" err="1">
                <a:latin typeface="Monaco"/>
                <a:cs typeface="Monaco"/>
              </a:rPr>
              <a:t>species_list</a:t>
            </a:r>
            <a:r>
              <a:rPr lang="en-US" sz="600" dirty="0">
                <a:latin typeface="Monaco"/>
                <a:cs typeface="Monaco"/>
              </a:rPr>
              <a:t>&gt;                                                                  &lt;!-- </a:t>
            </a:r>
            <a:r>
              <a:rPr lang="en-US" sz="600" dirty="0">
                <a:solidFill>
                  <a:srgbClr val="FF0000"/>
                </a:solidFill>
                <a:latin typeface="Monaco"/>
                <a:cs typeface="Monaco"/>
              </a:rPr>
              <a:t>MANDATORY</a:t>
            </a:r>
            <a:r>
              <a:rPr lang="en-US" sz="600" dirty="0">
                <a:latin typeface="Monaco"/>
                <a:cs typeface="Monaco"/>
              </a:rPr>
              <a:t> list of species                                  --&gt;</a:t>
            </a:r>
          </a:p>
          <a:p>
            <a:r>
              <a:rPr lang="en-US" sz="600" dirty="0">
                <a:latin typeface="Monaco"/>
                <a:cs typeface="Monaco"/>
              </a:rPr>
              <a:t>                &lt;name           units="none"&gt;   HEDGE           &lt;/name&gt;                 &lt;!-- 0: The hedge                                               --&gt;</a:t>
            </a:r>
          </a:p>
          <a:p>
            <a:r>
              <a:rPr lang="en-US" sz="600" dirty="0">
                <a:latin typeface="Monaco"/>
                <a:cs typeface="Monaco"/>
              </a:rPr>
              <a:t>                &lt;name           units="none"&gt;   TSCA            &lt;/name&gt;                 &lt;!-- 1: </a:t>
            </a:r>
            <a:r>
              <a:rPr lang="en-US" sz="600" dirty="0" err="1">
                <a:latin typeface="Monaco"/>
                <a:cs typeface="Monaco"/>
              </a:rPr>
              <a:t>Tsuga</a:t>
            </a:r>
            <a:r>
              <a:rPr lang="en-US" sz="600" dirty="0">
                <a:latin typeface="Monaco"/>
                <a:cs typeface="Monaco"/>
              </a:rPr>
              <a:t> Canadensis, Eastern Hemlock                       --&gt;</a:t>
            </a:r>
          </a:p>
          <a:p>
            <a:r>
              <a:rPr lang="en-US" sz="600" dirty="0">
                <a:latin typeface="Monaco"/>
                <a:cs typeface="Monaco"/>
              </a:rPr>
              <a:t>                &lt;name           units="none"&gt;   PIRE            &lt;/name&gt;                 &lt;!-- 2: </a:t>
            </a:r>
            <a:r>
              <a:rPr lang="en-US" sz="600" dirty="0" err="1">
                <a:latin typeface="Monaco"/>
                <a:cs typeface="Monaco"/>
              </a:rPr>
              <a:t>Pinus</a:t>
            </a:r>
            <a:r>
              <a:rPr lang="en-US" sz="600" dirty="0">
                <a:latin typeface="Monaco"/>
                <a:cs typeface="Monaco"/>
              </a:rPr>
              <a:t> </a:t>
            </a:r>
            <a:r>
              <a:rPr lang="en-US" sz="600" dirty="0" err="1">
                <a:latin typeface="Monaco"/>
                <a:cs typeface="Monaco"/>
              </a:rPr>
              <a:t>Resinosa</a:t>
            </a:r>
            <a:r>
              <a:rPr lang="en-US" sz="600" dirty="0">
                <a:latin typeface="Monaco"/>
                <a:cs typeface="Monaco"/>
              </a:rPr>
              <a:t>, Red Pine                                --&gt;</a:t>
            </a:r>
          </a:p>
          <a:p>
            <a:r>
              <a:rPr lang="en-US" sz="600" dirty="0">
                <a:latin typeface="Monaco"/>
                <a:cs typeface="Monaco"/>
              </a:rPr>
              <a:t>                &lt;name           units="none"&gt;   BEPA            &lt;/name&gt;                 &lt;!-- 3: </a:t>
            </a:r>
            <a:r>
              <a:rPr lang="en-US" sz="600" dirty="0" err="1">
                <a:latin typeface="Monaco"/>
                <a:cs typeface="Monaco"/>
              </a:rPr>
              <a:t>Betula</a:t>
            </a:r>
            <a:r>
              <a:rPr lang="en-US" sz="600" dirty="0">
                <a:latin typeface="Monaco"/>
                <a:cs typeface="Monaco"/>
              </a:rPr>
              <a:t> </a:t>
            </a:r>
            <a:r>
              <a:rPr lang="en-US" sz="600" dirty="0" err="1">
                <a:latin typeface="Monaco"/>
                <a:cs typeface="Monaco"/>
              </a:rPr>
              <a:t>Papyrifera</a:t>
            </a:r>
            <a:r>
              <a:rPr lang="en-US" sz="600" dirty="0">
                <a:latin typeface="Monaco"/>
                <a:cs typeface="Monaco"/>
              </a:rPr>
              <a:t>, Paper/White Birch                    --&gt;</a:t>
            </a:r>
          </a:p>
          <a:p>
            <a:r>
              <a:rPr lang="en-US" sz="600" dirty="0">
                <a:latin typeface="Monaco"/>
                <a:cs typeface="Monaco"/>
              </a:rPr>
              <a:t>                &lt;name           units="none"&gt;   ACRU            &lt;/name&gt;                 &lt;!-- 4: Acer </a:t>
            </a:r>
            <a:r>
              <a:rPr lang="en-US" sz="600" dirty="0" err="1">
                <a:latin typeface="Monaco"/>
                <a:cs typeface="Monaco"/>
              </a:rPr>
              <a:t>Rubrum</a:t>
            </a:r>
            <a:r>
              <a:rPr lang="en-US" sz="600" dirty="0">
                <a:latin typeface="Monaco"/>
                <a:cs typeface="Monaco"/>
              </a:rPr>
              <a:t>, Red Maple                                  --&gt;</a:t>
            </a:r>
          </a:p>
          <a:p>
            <a:r>
              <a:rPr lang="en-US" sz="600" dirty="0">
                <a:latin typeface="Monaco"/>
                <a:cs typeface="Monaco"/>
              </a:rPr>
              <a:t>        &lt;/</a:t>
            </a:r>
            <a:r>
              <a:rPr lang="en-US" sz="600" dirty="0" err="1">
                <a:latin typeface="Monaco"/>
                <a:cs typeface="Monaco"/>
              </a:rPr>
              <a:t>species_list</a:t>
            </a:r>
            <a:r>
              <a:rPr lang="en-US" sz="600" dirty="0">
                <a:latin typeface="Monaco"/>
                <a:cs typeface="Monaco"/>
              </a:rPr>
              <a:t>&gt;</a:t>
            </a:r>
          </a:p>
          <a:p>
            <a:endParaRPr lang="en-US" sz="600" dirty="0">
              <a:latin typeface="Monaco"/>
              <a:cs typeface="Monaco"/>
            </a:endParaRPr>
          </a:p>
          <a:p>
            <a:r>
              <a:rPr lang="en-US" sz="600" dirty="0">
                <a:latin typeface="Monaco"/>
                <a:cs typeface="Monaco"/>
              </a:rPr>
              <a:t>        &lt;</a:t>
            </a:r>
            <a:r>
              <a:rPr lang="en-US" sz="600" dirty="0" err="1">
                <a:latin typeface="Monaco"/>
                <a:cs typeface="Monaco"/>
              </a:rPr>
              <a:t>category_list</a:t>
            </a:r>
            <a:r>
              <a:rPr lang="en-US" sz="600" dirty="0">
                <a:latin typeface="Monaco"/>
                <a:cs typeface="Monaco"/>
              </a:rPr>
              <a:t>&gt;                                                                 &lt;!-- </a:t>
            </a:r>
            <a:r>
              <a:rPr lang="en-US" sz="600" dirty="0">
                <a:solidFill>
                  <a:srgbClr val="FF0000"/>
                </a:solidFill>
                <a:latin typeface="Monaco"/>
                <a:cs typeface="Monaco"/>
              </a:rPr>
              <a:t>MANDATORY</a:t>
            </a:r>
            <a:r>
              <a:rPr lang="en-US" sz="600" dirty="0">
                <a:latin typeface="Monaco"/>
                <a:cs typeface="Monaco"/>
              </a:rPr>
              <a:t> list of categories                               --&gt;</a:t>
            </a:r>
          </a:p>
          <a:p>
            <a:r>
              <a:rPr lang="en-US" sz="600" dirty="0">
                <a:latin typeface="Monaco"/>
                <a:cs typeface="Monaco"/>
              </a:rPr>
              <a:t>                &lt;name           units="none"&gt;   deciduous       &lt;/name&gt;                 &lt;!-- Broadleaf, deciduous trees                                 --&gt;</a:t>
            </a:r>
          </a:p>
          <a:p>
            <a:r>
              <a:rPr lang="en-US" sz="600" dirty="0">
                <a:latin typeface="Monaco"/>
                <a:cs typeface="Monaco"/>
              </a:rPr>
              <a:t>                &lt;name           units="none"&gt;   coniferous      &lt;/name&gt;                 &lt;!-- </a:t>
            </a:r>
            <a:r>
              <a:rPr lang="en-US" sz="600" dirty="0" err="1">
                <a:latin typeface="Monaco"/>
                <a:cs typeface="Monaco"/>
              </a:rPr>
              <a:t>Needlesd</a:t>
            </a:r>
            <a:r>
              <a:rPr lang="en-US" sz="600" dirty="0">
                <a:latin typeface="Monaco"/>
                <a:cs typeface="Monaco"/>
              </a:rPr>
              <a:t>, evergreen coniferous trees                       --&gt;</a:t>
            </a:r>
          </a:p>
          <a:p>
            <a:r>
              <a:rPr lang="en-US" sz="600" dirty="0">
                <a:latin typeface="Monaco"/>
                <a:cs typeface="Monaco"/>
              </a:rPr>
              <a:t>        &lt;/</a:t>
            </a:r>
            <a:r>
              <a:rPr lang="en-US" sz="600" dirty="0" err="1">
                <a:latin typeface="Monaco"/>
                <a:cs typeface="Monaco"/>
              </a:rPr>
              <a:t>category_list</a:t>
            </a:r>
            <a:r>
              <a:rPr lang="en-US" sz="600" dirty="0">
                <a:latin typeface="Monaco"/>
                <a:cs typeface="Monaco"/>
              </a:rPr>
              <a:t>&gt;</a:t>
            </a:r>
          </a:p>
          <a:p>
            <a:endParaRPr lang="en-US" sz="600" dirty="0">
              <a:latin typeface="Monaco"/>
              <a:cs typeface="Monaco"/>
            </a:endParaRPr>
          </a:p>
          <a:p>
            <a:r>
              <a:rPr lang="en-US" sz="600" dirty="0">
                <a:latin typeface="Monaco"/>
                <a:cs typeface="Monaco"/>
              </a:rPr>
              <a:t>        &lt;deciduous&gt;                                                                     &lt;!-- All fields </a:t>
            </a:r>
            <a:r>
              <a:rPr lang="en-US" sz="600" dirty="0">
                <a:solidFill>
                  <a:srgbClr val="FF0000"/>
                </a:solidFill>
                <a:latin typeface="Monaco"/>
                <a:cs typeface="Monaco"/>
              </a:rPr>
              <a:t>MANDATORY</a:t>
            </a:r>
            <a:r>
              <a:rPr lang="en-US" sz="600" dirty="0">
                <a:latin typeface="Monaco"/>
                <a:cs typeface="Monaco"/>
              </a:rPr>
              <a:t> if category defined in </a:t>
            </a:r>
            <a:r>
              <a:rPr lang="en-US" sz="600" dirty="0" err="1">
                <a:latin typeface="Monaco"/>
                <a:cs typeface="Monaco"/>
              </a:rPr>
              <a:t>category_list</a:t>
            </a:r>
            <a:r>
              <a:rPr lang="en-US" sz="600" dirty="0">
                <a:latin typeface="Monaco"/>
                <a:cs typeface="Monaco"/>
              </a:rPr>
              <a:t>  --&gt;</a:t>
            </a:r>
          </a:p>
          <a:p>
            <a:r>
              <a:rPr lang="en-US" sz="600" dirty="0">
                <a:latin typeface="Monaco"/>
                <a:cs typeface="Monaco"/>
              </a:rPr>
              <a:t>                &lt;</a:t>
            </a:r>
            <a:r>
              <a:rPr lang="en-US" sz="600" dirty="0" err="1">
                <a:latin typeface="Monaco"/>
                <a:cs typeface="Monaco"/>
              </a:rPr>
              <a:t>livecrownshp</a:t>
            </a:r>
            <a:r>
              <a:rPr lang="en-US" sz="600" dirty="0">
                <a:latin typeface="Monaco"/>
                <a:cs typeface="Monaco"/>
              </a:rPr>
              <a:t>   units="none"&gt;   spheroid        &lt;/</a:t>
            </a:r>
            <a:r>
              <a:rPr lang="en-US" sz="600" dirty="0" err="1">
                <a:latin typeface="Monaco"/>
                <a:cs typeface="Monaco"/>
              </a:rPr>
              <a:t>livecrownshp</a:t>
            </a:r>
            <a:r>
              <a:rPr lang="en-US" sz="600" dirty="0">
                <a:latin typeface="Monaco"/>
                <a:cs typeface="Monaco"/>
              </a:rPr>
              <a:t>&gt;         &lt;!-- spheroidal crown by default                                --&gt;</a:t>
            </a:r>
          </a:p>
          <a:p>
            <a:r>
              <a:rPr lang="en-US" sz="600" dirty="0">
                <a:latin typeface="Monaco"/>
                <a:cs typeface="Monaco"/>
              </a:rPr>
              <a:t>                &lt;</a:t>
            </a:r>
            <a:r>
              <a:rPr lang="en-US" sz="600" dirty="0" err="1">
                <a:latin typeface="Monaco"/>
                <a:cs typeface="Monaco"/>
              </a:rPr>
              <a:t>drycrownshp</a:t>
            </a:r>
            <a:r>
              <a:rPr lang="en-US" sz="600" dirty="0">
                <a:latin typeface="Monaco"/>
                <a:cs typeface="Monaco"/>
              </a:rPr>
              <a:t>    units="none"&gt;   none            &lt;/</a:t>
            </a:r>
            <a:r>
              <a:rPr lang="en-US" sz="600" dirty="0" err="1">
                <a:latin typeface="Monaco"/>
                <a:cs typeface="Monaco"/>
              </a:rPr>
              <a:t>drycrownshp</a:t>
            </a:r>
            <a:r>
              <a:rPr lang="en-US" sz="600" dirty="0">
                <a:latin typeface="Monaco"/>
                <a:cs typeface="Monaco"/>
              </a:rPr>
              <a:t>&gt;          &lt;!-- no dry crown                                               --&gt;</a:t>
            </a:r>
          </a:p>
          <a:p>
            <a:r>
              <a:rPr lang="en-US" sz="600" dirty="0">
                <a:latin typeface="Monaco"/>
                <a:cs typeface="Monaco"/>
              </a:rPr>
              <a:t>		.</a:t>
            </a:r>
          </a:p>
          <a:p>
            <a:r>
              <a:rPr lang="en-US" sz="600" dirty="0">
                <a:latin typeface="Monaco"/>
                <a:cs typeface="Monaco"/>
              </a:rPr>
              <a:t>		.</a:t>
            </a:r>
          </a:p>
          <a:p>
            <a:r>
              <a:rPr lang="en-US" sz="600" dirty="0">
                <a:latin typeface="Monaco"/>
                <a:cs typeface="Monaco"/>
              </a:rPr>
              <a:t>		.</a:t>
            </a:r>
          </a:p>
          <a:p>
            <a:r>
              <a:rPr lang="en-US" sz="600" dirty="0">
                <a:latin typeface="Monaco"/>
                <a:cs typeface="Monaco"/>
              </a:rPr>
              <a:t>        &lt;/deciduous&gt;</a:t>
            </a:r>
          </a:p>
          <a:p>
            <a:r>
              <a:rPr lang="en-US" sz="600" dirty="0">
                <a:latin typeface="Monaco"/>
                <a:cs typeface="Monaco"/>
              </a:rPr>
              <a:t>        &lt;coniferous&gt;                                                                    &lt;!-- All fields </a:t>
            </a:r>
            <a:r>
              <a:rPr lang="en-US" sz="600" dirty="0">
                <a:solidFill>
                  <a:srgbClr val="FF0000"/>
                </a:solidFill>
                <a:latin typeface="Monaco"/>
                <a:cs typeface="Monaco"/>
              </a:rPr>
              <a:t>MANDATORY</a:t>
            </a:r>
            <a:r>
              <a:rPr lang="en-US" sz="600" dirty="0">
                <a:latin typeface="Monaco"/>
                <a:cs typeface="Monaco"/>
              </a:rPr>
              <a:t> if category defined in </a:t>
            </a:r>
            <a:r>
              <a:rPr lang="en-US" sz="600" dirty="0" err="1">
                <a:latin typeface="Monaco"/>
                <a:cs typeface="Monaco"/>
              </a:rPr>
              <a:t>category_list</a:t>
            </a:r>
            <a:r>
              <a:rPr lang="en-US" sz="600" dirty="0">
                <a:latin typeface="Monaco"/>
                <a:cs typeface="Monaco"/>
              </a:rPr>
              <a:t>  --&gt;</a:t>
            </a:r>
          </a:p>
          <a:p>
            <a:r>
              <a:rPr lang="en-US" sz="600" dirty="0">
                <a:latin typeface="Monaco"/>
                <a:cs typeface="Monaco"/>
              </a:rPr>
              <a:t>                &lt;</a:t>
            </a:r>
            <a:r>
              <a:rPr lang="en-US" sz="600" dirty="0" err="1">
                <a:latin typeface="Monaco"/>
                <a:cs typeface="Monaco"/>
              </a:rPr>
              <a:t>livecrownshp</a:t>
            </a:r>
            <a:r>
              <a:rPr lang="en-US" sz="600" dirty="0">
                <a:latin typeface="Monaco"/>
                <a:cs typeface="Monaco"/>
              </a:rPr>
              <a:t>   units="none"&gt;   conical         &lt;/</a:t>
            </a:r>
            <a:r>
              <a:rPr lang="en-US" sz="600" dirty="0" err="1">
                <a:latin typeface="Monaco"/>
                <a:cs typeface="Monaco"/>
              </a:rPr>
              <a:t>livecrownshp</a:t>
            </a:r>
            <a:r>
              <a:rPr lang="en-US" sz="600" dirty="0">
                <a:latin typeface="Monaco"/>
                <a:cs typeface="Monaco"/>
              </a:rPr>
              <a:t>&gt;         &lt;!-- conical crown by default                                   --&gt;</a:t>
            </a:r>
          </a:p>
          <a:p>
            <a:r>
              <a:rPr lang="en-US" sz="600" dirty="0">
                <a:latin typeface="Monaco"/>
                <a:cs typeface="Monaco"/>
              </a:rPr>
              <a:t>                &lt;</a:t>
            </a:r>
            <a:r>
              <a:rPr lang="en-US" sz="600" dirty="0" err="1">
                <a:latin typeface="Monaco"/>
                <a:cs typeface="Monaco"/>
              </a:rPr>
              <a:t>drycrownshp</a:t>
            </a:r>
            <a:r>
              <a:rPr lang="en-US" sz="600" dirty="0">
                <a:latin typeface="Monaco"/>
                <a:cs typeface="Monaco"/>
              </a:rPr>
              <a:t>    units="none"&gt;   cylindrical     &lt;/</a:t>
            </a:r>
            <a:r>
              <a:rPr lang="en-US" sz="600" dirty="0" err="1">
                <a:latin typeface="Monaco"/>
                <a:cs typeface="Monaco"/>
              </a:rPr>
              <a:t>drycrownshp</a:t>
            </a:r>
            <a:r>
              <a:rPr lang="en-US" sz="600" dirty="0">
                <a:latin typeface="Monaco"/>
                <a:cs typeface="Monaco"/>
              </a:rPr>
              <a:t>&gt;          &lt;!-- cylindrical crown by default                               --&gt;</a:t>
            </a:r>
          </a:p>
          <a:p>
            <a:r>
              <a:rPr lang="en-US" sz="600" dirty="0">
                <a:latin typeface="Monaco"/>
                <a:cs typeface="Monaco"/>
              </a:rPr>
              <a:t>		.</a:t>
            </a:r>
          </a:p>
          <a:p>
            <a:r>
              <a:rPr lang="en-US" sz="600" dirty="0">
                <a:latin typeface="Monaco"/>
                <a:cs typeface="Monaco"/>
              </a:rPr>
              <a:t>		.</a:t>
            </a:r>
          </a:p>
          <a:p>
            <a:r>
              <a:rPr lang="en-US" sz="600" dirty="0">
                <a:latin typeface="Monaco"/>
                <a:cs typeface="Monaco"/>
              </a:rPr>
              <a:t>		.</a:t>
            </a:r>
          </a:p>
          <a:p>
            <a:r>
              <a:rPr lang="en-US" sz="600" dirty="0">
                <a:latin typeface="Monaco"/>
                <a:cs typeface="Monaco"/>
              </a:rPr>
              <a:t>        &lt;/coniferous&gt;</a:t>
            </a:r>
          </a:p>
          <a:p>
            <a:endParaRPr lang="en-US" sz="600" dirty="0">
              <a:latin typeface="Monaco"/>
              <a:cs typeface="Monaco"/>
            </a:endParaRPr>
          </a:p>
          <a:p>
            <a:r>
              <a:rPr lang="en-US" sz="600" dirty="0">
                <a:latin typeface="Monaco"/>
                <a:cs typeface="Monaco"/>
              </a:rPr>
              <a:t>        &lt;ACRU&gt;</a:t>
            </a:r>
          </a:p>
          <a:p>
            <a:r>
              <a:rPr lang="en-US" sz="600" dirty="0">
                <a:latin typeface="Monaco"/>
                <a:cs typeface="Monaco"/>
              </a:rPr>
              <a:t>                &lt;category       units="none"&gt;   deciduous       &lt;/category&gt;             &lt;!-- </a:t>
            </a:r>
            <a:r>
              <a:rPr lang="en-US" sz="600" dirty="0">
                <a:solidFill>
                  <a:srgbClr val="FF0000"/>
                </a:solidFill>
                <a:latin typeface="Monaco"/>
                <a:cs typeface="Monaco"/>
              </a:rPr>
              <a:t>MANDATORY</a:t>
            </a:r>
            <a:r>
              <a:rPr lang="en-US" sz="600" dirty="0">
                <a:latin typeface="Monaco"/>
                <a:cs typeface="Monaco"/>
              </a:rPr>
              <a:t> category of trees (unused if all fields defined) --&gt;</a:t>
            </a:r>
          </a:p>
          <a:p>
            <a:r>
              <a:rPr lang="en-US" sz="600" dirty="0">
                <a:latin typeface="Monaco"/>
                <a:cs typeface="Monaco"/>
              </a:rPr>
              <a:t>                &lt;</a:t>
            </a:r>
            <a:r>
              <a:rPr lang="en-US" sz="600" dirty="0" err="1">
                <a:latin typeface="Monaco"/>
                <a:cs typeface="Monaco"/>
              </a:rPr>
              <a:t>livecrownshp</a:t>
            </a:r>
            <a:r>
              <a:rPr lang="en-US" sz="600" dirty="0">
                <a:latin typeface="Monaco"/>
                <a:cs typeface="Monaco"/>
              </a:rPr>
              <a:t>   units="none"&gt;   spheroid        &lt;/</a:t>
            </a:r>
            <a:r>
              <a:rPr lang="en-US" sz="600" dirty="0" err="1">
                <a:latin typeface="Monaco"/>
                <a:cs typeface="Monaco"/>
              </a:rPr>
              <a:t>livecrownshp</a:t>
            </a:r>
            <a:r>
              <a:rPr lang="en-US" sz="600" dirty="0">
                <a:latin typeface="Monaco"/>
                <a:cs typeface="Monaco"/>
              </a:rPr>
              <a:t>&gt;         &lt;!-- shape of living crown (spheroid or conical)                --&gt;</a:t>
            </a:r>
          </a:p>
          <a:p>
            <a:r>
              <a:rPr lang="en-US" sz="600" dirty="0">
                <a:latin typeface="Monaco"/>
                <a:cs typeface="Monaco"/>
              </a:rPr>
              <a:t>                &lt;</a:t>
            </a:r>
            <a:r>
              <a:rPr lang="en-US" sz="600" dirty="0" err="1">
                <a:latin typeface="Monaco"/>
                <a:cs typeface="Monaco"/>
              </a:rPr>
              <a:t>drycrownshp</a:t>
            </a:r>
            <a:r>
              <a:rPr lang="en-US" sz="600" dirty="0">
                <a:latin typeface="Monaco"/>
                <a:cs typeface="Monaco"/>
              </a:rPr>
              <a:t>    units="none"&gt;   none            &lt;/</a:t>
            </a:r>
            <a:r>
              <a:rPr lang="en-US" sz="600" dirty="0" err="1">
                <a:latin typeface="Monaco"/>
                <a:cs typeface="Monaco"/>
              </a:rPr>
              <a:t>drycrownshp</a:t>
            </a:r>
            <a:r>
              <a:rPr lang="en-US" sz="600" dirty="0">
                <a:latin typeface="Monaco"/>
                <a:cs typeface="Monaco"/>
              </a:rPr>
              <a:t>&gt;          &lt;!-- shape of dry crown (none or cylindrical)                   --&gt;</a:t>
            </a:r>
          </a:p>
          <a:p>
            <a:r>
              <a:rPr lang="en-US" sz="600" dirty="0">
                <a:latin typeface="Monaco"/>
                <a:cs typeface="Monaco"/>
              </a:rPr>
              <a:t>        &lt;/ACRU&gt;</a:t>
            </a:r>
          </a:p>
          <a:p>
            <a:r>
              <a:rPr lang="en-US" sz="600" dirty="0">
                <a:latin typeface="Monaco"/>
                <a:cs typeface="Monaco"/>
              </a:rPr>
              <a:t>        &lt;PIRE&gt;</a:t>
            </a:r>
          </a:p>
          <a:p>
            <a:r>
              <a:rPr lang="en-US" sz="600" dirty="0">
                <a:latin typeface="Monaco"/>
                <a:cs typeface="Monaco"/>
              </a:rPr>
              <a:t>                &lt;category       units="none"&gt;   coniferous      &lt;/category&gt;             &lt;!-- </a:t>
            </a:r>
            <a:r>
              <a:rPr lang="en-US" sz="600" dirty="0">
                <a:solidFill>
                  <a:srgbClr val="FF0000"/>
                </a:solidFill>
                <a:latin typeface="Monaco"/>
                <a:cs typeface="Monaco"/>
              </a:rPr>
              <a:t>MANDATORY</a:t>
            </a:r>
            <a:r>
              <a:rPr lang="en-US" sz="600" dirty="0">
                <a:latin typeface="Monaco"/>
                <a:cs typeface="Monaco"/>
              </a:rPr>
              <a:t> category of trees (unused if all fields defined) --&gt;</a:t>
            </a:r>
          </a:p>
          <a:p>
            <a:r>
              <a:rPr lang="en-US" sz="600" dirty="0">
                <a:latin typeface="Monaco"/>
                <a:cs typeface="Monaco"/>
              </a:rPr>
              <a:t>                &lt;</a:t>
            </a:r>
            <a:r>
              <a:rPr lang="en-US" sz="600" dirty="0" err="1">
                <a:latin typeface="Monaco"/>
                <a:cs typeface="Monaco"/>
              </a:rPr>
              <a:t>livecrownshp</a:t>
            </a:r>
            <a:r>
              <a:rPr lang="en-US" sz="600" dirty="0">
                <a:latin typeface="Monaco"/>
                <a:cs typeface="Monaco"/>
              </a:rPr>
              <a:t>   units="none"&gt;   conical         &lt;/</a:t>
            </a:r>
            <a:r>
              <a:rPr lang="en-US" sz="600" dirty="0" err="1">
                <a:latin typeface="Monaco"/>
                <a:cs typeface="Monaco"/>
              </a:rPr>
              <a:t>livecrownshp</a:t>
            </a:r>
            <a:r>
              <a:rPr lang="en-US" sz="600" dirty="0">
                <a:latin typeface="Monaco"/>
                <a:cs typeface="Monaco"/>
              </a:rPr>
              <a:t>&gt;         &lt;!-- shape of living crown (spheroid or conical)                --&gt;</a:t>
            </a:r>
          </a:p>
          <a:p>
            <a:r>
              <a:rPr lang="en-US" sz="600" dirty="0">
                <a:latin typeface="Monaco"/>
                <a:cs typeface="Monaco"/>
              </a:rPr>
              <a:t>                &lt;</a:t>
            </a:r>
            <a:r>
              <a:rPr lang="en-US" sz="600" dirty="0" err="1">
                <a:latin typeface="Monaco"/>
                <a:cs typeface="Monaco"/>
              </a:rPr>
              <a:t>drycrownshp</a:t>
            </a:r>
            <a:r>
              <a:rPr lang="en-US" sz="600" dirty="0">
                <a:latin typeface="Monaco"/>
                <a:cs typeface="Monaco"/>
              </a:rPr>
              <a:t>    units="none"&gt;   cylindrical     &lt;/</a:t>
            </a:r>
            <a:r>
              <a:rPr lang="en-US" sz="600" dirty="0" err="1">
                <a:latin typeface="Monaco"/>
                <a:cs typeface="Monaco"/>
              </a:rPr>
              <a:t>drycrownshp</a:t>
            </a:r>
            <a:r>
              <a:rPr lang="en-US" sz="600" dirty="0">
                <a:latin typeface="Monaco"/>
                <a:cs typeface="Monaco"/>
              </a:rPr>
              <a:t>&gt;          &lt;!-- shape of dry crown (none or cylindrical)                   --&gt;</a:t>
            </a:r>
          </a:p>
          <a:p>
            <a:r>
              <a:rPr lang="en-US" sz="600" dirty="0">
                <a:latin typeface="Monaco"/>
                <a:cs typeface="Monaco"/>
              </a:rPr>
              <a:t>        &lt;/PIRE&gt;</a:t>
            </a:r>
          </a:p>
          <a:p>
            <a:r>
              <a:rPr lang="en-US" sz="600" dirty="0">
                <a:latin typeface="Monaco"/>
                <a:cs typeface="Monaco"/>
              </a:rPr>
              <a:t>        &lt;TSCA&gt;</a:t>
            </a:r>
          </a:p>
          <a:p>
            <a:r>
              <a:rPr lang="en-US" sz="600" dirty="0">
                <a:latin typeface="Monaco"/>
                <a:cs typeface="Monaco"/>
              </a:rPr>
              <a:t>                &lt;category       units="none"&gt;   coniferous      &lt;/category&gt;             &lt;!-- </a:t>
            </a:r>
            <a:r>
              <a:rPr lang="en-US" sz="600" dirty="0">
                <a:solidFill>
                  <a:srgbClr val="FF0000"/>
                </a:solidFill>
                <a:latin typeface="Monaco"/>
                <a:cs typeface="Monaco"/>
              </a:rPr>
              <a:t>MANDATORY</a:t>
            </a:r>
            <a:r>
              <a:rPr lang="en-US" sz="600" dirty="0">
                <a:latin typeface="Monaco"/>
                <a:cs typeface="Monaco"/>
              </a:rPr>
              <a:t> category of trees (unused if all fields defined) --&gt;</a:t>
            </a:r>
          </a:p>
          <a:p>
            <a:r>
              <a:rPr lang="en-US" sz="600" dirty="0">
                <a:latin typeface="Monaco"/>
                <a:cs typeface="Monaco"/>
              </a:rPr>
              <a:t>                &lt;</a:t>
            </a:r>
            <a:r>
              <a:rPr lang="en-US" sz="600" dirty="0" err="1">
                <a:latin typeface="Monaco"/>
                <a:cs typeface="Monaco"/>
              </a:rPr>
              <a:t>livecrownshp</a:t>
            </a:r>
            <a:r>
              <a:rPr lang="en-US" sz="600" dirty="0">
                <a:latin typeface="Monaco"/>
                <a:cs typeface="Monaco"/>
              </a:rPr>
              <a:t>   units="none"&gt;   spheroid        &lt;/</a:t>
            </a:r>
            <a:r>
              <a:rPr lang="en-US" sz="600" dirty="0" err="1">
                <a:latin typeface="Monaco"/>
                <a:cs typeface="Monaco"/>
              </a:rPr>
              <a:t>livecrownshp</a:t>
            </a:r>
            <a:r>
              <a:rPr lang="en-US" sz="600" dirty="0">
                <a:latin typeface="Monaco"/>
                <a:cs typeface="Monaco"/>
              </a:rPr>
              <a:t>&gt;         &lt;!-- shape of living crown (spheroid or conical)                --&gt;</a:t>
            </a:r>
          </a:p>
          <a:p>
            <a:r>
              <a:rPr lang="en-US" sz="600" dirty="0">
                <a:latin typeface="Monaco"/>
                <a:cs typeface="Monaco"/>
              </a:rPr>
              <a:t>                &lt;</a:t>
            </a:r>
            <a:r>
              <a:rPr lang="en-US" sz="600" dirty="0" err="1">
                <a:latin typeface="Monaco"/>
                <a:cs typeface="Monaco"/>
              </a:rPr>
              <a:t>drycrownshp</a:t>
            </a:r>
            <a:r>
              <a:rPr lang="en-US" sz="600" dirty="0">
                <a:latin typeface="Monaco"/>
                <a:cs typeface="Monaco"/>
              </a:rPr>
              <a:t>    units="none"&gt;   cylindrical     &lt;/</a:t>
            </a:r>
            <a:r>
              <a:rPr lang="en-US" sz="600" dirty="0" err="1">
                <a:latin typeface="Monaco"/>
                <a:cs typeface="Monaco"/>
              </a:rPr>
              <a:t>drycrownshp</a:t>
            </a:r>
            <a:r>
              <a:rPr lang="en-US" sz="600" dirty="0">
                <a:latin typeface="Monaco"/>
                <a:cs typeface="Monaco"/>
              </a:rPr>
              <a:t>&gt;          &lt;!-- shape of dry crown (none or cylindrical)                   --&gt;</a:t>
            </a:r>
          </a:p>
          <a:p>
            <a:r>
              <a:rPr lang="en-US" sz="600" dirty="0">
                <a:latin typeface="Monaco"/>
                <a:cs typeface="Monaco"/>
              </a:rPr>
              <a:t>        &lt;/TSCA&gt;</a:t>
            </a:r>
          </a:p>
          <a:p>
            <a:r>
              <a:rPr lang="en-US" sz="600" dirty="0">
                <a:latin typeface="Monaco"/>
                <a:cs typeface="Monaco"/>
              </a:rPr>
              <a:t>        &lt;BEPA&gt;</a:t>
            </a:r>
          </a:p>
          <a:p>
            <a:r>
              <a:rPr lang="en-US" sz="600" dirty="0">
                <a:latin typeface="Monaco"/>
                <a:cs typeface="Monaco"/>
              </a:rPr>
              <a:t>                &lt;category       units="none"&gt;   deciduous       &lt;/category&gt;             &lt;!-- </a:t>
            </a:r>
            <a:r>
              <a:rPr lang="en-US" sz="600" dirty="0">
                <a:solidFill>
                  <a:srgbClr val="FF0000"/>
                </a:solidFill>
                <a:latin typeface="Monaco"/>
                <a:cs typeface="Monaco"/>
              </a:rPr>
              <a:t>MANDATORY</a:t>
            </a:r>
            <a:r>
              <a:rPr lang="en-US" sz="600" dirty="0">
                <a:latin typeface="Monaco"/>
                <a:cs typeface="Monaco"/>
              </a:rPr>
              <a:t> category of trees (unused if all fields defined) --&gt;</a:t>
            </a:r>
          </a:p>
          <a:p>
            <a:r>
              <a:rPr lang="en-US" sz="600" dirty="0">
                <a:latin typeface="Monaco"/>
                <a:cs typeface="Monaco"/>
              </a:rPr>
              <a:t>        &lt;/BEPA&gt;</a:t>
            </a:r>
          </a:p>
          <a:p>
            <a:r>
              <a:rPr lang="en-US" sz="600" dirty="0">
                <a:latin typeface="Monaco"/>
                <a:cs typeface="Monaco"/>
              </a:rPr>
              <a:t>        &lt;ACSA&gt;</a:t>
            </a:r>
          </a:p>
          <a:p>
            <a:r>
              <a:rPr lang="en-US" sz="600" dirty="0">
                <a:latin typeface="Monaco"/>
                <a:cs typeface="Monaco"/>
              </a:rPr>
              <a:t>                &lt;category       units="none"&gt;   deciduous       &lt;/category&gt;             &lt;!-- </a:t>
            </a:r>
            <a:r>
              <a:rPr lang="en-US" sz="600" dirty="0">
                <a:solidFill>
                  <a:srgbClr val="FF0000"/>
                </a:solidFill>
                <a:latin typeface="Monaco"/>
                <a:cs typeface="Monaco"/>
              </a:rPr>
              <a:t>MANDATORY</a:t>
            </a:r>
            <a:r>
              <a:rPr lang="en-US" sz="600" dirty="0">
                <a:latin typeface="Monaco"/>
                <a:cs typeface="Monaco"/>
              </a:rPr>
              <a:t> category of trees (unused if all fields defined) --&gt;</a:t>
            </a:r>
          </a:p>
          <a:p>
            <a:r>
              <a:rPr lang="en-US" sz="600" dirty="0">
                <a:latin typeface="Monaco"/>
                <a:cs typeface="Monaco"/>
              </a:rPr>
              <a:t>        &lt;/ACSA&gt;</a:t>
            </a:r>
          </a:p>
          <a:p>
            <a:r>
              <a:rPr lang="en-US" sz="600" dirty="0">
                <a:latin typeface="Monaco"/>
                <a:cs typeface="Monaco"/>
              </a:rPr>
              <a:t>        &lt;HEDGE&gt;</a:t>
            </a:r>
          </a:p>
          <a:p>
            <a:r>
              <a:rPr lang="en-US" sz="600" dirty="0">
                <a:latin typeface="Monaco"/>
                <a:cs typeface="Monaco"/>
              </a:rPr>
              <a:t>                &lt;category       units="none"&gt;   deciduous       &lt;/category&gt;             &lt;!-- </a:t>
            </a:r>
            <a:r>
              <a:rPr lang="en-US" sz="600" dirty="0">
                <a:solidFill>
                  <a:srgbClr val="FF0000"/>
                </a:solidFill>
                <a:latin typeface="Monaco"/>
                <a:cs typeface="Monaco"/>
              </a:rPr>
              <a:t>MANDATORY</a:t>
            </a:r>
            <a:r>
              <a:rPr lang="en-US" sz="600" dirty="0">
                <a:latin typeface="Monaco"/>
                <a:cs typeface="Monaco"/>
              </a:rPr>
              <a:t> category of trees (unused if all fields defined) --&gt;</a:t>
            </a:r>
          </a:p>
          <a:p>
            <a:r>
              <a:rPr lang="en-US" sz="600" dirty="0">
                <a:latin typeface="Monaco"/>
                <a:cs typeface="Monaco"/>
              </a:rPr>
              <a:t>                &lt;</a:t>
            </a:r>
            <a:r>
              <a:rPr lang="en-US" sz="600" dirty="0" err="1">
                <a:latin typeface="Monaco"/>
                <a:cs typeface="Monaco"/>
              </a:rPr>
              <a:t>livecrownshp</a:t>
            </a:r>
            <a:r>
              <a:rPr lang="en-US" sz="600" dirty="0">
                <a:latin typeface="Monaco"/>
                <a:cs typeface="Monaco"/>
              </a:rPr>
              <a:t>   units="none"&gt;   cylindrical     &lt;/</a:t>
            </a:r>
            <a:r>
              <a:rPr lang="en-US" sz="600" dirty="0" err="1">
                <a:latin typeface="Monaco"/>
                <a:cs typeface="Monaco"/>
              </a:rPr>
              <a:t>livecrownshp</a:t>
            </a:r>
            <a:r>
              <a:rPr lang="en-US" sz="600" dirty="0">
                <a:latin typeface="Monaco"/>
                <a:cs typeface="Monaco"/>
              </a:rPr>
              <a:t>&gt;         &lt;!-- shape of living crown (spheroid or conical)                --&gt;</a:t>
            </a:r>
          </a:p>
          <a:p>
            <a:r>
              <a:rPr lang="en-US" sz="600" dirty="0">
                <a:latin typeface="Monaco"/>
                <a:cs typeface="Monaco"/>
              </a:rPr>
              <a:t>                &lt;</a:t>
            </a:r>
            <a:r>
              <a:rPr lang="en-US" sz="600" dirty="0" err="1">
                <a:latin typeface="Monaco"/>
                <a:cs typeface="Monaco"/>
              </a:rPr>
              <a:t>drycrownshp</a:t>
            </a:r>
            <a:r>
              <a:rPr lang="en-US" sz="600" dirty="0">
                <a:latin typeface="Monaco"/>
                <a:cs typeface="Monaco"/>
              </a:rPr>
              <a:t>    units="none"&gt;   none            &lt;/</a:t>
            </a:r>
            <a:r>
              <a:rPr lang="en-US" sz="600" dirty="0" err="1">
                <a:latin typeface="Monaco"/>
                <a:cs typeface="Monaco"/>
              </a:rPr>
              <a:t>drycrownshp</a:t>
            </a:r>
            <a:r>
              <a:rPr lang="en-US" sz="600" dirty="0">
                <a:latin typeface="Monaco"/>
                <a:cs typeface="Monaco"/>
              </a:rPr>
              <a:t>&gt;          &lt;!-- shape of dry crown (none or cylindrical)                   --&gt;</a:t>
            </a:r>
          </a:p>
          <a:p>
            <a:r>
              <a:rPr lang="en-US" sz="600" dirty="0">
                <a:latin typeface="Monaco"/>
                <a:cs typeface="Monaco"/>
              </a:rPr>
              <a:t>        &lt;/HEDGE&gt;</a:t>
            </a:r>
          </a:p>
          <a:p>
            <a:r>
              <a:rPr lang="en-US" sz="600" dirty="0">
                <a:latin typeface="Monaco"/>
                <a:cs typeface="Monaco"/>
              </a:rPr>
              <a:t>&lt;/</a:t>
            </a:r>
            <a:r>
              <a:rPr lang="en-US" sz="600" dirty="0" err="1">
                <a:latin typeface="Monaco"/>
                <a:cs typeface="Monaco"/>
              </a:rPr>
              <a:t>allometry</a:t>
            </a:r>
            <a:r>
              <a:rPr lang="en-US" sz="600" dirty="0">
                <a:latin typeface="Monaco"/>
                <a:cs typeface="Monaco"/>
              </a:rPr>
              <a:t>&gt;</a:t>
            </a:r>
          </a:p>
        </p:txBody>
      </p:sp>
      <p:sp>
        <p:nvSpPr>
          <p:cNvPr id="3" name="Rectangle 2"/>
          <p:cNvSpPr/>
          <p:nvPr/>
        </p:nvSpPr>
        <p:spPr>
          <a:xfrm>
            <a:off x="905422" y="2487656"/>
            <a:ext cx="6992166" cy="1344324"/>
          </a:xfrm>
          <a:prstGeom prst="rect">
            <a:avLst/>
          </a:prstGeom>
          <a:gradFill flip="none" rotWithShape="1">
            <a:gsLst>
              <a:gs pos="0">
                <a:schemeClr val="accent1">
                  <a:tint val="100000"/>
                  <a:shade val="100000"/>
                  <a:satMod val="130000"/>
                  <a:alpha val="8000"/>
                </a:schemeClr>
              </a:gs>
              <a:gs pos="100000">
                <a:schemeClr val="accent1">
                  <a:tint val="50000"/>
                  <a:shade val="100000"/>
                  <a:satMod val="350000"/>
                  <a:alpha val="8000"/>
                </a:schemeClr>
              </a:gs>
            </a:gsLst>
            <a:lin ang="16200000" scaled="0"/>
            <a:tileRect/>
          </a:gradFill>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1BE50299-FAFF-45D7-752A-1ADAC1ED0ED5}"/>
              </a:ext>
            </a:extLst>
          </p:cNvPr>
          <p:cNvSpPr>
            <a:spLocks noGrp="1"/>
          </p:cNvSpPr>
          <p:nvPr>
            <p:ph type="dt" sz="half" idx="10"/>
          </p:nvPr>
        </p:nvSpPr>
        <p:spPr>
          <a:xfrm>
            <a:off x="644769" y="6117877"/>
            <a:ext cx="1413986" cy="400153"/>
          </a:xfrm>
        </p:spPr>
        <p:txBody>
          <a:bodyPr/>
          <a:lstStyle/>
          <a:p>
            <a:fld id="{04CE96CB-BF4D-674D-B2FC-876F8AA1B496}" type="datetime1">
              <a:rPr lang="en-US" smtClean="0"/>
              <a:t>3/25/26</a:t>
            </a:fld>
            <a:endParaRPr lang="en-US"/>
          </a:p>
        </p:txBody>
      </p:sp>
      <p:sp>
        <p:nvSpPr>
          <p:cNvPr id="6" name="Footer Placeholder 5">
            <a:extLst>
              <a:ext uri="{FF2B5EF4-FFF2-40B4-BE49-F238E27FC236}">
                <a16:creationId xmlns:a16="http://schemas.microsoft.com/office/drawing/2014/main" id="{650D1E3C-8833-3C43-8E2A-FD1102C120A5}"/>
              </a:ext>
            </a:extLst>
          </p:cNvPr>
          <p:cNvSpPr>
            <a:spLocks noGrp="1"/>
          </p:cNvSpPr>
          <p:nvPr>
            <p:ph type="ftr" sz="quarter" idx="11"/>
          </p:nvPr>
        </p:nvSpPr>
        <p:spPr>
          <a:xfrm>
            <a:off x="1964970" y="6518030"/>
            <a:ext cx="5401628" cy="400153"/>
          </a:xfrm>
        </p:spPr>
        <p:txBody>
          <a:bodyPr/>
          <a:lstStyle/>
          <a:p>
            <a:r>
              <a:rPr lang="en-US" dirty="0"/>
              <a:t>Does Not Contain CUI.</a:t>
            </a:r>
          </a:p>
        </p:txBody>
      </p:sp>
      <p:sp>
        <p:nvSpPr>
          <p:cNvPr id="7" name="Slide Number Placeholder 6">
            <a:extLst>
              <a:ext uri="{FF2B5EF4-FFF2-40B4-BE49-F238E27FC236}">
                <a16:creationId xmlns:a16="http://schemas.microsoft.com/office/drawing/2014/main" id="{A7DBF7EB-0382-4D0E-60BB-6F5DEBE10D2A}"/>
              </a:ext>
            </a:extLst>
          </p:cNvPr>
          <p:cNvSpPr>
            <a:spLocks noGrp="1"/>
          </p:cNvSpPr>
          <p:nvPr>
            <p:ph type="sldNum" sz="quarter" idx="12"/>
          </p:nvPr>
        </p:nvSpPr>
        <p:spPr>
          <a:xfrm>
            <a:off x="7460383" y="6117877"/>
            <a:ext cx="643449" cy="400153"/>
          </a:xfrm>
        </p:spPr>
        <p:txBody>
          <a:bodyPr/>
          <a:lstStyle/>
          <a:p>
            <a:fld id="{B4CE5C4C-399A-B444-9B2A-945D2610250E}" type="slidenum">
              <a:rPr lang="en-US" smtClean="0"/>
              <a:t>19</a:t>
            </a:fld>
            <a:endParaRPr lang="en-US"/>
          </a:p>
        </p:txBody>
      </p:sp>
    </p:spTree>
    <p:extLst>
      <p:ext uri="{BB962C8B-B14F-4D97-AF65-F5344CB8AC3E}">
        <p14:creationId xmlns:p14="http://schemas.microsoft.com/office/powerpoint/2010/main" val="2392338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Allometry</a:t>
            </a:r>
            <a:r>
              <a:rPr lang="en-US" dirty="0"/>
              <a:t> Input</a:t>
            </a:r>
          </a:p>
        </p:txBody>
      </p:sp>
      <p:sp>
        <p:nvSpPr>
          <p:cNvPr id="3" name="Content Placeholder 2"/>
          <p:cNvSpPr>
            <a:spLocks noGrp="1"/>
          </p:cNvSpPr>
          <p:nvPr>
            <p:ph idx="1"/>
          </p:nvPr>
        </p:nvSpPr>
        <p:spPr>
          <a:xfrm>
            <a:off x="457200" y="1027323"/>
            <a:ext cx="8229600" cy="5418984"/>
          </a:xfrm>
        </p:spPr>
        <p:txBody>
          <a:bodyPr>
            <a:normAutofit lnSpcReduction="10000"/>
          </a:bodyPr>
          <a:lstStyle/>
          <a:p>
            <a:r>
              <a:rPr lang="en-US" sz="1200" dirty="0"/>
              <a:t>Originally five species are hardcoded into PolSARproSim. Their properties are all either listed in </a:t>
            </a:r>
            <a:r>
              <a:rPr lang="en-US" sz="1200" dirty="0" err="1"/>
              <a:t>Allometrics.h</a:t>
            </a:r>
            <a:r>
              <a:rPr lang="en-US" sz="1200" dirty="0"/>
              <a:t> or derived by functions in </a:t>
            </a:r>
            <a:r>
              <a:rPr lang="en-US" sz="1200" dirty="0" err="1"/>
              <a:t>Allometrics.c</a:t>
            </a:r>
            <a:r>
              <a:rPr lang="en-US" sz="1200" dirty="0"/>
              <a:t> and are used throughout the software</a:t>
            </a:r>
          </a:p>
          <a:p>
            <a:pPr lvl="3"/>
            <a:r>
              <a:rPr lang="en-US" sz="1200" dirty="0"/>
              <a:t>Deciduous1</a:t>
            </a:r>
          </a:p>
          <a:p>
            <a:pPr lvl="3"/>
            <a:r>
              <a:rPr lang="en-US" sz="1200" dirty="0"/>
              <a:t>Hedge</a:t>
            </a:r>
          </a:p>
          <a:p>
            <a:pPr lvl="3"/>
            <a:r>
              <a:rPr lang="en-US" sz="1200" dirty="0"/>
              <a:t>Pine1,Pine2,Pine3</a:t>
            </a:r>
          </a:p>
          <a:p>
            <a:r>
              <a:rPr lang="en-US" sz="1200" dirty="0"/>
              <a:t>Added module </a:t>
            </a:r>
            <a:r>
              <a:rPr lang="en-US" sz="1200" dirty="0" err="1"/>
              <a:t>read_allometry.c</a:t>
            </a:r>
            <a:r>
              <a:rPr lang="en-US" sz="1200" dirty="0"/>
              <a:t> that includes functions </a:t>
            </a:r>
          </a:p>
          <a:p>
            <a:pPr lvl="3"/>
            <a:r>
              <a:rPr lang="en-US" sz="1200" dirty="0" err="1"/>
              <a:t>Input_PolSARproSim_Allometry</a:t>
            </a:r>
            <a:r>
              <a:rPr lang="en-US" sz="1200" dirty="0"/>
              <a:t>();  To import species parameter XML database</a:t>
            </a:r>
          </a:p>
          <a:p>
            <a:pPr lvl="3"/>
            <a:r>
              <a:rPr lang="en-US" sz="1200" dirty="0" err="1"/>
              <a:t>getSpeciesData</a:t>
            </a:r>
            <a:r>
              <a:rPr lang="en-US" sz="1200" dirty="0"/>
              <a:t>(); </a:t>
            </a:r>
            <a:r>
              <a:rPr lang="en-US" sz="1200" dirty="0" err="1"/>
              <a:t>getSpeciesList</a:t>
            </a:r>
            <a:r>
              <a:rPr lang="en-US" sz="1200" dirty="0"/>
              <a:t>(); To get species attributes from XML database</a:t>
            </a:r>
          </a:p>
          <a:p>
            <a:pPr lvl="3"/>
            <a:r>
              <a:rPr lang="en-US" sz="1200" dirty="0" err="1"/>
              <a:t>getCategoryData</a:t>
            </a:r>
            <a:r>
              <a:rPr lang="en-US" sz="1200" dirty="0"/>
              <a:t>(); </a:t>
            </a:r>
            <a:r>
              <a:rPr lang="en-US" sz="1200" dirty="0" err="1"/>
              <a:t>getCategoryList</a:t>
            </a:r>
            <a:r>
              <a:rPr lang="en-US" sz="1200" dirty="0"/>
              <a:t>(); To get category attributes from XML database</a:t>
            </a:r>
          </a:p>
          <a:p>
            <a:r>
              <a:rPr lang="en-US" sz="1200" dirty="0"/>
              <a:t>Added structure </a:t>
            </a:r>
            <a:r>
              <a:rPr lang="en-US" sz="1200" dirty="0" err="1"/>
              <a:t>Allometry</a:t>
            </a:r>
            <a:r>
              <a:rPr lang="en-US" sz="1200" dirty="0"/>
              <a:t> with fields that will include species specific attributes, e.g. Crown Shapes, Branch/Leaf Parameters etc. </a:t>
            </a:r>
          </a:p>
          <a:p>
            <a:r>
              <a:rPr lang="en-US" sz="1200" dirty="0"/>
              <a:t>Added two pointers in </a:t>
            </a:r>
            <a:r>
              <a:rPr lang="en-US" sz="1200" dirty="0" err="1"/>
              <a:t>MasterRecord</a:t>
            </a:r>
            <a:r>
              <a:rPr lang="en-US" sz="1200" dirty="0"/>
              <a:t> to </a:t>
            </a:r>
            <a:r>
              <a:rPr lang="en-US" sz="1200" dirty="0" err="1"/>
              <a:t>Allometry</a:t>
            </a:r>
            <a:r>
              <a:rPr lang="en-US" sz="1200" dirty="0"/>
              <a:t> structures</a:t>
            </a:r>
          </a:p>
          <a:p>
            <a:pPr lvl="3"/>
            <a:r>
              <a:rPr lang="en-US" sz="1200" dirty="0" err="1"/>
              <a:t>SpeciesDataBase</a:t>
            </a:r>
            <a:endParaRPr lang="en-US" sz="1200" dirty="0"/>
          </a:p>
          <a:p>
            <a:pPr lvl="3"/>
            <a:r>
              <a:rPr lang="en-US" sz="1200" dirty="0" err="1"/>
              <a:t>CategoryDataBase</a:t>
            </a:r>
            <a:r>
              <a:rPr lang="en-US" sz="1200" dirty="0"/>
              <a:t> </a:t>
            </a:r>
          </a:p>
          <a:p>
            <a:pPr lvl="2"/>
            <a:r>
              <a:rPr lang="en-US" sz="1200" dirty="0"/>
              <a:t>The </a:t>
            </a:r>
            <a:r>
              <a:rPr lang="en-US" sz="1200" dirty="0" err="1"/>
              <a:t>CategoryDataBase</a:t>
            </a:r>
            <a:r>
              <a:rPr lang="en-US" sz="1200" dirty="0"/>
              <a:t> (of size, </a:t>
            </a:r>
            <a:r>
              <a:rPr lang="en-US" sz="1200" dirty="0" err="1"/>
              <a:t>pPR</a:t>
            </a:r>
            <a:r>
              <a:rPr lang="en-US" sz="1200" dirty="0"/>
              <a:t>-&gt;</a:t>
            </a:r>
            <a:r>
              <a:rPr lang="en-US" sz="1200" dirty="0" err="1"/>
              <a:t>Ncategories</a:t>
            </a:r>
            <a:r>
              <a:rPr lang="en-US" sz="1200" dirty="0"/>
              <a:t> which is based on the number of categories listed in &lt;</a:t>
            </a:r>
            <a:r>
              <a:rPr lang="en-US" sz="1200" dirty="0" err="1"/>
              <a:t>category_list</a:t>
            </a:r>
            <a:r>
              <a:rPr lang="en-US" sz="1200" dirty="0"/>
              <a:t>&gt; tag in XML database), is based on the idea that this will be general parameters for broad categories of trees such as deciduous, coniferous etc. </a:t>
            </a:r>
          </a:p>
          <a:p>
            <a:pPr lvl="2"/>
            <a:r>
              <a:rPr lang="en-US" sz="1200" dirty="0"/>
              <a:t>The </a:t>
            </a:r>
            <a:r>
              <a:rPr lang="en-US" sz="1200" dirty="0" err="1"/>
              <a:t>SpeciesDataBase</a:t>
            </a:r>
            <a:r>
              <a:rPr lang="en-US" sz="1200" dirty="0"/>
              <a:t> (of size </a:t>
            </a:r>
            <a:r>
              <a:rPr lang="en-US" sz="1200" dirty="0" err="1"/>
              <a:t>pPR</a:t>
            </a:r>
            <a:r>
              <a:rPr lang="en-US" sz="1200" dirty="0"/>
              <a:t>-&gt;</a:t>
            </a:r>
            <a:r>
              <a:rPr lang="en-US" sz="1200" dirty="0" err="1"/>
              <a:t>Nspecies</a:t>
            </a:r>
            <a:r>
              <a:rPr lang="en-US" sz="1200" dirty="0"/>
              <a:t> which is based on the number of species names listed in &lt;</a:t>
            </a:r>
            <a:r>
              <a:rPr lang="en-US" sz="1200" dirty="0" err="1"/>
              <a:t>species_list</a:t>
            </a:r>
            <a:r>
              <a:rPr lang="en-US" sz="1200" dirty="0"/>
              <a:t>&gt; tag in XML database), is the parameters specific to each species.</a:t>
            </a:r>
          </a:p>
          <a:p>
            <a:r>
              <a:rPr lang="en-US" sz="1200" dirty="0"/>
              <a:t>The full path and name of the species XML file are specified in the input parameter file. </a:t>
            </a:r>
          </a:p>
          <a:p>
            <a:r>
              <a:rPr lang="en-US" sz="1200" dirty="0"/>
              <a:t>Every parameter needs to be specified for each category listed under tag &lt;</a:t>
            </a:r>
            <a:r>
              <a:rPr lang="en-US" sz="1200" dirty="0" err="1"/>
              <a:t>category_list</a:t>
            </a:r>
            <a:r>
              <a:rPr lang="en-US" sz="1200" dirty="0"/>
              <a:t>&gt;. The program will exit if either the category tag isn’t found or it doesn’t have any one of the parameters.</a:t>
            </a:r>
          </a:p>
          <a:p>
            <a:r>
              <a:rPr lang="en-US" sz="1200" dirty="0"/>
              <a:t>Each species listed in the &lt;</a:t>
            </a:r>
            <a:r>
              <a:rPr lang="en-US" sz="1200" dirty="0" err="1"/>
              <a:t>species_list</a:t>
            </a:r>
            <a:r>
              <a:rPr lang="en-US" sz="1200" dirty="0"/>
              <a:t>&gt; tag needs to at least have the &lt;category&gt; it belongs to. The software will exit if this field is not found or not recognized. </a:t>
            </a:r>
          </a:p>
          <a:p>
            <a:r>
              <a:rPr lang="en-US" sz="1200" dirty="0"/>
              <a:t>If any of the parameters are not found for a particular species, then the parameter from its &lt;category&gt; is used instead. </a:t>
            </a:r>
          </a:p>
          <a:p>
            <a:r>
              <a:rPr lang="en-US" sz="1200" dirty="0"/>
              <a:t>This method puts no limits on the number of categories or species, or the format of their names (though name must not be longer than SPECNAME_MAX_STRSIZE).  </a:t>
            </a:r>
          </a:p>
        </p:txBody>
      </p:sp>
      <p:sp>
        <p:nvSpPr>
          <p:cNvPr id="4" name="Date Placeholder 3">
            <a:extLst>
              <a:ext uri="{FF2B5EF4-FFF2-40B4-BE49-F238E27FC236}">
                <a16:creationId xmlns:a16="http://schemas.microsoft.com/office/drawing/2014/main" id="{58CC8E3D-B972-3CBF-720E-144C022BDBD2}"/>
              </a:ext>
            </a:extLst>
          </p:cNvPr>
          <p:cNvSpPr>
            <a:spLocks noGrp="1"/>
          </p:cNvSpPr>
          <p:nvPr>
            <p:ph type="dt" sz="half" idx="10"/>
          </p:nvPr>
        </p:nvSpPr>
        <p:spPr/>
        <p:txBody>
          <a:bodyPr/>
          <a:lstStyle/>
          <a:p>
            <a:fld id="{00665836-0170-6046-BC98-DBE64E09C235}" type="datetime1">
              <a:rPr lang="en-US" smtClean="0"/>
              <a:t>3/25/26</a:t>
            </a:fld>
            <a:endParaRPr lang="en-US"/>
          </a:p>
        </p:txBody>
      </p:sp>
      <p:sp>
        <p:nvSpPr>
          <p:cNvPr id="5" name="Footer Placeholder 4">
            <a:extLst>
              <a:ext uri="{FF2B5EF4-FFF2-40B4-BE49-F238E27FC236}">
                <a16:creationId xmlns:a16="http://schemas.microsoft.com/office/drawing/2014/main" id="{8F6B6CED-8355-B19A-B96C-023D93970E7C}"/>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9C873425-7696-5609-F373-17F3F914E7EE}"/>
              </a:ext>
            </a:extLst>
          </p:cNvPr>
          <p:cNvSpPr>
            <a:spLocks noGrp="1"/>
          </p:cNvSpPr>
          <p:nvPr>
            <p:ph type="sldNum" sz="quarter" idx="12"/>
          </p:nvPr>
        </p:nvSpPr>
        <p:spPr/>
        <p:txBody>
          <a:bodyPr/>
          <a:lstStyle/>
          <a:p>
            <a:fld id="{B4CE5C4C-399A-B444-9B2A-945D2610250E}" type="slidenum">
              <a:rPr lang="en-US" smtClean="0"/>
              <a:t>20</a:t>
            </a:fld>
            <a:endParaRPr lang="en-US"/>
          </a:p>
        </p:txBody>
      </p:sp>
    </p:spTree>
    <p:extLst>
      <p:ext uri="{BB962C8B-B14F-4D97-AF65-F5344CB8AC3E}">
        <p14:creationId xmlns:p14="http://schemas.microsoft.com/office/powerpoint/2010/main" val="2363780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Species –rev 1.	</a:t>
            </a:r>
          </a:p>
        </p:txBody>
      </p:sp>
      <p:sp>
        <p:nvSpPr>
          <p:cNvPr id="3" name="Content Placeholder 2"/>
          <p:cNvSpPr>
            <a:spLocks noGrp="1"/>
          </p:cNvSpPr>
          <p:nvPr>
            <p:ph idx="1"/>
          </p:nvPr>
        </p:nvSpPr>
        <p:spPr>
          <a:xfrm>
            <a:off x="457200" y="1013618"/>
            <a:ext cx="8229600" cy="6102290"/>
          </a:xfrm>
        </p:spPr>
        <p:txBody>
          <a:bodyPr>
            <a:noAutofit/>
          </a:bodyPr>
          <a:lstStyle/>
          <a:p>
            <a:r>
              <a:rPr lang="en-US" sz="1100" dirty="0"/>
              <a:t>Originally all tree species were based on </a:t>
            </a:r>
            <a:r>
              <a:rPr lang="en-US" sz="1100" dirty="0" err="1"/>
              <a:t>pPR</a:t>
            </a:r>
            <a:r>
              <a:rPr lang="en-US" sz="1100" dirty="0"/>
              <a:t>-&gt;species</a:t>
            </a:r>
          </a:p>
          <a:p>
            <a:pPr lvl="1"/>
            <a:r>
              <a:rPr lang="en-US" sz="1100" dirty="0"/>
              <a:t>0		HEDGE</a:t>
            </a:r>
          </a:p>
          <a:p>
            <a:pPr lvl="1"/>
            <a:r>
              <a:rPr lang="en-US" sz="1100" dirty="0"/>
              <a:t>1		PINE001 		Pine with spherical live crown</a:t>
            </a:r>
          </a:p>
          <a:p>
            <a:pPr lvl="1"/>
            <a:r>
              <a:rPr lang="en-US" sz="1100" dirty="0"/>
              <a:t>2		PINE002 		Pine with conical live crown</a:t>
            </a:r>
          </a:p>
          <a:p>
            <a:pPr lvl="1"/>
            <a:r>
              <a:rPr lang="en-US" sz="1100" dirty="0"/>
              <a:t>3		PINE003		Pine with either spherical or conical live crown</a:t>
            </a:r>
          </a:p>
          <a:p>
            <a:pPr lvl="1"/>
            <a:r>
              <a:rPr lang="en-US" sz="1100" dirty="0"/>
              <a:t>4 		DECIDUOUS001 	Deciduous with spherical crown</a:t>
            </a:r>
            <a:br>
              <a:rPr lang="en-US" sz="1100" dirty="0"/>
            </a:br>
            <a:endParaRPr lang="en-US" sz="1100" dirty="0"/>
          </a:p>
          <a:p>
            <a:r>
              <a:rPr lang="en-US" sz="1100" dirty="0"/>
              <a:t>Added </a:t>
            </a:r>
            <a:r>
              <a:rPr lang="en-US" sz="1100" dirty="0" err="1"/>
              <a:t>TreeLoc.species</a:t>
            </a:r>
            <a:r>
              <a:rPr lang="en-US" sz="1100" dirty="0"/>
              <a:t> to allow input of tree species to each tree.</a:t>
            </a:r>
          </a:p>
          <a:p>
            <a:pPr lvl="1"/>
            <a:r>
              <a:rPr lang="en-US" sz="1100" dirty="0" err="1"/>
              <a:t>InputPolSARproSim_Forest</a:t>
            </a:r>
            <a:r>
              <a:rPr lang="en-US" sz="1100" dirty="0"/>
              <a:t>() reads the first column of </a:t>
            </a:r>
            <a:r>
              <a:rPr lang="en-US" sz="1100" dirty="0" err="1"/>
              <a:t>pPR</a:t>
            </a:r>
            <a:r>
              <a:rPr lang="en-US" sz="1100" dirty="0"/>
              <a:t>-&gt;</a:t>
            </a:r>
            <a:r>
              <a:rPr lang="en-US" sz="1100" dirty="0" err="1"/>
              <a:t>ForestData</a:t>
            </a:r>
            <a:r>
              <a:rPr lang="en-US" sz="1100" dirty="0"/>
              <a:t> and fills in </a:t>
            </a:r>
            <a:r>
              <a:rPr lang="en-US" sz="1100" dirty="0" err="1"/>
              <a:t>TreeLoc.species</a:t>
            </a:r>
            <a:endParaRPr lang="en-US" sz="1100" dirty="0"/>
          </a:p>
          <a:p>
            <a:pPr lvl="2"/>
            <a:r>
              <a:rPr lang="en-US" sz="1100" dirty="0" err="1"/>
              <a:t>pPR</a:t>
            </a:r>
            <a:r>
              <a:rPr lang="en-US" sz="1100" dirty="0"/>
              <a:t>-&gt;</a:t>
            </a:r>
            <a:r>
              <a:rPr lang="en-US" sz="1100" dirty="0" err="1"/>
              <a:t>Tree_Location</a:t>
            </a:r>
            <a:r>
              <a:rPr lang="en-US" sz="1100" dirty="0"/>
              <a:t>[</a:t>
            </a:r>
            <a:r>
              <a:rPr lang="en-US" sz="1100" dirty="0" err="1"/>
              <a:t>itree</a:t>
            </a:r>
            <a:r>
              <a:rPr lang="en-US" sz="1100" dirty="0"/>
              <a:t>].species = &lt;column 1&gt;</a:t>
            </a:r>
          </a:p>
          <a:p>
            <a:pPr lvl="1"/>
            <a:r>
              <a:rPr lang="en-US" sz="1100" dirty="0" err="1"/>
              <a:t>CheckPolSARproSim_Forest</a:t>
            </a:r>
            <a:r>
              <a:rPr lang="en-US" sz="1100" dirty="0"/>
              <a:t>() exits program if species &lt; 1 and &gt; 4</a:t>
            </a:r>
          </a:p>
          <a:p>
            <a:pPr lvl="2"/>
            <a:endParaRPr lang="en-US" sz="1100" dirty="0"/>
          </a:p>
          <a:p>
            <a:r>
              <a:rPr lang="en-US" sz="1100" dirty="0"/>
              <a:t>In </a:t>
            </a:r>
            <a:r>
              <a:rPr lang="en-US" sz="1100" dirty="0" err="1"/>
              <a:t>Realise_Tree</a:t>
            </a:r>
            <a:r>
              <a:rPr lang="en-US" sz="1100" dirty="0"/>
              <a:t>(</a:t>
            </a:r>
            <a:r>
              <a:rPr lang="en-US" sz="1100" dirty="0" err="1"/>
              <a:t>pPR</a:t>
            </a:r>
            <a:r>
              <a:rPr lang="en-US" sz="1100" dirty="0"/>
              <a:t>, </a:t>
            </a:r>
            <a:r>
              <a:rPr lang="en-US" sz="1100" dirty="0" err="1"/>
              <a:t>i</a:t>
            </a:r>
            <a:r>
              <a:rPr lang="en-US" sz="1100" dirty="0"/>
              <a:t>) and </a:t>
            </a:r>
            <a:r>
              <a:rPr lang="en-US" sz="1100" dirty="0" err="1"/>
              <a:t>Realise_Tree_Crown_Only</a:t>
            </a:r>
            <a:r>
              <a:rPr lang="en-US" sz="1100" dirty="0"/>
              <a:t>(</a:t>
            </a:r>
            <a:r>
              <a:rPr lang="en-US" sz="1100" dirty="0" err="1"/>
              <a:t>pPR,i</a:t>
            </a:r>
            <a:r>
              <a:rPr lang="en-US" sz="1100" dirty="0"/>
              <a:t>) changed code to use </a:t>
            </a:r>
            <a:r>
              <a:rPr lang="en-US" sz="1100" dirty="0" err="1"/>
              <a:t>pPR</a:t>
            </a:r>
            <a:r>
              <a:rPr lang="en-US" sz="1100" dirty="0"/>
              <a:t>-&gt;</a:t>
            </a:r>
            <a:r>
              <a:rPr lang="en-US" sz="1100" dirty="0" err="1"/>
              <a:t>Tree_Location</a:t>
            </a:r>
            <a:r>
              <a:rPr lang="en-US" sz="1100" dirty="0"/>
              <a:t>[</a:t>
            </a:r>
            <a:r>
              <a:rPr lang="en-US" sz="1100" dirty="0" err="1"/>
              <a:t>i</a:t>
            </a:r>
            <a:r>
              <a:rPr lang="en-US" sz="1100" dirty="0"/>
              <a:t>].species if </a:t>
            </a:r>
            <a:r>
              <a:rPr lang="en-US" sz="1100" dirty="0" err="1"/>
              <a:t>pPR</a:t>
            </a:r>
            <a:r>
              <a:rPr lang="en-US" sz="1100" dirty="0"/>
              <a:t>-&gt;</a:t>
            </a:r>
            <a:r>
              <a:rPr lang="en-US" sz="1100" dirty="0" err="1"/>
              <a:t>ForestInput_Flag</a:t>
            </a:r>
            <a:r>
              <a:rPr lang="en-US" sz="1100" dirty="0"/>
              <a:t> is set to EXTERNAL_FOREST_DEFINITION</a:t>
            </a:r>
          </a:p>
          <a:p>
            <a:endParaRPr lang="en-US" sz="1100" dirty="0"/>
          </a:p>
          <a:p>
            <a:r>
              <a:rPr lang="en-US" sz="1100" dirty="0"/>
              <a:t>Changed the </a:t>
            </a:r>
            <a:r>
              <a:rPr lang="en-US" sz="1100" dirty="0" err="1"/>
              <a:t>pPR</a:t>
            </a:r>
            <a:r>
              <a:rPr lang="en-US" sz="1100" dirty="0"/>
              <a:t>-&gt;species </a:t>
            </a:r>
            <a:r>
              <a:rPr lang="en-US" sz="1100" dirty="0" err="1"/>
              <a:t>pT</a:t>
            </a:r>
            <a:r>
              <a:rPr lang="en-US" sz="1100" dirty="0"/>
              <a:t>-&gt;species everywhere (see notes) except</a:t>
            </a:r>
          </a:p>
          <a:p>
            <a:pPr lvl="1"/>
            <a:r>
              <a:rPr lang="en-US" sz="1100" dirty="0"/>
              <a:t>When it is if(</a:t>
            </a:r>
            <a:r>
              <a:rPr lang="en-US" sz="1100" dirty="0" err="1"/>
              <a:t>pPR</a:t>
            </a:r>
            <a:r>
              <a:rPr lang="en-US" sz="1100" dirty="0"/>
              <a:t>-&gt;species == HEDGE). </a:t>
            </a:r>
            <a:r>
              <a:rPr lang="en-US" sz="1100" dirty="0">
                <a:solidFill>
                  <a:schemeClr val="accent2"/>
                </a:solidFill>
              </a:rPr>
              <a:t>Did NOT include definition of HEDGE in $</a:t>
            </a:r>
            <a:r>
              <a:rPr lang="en-US" sz="1100" dirty="0" err="1">
                <a:solidFill>
                  <a:schemeClr val="accent2"/>
                </a:solidFill>
              </a:rPr>
              <a:t>prefix_canopy.txt</a:t>
            </a:r>
            <a:r>
              <a:rPr lang="en-US" sz="1100" dirty="0"/>
              <a:t>.</a:t>
            </a:r>
            <a:r>
              <a:rPr lang="en-US" sz="1100" dirty="0">
                <a:solidFill>
                  <a:srgbClr val="000000"/>
                </a:solidFill>
              </a:rPr>
              <a:t>  </a:t>
            </a:r>
          </a:p>
          <a:p>
            <a:pPr lvl="1"/>
            <a:r>
              <a:rPr lang="en-US" sz="1100" dirty="0"/>
              <a:t>In </a:t>
            </a:r>
            <a:r>
              <a:rPr lang="en-US" sz="1100" dirty="0" err="1"/>
              <a:t>Effective_Permittivities</a:t>
            </a:r>
            <a:r>
              <a:rPr lang="en-US" sz="1100" dirty="0"/>
              <a:t>() when choosing leaf species. </a:t>
            </a:r>
            <a:r>
              <a:rPr lang="en-US" sz="1100" dirty="0">
                <a:solidFill>
                  <a:schemeClr val="accent2"/>
                </a:solidFill>
              </a:rPr>
              <a:t>Not sure what to do here</a:t>
            </a:r>
            <a:r>
              <a:rPr lang="en-US" sz="1100" dirty="0"/>
              <a:t>!</a:t>
            </a:r>
          </a:p>
          <a:p>
            <a:pPr lvl="1"/>
            <a:r>
              <a:rPr lang="en-US" sz="1100" dirty="0"/>
              <a:t>In </a:t>
            </a:r>
            <a:r>
              <a:rPr lang="en-US" sz="1100" dirty="0" err="1"/>
              <a:t>Effective_Permittivities</a:t>
            </a:r>
            <a:r>
              <a:rPr lang="en-US" sz="1100" dirty="0"/>
              <a:t>() when choosing Tertiary Branch  Moisture because </a:t>
            </a:r>
            <a:r>
              <a:rPr lang="en-US" sz="1100" dirty="0">
                <a:solidFill>
                  <a:srgbClr val="C0504D"/>
                </a:solidFill>
              </a:rPr>
              <a:t>all species have the same tertiary branch moisture</a:t>
            </a:r>
            <a:r>
              <a:rPr lang="en-US" sz="1100" dirty="0"/>
              <a:t>.</a:t>
            </a:r>
          </a:p>
          <a:p>
            <a:pPr lvl="1"/>
            <a:r>
              <a:rPr lang="en-US" sz="1100" dirty="0"/>
              <a:t>In </a:t>
            </a:r>
            <a:r>
              <a:rPr lang="en-US" sz="1100" dirty="0" err="1"/>
              <a:t>Effective_Permittivities</a:t>
            </a:r>
            <a:r>
              <a:rPr lang="en-US" sz="1100" dirty="0"/>
              <a:t>() when choosing Tertiary Leaf Volume Fraction because </a:t>
            </a:r>
            <a:r>
              <a:rPr lang="en-US" sz="1100" dirty="0">
                <a:solidFill>
                  <a:srgbClr val="C0504D"/>
                </a:solidFill>
              </a:rPr>
              <a:t>all species have the same leaf volume fraction</a:t>
            </a:r>
            <a:r>
              <a:rPr lang="en-US" sz="1100" dirty="0"/>
              <a:t>. </a:t>
            </a:r>
          </a:p>
          <a:p>
            <a:pPr lvl="1"/>
            <a:r>
              <a:rPr lang="en-US" sz="1100" dirty="0"/>
              <a:t>In </a:t>
            </a:r>
            <a:r>
              <a:rPr lang="en-US" sz="1100" dirty="0" err="1"/>
              <a:t>Effective_Permittivities</a:t>
            </a:r>
            <a:r>
              <a:rPr lang="en-US" sz="1100" dirty="0"/>
              <a:t>() when computing leaf moisture, </a:t>
            </a:r>
            <a:r>
              <a:rPr lang="en-US" sz="1100" dirty="0">
                <a:solidFill>
                  <a:srgbClr val="C0504D"/>
                </a:solidFill>
              </a:rPr>
              <a:t>because all species have the same leaf moisture</a:t>
            </a:r>
            <a:r>
              <a:rPr lang="en-US" sz="1100" dirty="0"/>
              <a:t>.</a:t>
            </a:r>
          </a:p>
          <a:p>
            <a:pPr lvl="1"/>
            <a:r>
              <a:rPr lang="en-US" sz="1100" dirty="0"/>
              <a:t>In </a:t>
            </a:r>
            <a:r>
              <a:rPr lang="en-US" sz="1100" dirty="0" err="1"/>
              <a:t>PolSARproSim_Short_Vegi.c</a:t>
            </a:r>
            <a:r>
              <a:rPr lang="en-US" sz="1100" dirty="0"/>
              <a:t>, </a:t>
            </a:r>
            <a:r>
              <a:rPr lang="en-US" sz="1100" dirty="0">
                <a:solidFill>
                  <a:srgbClr val="C0504D"/>
                </a:solidFill>
              </a:rPr>
              <a:t>assuming that short vegetation species is defined by </a:t>
            </a:r>
            <a:r>
              <a:rPr lang="en-US" sz="1100" dirty="0" err="1">
                <a:solidFill>
                  <a:srgbClr val="C0504D"/>
                </a:solidFill>
              </a:rPr>
              <a:t>pPR</a:t>
            </a:r>
            <a:r>
              <a:rPr lang="en-US" sz="1100" dirty="0">
                <a:solidFill>
                  <a:srgbClr val="C0504D"/>
                </a:solidFill>
              </a:rPr>
              <a:t>-&gt;species</a:t>
            </a:r>
            <a:r>
              <a:rPr lang="en-US" sz="1100" dirty="0"/>
              <a:t>.</a:t>
            </a:r>
          </a:p>
          <a:p>
            <a:pPr lvl="1"/>
            <a:endParaRPr lang="en-US" sz="1100" dirty="0"/>
          </a:p>
          <a:p>
            <a:r>
              <a:rPr lang="en-US" sz="1100" dirty="0"/>
              <a:t>This changed drastically when I added </a:t>
            </a:r>
            <a:r>
              <a:rPr lang="en-US" sz="1100" dirty="0" err="1"/>
              <a:t>read_allometry.c</a:t>
            </a:r>
            <a:r>
              <a:rPr lang="en-US" sz="1100" dirty="0"/>
              <a:t>/h  --rev 2</a:t>
            </a:r>
          </a:p>
        </p:txBody>
      </p:sp>
      <p:sp>
        <p:nvSpPr>
          <p:cNvPr id="4" name="Date Placeholder 3">
            <a:extLst>
              <a:ext uri="{FF2B5EF4-FFF2-40B4-BE49-F238E27FC236}">
                <a16:creationId xmlns:a16="http://schemas.microsoft.com/office/drawing/2014/main" id="{B9456C41-F173-F55C-2FD3-DDA87A2EDE99}"/>
              </a:ext>
            </a:extLst>
          </p:cNvPr>
          <p:cNvSpPr>
            <a:spLocks noGrp="1"/>
          </p:cNvSpPr>
          <p:nvPr>
            <p:ph type="dt" sz="half" idx="10"/>
          </p:nvPr>
        </p:nvSpPr>
        <p:spPr/>
        <p:txBody>
          <a:bodyPr/>
          <a:lstStyle/>
          <a:p>
            <a:fld id="{62CF7C47-B94A-C043-BF89-1C001E26D395}" type="datetime1">
              <a:rPr lang="en-US" smtClean="0"/>
              <a:t>3/25/26</a:t>
            </a:fld>
            <a:endParaRPr lang="en-US"/>
          </a:p>
        </p:txBody>
      </p:sp>
      <p:sp>
        <p:nvSpPr>
          <p:cNvPr id="5" name="Footer Placeholder 4">
            <a:extLst>
              <a:ext uri="{FF2B5EF4-FFF2-40B4-BE49-F238E27FC236}">
                <a16:creationId xmlns:a16="http://schemas.microsoft.com/office/drawing/2014/main" id="{ECA4E172-2CA3-35AD-4B72-0CD9E437423B}"/>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D74681ED-C361-665F-A959-11952F80651E}"/>
              </a:ext>
            </a:extLst>
          </p:cNvPr>
          <p:cNvSpPr>
            <a:spLocks noGrp="1"/>
          </p:cNvSpPr>
          <p:nvPr>
            <p:ph type="sldNum" sz="quarter" idx="12"/>
          </p:nvPr>
        </p:nvSpPr>
        <p:spPr/>
        <p:txBody>
          <a:bodyPr/>
          <a:lstStyle/>
          <a:p>
            <a:fld id="{B4CE5C4C-399A-B444-9B2A-945D2610250E}" type="slidenum">
              <a:rPr lang="en-US" smtClean="0"/>
              <a:t>21</a:t>
            </a:fld>
            <a:endParaRPr lang="en-US"/>
          </a:p>
        </p:txBody>
      </p:sp>
    </p:spTree>
    <p:extLst>
      <p:ext uri="{BB962C8B-B14F-4D97-AF65-F5344CB8AC3E}">
        <p14:creationId xmlns:p14="http://schemas.microsoft.com/office/powerpoint/2010/main" val="2045870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Species –rev 2	</a:t>
            </a:r>
          </a:p>
        </p:txBody>
      </p:sp>
      <p:sp>
        <p:nvSpPr>
          <p:cNvPr id="3" name="Content Placeholder 2"/>
          <p:cNvSpPr>
            <a:spLocks noGrp="1"/>
          </p:cNvSpPr>
          <p:nvPr>
            <p:ph idx="1"/>
          </p:nvPr>
        </p:nvSpPr>
        <p:spPr>
          <a:xfrm>
            <a:off x="457200" y="1166018"/>
            <a:ext cx="8229600" cy="4525963"/>
          </a:xfrm>
        </p:spPr>
        <p:txBody>
          <a:bodyPr>
            <a:noAutofit/>
          </a:bodyPr>
          <a:lstStyle/>
          <a:p>
            <a:r>
              <a:rPr lang="en-US" sz="1800" dirty="0"/>
              <a:t>Originally all tree species were based on </a:t>
            </a:r>
            <a:r>
              <a:rPr lang="en-US" sz="1800" dirty="0" err="1"/>
              <a:t>pPR</a:t>
            </a:r>
            <a:r>
              <a:rPr lang="en-US" sz="1800" dirty="0"/>
              <a:t>-&gt;species</a:t>
            </a:r>
          </a:p>
          <a:p>
            <a:pPr lvl="1"/>
            <a:r>
              <a:rPr lang="en-US" sz="1800" dirty="0"/>
              <a:t>0		HEDGE</a:t>
            </a:r>
          </a:p>
          <a:p>
            <a:pPr lvl="1"/>
            <a:r>
              <a:rPr lang="en-US" sz="1800" dirty="0"/>
              <a:t>1		PINE001 		Pine with spherical live crown</a:t>
            </a:r>
          </a:p>
          <a:p>
            <a:pPr lvl="1"/>
            <a:r>
              <a:rPr lang="en-US" sz="1800" dirty="0"/>
              <a:t>2		PINE002 		Pine with conical live crown</a:t>
            </a:r>
          </a:p>
          <a:p>
            <a:pPr lvl="1"/>
            <a:r>
              <a:rPr lang="en-US" sz="1800" dirty="0"/>
              <a:t>3		PINE003		Pine with either spherical or conical live crown</a:t>
            </a:r>
          </a:p>
          <a:p>
            <a:pPr lvl="1"/>
            <a:r>
              <a:rPr lang="en-US" sz="1800" dirty="0"/>
              <a:t>4 	DECIDUOUS001 	Deciduous with spherical crown</a:t>
            </a:r>
            <a:br>
              <a:rPr lang="en-US" sz="1800" dirty="0"/>
            </a:br>
            <a:endParaRPr lang="en-US" sz="1800" dirty="0"/>
          </a:p>
          <a:p>
            <a:r>
              <a:rPr lang="en-US" sz="1800" dirty="0"/>
              <a:t>Rev 1. Added </a:t>
            </a:r>
            <a:r>
              <a:rPr lang="en-US" sz="1800" dirty="0" err="1"/>
              <a:t>TreeLoc.species</a:t>
            </a:r>
            <a:r>
              <a:rPr lang="en-US" sz="1800" dirty="0"/>
              <a:t> to allow input of tree species to each tree, and changed all </a:t>
            </a:r>
            <a:r>
              <a:rPr lang="en-US" sz="1800" dirty="0" err="1"/>
              <a:t>pPR</a:t>
            </a:r>
            <a:r>
              <a:rPr lang="en-US" sz="1800" dirty="0"/>
              <a:t>-&gt;species codes to </a:t>
            </a:r>
            <a:r>
              <a:rPr lang="en-US" sz="1800" dirty="0" err="1"/>
              <a:t>pT</a:t>
            </a:r>
            <a:r>
              <a:rPr lang="en-US" sz="1800" dirty="0"/>
              <a:t>-&gt;species codes (see previous slide)</a:t>
            </a:r>
          </a:p>
          <a:p>
            <a:r>
              <a:rPr lang="en-US" sz="1800" dirty="0"/>
              <a:t>In this revision, the </a:t>
            </a:r>
            <a:r>
              <a:rPr lang="en-US" sz="1800" dirty="0" err="1"/>
              <a:t>TreeLoc.species</a:t>
            </a:r>
            <a:r>
              <a:rPr lang="en-US" sz="1800" dirty="0"/>
              <a:t> code is now filled in with the index (</a:t>
            </a:r>
            <a:r>
              <a:rPr lang="en-US" sz="1800" dirty="0" err="1"/>
              <a:t>ispecies</a:t>
            </a:r>
            <a:r>
              <a:rPr lang="en-US" sz="1800" dirty="0"/>
              <a:t>) to </a:t>
            </a:r>
            <a:r>
              <a:rPr lang="en-US" sz="1800" dirty="0" err="1"/>
              <a:t>SpeciesDataBase</a:t>
            </a:r>
            <a:r>
              <a:rPr lang="en-US" sz="1800" dirty="0"/>
              <a:t> where the </a:t>
            </a:r>
            <a:r>
              <a:rPr lang="en-US" sz="1800" dirty="0" err="1"/>
              <a:t>SpeciesDataBase</a:t>
            </a:r>
            <a:r>
              <a:rPr lang="en-US" sz="1800" dirty="0"/>
              <a:t>[</a:t>
            </a:r>
            <a:r>
              <a:rPr lang="en-US" sz="1800" dirty="0" err="1"/>
              <a:t>ispecies</a:t>
            </a:r>
            <a:r>
              <a:rPr lang="en-US" sz="1800" dirty="0"/>
              <a:t>].</a:t>
            </a:r>
            <a:r>
              <a:rPr lang="en-US" sz="1800" dirty="0" err="1"/>
              <a:t>species_name</a:t>
            </a:r>
            <a:r>
              <a:rPr lang="en-US" sz="1800" dirty="0"/>
              <a:t> and species name specified in the forest XML file match. </a:t>
            </a:r>
          </a:p>
          <a:p>
            <a:r>
              <a:rPr lang="en-US" sz="1800" dirty="0"/>
              <a:t>This allows expansion of species beyond the hard-coded 5.</a:t>
            </a:r>
          </a:p>
        </p:txBody>
      </p:sp>
      <p:sp>
        <p:nvSpPr>
          <p:cNvPr id="4" name="Date Placeholder 3">
            <a:extLst>
              <a:ext uri="{FF2B5EF4-FFF2-40B4-BE49-F238E27FC236}">
                <a16:creationId xmlns:a16="http://schemas.microsoft.com/office/drawing/2014/main" id="{4169D456-C224-C6F3-7EB7-739D41F0B938}"/>
              </a:ext>
            </a:extLst>
          </p:cNvPr>
          <p:cNvSpPr>
            <a:spLocks noGrp="1"/>
          </p:cNvSpPr>
          <p:nvPr>
            <p:ph type="dt" sz="half" idx="10"/>
          </p:nvPr>
        </p:nvSpPr>
        <p:spPr/>
        <p:txBody>
          <a:bodyPr/>
          <a:lstStyle/>
          <a:p>
            <a:fld id="{B0FD87EE-C45F-F248-A15E-8B48A6D53045}" type="datetime1">
              <a:rPr lang="en-US" smtClean="0"/>
              <a:t>3/25/26</a:t>
            </a:fld>
            <a:endParaRPr lang="en-US"/>
          </a:p>
        </p:txBody>
      </p:sp>
      <p:sp>
        <p:nvSpPr>
          <p:cNvPr id="5" name="Footer Placeholder 4">
            <a:extLst>
              <a:ext uri="{FF2B5EF4-FFF2-40B4-BE49-F238E27FC236}">
                <a16:creationId xmlns:a16="http://schemas.microsoft.com/office/drawing/2014/main" id="{5D56EEFA-378A-6454-49B8-3FBD385EAB3E}"/>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7DA9C51B-5D12-1134-8D99-63E98A4B0095}"/>
              </a:ext>
            </a:extLst>
          </p:cNvPr>
          <p:cNvSpPr>
            <a:spLocks noGrp="1"/>
          </p:cNvSpPr>
          <p:nvPr>
            <p:ph type="sldNum" sz="quarter" idx="12"/>
          </p:nvPr>
        </p:nvSpPr>
        <p:spPr/>
        <p:txBody>
          <a:bodyPr/>
          <a:lstStyle/>
          <a:p>
            <a:fld id="{B4CE5C4C-399A-B444-9B2A-945D2610250E}" type="slidenum">
              <a:rPr lang="en-US" smtClean="0"/>
              <a:t>22</a:t>
            </a:fld>
            <a:endParaRPr lang="en-US"/>
          </a:p>
        </p:txBody>
      </p:sp>
    </p:spTree>
    <p:extLst>
      <p:ext uri="{BB962C8B-B14F-4D97-AF65-F5344CB8AC3E}">
        <p14:creationId xmlns:p14="http://schemas.microsoft.com/office/powerpoint/2010/main" val="2833189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Realizations</a:t>
            </a:r>
          </a:p>
        </p:txBody>
      </p:sp>
      <p:sp>
        <p:nvSpPr>
          <p:cNvPr id="3" name="Content Placeholder 2"/>
          <p:cNvSpPr>
            <a:spLocks noGrp="1"/>
          </p:cNvSpPr>
          <p:nvPr>
            <p:ph idx="1"/>
          </p:nvPr>
        </p:nvSpPr>
        <p:spPr/>
        <p:txBody>
          <a:bodyPr/>
          <a:lstStyle/>
          <a:p>
            <a:r>
              <a:rPr lang="en-US" sz="2400" dirty="0"/>
              <a:t>Have to edit all Realization functions to eliminate all switch/if statements on </a:t>
            </a:r>
            <a:r>
              <a:rPr lang="en-US" sz="2400" dirty="0" err="1"/>
              <a:t>pT</a:t>
            </a:r>
            <a:r>
              <a:rPr lang="en-US" sz="2400" dirty="0"/>
              <a:t>-&gt;species. </a:t>
            </a:r>
          </a:p>
          <a:p>
            <a:r>
              <a:rPr lang="en-US" sz="2400" dirty="0"/>
              <a:t>Instead have them use species database</a:t>
            </a:r>
          </a:p>
          <a:p>
            <a:pPr lvl="1"/>
            <a:r>
              <a:rPr lang="en-US" sz="2400" dirty="0" err="1"/>
              <a:t>pT</a:t>
            </a:r>
            <a:r>
              <a:rPr lang="en-US" sz="2400" dirty="0"/>
              <a:t>-&gt;</a:t>
            </a:r>
            <a:r>
              <a:rPr lang="en-US" sz="2400" dirty="0" err="1"/>
              <a:t>SpeciesDatabase</a:t>
            </a:r>
            <a:r>
              <a:rPr lang="en-US" sz="2400" dirty="0"/>
              <a:t>[</a:t>
            </a:r>
            <a:r>
              <a:rPr lang="en-US" sz="2400" dirty="0" err="1"/>
              <a:t>pT</a:t>
            </a:r>
            <a:r>
              <a:rPr lang="en-US" sz="2400" dirty="0"/>
              <a:t>-&gt;species].property</a:t>
            </a:r>
          </a:p>
          <a:p>
            <a:r>
              <a:rPr lang="en-US" sz="2400" dirty="0"/>
              <a:t>Also change all functions in </a:t>
            </a:r>
            <a:r>
              <a:rPr lang="en-US" sz="2400" dirty="0" err="1"/>
              <a:t>Allometry.c</a:t>
            </a:r>
            <a:r>
              <a:rPr lang="en-US" sz="2400" dirty="0"/>
              <a:t> and constants in </a:t>
            </a:r>
            <a:r>
              <a:rPr lang="en-US" sz="2400" dirty="0" err="1"/>
              <a:t>Allometry.h</a:t>
            </a:r>
            <a:r>
              <a:rPr lang="en-US" sz="2400" dirty="0"/>
              <a:t> to be input from the species database file</a:t>
            </a:r>
          </a:p>
        </p:txBody>
      </p:sp>
      <p:sp>
        <p:nvSpPr>
          <p:cNvPr id="4" name="Date Placeholder 3">
            <a:extLst>
              <a:ext uri="{FF2B5EF4-FFF2-40B4-BE49-F238E27FC236}">
                <a16:creationId xmlns:a16="http://schemas.microsoft.com/office/drawing/2014/main" id="{3B6F57CE-9E3A-CB45-4823-F7FC8126E4C8}"/>
              </a:ext>
            </a:extLst>
          </p:cNvPr>
          <p:cNvSpPr>
            <a:spLocks noGrp="1"/>
          </p:cNvSpPr>
          <p:nvPr>
            <p:ph type="dt" sz="half" idx="10"/>
          </p:nvPr>
        </p:nvSpPr>
        <p:spPr/>
        <p:txBody>
          <a:bodyPr/>
          <a:lstStyle/>
          <a:p>
            <a:fld id="{BFD7C05E-1A54-9949-895D-E183D833DEEB}" type="datetime1">
              <a:rPr lang="en-US" smtClean="0"/>
              <a:t>3/25/26</a:t>
            </a:fld>
            <a:endParaRPr lang="en-US"/>
          </a:p>
        </p:txBody>
      </p:sp>
      <p:sp>
        <p:nvSpPr>
          <p:cNvPr id="5" name="Footer Placeholder 4">
            <a:extLst>
              <a:ext uri="{FF2B5EF4-FFF2-40B4-BE49-F238E27FC236}">
                <a16:creationId xmlns:a16="http://schemas.microsoft.com/office/drawing/2014/main" id="{328D2A40-9636-6994-B63A-EB25BF960098}"/>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2D52BCA9-DF76-B116-CD7F-43E8132E66B5}"/>
              </a:ext>
            </a:extLst>
          </p:cNvPr>
          <p:cNvSpPr>
            <a:spLocks noGrp="1"/>
          </p:cNvSpPr>
          <p:nvPr>
            <p:ph type="sldNum" sz="quarter" idx="12"/>
          </p:nvPr>
        </p:nvSpPr>
        <p:spPr/>
        <p:txBody>
          <a:bodyPr/>
          <a:lstStyle/>
          <a:p>
            <a:fld id="{B4CE5C4C-399A-B444-9B2A-945D2610250E}" type="slidenum">
              <a:rPr lang="en-US" smtClean="0"/>
              <a:t>23</a:t>
            </a:fld>
            <a:endParaRPr lang="en-US"/>
          </a:p>
        </p:txBody>
      </p:sp>
    </p:spTree>
    <p:extLst>
      <p:ext uri="{BB962C8B-B14F-4D97-AF65-F5344CB8AC3E}">
        <p14:creationId xmlns:p14="http://schemas.microsoft.com/office/powerpoint/2010/main" val="3385784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Crown Realization</a:t>
            </a:r>
          </a:p>
        </p:txBody>
      </p:sp>
      <p:sp>
        <p:nvSpPr>
          <p:cNvPr id="3" name="Content Placeholder 2"/>
          <p:cNvSpPr>
            <a:spLocks noGrp="1"/>
          </p:cNvSpPr>
          <p:nvPr>
            <p:ph idx="1"/>
          </p:nvPr>
        </p:nvSpPr>
        <p:spPr/>
        <p:txBody>
          <a:bodyPr>
            <a:normAutofit/>
          </a:bodyPr>
          <a:lstStyle/>
          <a:p>
            <a:r>
              <a:rPr lang="en-US" sz="1600" dirty="0"/>
              <a:t>Originally, </a:t>
            </a:r>
            <a:r>
              <a:rPr lang="en-US" sz="1600" dirty="0" err="1"/>
              <a:t>Realise_Global_Crown</a:t>
            </a:r>
            <a:r>
              <a:rPr lang="en-US" sz="1600" dirty="0"/>
              <a:t>() either calls </a:t>
            </a:r>
            <a:r>
              <a:rPr lang="en-US" sz="1600" dirty="0" err="1"/>
              <a:t>Realise_HEDGE</a:t>
            </a:r>
            <a:r>
              <a:rPr lang="en-US" sz="1600" dirty="0"/>
              <a:t>/PINE00n/DECIDUOUS001_Global_Crown() based on </a:t>
            </a:r>
            <a:r>
              <a:rPr lang="en-US" sz="1600" dirty="0" err="1"/>
              <a:t>pPR</a:t>
            </a:r>
            <a:r>
              <a:rPr lang="en-US" sz="1600" dirty="0"/>
              <a:t>-&gt;species to create the five different canopy types.</a:t>
            </a:r>
          </a:p>
          <a:p>
            <a:r>
              <a:rPr lang="en-US" sz="1600" dirty="0"/>
              <a:t>Wrote </a:t>
            </a:r>
            <a:r>
              <a:rPr lang="en-US" sz="1600" dirty="0" err="1"/>
              <a:t>Realise_Crown</a:t>
            </a:r>
            <a:r>
              <a:rPr lang="en-US" sz="1600" dirty="0"/>
              <a:t>() function that creates a crown based on species specific properties (read from the species database file)</a:t>
            </a:r>
          </a:p>
          <a:p>
            <a:pPr lvl="1"/>
            <a:r>
              <a:rPr lang="en-US" sz="1600" dirty="0"/>
              <a:t>&lt;</a:t>
            </a:r>
            <a:r>
              <a:rPr lang="en-US" sz="1600" dirty="0" err="1"/>
              <a:t>livecrownshp</a:t>
            </a:r>
            <a:r>
              <a:rPr lang="en-US" sz="1600" dirty="0"/>
              <a:t>&gt;: shape of live crown (so far only have cylinder, cone, spheroid)</a:t>
            </a:r>
          </a:p>
          <a:p>
            <a:pPr lvl="1"/>
            <a:r>
              <a:rPr lang="en-US" sz="1600" dirty="0"/>
              <a:t>&lt;</a:t>
            </a:r>
            <a:r>
              <a:rPr lang="en-US" sz="1600" dirty="0" err="1"/>
              <a:t>drycrownshp</a:t>
            </a:r>
            <a:r>
              <a:rPr lang="en-US" sz="1600" dirty="0"/>
              <a:t>&gt;: shape of dry crown (limited to cylinder originally, can be any of the three now)</a:t>
            </a:r>
          </a:p>
          <a:p>
            <a:pPr lvl="1"/>
            <a:r>
              <a:rPr lang="en-US" sz="1600" dirty="0"/>
              <a:t>&lt;</a:t>
            </a:r>
            <a:r>
              <a:rPr lang="en-US" sz="1600" dirty="0" err="1"/>
              <a:t>lcdepthfactor</a:t>
            </a:r>
            <a:r>
              <a:rPr lang="en-US" sz="1600" dirty="0"/>
              <a:t>&gt;: Live crown depth factor, fraction of </a:t>
            </a:r>
            <a:r>
              <a:rPr lang="en-US" sz="1600" dirty="0" err="1"/>
              <a:t>pT</a:t>
            </a:r>
            <a:r>
              <a:rPr lang="en-US" sz="1600" dirty="0"/>
              <a:t>-&gt;</a:t>
            </a:r>
            <a:r>
              <a:rPr lang="en-US" sz="1600" dirty="0" err="1"/>
              <a:t>canopy_depth</a:t>
            </a:r>
            <a:r>
              <a:rPr lang="en-US" sz="1600" dirty="0"/>
              <a:t> at which the live crown radius is specified</a:t>
            </a:r>
          </a:p>
          <a:p>
            <a:pPr lvl="1"/>
            <a:r>
              <a:rPr lang="en-US" sz="1600" dirty="0"/>
              <a:t>&lt;</a:t>
            </a:r>
            <a:r>
              <a:rPr lang="en-US" sz="1600" dirty="0" err="1"/>
              <a:t>dcdepthfactor</a:t>
            </a:r>
            <a:r>
              <a:rPr lang="en-US" sz="1600" dirty="0"/>
              <a:t>&gt;: Dry crown depth factor, fraction of </a:t>
            </a:r>
            <a:r>
              <a:rPr lang="en-US" sz="1600" dirty="0" err="1"/>
              <a:t>pT</a:t>
            </a:r>
            <a:r>
              <a:rPr lang="en-US" sz="1600" dirty="0"/>
              <a:t>-&gt;</a:t>
            </a:r>
            <a:r>
              <a:rPr lang="en-US" sz="1600" dirty="0" err="1"/>
              <a:t>dry_depth</a:t>
            </a:r>
            <a:r>
              <a:rPr lang="en-US" sz="1600" dirty="0"/>
              <a:t> at which the crown radius is specified (maybe this will include dry crown radius as well)</a:t>
            </a:r>
          </a:p>
          <a:p>
            <a:pPr lvl="1"/>
            <a:r>
              <a:rPr lang="en-US" sz="1600" dirty="0"/>
              <a:t>&lt;</a:t>
            </a:r>
            <a:r>
              <a:rPr lang="en-US" sz="1600" dirty="0" err="1"/>
              <a:t>stem_maxangle</a:t>
            </a:r>
            <a:r>
              <a:rPr lang="en-US" sz="1600" dirty="0"/>
              <a:t>&gt;: Stem angle: the maximum angle for the stem axis (as measured from nadir)</a:t>
            </a:r>
          </a:p>
          <a:p>
            <a:r>
              <a:rPr lang="en-US" sz="1600" dirty="0"/>
              <a:t>The dry or live crown is added to </a:t>
            </a:r>
            <a:r>
              <a:rPr lang="en-US" sz="1600" dirty="0" err="1"/>
              <a:t>pT</a:t>
            </a:r>
            <a:r>
              <a:rPr lang="en-US" sz="1600" dirty="0"/>
              <a:t>-&gt;</a:t>
            </a:r>
            <a:r>
              <a:rPr lang="en-US" sz="1600" dirty="0" err="1"/>
              <a:t>crown_list</a:t>
            </a:r>
            <a:r>
              <a:rPr lang="en-US" sz="1600" dirty="0"/>
              <a:t> only if the shape is not CROWN_NULL_SHAPE.</a:t>
            </a:r>
          </a:p>
        </p:txBody>
      </p:sp>
      <p:sp>
        <p:nvSpPr>
          <p:cNvPr id="4" name="Date Placeholder 3">
            <a:extLst>
              <a:ext uri="{FF2B5EF4-FFF2-40B4-BE49-F238E27FC236}">
                <a16:creationId xmlns:a16="http://schemas.microsoft.com/office/drawing/2014/main" id="{2D880ABA-53FC-04FD-92B0-5072119E4D02}"/>
              </a:ext>
            </a:extLst>
          </p:cNvPr>
          <p:cNvSpPr>
            <a:spLocks noGrp="1"/>
          </p:cNvSpPr>
          <p:nvPr>
            <p:ph type="dt" sz="half" idx="10"/>
          </p:nvPr>
        </p:nvSpPr>
        <p:spPr/>
        <p:txBody>
          <a:bodyPr/>
          <a:lstStyle/>
          <a:p>
            <a:fld id="{61224299-FC2C-FD45-9F34-ED48BB22BA93}" type="datetime1">
              <a:rPr lang="en-US" smtClean="0"/>
              <a:t>3/25/26</a:t>
            </a:fld>
            <a:endParaRPr lang="en-US"/>
          </a:p>
        </p:txBody>
      </p:sp>
      <p:sp>
        <p:nvSpPr>
          <p:cNvPr id="5" name="Footer Placeholder 4">
            <a:extLst>
              <a:ext uri="{FF2B5EF4-FFF2-40B4-BE49-F238E27FC236}">
                <a16:creationId xmlns:a16="http://schemas.microsoft.com/office/drawing/2014/main" id="{42F02A7B-FF1F-3559-E094-CE477FA2A941}"/>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4990079F-8772-273B-2A1D-148C62868EB2}"/>
              </a:ext>
            </a:extLst>
          </p:cNvPr>
          <p:cNvSpPr>
            <a:spLocks noGrp="1"/>
          </p:cNvSpPr>
          <p:nvPr>
            <p:ph type="sldNum" sz="quarter" idx="12"/>
          </p:nvPr>
        </p:nvSpPr>
        <p:spPr/>
        <p:txBody>
          <a:bodyPr/>
          <a:lstStyle/>
          <a:p>
            <a:fld id="{B4CE5C4C-399A-B444-9B2A-945D2610250E}" type="slidenum">
              <a:rPr lang="en-US" smtClean="0"/>
              <a:t>24</a:t>
            </a:fld>
            <a:endParaRPr lang="en-US"/>
          </a:p>
        </p:txBody>
      </p:sp>
    </p:spTree>
    <p:extLst>
      <p:ext uri="{BB962C8B-B14F-4D97-AF65-F5344CB8AC3E}">
        <p14:creationId xmlns:p14="http://schemas.microsoft.com/office/powerpoint/2010/main" val="3396498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 Realization</a:t>
            </a:r>
          </a:p>
        </p:txBody>
      </p:sp>
      <p:sp>
        <p:nvSpPr>
          <p:cNvPr id="3" name="Content Placeholder 2"/>
          <p:cNvSpPr>
            <a:spLocks noGrp="1"/>
          </p:cNvSpPr>
          <p:nvPr>
            <p:ph idx="1"/>
          </p:nvPr>
        </p:nvSpPr>
        <p:spPr/>
        <p:txBody>
          <a:bodyPr>
            <a:normAutofit fontScale="32500" lnSpcReduction="20000"/>
          </a:bodyPr>
          <a:lstStyle/>
          <a:p>
            <a:r>
              <a:rPr lang="en-US" sz="5500" dirty="0"/>
              <a:t>Originally </a:t>
            </a:r>
            <a:r>
              <a:rPr lang="en-US" sz="5500" dirty="0" err="1"/>
              <a:t>Realise_Stem</a:t>
            </a:r>
            <a:r>
              <a:rPr lang="en-US" sz="5500" dirty="0"/>
              <a:t>() called by </a:t>
            </a:r>
            <a:r>
              <a:rPr lang="en-US" sz="5500" dirty="0" err="1"/>
              <a:t>Realise_Tree</a:t>
            </a:r>
            <a:r>
              <a:rPr lang="en-US" sz="5500" dirty="0"/>
              <a:t>() used functions such as </a:t>
            </a:r>
            <a:r>
              <a:rPr lang="en-US" sz="5500" dirty="0" err="1"/>
              <a:t>Stem_Start_Radius</a:t>
            </a:r>
            <a:r>
              <a:rPr lang="en-US" sz="5500" dirty="0"/>
              <a:t>(); </a:t>
            </a:r>
            <a:r>
              <a:rPr lang="en-US" sz="5500" dirty="0" err="1"/>
              <a:t>Stem_Moisture</a:t>
            </a:r>
            <a:r>
              <a:rPr lang="en-US" sz="5500" dirty="0"/>
              <a:t>(); using </a:t>
            </a:r>
            <a:r>
              <a:rPr lang="en-US" sz="5500" dirty="0" err="1"/>
              <a:t>pT</a:t>
            </a:r>
            <a:r>
              <a:rPr lang="en-US" sz="5500" dirty="0"/>
              <a:t>-&gt;species as an argument. In those functions the five species were hardcoded via definitions or switch statements.</a:t>
            </a:r>
          </a:p>
          <a:p>
            <a:r>
              <a:rPr lang="en-US" sz="5500" dirty="0"/>
              <a:t>Added these fields to the XML database file and added their reading to the </a:t>
            </a:r>
            <a:r>
              <a:rPr lang="en-US" sz="5500" dirty="0" err="1"/>
              <a:t>SpeciesDatabase</a:t>
            </a:r>
            <a:r>
              <a:rPr lang="en-US" sz="5500" dirty="0"/>
              <a:t> and </a:t>
            </a:r>
            <a:r>
              <a:rPr lang="en-US" sz="5500" dirty="0" err="1"/>
              <a:t>CategoryDataBase</a:t>
            </a:r>
            <a:r>
              <a:rPr lang="en-US" sz="5500" dirty="0"/>
              <a:t> structures, to make the stem description generic</a:t>
            </a:r>
          </a:p>
          <a:p>
            <a:endParaRPr lang="en-US" dirty="0"/>
          </a:p>
          <a:p>
            <a:endParaRPr lang="en-US" sz="3100" dirty="0"/>
          </a:p>
          <a:p>
            <a:pPr lvl="1"/>
            <a:r>
              <a:rPr lang="en-US" sz="3100" dirty="0" err="1">
                <a:latin typeface="Monaco"/>
                <a:cs typeface="Monaco"/>
              </a:rPr>
              <a:t>stem_max_angle</a:t>
            </a:r>
            <a:r>
              <a:rPr lang="en-US" sz="3100" dirty="0">
                <a:latin typeface="Monaco"/>
                <a:cs typeface="Monaco"/>
              </a:rPr>
              <a:t>;         /* maximum stem angle (from vertical) in degrees               */</a:t>
            </a:r>
          </a:p>
          <a:p>
            <a:pPr lvl="1"/>
            <a:r>
              <a:rPr lang="en-US" sz="3100" dirty="0" err="1">
                <a:latin typeface="Monaco"/>
                <a:cs typeface="Monaco"/>
              </a:rPr>
              <a:t>stem_end_radius_factor</a:t>
            </a:r>
            <a:r>
              <a:rPr lang="en-US" sz="3100" dirty="0">
                <a:latin typeface="Monaco"/>
                <a:cs typeface="Monaco"/>
              </a:rPr>
              <a:t>; /* determines end radius of tree stem as a function of height  */</a:t>
            </a:r>
          </a:p>
          <a:p>
            <a:pPr lvl="1"/>
            <a:r>
              <a:rPr lang="en-US" sz="3100" dirty="0" err="1">
                <a:latin typeface="Monaco"/>
                <a:cs typeface="Monaco"/>
              </a:rPr>
              <a:t>stem_tropism_factor</a:t>
            </a:r>
            <a:r>
              <a:rPr lang="en-US" sz="3100" dirty="0">
                <a:latin typeface="Monaco"/>
                <a:cs typeface="Monaco"/>
              </a:rPr>
              <a:t>;    /* determines the stem tropism                                 */</a:t>
            </a:r>
          </a:p>
          <a:p>
            <a:pPr lvl="1"/>
            <a:r>
              <a:rPr lang="en-US" sz="3100" dirty="0" err="1">
                <a:latin typeface="Monaco"/>
                <a:cs typeface="Monaco"/>
              </a:rPr>
              <a:t>stem_lamdacx_stdev</a:t>
            </a:r>
            <a:r>
              <a:rPr lang="en-US" sz="3100" dirty="0">
                <a:latin typeface="Monaco"/>
                <a:cs typeface="Monaco"/>
              </a:rPr>
              <a:t>;     /* </a:t>
            </a:r>
            <a:r>
              <a:rPr lang="en-US" sz="3100" dirty="0" err="1">
                <a:latin typeface="Monaco"/>
                <a:cs typeface="Monaco"/>
              </a:rPr>
              <a:t>stdev</a:t>
            </a:r>
            <a:r>
              <a:rPr lang="en-US" sz="3100" dirty="0">
                <a:latin typeface="Monaco"/>
                <a:cs typeface="Monaco"/>
              </a:rPr>
              <a:t> of curvature wavelength in x-direction                */</a:t>
            </a:r>
          </a:p>
          <a:p>
            <a:pPr lvl="1"/>
            <a:r>
              <a:rPr lang="en-US" sz="3100" dirty="0" err="1">
                <a:latin typeface="Monaco"/>
                <a:cs typeface="Monaco"/>
              </a:rPr>
              <a:t>stem_lamdacx_mean</a:t>
            </a:r>
            <a:r>
              <a:rPr lang="en-US" sz="3100" dirty="0">
                <a:latin typeface="Monaco"/>
                <a:cs typeface="Monaco"/>
              </a:rPr>
              <a:t>;      /* mean of curvature wavelength in x-direction                 */</a:t>
            </a:r>
          </a:p>
          <a:p>
            <a:pPr lvl="1"/>
            <a:r>
              <a:rPr lang="en-US" sz="3100" dirty="0" err="1">
                <a:latin typeface="Monaco"/>
                <a:cs typeface="Monaco"/>
              </a:rPr>
              <a:t>stem_lamdacy_stdev</a:t>
            </a:r>
            <a:r>
              <a:rPr lang="en-US" sz="3100" dirty="0">
                <a:latin typeface="Monaco"/>
                <a:cs typeface="Monaco"/>
              </a:rPr>
              <a:t>;     /* </a:t>
            </a:r>
            <a:r>
              <a:rPr lang="en-US" sz="3100" dirty="0" err="1">
                <a:latin typeface="Monaco"/>
                <a:cs typeface="Monaco"/>
              </a:rPr>
              <a:t>stdev</a:t>
            </a:r>
            <a:r>
              <a:rPr lang="en-US" sz="3100" dirty="0">
                <a:latin typeface="Monaco"/>
                <a:cs typeface="Monaco"/>
              </a:rPr>
              <a:t> of curvature wavelength in y-direction                */</a:t>
            </a:r>
          </a:p>
          <a:p>
            <a:pPr lvl="1"/>
            <a:r>
              <a:rPr lang="en-US" sz="3100" dirty="0" err="1">
                <a:latin typeface="Monaco"/>
                <a:cs typeface="Monaco"/>
              </a:rPr>
              <a:t>stem_lamdacy_mean</a:t>
            </a:r>
            <a:r>
              <a:rPr lang="en-US" sz="3100" dirty="0">
                <a:latin typeface="Monaco"/>
                <a:cs typeface="Monaco"/>
              </a:rPr>
              <a:t>;      /* mean of curvature wavelength in y-direction                 */</a:t>
            </a:r>
          </a:p>
          <a:p>
            <a:pPr lvl="1"/>
            <a:r>
              <a:rPr lang="en-US" sz="3100" dirty="0" err="1">
                <a:latin typeface="Monaco"/>
                <a:cs typeface="Monaco"/>
              </a:rPr>
              <a:t>stem_gamma_stdev</a:t>
            </a:r>
            <a:r>
              <a:rPr lang="en-US" sz="3100" dirty="0">
                <a:latin typeface="Monaco"/>
                <a:cs typeface="Monaco"/>
              </a:rPr>
              <a:t>;       /* </a:t>
            </a:r>
            <a:r>
              <a:rPr lang="en-US" sz="3100" dirty="0" err="1">
                <a:latin typeface="Monaco"/>
                <a:cs typeface="Monaco"/>
              </a:rPr>
              <a:t>stdev</a:t>
            </a:r>
            <a:r>
              <a:rPr lang="en-US" sz="3100" dirty="0">
                <a:latin typeface="Monaco"/>
                <a:cs typeface="Monaco"/>
              </a:rPr>
              <a:t> of curvature scale-factor                             */</a:t>
            </a:r>
          </a:p>
          <a:p>
            <a:pPr lvl="1"/>
            <a:r>
              <a:rPr lang="en-US" sz="3100" dirty="0" err="1">
                <a:latin typeface="Monaco"/>
                <a:cs typeface="Monaco"/>
              </a:rPr>
              <a:t>stem_gamma_mean</a:t>
            </a:r>
            <a:r>
              <a:rPr lang="en-US" sz="3100" dirty="0">
                <a:latin typeface="Monaco"/>
                <a:cs typeface="Monaco"/>
              </a:rPr>
              <a:t>;        /* mean of curvature scale-factor                              */</a:t>
            </a:r>
          </a:p>
          <a:p>
            <a:pPr lvl="1"/>
            <a:r>
              <a:rPr lang="en-US" sz="3100" dirty="0" err="1">
                <a:latin typeface="Monaco"/>
                <a:cs typeface="Monaco"/>
              </a:rPr>
              <a:t>stem_moisture</a:t>
            </a:r>
            <a:r>
              <a:rPr lang="en-US" sz="3100" dirty="0">
                <a:latin typeface="Monaco"/>
                <a:cs typeface="Monaco"/>
              </a:rPr>
              <a:t>;          /* fractional moisture of stem                                 */</a:t>
            </a:r>
          </a:p>
          <a:p>
            <a:pPr lvl="1"/>
            <a:r>
              <a:rPr lang="en-US" sz="3100" dirty="0" err="1">
                <a:latin typeface="Monaco"/>
                <a:cs typeface="Monaco"/>
              </a:rPr>
              <a:t>stem_tropism_theta</a:t>
            </a:r>
            <a:r>
              <a:rPr lang="en-US" sz="3100" dirty="0">
                <a:latin typeface="Monaco"/>
                <a:cs typeface="Monaco"/>
              </a:rPr>
              <a:t>;     /* polar angle (theta) of the stem tropism direction           */</a:t>
            </a:r>
          </a:p>
          <a:p>
            <a:pPr lvl="1"/>
            <a:r>
              <a:rPr lang="en-US" sz="3100" dirty="0" err="1">
                <a:latin typeface="Monaco"/>
                <a:cs typeface="Monaco"/>
              </a:rPr>
              <a:t>stem_tropism_phi</a:t>
            </a:r>
            <a:r>
              <a:rPr lang="en-US" sz="3100" dirty="0">
                <a:latin typeface="Monaco"/>
                <a:cs typeface="Monaco"/>
              </a:rPr>
              <a:t>;       /* azimuthal angle (phi) of the stem tropism direction         */</a:t>
            </a:r>
          </a:p>
          <a:p>
            <a:pPr marL="457200" lvl="1" indent="0">
              <a:buNone/>
            </a:pPr>
            <a:endParaRPr lang="en-US" dirty="0"/>
          </a:p>
        </p:txBody>
      </p:sp>
      <p:sp>
        <p:nvSpPr>
          <p:cNvPr id="4" name="Date Placeholder 3">
            <a:extLst>
              <a:ext uri="{FF2B5EF4-FFF2-40B4-BE49-F238E27FC236}">
                <a16:creationId xmlns:a16="http://schemas.microsoft.com/office/drawing/2014/main" id="{FA2B461C-8865-E39A-1FDD-FFF454673A49}"/>
              </a:ext>
            </a:extLst>
          </p:cNvPr>
          <p:cNvSpPr>
            <a:spLocks noGrp="1"/>
          </p:cNvSpPr>
          <p:nvPr>
            <p:ph type="dt" sz="half" idx="10"/>
          </p:nvPr>
        </p:nvSpPr>
        <p:spPr/>
        <p:txBody>
          <a:bodyPr/>
          <a:lstStyle/>
          <a:p>
            <a:fld id="{97395102-5DA5-064B-8ACC-8CFFAB0FDCF0}" type="datetime1">
              <a:rPr lang="en-US" smtClean="0"/>
              <a:t>3/25/26</a:t>
            </a:fld>
            <a:endParaRPr lang="en-US"/>
          </a:p>
        </p:txBody>
      </p:sp>
      <p:sp>
        <p:nvSpPr>
          <p:cNvPr id="5" name="Footer Placeholder 4">
            <a:extLst>
              <a:ext uri="{FF2B5EF4-FFF2-40B4-BE49-F238E27FC236}">
                <a16:creationId xmlns:a16="http://schemas.microsoft.com/office/drawing/2014/main" id="{47883FB0-EF09-F3BE-C4AF-019998D9C482}"/>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03C47FC7-5767-5CAA-516E-F8DBDD65F199}"/>
              </a:ext>
            </a:extLst>
          </p:cNvPr>
          <p:cNvSpPr>
            <a:spLocks noGrp="1"/>
          </p:cNvSpPr>
          <p:nvPr>
            <p:ph type="sldNum" sz="quarter" idx="12"/>
          </p:nvPr>
        </p:nvSpPr>
        <p:spPr/>
        <p:txBody>
          <a:bodyPr/>
          <a:lstStyle/>
          <a:p>
            <a:fld id="{B4CE5C4C-399A-B444-9B2A-945D2610250E}" type="slidenum">
              <a:rPr lang="en-US" smtClean="0"/>
              <a:t>25</a:t>
            </a:fld>
            <a:endParaRPr lang="en-US"/>
          </a:p>
        </p:txBody>
      </p:sp>
    </p:spTree>
    <p:extLst>
      <p:ext uri="{BB962C8B-B14F-4D97-AF65-F5344CB8AC3E}">
        <p14:creationId xmlns:p14="http://schemas.microsoft.com/office/powerpoint/2010/main" val="2354525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 angle</a:t>
            </a:r>
          </a:p>
        </p:txBody>
      </p:sp>
      <p:pic>
        <p:nvPicPr>
          <p:cNvPr id="4" name="Content Placeholder 3" descr="Screen Shot 2012-09-06 at 4.08.41 PM.png"/>
          <p:cNvPicPr>
            <a:picLocks noGrp="1" noChangeAspect="1"/>
          </p:cNvPicPr>
          <p:nvPr>
            <p:ph idx="1"/>
          </p:nvPr>
        </p:nvPicPr>
        <p:blipFill rotWithShape="1">
          <a:blip r:embed="rId2" cstate="print">
            <a:extLst>
              <a:ext uri="{28A0092B-C50C-407E-A947-70E740481C1C}">
                <a14:useLocalDpi xmlns:a14="http://schemas.microsoft.com/office/drawing/2010/main"/>
              </a:ext>
            </a:extLst>
          </a:blip>
          <a:srcRect/>
          <a:stretch/>
        </p:blipFill>
        <p:spPr>
          <a:xfrm>
            <a:off x="2037792" y="1703099"/>
            <a:ext cx="4843311" cy="3565131"/>
          </a:xfrm>
        </p:spPr>
      </p:pic>
      <p:graphicFrame>
        <p:nvGraphicFramePr>
          <p:cNvPr id="6" name="Table 5"/>
          <p:cNvGraphicFramePr>
            <a:graphicFrameLocks noGrp="1"/>
          </p:cNvGraphicFramePr>
          <p:nvPr/>
        </p:nvGraphicFramePr>
        <p:xfrm>
          <a:off x="2907803" y="5453277"/>
          <a:ext cx="3641566" cy="1112520"/>
        </p:xfrm>
        <a:graphic>
          <a:graphicData uri="http://schemas.openxmlformats.org/drawingml/2006/table">
            <a:tbl>
              <a:tblPr firstRow="1" bandRow="1">
                <a:tableStyleId>{5940675A-B579-460E-94D1-54222C63F5DA}</a:tableStyleId>
              </a:tblPr>
              <a:tblGrid>
                <a:gridCol w="1820783">
                  <a:extLst>
                    <a:ext uri="{9D8B030D-6E8A-4147-A177-3AD203B41FA5}">
                      <a16:colId xmlns:a16="http://schemas.microsoft.com/office/drawing/2014/main" val="20000"/>
                    </a:ext>
                  </a:extLst>
                </a:gridCol>
                <a:gridCol w="1820783">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max</a:t>
                      </a:r>
                      <a:r>
                        <a:rPr lang="en-US" baseline="0" dirty="0"/>
                        <a:t> polar angle</a:t>
                      </a:r>
                      <a:endParaRPr lang="en-US" dirty="0"/>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30</a:t>
                      </a:r>
                      <a:r>
                        <a:rPr lang="en-US" baseline="0" dirty="0"/>
                        <a:t> degrees</a:t>
                      </a:r>
                      <a:endParaRPr lang="en-US" dirty="0"/>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1 degree</a:t>
                      </a:r>
                    </a:p>
                  </a:txBody>
                  <a:tcPr/>
                </a:tc>
                <a:extLst>
                  <a:ext uri="{0D108BD9-81ED-4DB2-BD59-A6C34878D82A}">
                    <a16:rowId xmlns:a16="http://schemas.microsoft.com/office/drawing/2014/main" val="10002"/>
                  </a:ext>
                </a:extLst>
              </a:tr>
            </a:tbl>
          </a:graphicData>
        </a:graphic>
      </p:graphicFrame>
      <p:sp>
        <p:nvSpPr>
          <p:cNvPr id="3" name="Date Placeholder 2">
            <a:extLst>
              <a:ext uri="{FF2B5EF4-FFF2-40B4-BE49-F238E27FC236}">
                <a16:creationId xmlns:a16="http://schemas.microsoft.com/office/drawing/2014/main" id="{D656AB4B-D352-0F26-4F77-6E2E74159CE7}"/>
              </a:ext>
            </a:extLst>
          </p:cNvPr>
          <p:cNvSpPr>
            <a:spLocks noGrp="1"/>
          </p:cNvSpPr>
          <p:nvPr>
            <p:ph type="dt" sz="half" idx="10"/>
          </p:nvPr>
        </p:nvSpPr>
        <p:spPr/>
        <p:txBody>
          <a:bodyPr/>
          <a:lstStyle/>
          <a:p>
            <a:fld id="{D8EA3295-0EBA-834A-B613-8BB1A513848F}" type="datetime1">
              <a:rPr lang="en-US" smtClean="0"/>
              <a:t>3/25/26</a:t>
            </a:fld>
            <a:endParaRPr lang="en-US"/>
          </a:p>
        </p:txBody>
      </p:sp>
      <p:sp>
        <p:nvSpPr>
          <p:cNvPr id="5" name="Footer Placeholder 4">
            <a:extLst>
              <a:ext uri="{FF2B5EF4-FFF2-40B4-BE49-F238E27FC236}">
                <a16:creationId xmlns:a16="http://schemas.microsoft.com/office/drawing/2014/main" id="{E81B4167-6079-90DE-F11B-C7BE32AC6BD9}"/>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A636BAA2-692D-9174-C82D-8CCC2B16DF00}"/>
              </a:ext>
            </a:extLst>
          </p:cNvPr>
          <p:cNvSpPr>
            <a:spLocks noGrp="1"/>
          </p:cNvSpPr>
          <p:nvPr>
            <p:ph type="sldNum" sz="quarter" idx="12"/>
          </p:nvPr>
        </p:nvSpPr>
        <p:spPr/>
        <p:txBody>
          <a:bodyPr/>
          <a:lstStyle/>
          <a:p>
            <a:fld id="{B4CE5C4C-399A-B444-9B2A-945D2610250E}" type="slidenum">
              <a:rPr lang="en-US" smtClean="0"/>
              <a:t>26</a:t>
            </a:fld>
            <a:endParaRPr lang="en-US"/>
          </a:p>
        </p:txBody>
      </p:sp>
    </p:spTree>
    <p:extLst>
      <p:ext uri="{BB962C8B-B14F-4D97-AF65-F5344CB8AC3E}">
        <p14:creationId xmlns:p14="http://schemas.microsoft.com/office/powerpoint/2010/main" val="2183151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 tropism</a:t>
            </a:r>
          </a:p>
        </p:txBody>
      </p:sp>
      <p:pic>
        <p:nvPicPr>
          <p:cNvPr id="6" name="Content Placeholder 5" descr="Screen Shot 2012-09-06 at 4.29.37 PM.png"/>
          <p:cNvPicPr>
            <a:picLocks noGrp="1" noChangeAspect="1"/>
          </p:cNvPicPr>
          <p:nvPr>
            <p:ph idx="1"/>
          </p:nvPr>
        </p:nvPicPr>
        <p:blipFill rotWithShape="1">
          <a:blip r:embed="rId2" cstate="print">
            <a:extLst>
              <a:ext uri="{28A0092B-C50C-407E-A947-70E740481C1C}">
                <a14:useLocalDpi xmlns:a14="http://schemas.microsoft.com/office/drawing/2010/main"/>
              </a:ext>
            </a:extLst>
          </a:blip>
          <a:srcRect/>
          <a:stretch/>
        </p:blipFill>
        <p:spPr>
          <a:xfrm>
            <a:off x="2459325" y="1265802"/>
            <a:ext cx="4679912" cy="3336004"/>
          </a:xfrm>
        </p:spPr>
      </p:pic>
      <p:graphicFrame>
        <p:nvGraphicFramePr>
          <p:cNvPr id="8" name="Table 7"/>
          <p:cNvGraphicFramePr>
            <a:graphicFrameLocks noGrp="1"/>
          </p:cNvGraphicFramePr>
          <p:nvPr>
            <p:extLst>
              <p:ext uri="{D42A27DB-BD31-4B8C-83A1-F6EECF244321}">
                <p14:modId xmlns:p14="http://schemas.microsoft.com/office/powerpoint/2010/main" val="2816743869"/>
              </p:ext>
            </p:extLst>
          </p:nvPr>
        </p:nvGraphicFramePr>
        <p:xfrm>
          <a:off x="1741997" y="4977432"/>
          <a:ext cx="6437608" cy="1381760"/>
        </p:xfrm>
        <a:graphic>
          <a:graphicData uri="http://schemas.openxmlformats.org/drawingml/2006/table">
            <a:tbl>
              <a:tblPr firstRow="1" bandRow="1">
                <a:tableStyleId>{5940675A-B579-460E-94D1-54222C63F5DA}</a:tableStyleId>
              </a:tblPr>
              <a:tblGrid>
                <a:gridCol w="1609402">
                  <a:extLst>
                    <a:ext uri="{9D8B030D-6E8A-4147-A177-3AD203B41FA5}">
                      <a16:colId xmlns:a16="http://schemas.microsoft.com/office/drawing/2014/main" val="20000"/>
                    </a:ext>
                  </a:extLst>
                </a:gridCol>
                <a:gridCol w="1609402">
                  <a:extLst>
                    <a:ext uri="{9D8B030D-6E8A-4147-A177-3AD203B41FA5}">
                      <a16:colId xmlns:a16="http://schemas.microsoft.com/office/drawing/2014/main" val="20001"/>
                    </a:ext>
                  </a:extLst>
                </a:gridCol>
                <a:gridCol w="1609402">
                  <a:extLst>
                    <a:ext uri="{9D8B030D-6E8A-4147-A177-3AD203B41FA5}">
                      <a16:colId xmlns:a16="http://schemas.microsoft.com/office/drawing/2014/main" val="20002"/>
                    </a:ext>
                  </a:extLst>
                </a:gridCol>
                <a:gridCol w="1609402">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t>Tropism</a:t>
                      </a:r>
                      <a:r>
                        <a:rPr lang="en-US" baseline="0" dirty="0"/>
                        <a:t> theta</a:t>
                      </a:r>
                      <a:endParaRPr lang="en-US" dirty="0"/>
                    </a:p>
                  </a:txBody>
                  <a:tcPr/>
                </a:tc>
                <a:tc>
                  <a:txBody>
                    <a:bodyPr/>
                    <a:lstStyle/>
                    <a:p>
                      <a:r>
                        <a:rPr lang="en-US" dirty="0"/>
                        <a:t>Tropism phi</a:t>
                      </a:r>
                    </a:p>
                  </a:txBody>
                  <a:tcPr/>
                </a:tc>
                <a:tc>
                  <a:txBody>
                    <a:bodyPr/>
                    <a:lstStyle/>
                    <a:p>
                      <a:r>
                        <a:rPr lang="en-US" dirty="0"/>
                        <a:t>Tropism</a:t>
                      </a:r>
                      <a:r>
                        <a:rPr lang="en-US" baseline="0" dirty="0"/>
                        <a:t> factor</a:t>
                      </a:r>
                      <a:endParaRPr lang="en-US" dirty="0"/>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180 </a:t>
                      </a:r>
                    </a:p>
                  </a:txBody>
                  <a:tcPr/>
                </a:tc>
                <a:tc>
                  <a:txBody>
                    <a:bodyPr/>
                    <a:lstStyle/>
                    <a:p>
                      <a:r>
                        <a:rPr lang="en-US" dirty="0"/>
                        <a:t>0</a:t>
                      </a:r>
                    </a:p>
                  </a:txBody>
                  <a:tcPr/>
                </a:tc>
                <a:tc>
                  <a:txBody>
                    <a:bodyPr/>
                    <a:lstStyle/>
                    <a:p>
                      <a:r>
                        <a:rPr lang="en-US" dirty="0"/>
                        <a:t>0.8</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0</a:t>
                      </a:r>
                    </a:p>
                  </a:txBody>
                  <a:tcPr/>
                </a:tc>
                <a:tc>
                  <a:txBody>
                    <a:bodyPr/>
                    <a:lstStyle/>
                    <a:p>
                      <a:r>
                        <a:rPr lang="en-US" dirty="0"/>
                        <a:t>0</a:t>
                      </a:r>
                    </a:p>
                  </a:txBody>
                  <a:tcPr/>
                </a:tc>
                <a:tc>
                  <a:txBody>
                    <a:bodyPr/>
                    <a:lstStyle/>
                    <a:p>
                      <a:r>
                        <a:rPr lang="en-US" dirty="0"/>
                        <a:t>0.1</a:t>
                      </a:r>
                    </a:p>
                  </a:txBody>
                  <a:tcPr/>
                </a:tc>
                <a:extLst>
                  <a:ext uri="{0D108BD9-81ED-4DB2-BD59-A6C34878D82A}">
                    <a16:rowId xmlns:a16="http://schemas.microsoft.com/office/drawing/2014/main" val="10002"/>
                  </a:ext>
                </a:extLst>
              </a:tr>
            </a:tbl>
          </a:graphicData>
        </a:graphic>
      </p:graphicFrame>
      <p:sp>
        <p:nvSpPr>
          <p:cNvPr id="3" name="Date Placeholder 2">
            <a:extLst>
              <a:ext uri="{FF2B5EF4-FFF2-40B4-BE49-F238E27FC236}">
                <a16:creationId xmlns:a16="http://schemas.microsoft.com/office/drawing/2014/main" id="{B3329F27-CCD0-EF8D-A43E-A0BA60E7C079}"/>
              </a:ext>
            </a:extLst>
          </p:cNvPr>
          <p:cNvSpPr>
            <a:spLocks noGrp="1"/>
          </p:cNvSpPr>
          <p:nvPr>
            <p:ph type="dt" sz="half" idx="10"/>
          </p:nvPr>
        </p:nvSpPr>
        <p:spPr/>
        <p:txBody>
          <a:bodyPr/>
          <a:lstStyle/>
          <a:p>
            <a:fld id="{731A3096-838E-1047-9D99-18E1B2BEE978}" type="datetime1">
              <a:rPr lang="en-US" smtClean="0"/>
              <a:t>3/25/26</a:t>
            </a:fld>
            <a:endParaRPr lang="en-US"/>
          </a:p>
        </p:txBody>
      </p:sp>
      <p:sp>
        <p:nvSpPr>
          <p:cNvPr id="4" name="Footer Placeholder 3">
            <a:extLst>
              <a:ext uri="{FF2B5EF4-FFF2-40B4-BE49-F238E27FC236}">
                <a16:creationId xmlns:a16="http://schemas.microsoft.com/office/drawing/2014/main" id="{69E6611E-5F1F-B5FF-4119-6F5ECCE45E04}"/>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6AE0BDD9-48DA-59A6-0C39-0FC228EE1916}"/>
              </a:ext>
            </a:extLst>
          </p:cNvPr>
          <p:cNvSpPr>
            <a:spLocks noGrp="1"/>
          </p:cNvSpPr>
          <p:nvPr>
            <p:ph type="sldNum" sz="quarter" idx="12"/>
          </p:nvPr>
        </p:nvSpPr>
        <p:spPr/>
        <p:txBody>
          <a:bodyPr/>
          <a:lstStyle/>
          <a:p>
            <a:fld id="{B4CE5C4C-399A-B444-9B2A-945D2610250E}" type="slidenum">
              <a:rPr lang="en-US" smtClean="0"/>
              <a:t>27</a:t>
            </a:fld>
            <a:endParaRPr lang="en-US"/>
          </a:p>
        </p:txBody>
      </p:sp>
    </p:spTree>
    <p:extLst>
      <p:ext uri="{BB962C8B-B14F-4D97-AF65-F5344CB8AC3E}">
        <p14:creationId xmlns:p14="http://schemas.microsoft.com/office/powerpoint/2010/main" val="1778742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 curvature</a:t>
            </a:r>
          </a:p>
        </p:txBody>
      </p:sp>
      <p:graphicFrame>
        <p:nvGraphicFramePr>
          <p:cNvPr id="8" name="Table 7"/>
          <p:cNvGraphicFramePr>
            <a:graphicFrameLocks noGrp="1"/>
          </p:cNvGraphicFramePr>
          <p:nvPr/>
        </p:nvGraphicFramePr>
        <p:xfrm>
          <a:off x="2907803" y="5263731"/>
          <a:ext cx="3218804" cy="1112520"/>
        </p:xfrm>
        <a:graphic>
          <a:graphicData uri="http://schemas.openxmlformats.org/drawingml/2006/table">
            <a:tbl>
              <a:tblPr firstRow="1" bandRow="1">
                <a:tableStyleId>{5940675A-B579-460E-94D1-54222C63F5DA}</a:tableStyleId>
              </a:tblPr>
              <a:tblGrid>
                <a:gridCol w="1609402">
                  <a:extLst>
                    <a:ext uri="{9D8B030D-6E8A-4147-A177-3AD203B41FA5}">
                      <a16:colId xmlns:a16="http://schemas.microsoft.com/office/drawing/2014/main" val="20000"/>
                    </a:ext>
                  </a:extLst>
                </a:gridCol>
                <a:gridCol w="1609402">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Gamma</a:t>
                      </a:r>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0.75</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0.0075</a:t>
                      </a:r>
                    </a:p>
                  </a:txBody>
                  <a:tcPr/>
                </a:tc>
                <a:extLst>
                  <a:ext uri="{0D108BD9-81ED-4DB2-BD59-A6C34878D82A}">
                    <a16:rowId xmlns:a16="http://schemas.microsoft.com/office/drawing/2014/main" val="10002"/>
                  </a:ext>
                </a:extLst>
              </a:tr>
            </a:tbl>
          </a:graphicData>
        </a:graphic>
      </p:graphicFrame>
      <p:pic>
        <p:nvPicPr>
          <p:cNvPr id="3" name="Picture 2" descr="Screen Shot 2012-09-06 at 4.35.04 P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98921" y="1417638"/>
            <a:ext cx="4670335" cy="3596757"/>
          </a:xfrm>
          <a:prstGeom prst="rect">
            <a:avLst/>
          </a:prstGeom>
        </p:spPr>
      </p:pic>
      <p:sp>
        <p:nvSpPr>
          <p:cNvPr id="4" name="Date Placeholder 3">
            <a:extLst>
              <a:ext uri="{FF2B5EF4-FFF2-40B4-BE49-F238E27FC236}">
                <a16:creationId xmlns:a16="http://schemas.microsoft.com/office/drawing/2014/main" id="{C7B1A28C-CE0C-83AB-781E-FC4F8B58F8A4}"/>
              </a:ext>
            </a:extLst>
          </p:cNvPr>
          <p:cNvSpPr>
            <a:spLocks noGrp="1"/>
          </p:cNvSpPr>
          <p:nvPr>
            <p:ph type="dt" sz="half" idx="10"/>
          </p:nvPr>
        </p:nvSpPr>
        <p:spPr/>
        <p:txBody>
          <a:bodyPr/>
          <a:lstStyle/>
          <a:p>
            <a:fld id="{607FE59C-B05F-7249-BEEF-C613EEA59A9C}" type="datetime1">
              <a:rPr lang="en-US" smtClean="0"/>
              <a:t>3/25/26</a:t>
            </a:fld>
            <a:endParaRPr lang="en-US"/>
          </a:p>
        </p:txBody>
      </p:sp>
      <p:sp>
        <p:nvSpPr>
          <p:cNvPr id="5" name="Footer Placeholder 4">
            <a:extLst>
              <a:ext uri="{FF2B5EF4-FFF2-40B4-BE49-F238E27FC236}">
                <a16:creationId xmlns:a16="http://schemas.microsoft.com/office/drawing/2014/main" id="{BA7871C4-974A-92AA-E106-9C059C1CA05A}"/>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6886C5DE-C41D-125E-C423-4AE7CBCFD103}"/>
              </a:ext>
            </a:extLst>
          </p:cNvPr>
          <p:cNvSpPr>
            <a:spLocks noGrp="1"/>
          </p:cNvSpPr>
          <p:nvPr>
            <p:ph type="sldNum" sz="quarter" idx="12"/>
          </p:nvPr>
        </p:nvSpPr>
        <p:spPr/>
        <p:txBody>
          <a:bodyPr/>
          <a:lstStyle/>
          <a:p>
            <a:fld id="{B4CE5C4C-399A-B444-9B2A-945D2610250E}" type="slidenum">
              <a:rPr lang="en-US" smtClean="0"/>
              <a:t>28</a:t>
            </a:fld>
            <a:endParaRPr lang="en-US"/>
          </a:p>
        </p:txBody>
      </p:sp>
    </p:spTree>
    <p:extLst>
      <p:ext uri="{BB962C8B-B14F-4D97-AF65-F5344CB8AC3E}">
        <p14:creationId xmlns:p14="http://schemas.microsoft.com/office/powerpoint/2010/main" val="911539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branch Realization</a:t>
            </a:r>
          </a:p>
        </p:txBody>
      </p:sp>
      <p:sp>
        <p:nvSpPr>
          <p:cNvPr id="3" name="Content Placeholder 2"/>
          <p:cNvSpPr>
            <a:spLocks noGrp="1"/>
          </p:cNvSpPr>
          <p:nvPr>
            <p:ph idx="1"/>
          </p:nvPr>
        </p:nvSpPr>
        <p:spPr>
          <a:xfrm>
            <a:off x="457200" y="1600200"/>
            <a:ext cx="8229600" cy="4872785"/>
          </a:xfrm>
        </p:spPr>
        <p:txBody>
          <a:bodyPr>
            <a:normAutofit fontScale="32500" lnSpcReduction="20000"/>
          </a:bodyPr>
          <a:lstStyle/>
          <a:p>
            <a:r>
              <a:rPr lang="en-US" sz="4300" dirty="0"/>
              <a:t>Originally </a:t>
            </a:r>
            <a:r>
              <a:rPr lang="en-US" sz="4300" dirty="0" err="1"/>
              <a:t>Realise_Primaries</a:t>
            </a:r>
            <a:r>
              <a:rPr lang="en-US" sz="4300" dirty="0"/>
              <a:t>() called Realise_PINE001_Primaries() or Realise_DECIDUOUS001_Primaries() based on a switch on tree species.</a:t>
            </a:r>
          </a:p>
          <a:p>
            <a:r>
              <a:rPr lang="en-US" sz="4300" dirty="0"/>
              <a:t>I rewrote </a:t>
            </a:r>
            <a:r>
              <a:rPr lang="en-US" sz="4300" dirty="0" err="1"/>
              <a:t>Realise_Primaries</a:t>
            </a:r>
            <a:r>
              <a:rPr lang="en-US" sz="4300" dirty="0"/>
              <a:t>() so that it realizes primary branches without the switch on species. Previous version of </a:t>
            </a:r>
            <a:r>
              <a:rPr lang="en-US" sz="4300" dirty="0" err="1"/>
              <a:t>Realise_Primaries</a:t>
            </a:r>
            <a:r>
              <a:rPr lang="en-US" sz="4300" dirty="0"/>
              <a:t>() and </a:t>
            </a:r>
            <a:r>
              <a:rPr lang="en-US" sz="4300" dirty="0" err="1"/>
              <a:t>Realise_PINE</a:t>
            </a:r>
            <a:r>
              <a:rPr lang="en-US" sz="4300" dirty="0"/>
              <a:t>/</a:t>
            </a:r>
            <a:r>
              <a:rPr lang="en-US" sz="4300" dirty="0" err="1"/>
              <a:t>DECID_Primaries</a:t>
            </a:r>
            <a:r>
              <a:rPr lang="en-US" sz="4300" dirty="0"/>
              <a:t>() were commented out.</a:t>
            </a:r>
          </a:p>
          <a:p>
            <a:r>
              <a:rPr lang="en-US" sz="4300" dirty="0"/>
              <a:t>Functions, </a:t>
            </a:r>
            <a:r>
              <a:rPr lang="en-US" sz="4300" dirty="0" err="1"/>
              <a:t>Primary_Tropism_Factor</a:t>
            </a:r>
            <a:r>
              <a:rPr lang="en-US" sz="4300" dirty="0"/>
              <a:t>(), </a:t>
            </a:r>
            <a:r>
              <a:rPr lang="en-US" sz="4300" dirty="0" err="1"/>
              <a:t>Primary_Tropism_Direction</a:t>
            </a:r>
            <a:r>
              <a:rPr lang="en-US" sz="4300" dirty="0"/>
              <a:t>(), </a:t>
            </a:r>
            <a:r>
              <a:rPr lang="en-US" sz="4300" dirty="0" err="1"/>
              <a:t>Primary_Lamdacx</a:t>
            </a:r>
            <a:r>
              <a:rPr lang="en-US" sz="4300" dirty="0"/>
              <a:t>, </a:t>
            </a:r>
            <a:r>
              <a:rPr lang="en-US" sz="4300" dirty="0" err="1"/>
              <a:t>Primary_Lamdacy</a:t>
            </a:r>
            <a:r>
              <a:rPr lang="en-US" sz="4300" dirty="0"/>
              <a:t>, </a:t>
            </a:r>
            <a:r>
              <a:rPr lang="en-US" sz="4300" dirty="0" err="1"/>
              <a:t>Primary_Gamma</a:t>
            </a:r>
            <a:r>
              <a:rPr lang="en-US" sz="4300" dirty="0"/>
              <a:t>, </a:t>
            </a:r>
            <a:r>
              <a:rPr lang="en-US" sz="4300" dirty="0" err="1"/>
              <a:t>Primary_Moisture</a:t>
            </a:r>
            <a:r>
              <a:rPr lang="en-US" sz="4300" dirty="0"/>
              <a:t>, </a:t>
            </a:r>
            <a:r>
              <a:rPr lang="en-US" sz="4300" dirty="0" err="1"/>
              <a:t>Primary_Dry_Moisture</a:t>
            </a:r>
            <a:r>
              <a:rPr lang="en-US" sz="4300" dirty="0"/>
              <a:t>() were all changed to allow reading of their respective fields from the species database.</a:t>
            </a:r>
          </a:p>
          <a:p>
            <a:r>
              <a:rPr lang="en-US" sz="4300" dirty="0"/>
              <a:t>Added these fields to the XML database file and added their reading to the </a:t>
            </a:r>
            <a:r>
              <a:rPr lang="en-US" sz="4300" dirty="0" err="1"/>
              <a:t>SpeciesDatabase</a:t>
            </a:r>
            <a:r>
              <a:rPr lang="en-US" sz="4300" dirty="0"/>
              <a:t> and </a:t>
            </a:r>
            <a:r>
              <a:rPr lang="en-US" sz="4300" dirty="0" err="1"/>
              <a:t>CategoryDataBase</a:t>
            </a:r>
            <a:r>
              <a:rPr lang="en-US" sz="4300" dirty="0"/>
              <a:t> structures, to make the primary description generic</a:t>
            </a:r>
          </a:p>
          <a:p>
            <a:endParaRPr lang="en-US" sz="4300" dirty="0"/>
          </a:p>
          <a:p>
            <a:pPr lvl="1"/>
            <a:r>
              <a:rPr lang="en-US" dirty="0" err="1">
                <a:latin typeface="Monaco"/>
                <a:cs typeface="Monaco"/>
              </a:rPr>
              <a:t>primary_avg_polar_angle</a:t>
            </a:r>
            <a:r>
              <a:rPr lang="en-US" dirty="0">
                <a:latin typeface="Monaco"/>
                <a:cs typeface="Monaco"/>
              </a:rPr>
              <a:t>;/* mean polar angle (theta) of the primary branches            */</a:t>
            </a:r>
          </a:p>
          <a:p>
            <a:pPr lvl="1"/>
            <a:r>
              <a:rPr lang="en-US" dirty="0" err="1">
                <a:latin typeface="Monaco"/>
                <a:cs typeface="Monaco"/>
              </a:rPr>
              <a:t>primary_std_polar_angle</a:t>
            </a:r>
            <a:r>
              <a:rPr lang="en-US" dirty="0">
                <a:latin typeface="Monaco"/>
                <a:cs typeface="Monaco"/>
              </a:rPr>
              <a:t>;/* standard deviation of primary polar angle                   */</a:t>
            </a:r>
          </a:p>
          <a:p>
            <a:pPr lvl="1"/>
            <a:r>
              <a:rPr lang="en-US" dirty="0" err="1">
                <a:latin typeface="Monaco"/>
                <a:cs typeface="Monaco"/>
              </a:rPr>
              <a:t>primary_layer_density</a:t>
            </a:r>
            <a:r>
              <a:rPr lang="en-US" dirty="0">
                <a:latin typeface="Monaco"/>
                <a:cs typeface="Monaco"/>
              </a:rPr>
              <a:t>;  /* number of primary layers per unit canopy depth              */</a:t>
            </a:r>
          </a:p>
          <a:p>
            <a:pPr lvl="1"/>
            <a:r>
              <a:rPr lang="en-US" dirty="0" err="1">
                <a:latin typeface="Monaco"/>
                <a:cs typeface="Monaco"/>
              </a:rPr>
              <a:t>primary_avg_sections</a:t>
            </a:r>
            <a:r>
              <a:rPr lang="en-US" dirty="0">
                <a:latin typeface="Monaco"/>
                <a:cs typeface="Monaco"/>
              </a:rPr>
              <a:t>;   /* average number of sections per layer of primary branches    */</a:t>
            </a:r>
          </a:p>
          <a:p>
            <a:pPr lvl="1"/>
            <a:r>
              <a:rPr lang="en-US" dirty="0" err="1">
                <a:latin typeface="Monaco"/>
                <a:cs typeface="Monaco"/>
              </a:rPr>
              <a:t>primary_azimuth_factor</a:t>
            </a:r>
            <a:r>
              <a:rPr lang="en-US" dirty="0">
                <a:latin typeface="Monaco"/>
                <a:cs typeface="Monaco"/>
              </a:rPr>
              <a:t>; /* azimuth angle </a:t>
            </a:r>
            <a:r>
              <a:rPr lang="en-US" dirty="0" err="1">
                <a:latin typeface="Monaco"/>
                <a:cs typeface="Monaco"/>
              </a:rPr>
              <a:t>std</a:t>
            </a:r>
            <a:r>
              <a:rPr lang="en-US" dirty="0">
                <a:latin typeface="Monaco"/>
                <a:cs typeface="Monaco"/>
              </a:rPr>
              <a:t> factor for primary braches                */</a:t>
            </a:r>
          </a:p>
          <a:p>
            <a:pPr lvl="1"/>
            <a:r>
              <a:rPr lang="en-US" dirty="0" err="1">
                <a:latin typeface="Monaco"/>
                <a:cs typeface="Monaco"/>
              </a:rPr>
              <a:t>primary_radius_A</a:t>
            </a:r>
            <a:r>
              <a:rPr lang="en-US" dirty="0">
                <a:latin typeface="Monaco"/>
                <a:cs typeface="Monaco"/>
              </a:rPr>
              <a:t>;       /* quadratic coefficient of primary radius function            */</a:t>
            </a:r>
          </a:p>
          <a:p>
            <a:pPr lvl="1"/>
            <a:r>
              <a:rPr lang="en-US" dirty="0" err="1">
                <a:latin typeface="Monaco"/>
                <a:cs typeface="Monaco"/>
              </a:rPr>
              <a:t>primary_radius_B</a:t>
            </a:r>
            <a:r>
              <a:rPr lang="en-US" dirty="0">
                <a:latin typeface="Monaco"/>
                <a:cs typeface="Monaco"/>
              </a:rPr>
              <a:t>;       /* linear coefficient of the primary radius function           */</a:t>
            </a:r>
          </a:p>
          <a:p>
            <a:pPr lvl="1"/>
            <a:r>
              <a:rPr lang="en-US" dirty="0" err="1">
                <a:latin typeface="Monaco"/>
                <a:cs typeface="Monaco"/>
              </a:rPr>
              <a:t>primary_radius_C</a:t>
            </a:r>
            <a:r>
              <a:rPr lang="en-US" dirty="0">
                <a:latin typeface="Monaco"/>
                <a:cs typeface="Monaco"/>
              </a:rPr>
              <a:t>;       /* constant coefficient of the primary radius function         */</a:t>
            </a:r>
          </a:p>
          <a:p>
            <a:pPr lvl="1"/>
            <a:r>
              <a:rPr lang="en-US" dirty="0" err="1">
                <a:latin typeface="Monaco"/>
                <a:cs typeface="Monaco"/>
              </a:rPr>
              <a:t>primary_tropism_factor</a:t>
            </a:r>
            <a:r>
              <a:rPr lang="en-US" dirty="0">
                <a:latin typeface="Monaco"/>
                <a:cs typeface="Monaco"/>
              </a:rPr>
              <a:t>; /* determines the primary tropism                              */</a:t>
            </a:r>
          </a:p>
          <a:p>
            <a:pPr lvl="1"/>
            <a:r>
              <a:rPr lang="en-US" dirty="0" err="1">
                <a:latin typeface="Monaco"/>
                <a:cs typeface="Monaco"/>
              </a:rPr>
              <a:t>primary_tropism_theta</a:t>
            </a:r>
            <a:r>
              <a:rPr lang="en-US" dirty="0">
                <a:latin typeface="Monaco"/>
                <a:cs typeface="Monaco"/>
              </a:rPr>
              <a:t>;  /* polar angle (theta) of the primary tropism direction        */</a:t>
            </a:r>
          </a:p>
          <a:p>
            <a:pPr lvl="1"/>
            <a:r>
              <a:rPr lang="en-US" dirty="0" err="1">
                <a:latin typeface="Monaco"/>
                <a:cs typeface="Monaco"/>
              </a:rPr>
              <a:t>primary_tropism_phi</a:t>
            </a:r>
            <a:r>
              <a:rPr lang="en-US" dirty="0">
                <a:latin typeface="Monaco"/>
                <a:cs typeface="Monaco"/>
              </a:rPr>
              <a:t>;    /* azimuthal angle (phi) of the primary tropism direction      */</a:t>
            </a:r>
          </a:p>
          <a:p>
            <a:pPr lvl="1"/>
            <a:r>
              <a:rPr lang="en-US" dirty="0" err="1">
                <a:latin typeface="Monaco"/>
                <a:cs typeface="Monaco"/>
              </a:rPr>
              <a:t>primary_lamdacx_stdev</a:t>
            </a:r>
            <a:r>
              <a:rPr lang="en-US" dirty="0">
                <a:latin typeface="Monaco"/>
                <a:cs typeface="Monaco"/>
              </a:rPr>
              <a:t>;  /* </a:t>
            </a:r>
            <a:r>
              <a:rPr lang="en-US" dirty="0" err="1">
                <a:latin typeface="Monaco"/>
                <a:cs typeface="Monaco"/>
              </a:rPr>
              <a:t>stdev</a:t>
            </a:r>
            <a:r>
              <a:rPr lang="en-US" dirty="0">
                <a:latin typeface="Monaco"/>
                <a:cs typeface="Monaco"/>
              </a:rPr>
              <a:t> of curvature wavelength in x-direction                */</a:t>
            </a:r>
          </a:p>
          <a:p>
            <a:pPr lvl="1"/>
            <a:r>
              <a:rPr lang="en-US" dirty="0" err="1">
                <a:latin typeface="Monaco"/>
                <a:cs typeface="Monaco"/>
              </a:rPr>
              <a:t>primary_lamdacx_mean</a:t>
            </a:r>
            <a:r>
              <a:rPr lang="en-US" dirty="0">
                <a:latin typeface="Monaco"/>
                <a:cs typeface="Monaco"/>
              </a:rPr>
              <a:t>;   /* mean of curvature wavelength in x-direction                 */</a:t>
            </a:r>
          </a:p>
          <a:p>
            <a:pPr lvl="1"/>
            <a:r>
              <a:rPr lang="en-US" dirty="0" err="1">
                <a:latin typeface="Monaco"/>
                <a:cs typeface="Monaco"/>
              </a:rPr>
              <a:t>primary_lamdacy_stdev</a:t>
            </a:r>
            <a:r>
              <a:rPr lang="en-US" dirty="0">
                <a:latin typeface="Monaco"/>
                <a:cs typeface="Monaco"/>
              </a:rPr>
              <a:t>;  /* </a:t>
            </a:r>
            <a:r>
              <a:rPr lang="en-US" dirty="0" err="1">
                <a:latin typeface="Monaco"/>
                <a:cs typeface="Monaco"/>
              </a:rPr>
              <a:t>stdev</a:t>
            </a:r>
            <a:r>
              <a:rPr lang="en-US" dirty="0">
                <a:latin typeface="Monaco"/>
                <a:cs typeface="Monaco"/>
              </a:rPr>
              <a:t> of curvature wavelength in y-direction                */</a:t>
            </a:r>
          </a:p>
          <a:p>
            <a:pPr lvl="1"/>
            <a:r>
              <a:rPr lang="en-US" dirty="0" err="1">
                <a:latin typeface="Monaco"/>
                <a:cs typeface="Monaco"/>
              </a:rPr>
              <a:t>primary_lamdacy_mean</a:t>
            </a:r>
            <a:r>
              <a:rPr lang="en-US" dirty="0">
                <a:latin typeface="Monaco"/>
                <a:cs typeface="Monaco"/>
              </a:rPr>
              <a:t>;   /* mean of curvature wavelength in y-direction                 */</a:t>
            </a:r>
          </a:p>
          <a:p>
            <a:pPr lvl="1"/>
            <a:r>
              <a:rPr lang="en-US" dirty="0" err="1">
                <a:latin typeface="Monaco"/>
                <a:cs typeface="Monaco"/>
              </a:rPr>
              <a:t>primary_gamma_stdev</a:t>
            </a:r>
            <a:r>
              <a:rPr lang="en-US" dirty="0">
                <a:latin typeface="Monaco"/>
                <a:cs typeface="Monaco"/>
              </a:rPr>
              <a:t>;    /* </a:t>
            </a:r>
            <a:r>
              <a:rPr lang="en-US" dirty="0" err="1">
                <a:latin typeface="Monaco"/>
                <a:cs typeface="Monaco"/>
              </a:rPr>
              <a:t>stdev</a:t>
            </a:r>
            <a:r>
              <a:rPr lang="en-US" dirty="0">
                <a:latin typeface="Monaco"/>
                <a:cs typeface="Monaco"/>
              </a:rPr>
              <a:t> of primary branch curvature scale-factor              */</a:t>
            </a:r>
          </a:p>
          <a:p>
            <a:pPr lvl="1"/>
            <a:r>
              <a:rPr lang="en-US" dirty="0" err="1">
                <a:latin typeface="Monaco"/>
                <a:cs typeface="Monaco"/>
              </a:rPr>
              <a:t>primary_gamma_mean</a:t>
            </a:r>
            <a:r>
              <a:rPr lang="en-US" dirty="0">
                <a:latin typeface="Monaco"/>
                <a:cs typeface="Monaco"/>
              </a:rPr>
              <a:t>;     /* mean of primary branch curvature scale-factor               */</a:t>
            </a:r>
          </a:p>
          <a:p>
            <a:pPr lvl="1"/>
            <a:r>
              <a:rPr lang="en-US" dirty="0" err="1">
                <a:latin typeface="Monaco"/>
                <a:cs typeface="Monaco"/>
              </a:rPr>
              <a:t>primary_live_moisture</a:t>
            </a:r>
            <a:r>
              <a:rPr lang="en-US" dirty="0">
                <a:latin typeface="Monaco"/>
                <a:cs typeface="Monaco"/>
              </a:rPr>
              <a:t>;  /* fractional moisture of living primary branches              */</a:t>
            </a:r>
          </a:p>
          <a:p>
            <a:pPr lvl="1"/>
            <a:r>
              <a:rPr lang="en-US" dirty="0" err="1">
                <a:latin typeface="Monaco"/>
                <a:cs typeface="Monaco"/>
              </a:rPr>
              <a:t>primary_dry_moisture</a:t>
            </a:r>
            <a:r>
              <a:rPr lang="en-US" dirty="0">
                <a:latin typeface="Monaco"/>
                <a:cs typeface="Monaco"/>
              </a:rPr>
              <a:t>;   /* fractional moisture of dry primary branches                 */</a:t>
            </a:r>
          </a:p>
          <a:p>
            <a:pPr lvl="1"/>
            <a:r>
              <a:rPr lang="en-US" dirty="0" err="1">
                <a:latin typeface="Monaco"/>
                <a:cs typeface="Monaco"/>
              </a:rPr>
              <a:t>primary_dry_density</a:t>
            </a:r>
            <a:r>
              <a:rPr lang="en-US" dirty="0">
                <a:latin typeface="Monaco"/>
                <a:cs typeface="Monaco"/>
              </a:rPr>
              <a:t>;    /* number of dry primary layers per unit dry canopy depth      */</a:t>
            </a:r>
          </a:p>
          <a:p>
            <a:pPr lvl="1"/>
            <a:r>
              <a:rPr lang="en-US" dirty="0" err="1">
                <a:latin typeface="Monaco"/>
                <a:cs typeface="Monaco"/>
              </a:rPr>
              <a:t>primary_dry_sections</a:t>
            </a:r>
            <a:r>
              <a:rPr lang="en-US" dirty="0">
                <a:latin typeface="Monaco"/>
                <a:cs typeface="Monaco"/>
              </a:rPr>
              <a:t>;   /* number of sections per layer of dry primary branches        */</a:t>
            </a:r>
          </a:p>
          <a:p>
            <a:pPr marL="800100" lvl="2" indent="0">
              <a:buNone/>
            </a:pPr>
            <a:endParaRPr lang="en-US" dirty="0">
              <a:latin typeface="Monaco"/>
              <a:cs typeface="Monaco"/>
            </a:endParaRPr>
          </a:p>
        </p:txBody>
      </p:sp>
      <p:sp>
        <p:nvSpPr>
          <p:cNvPr id="4" name="Date Placeholder 3">
            <a:extLst>
              <a:ext uri="{FF2B5EF4-FFF2-40B4-BE49-F238E27FC236}">
                <a16:creationId xmlns:a16="http://schemas.microsoft.com/office/drawing/2014/main" id="{AF0233A5-4786-CEAF-2C61-E32D1F6962EB}"/>
              </a:ext>
            </a:extLst>
          </p:cNvPr>
          <p:cNvSpPr>
            <a:spLocks noGrp="1"/>
          </p:cNvSpPr>
          <p:nvPr>
            <p:ph type="dt" sz="half" idx="10"/>
          </p:nvPr>
        </p:nvSpPr>
        <p:spPr/>
        <p:txBody>
          <a:bodyPr/>
          <a:lstStyle/>
          <a:p>
            <a:fld id="{1D589041-1889-174F-80F3-C0DA7DA8ADE9}" type="datetime1">
              <a:rPr lang="en-US" smtClean="0"/>
              <a:t>3/25/26</a:t>
            </a:fld>
            <a:endParaRPr lang="en-US"/>
          </a:p>
        </p:txBody>
      </p:sp>
      <p:sp>
        <p:nvSpPr>
          <p:cNvPr id="5" name="Footer Placeholder 4">
            <a:extLst>
              <a:ext uri="{FF2B5EF4-FFF2-40B4-BE49-F238E27FC236}">
                <a16:creationId xmlns:a16="http://schemas.microsoft.com/office/drawing/2014/main" id="{88C47294-8C5B-57BE-2C86-1DEA18171178}"/>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A40F6E6C-DF8A-142C-544F-062604712986}"/>
              </a:ext>
            </a:extLst>
          </p:cNvPr>
          <p:cNvSpPr>
            <a:spLocks noGrp="1"/>
          </p:cNvSpPr>
          <p:nvPr>
            <p:ph type="sldNum" sz="quarter" idx="12"/>
          </p:nvPr>
        </p:nvSpPr>
        <p:spPr/>
        <p:txBody>
          <a:bodyPr/>
          <a:lstStyle/>
          <a:p>
            <a:fld id="{B4CE5C4C-399A-B444-9B2A-945D2610250E}" type="slidenum">
              <a:rPr lang="en-US" smtClean="0"/>
              <a:t>29</a:t>
            </a:fld>
            <a:endParaRPr lang="en-US"/>
          </a:p>
        </p:txBody>
      </p:sp>
    </p:spTree>
    <p:extLst>
      <p:ext uri="{BB962C8B-B14F-4D97-AF65-F5344CB8AC3E}">
        <p14:creationId xmlns:p14="http://schemas.microsoft.com/office/powerpoint/2010/main" val="2211043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branch numbers</a:t>
            </a:r>
          </a:p>
        </p:txBody>
      </p:sp>
      <p:graphicFrame>
        <p:nvGraphicFramePr>
          <p:cNvPr id="8" name="Table 7"/>
          <p:cNvGraphicFramePr>
            <a:graphicFrameLocks noGrp="1"/>
          </p:cNvGraphicFramePr>
          <p:nvPr>
            <p:extLst>
              <p:ext uri="{D42A27DB-BD31-4B8C-83A1-F6EECF244321}">
                <p14:modId xmlns:p14="http://schemas.microsoft.com/office/powerpoint/2010/main" val="567300043"/>
              </p:ext>
            </p:extLst>
          </p:nvPr>
        </p:nvGraphicFramePr>
        <p:xfrm>
          <a:off x="2551884" y="4988239"/>
          <a:ext cx="4399815" cy="1381760"/>
        </p:xfrm>
        <a:graphic>
          <a:graphicData uri="http://schemas.openxmlformats.org/drawingml/2006/table">
            <a:tbl>
              <a:tblPr firstRow="1" bandRow="1">
                <a:tableStyleId>{5940675A-B579-460E-94D1-54222C63F5DA}</a:tableStyleId>
              </a:tblPr>
              <a:tblGrid>
                <a:gridCol w="1466605">
                  <a:extLst>
                    <a:ext uri="{9D8B030D-6E8A-4147-A177-3AD203B41FA5}">
                      <a16:colId xmlns:a16="http://schemas.microsoft.com/office/drawing/2014/main" val="20000"/>
                    </a:ext>
                  </a:extLst>
                </a:gridCol>
                <a:gridCol w="1466605">
                  <a:extLst>
                    <a:ext uri="{9D8B030D-6E8A-4147-A177-3AD203B41FA5}">
                      <a16:colId xmlns:a16="http://schemas.microsoft.com/office/drawing/2014/main" val="20001"/>
                    </a:ext>
                  </a:extLst>
                </a:gridCol>
                <a:gridCol w="1466605">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Layer density</a:t>
                      </a:r>
                    </a:p>
                  </a:txBody>
                  <a:tcPr/>
                </a:tc>
                <a:tc>
                  <a:txBody>
                    <a:bodyPr/>
                    <a:lstStyle/>
                    <a:p>
                      <a:r>
                        <a:rPr lang="en-US" dirty="0"/>
                        <a:t>Sections</a:t>
                      </a:r>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1.0</a:t>
                      </a:r>
                    </a:p>
                  </a:txBody>
                  <a:tcPr/>
                </a:tc>
                <a:tc>
                  <a:txBody>
                    <a:bodyPr/>
                    <a:lstStyle/>
                    <a:p>
                      <a:r>
                        <a:rPr lang="en-US" dirty="0"/>
                        <a:t>1</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4.01</a:t>
                      </a:r>
                    </a:p>
                  </a:txBody>
                  <a:tcPr/>
                </a:tc>
                <a:tc>
                  <a:txBody>
                    <a:bodyPr/>
                    <a:lstStyle/>
                    <a:p>
                      <a:r>
                        <a:rPr lang="en-US" dirty="0"/>
                        <a:t>6</a:t>
                      </a:r>
                    </a:p>
                  </a:txBody>
                  <a:tcPr/>
                </a:tc>
                <a:extLst>
                  <a:ext uri="{0D108BD9-81ED-4DB2-BD59-A6C34878D82A}">
                    <a16:rowId xmlns:a16="http://schemas.microsoft.com/office/drawing/2014/main" val="10002"/>
                  </a:ext>
                </a:extLst>
              </a:tr>
            </a:tbl>
          </a:graphicData>
        </a:graphic>
      </p:graphicFrame>
      <p:pic>
        <p:nvPicPr>
          <p:cNvPr id="4" name="Picture 3" descr="Screen Shot 2012-09-06 at 4.49.00 P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19633" y="1895457"/>
            <a:ext cx="4064319" cy="2843587"/>
          </a:xfrm>
          <a:prstGeom prst="rect">
            <a:avLst/>
          </a:prstGeom>
        </p:spPr>
      </p:pic>
      <p:sp>
        <p:nvSpPr>
          <p:cNvPr id="3" name="Date Placeholder 2">
            <a:extLst>
              <a:ext uri="{FF2B5EF4-FFF2-40B4-BE49-F238E27FC236}">
                <a16:creationId xmlns:a16="http://schemas.microsoft.com/office/drawing/2014/main" id="{9165A18E-4397-3A8F-8AF2-B0A734F037FC}"/>
              </a:ext>
            </a:extLst>
          </p:cNvPr>
          <p:cNvSpPr>
            <a:spLocks noGrp="1"/>
          </p:cNvSpPr>
          <p:nvPr>
            <p:ph type="dt" sz="half" idx="10"/>
          </p:nvPr>
        </p:nvSpPr>
        <p:spPr/>
        <p:txBody>
          <a:bodyPr/>
          <a:lstStyle/>
          <a:p>
            <a:fld id="{2A09ECC4-2E21-9144-8148-65DEAC1E13B8}" type="datetime1">
              <a:rPr lang="en-US" smtClean="0"/>
              <a:t>3/25/26</a:t>
            </a:fld>
            <a:endParaRPr lang="en-US"/>
          </a:p>
        </p:txBody>
      </p:sp>
      <p:sp>
        <p:nvSpPr>
          <p:cNvPr id="5" name="Footer Placeholder 4">
            <a:extLst>
              <a:ext uri="{FF2B5EF4-FFF2-40B4-BE49-F238E27FC236}">
                <a16:creationId xmlns:a16="http://schemas.microsoft.com/office/drawing/2014/main" id="{429AD1BD-392C-3515-FB8D-05DD5BBD123A}"/>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1C60430F-AF74-F5A5-59FC-36C43CDBD0F4}"/>
              </a:ext>
            </a:extLst>
          </p:cNvPr>
          <p:cNvSpPr>
            <a:spLocks noGrp="1"/>
          </p:cNvSpPr>
          <p:nvPr>
            <p:ph type="sldNum" sz="quarter" idx="12"/>
          </p:nvPr>
        </p:nvSpPr>
        <p:spPr/>
        <p:txBody>
          <a:bodyPr/>
          <a:lstStyle/>
          <a:p>
            <a:fld id="{B4CE5C4C-399A-B444-9B2A-945D2610250E}" type="slidenum">
              <a:rPr lang="en-US" smtClean="0"/>
              <a:t>30</a:t>
            </a:fld>
            <a:endParaRPr lang="en-US"/>
          </a:p>
        </p:txBody>
      </p:sp>
    </p:spTree>
    <p:extLst>
      <p:ext uri="{BB962C8B-B14F-4D97-AF65-F5344CB8AC3E}">
        <p14:creationId xmlns:p14="http://schemas.microsoft.com/office/powerpoint/2010/main" val="3962474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branch angles</a:t>
            </a:r>
          </a:p>
        </p:txBody>
      </p:sp>
      <p:graphicFrame>
        <p:nvGraphicFramePr>
          <p:cNvPr id="8" name="Table 7"/>
          <p:cNvGraphicFramePr>
            <a:graphicFrameLocks noGrp="1"/>
          </p:cNvGraphicFramePr>
          <p:nvPr/>
        </p:nvGraphicFramePr>
        <p:xfrm>
          <a:off x="2916721" y="5263731"/>
          <a:ext cx="2933210" cy="1112520"/>
        </p:xfrm>
        <a:graphic>
          <a:graphicData uri="http://schemas.openxmlformats.org/drawingml/2006/table">
            <a:tbl>
              <a:tblPr firstRow="1" bandRow="1">
                <a:tableStyleId>{5940675A-B579-460E-94D1-54222C63F5DA}</a:tableStyleId>
              </a:tblPr>
              <a:tblGrid>
                <a:gridCol w="1466605">
                  <a:extLst>
                    <a:ext uri="{9D8B030D-6E8A-4147-A177-3AD203B41FA5}">
                      <a16:colId xmlns:a16="http://schemas.microsoft.com/office/drawing/2014/main" val="20000"/>
                    </a:ext>
                  </a:extLst>
                </a:gridCol>
                <a:gridCol w="1466605">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Polar</a:t>
                      </a:r>
                      <a:r>
                        <a:rPr lang="en-US" baseline="0" dirty="0"/>
                        <a:t> angle</a:t>
                      </a:r>
                      <a:endParaRPr lang="en-US" dirty="0"/>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50</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110</a:t>
                      </a:r>
                    </a:p>
                  </a:txBody>
                  <a:tcPr/>
                </a:tc>
                <a:extLst>
                  <a:ext uri="{0D108BD9-81ED-4DB2-BD59-A6C34878D82A}">
                    <a16:rowId xmlns:a16="http://schemas.microsoft.com/office/drawing/2014/main" val="10002"/>
                  </a:ext>
                </a:extLst>
              </a:tr>
            </a:tbl>
          </a:graphicData>
        </a:graphic>
      </p:graphicFrame>
      <p:pic>
        <p:nvPicPr>
          <p:cNvPr id="5" name="Picture 4" descr="Screen Shot 2012-09-06 at 5.02.38 P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97764" y="1895457"/>
            <a:ext cx="2538465" cy="2873843"/>
          </a:xfrm>
          <a:prstGeom prst="rect">
            <a:avLst/>
          </a:prstGeom>
        </p:spPr>
      </p:pic>
      <p:pic>
        <p:nvPicPr>
          <p:cNvPr id="6" name="Picture 5" descr="Screen Shot 2012-09-06 at 4.49.00 PM.png"/>
          <p:cNvPicPr>
            <a:picLocks noChangeAspect="1"/>
          </p:cNvPicPr>
          <p:nvPr/>
        </p:nvPicPr>
        <p:blipFill rotWithShape="1">
          <a:blip r:embed="rId3" cstate="screen">
            <a:extLst>
              <a:ext uri="{28A0092B-C50C-407E-A947-70E740481C1C}">
                <a14:useLocalDpi xmlns:a14="http://schemas.microsoft.com/office/drawing/2010/main"/>
              </a:ext>
            </a:extLst>
          </a:blip>
          <a:srcRect t="7007" r="36352"/>
          <a:stretch/>
        </p:blipFill>
        <p:spPr>
          <a:xfrm>
            <a:off x="1705053" y="1895456"/>
            <a:ext cx="2811368" cy="2873843"/>
          </a:xfrm>
          <a:prstGeom prst="rect">
            <a:avLst/>
          </a:prstGeom>
        </p:spPr>
      </p:pic>
      <p:sp>
        <p:nvSpPr>
          <p:cNvPr id="3" name="Date Placeholder 2">
            <a:extLst>
              <a:ext uri="{FF2B5EF4-FFF2-40B4-BE49-F238E27FC236}">
                <a16:creationId xmlns:a16="http://schemas.microsoft.com/office/drawing/2014/main" id="{D9C43B68-C24B-BFCC-C857-67A87891ADE8}"/>
              </a:ext>
            </a:extLst>
          </p:cNvPr>
          <p:cNvSpPr>
            <a:spLocks noGrp="1"/>
          </p:cNvSpPr>
          <p:nvPr>
            <p:ph type="dt" sz="half" idx="10"/>
          </p:nvPr>
        </p:nvSpPr>
        <p:spPr/>
        <p:txBody>
          <a:bodyPr/>
          <a:lstStyle/>
          <a:p>
            <a:fld id="{36FEE1DC-3281-914F-8126-ACC9496A0A73}" type="datetime1">
              <a:rPr lang="en-US" smtClean="0"/>
              <a:t>3/25/26</a:t>
            </a:fld>
            <a:endParaRPr lang="en-US"/>
          </a:p>
        </p:txBody>
      </p:sp>
      <p:sp>
        <p:nvSpPr>
          <p:cNvPr id="4" name="Footer Placeholder 3">
            <a:extLst>
              <a:ext uri="{FF2B5EF4-FFF2-40B4-BE49-F238E27FC236}">
                <a16:creationId xmlns:a16="http://schemas.microsoft.com/office/drawing/2014/main" id="{6AF4EF3C-0E67-455D-4870-A21E35AA5273}"/>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D04F3082-968B-4056-458F-E1367D52152A}"/>
              </a:ext>
            </a:extLst>
          </p:cNvPr>
          <p:cNvSpPr>
            <a:spLocks noGrp="1"/>
          </p:cNvSpPr>
          <p:nvPr>
            <p:ph type="sldNum" sz="quarter" idx="12"/>
          </p:nvPr>
        </p:nvSpPr>
        <p:spPr/>
        <p:txBody>
          <a:bodyPr/>
          <a:lstStyle/>
          <a:p>
            <a:fld id="{B4CE5C4C-399A-B444-9B2A-945D2610250E}" type="slidenum">
              <a:rPr lang="en-US" smtClean="0"/>
              <a:t>31</a:t>
            </a:fld>
            <a:endParaRPr lang="en-US"/>
          </a:p>
        </p:txBody>
      </p:sp>
    </p:spTree>
    <p:extLst>
      <p:ext uri="{BB962C8B-B14F-4D97-AF65-F5344CB8AC3E}">
        <p14:creationId xmlns:p14="http://schemas.microsoft.com/office/powerpoint/2010/main" val="4181304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branch curvature</a:t>
            </a:r>
          </a:p>
        </p:txBody>
      </p:sp>
      <p:graphicFrame>
        <p:nvGraphicFramePr>
          <p:cNvPr id="8" name="Table 7"/>
          <p:cNvGraphicFramePr>
            <a:graphicFrameLocks noGrp="1"/>
          </p:cNvGraphicFramePr>
          <p:nvPr/>
        </p:nvGraphicFramePr>
        <p:xfrm>
          <a:off x="3139753" y="5263731"/>
          <a:ext cx="2933210" cy="1112520"/>
        </p:xfrm>
        <a:graphic>
          <a:graphicData uri="http://schemas.openxmlformats.org/drawingml/2006/table">
            <a:tbl>
              <a:tblPr firstRow="1" bandRow="1">
                <a:tableStyleId>{5940675A-B579-460E-94D1-54222C63F5DA}</a:tableStyleId>
              </a:tblPr>
              <a:tblGrid>
                <a:gridCol w="1466605">
                  <a:extLst>
                    <a:ext uri="{9D8B030D-6E8A-4147-A177-3AD203B41FA5}">
                      <a16:colId xmlns:a16="http://schemas.microsoft.com/office/drawing/2014/main" val="20000"/>
                    </a:ext>
                  </a:extLst>
                </a:gridCol>
                <a:gridCol w="1466605">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Gamma</a:t>
                      </a:r>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0.075</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0.75</a:t>
                      </a:r>
                    </a:p>
                  </a:txBody>
                  <a:tcPr/>
                </a:tc>
                <a:extLst>
                  <a:ext uri="{0D108BD9-81ED-4DB2-BD59-A6C34878D82A}">
                    <a16:rowId xmlns:a16="http://schemas.microsoft.com/office/drawing/2014/main" val="10002"/>
                  </a:ext>
                </a:extLst>
              </a:tr>
            </a:tbl>
          </a:graphicData>
        </a:graphic>
      </p:graphicFrame>
      <p:pic>
        <p:nvPicPr>
          <p:cNvPr id="4" name="Picture 3" descr="Screen Shot 2012-09-06 at 4.49.00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2150947" y="1895457"/>
            <a:ext cx="2455411" cy="2843587"/>
          </a:xfrm>
          <a:prstGeom prst="rect">
            <a:avLst/>
          </a:prstGeom>
        </p:spPr>
      </p:pic>
      <p:pic>
        <p:nvPicPr>
          <p:cNvPr id="3" name="Picture 2" descr="Screen Shot 2012-09-06 at 4.59.01 PM.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10618" y="1895457"/>
            <a:ext cx="2454828" cy="2843587"/>
          </a:xfrm>
          <a:prstGeom prst="rect">
            <a:avLst/>
          </a:prstGeom>
        </p:spPr>
      </p:pic>
      <p:sp>
        <p:nvSpPr>
          <p:cNvPr id="5" name="Date Placeholder 4">
            <a:extLst>
              <a:ext uri="{FF2B5EF4-FFF2-40B4-BE49-F238E27FC236}">
                <a16:creationId xmlns:a16="http://schemas.microsoft.com/office/drawing/2014/main" id="{C2C0F28C-7418-BD68-8B31-D6A1348BD396}"/>
              </a:ext>
            </a:extLst>
          </p:cNvPr>
          <p:cNvSpPr>
            <a:spLocks noGrp="1"/>
          </p:cNvSpPr>
          <p:nvPr>
            <p:ph type="dt" sz="half" idx="10"/>
          </p:nvPr>
        </p:nvSpPr>
        <p:spPr/>
        <p:txBody>
          <a:bodyPr/>
          <a:lstStyle/>
          <a:p>
            <a:fld id="{ECA2B91A-6A18-D24B-A70B-2792860AFE11}" type="datetime1">
              <a:rPr lang="en-US" smtClean="0"/>
              <a:t>3/25/26</a:t>
            </a:fld>
            <a:endParaRPr lang="en-US"/>
          </a:p>
        </p:txBody>
      </p:sp>
      <p:sp>
        <p:nvSpPr>
          <p:cNvPr id="6" name="Footer Placeholder 5">
            <a:extLst>
              <a:ext uri="{FF2B5EF4-FFF2-40B4-BE49-F238E27FC236}">
                <a16:creationId xmlns:a16="http://schemas.microsoft.com/office/drawing/2014/main" id="{D7028114-DCFD-99EF-1482-A3D3285ED0FA}"/>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FC008182-BDF5-C8AA-D30E-A6A95A9AFE80}"/>
              </a:ext>
            </a:extLst>
          </p:cNvPr>
          <p:cNvSpPr>
            <a:spLocks noGrp="1"/>
          </p:cNvSpPr>
          <p:nvPr>
            <p:ph type="sldNum" sz="quarter" idx="12"/>
          </p:nvPr>
        </p:nvSpPr>
        <p:spPr/>
        <p:txBody>
          <a:bodyPr/>
          <a:lstStyle/>
          <a:p>
            <a:fld id="{B4CE5C4C-399A-B444-9B2A-945D2610250E}" type="slidenum">
              <a:rPr lang="en-US" smtClean="0"/>
              <a:t>32</a:t>
            </a:fld>
            <a:endParaRPr lang="en-US"/>
          </a:p>
        </p:txBody>
      </p:sp>
    </p:spTree>
    <p:extLst>
      <p:ext uri="{BB962C8B-B14F-4D97-AF65-F5344CB8AC3E}">
        <p14:creationId xmlns:p14="http://schemas.microsoft.com/office/powerpoint/2010/main" val="4025686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branch tropism</a:t>
            </a:r>
          </a:p>
        </p:txBody>
      </p:sp>
      <p:pic>
        <p:nvPicPr>
          <p:cNvPr id="4" name="Picture 3" descr="Screen Shot 2012-09-06 at 4.49.00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2150947" y="1895457"/>
            <a:ext cx="2455411" cy="2843587"/>
          </a:xfrm>
          <a:prstGeom prst="rect">
            <a:avLst/>
          </a:prstGeom>
        </p:spPr>
      </p:pic>
      <p:pic>
        <p:nvPicPr>
          <p:cNvPr id="5" name="Picture 4" descr="Screen Shot 2012-09-06 at 5.06.33 PM.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02164" y="1895457"/>
            <a:ext cx="2567541" cy="286755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1701013290"/>
              </p:ext>
            </p:extLst>
          </p:nvPr>
        </p:nvGraphicFramePr>
        <p:xfrm>
          <a:off x="1730274" y="5076087"/>
          <a:ext cx="6437608" cy="1381760"/>
        </p:xfrm>
        <a:graphic>
          <a:graphicData uri="http://schemas.openxmlformats.org/drawingml/2006/table">
            <a:tbl>
              <a:tblPr firstRow="1" bandRow="1">
                <a:tableStyleId>{5940675A-B579-460E-94D1-54222C63F5DA}</a:tableStyleId>
              </a:tblPr>
              <a:tblGrid>
                <a:gridCol w="1609402">
                  <a:extLst>
                    <a:ext uri="{9D8B030D-6E8A-4147-A177-3AD203B41FA5}">
                      <a16:colId xmlns:a16="http://schemas.microsoft.com/office/drawing/2014/main" val="20000"/>
                    </a:ext>
                  </a:extLst>
                </a:gridCol>
                <a:gridCol w="1609402">
                  <a:extLst>
                    <a:ext uri="{9D8B030D-6E8A-4147-A177-3AD203B41FA5}">
                      <a16:colId xmlns:a16="http://schemas.microsoft.com/office/drawing/2014/main" val="20001"/>
                    </a:ext>
                  </a:extLst>
                </a:gridCol>
                <a:gridCol w="1609402">
                  <a:extLst>
                    <a:ext uri="{9D8B030D-6E8A-4147-A177-3AD203B41FA5}">
                      <a16:colId xmlns:a16="http://schemas.microsoft.com/office/drawing/2014/main" val="20002"/>
                    </a:ext>
                  </a:extLst>
                </a:gridCol>
                <a:gridCol w="1609402">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t>Tropism</a:t>
                      </a:r>
                      <a:r>
                        <a:rPr lang="en-US" baseline="0" dirty="0"/>
                        <a:t> theta</a:t>
                      </a:r>
                      <a:endParaRPr lang="en-US" dirty="0"/>
                    </a:p>
                  </a:txBody>
                  <a:tcPr/>
                </a:tc>
                <a:tc>
                  <a:txBody>
                    <a:bodyPr/>
                    <a:lstStyle/>
                    <a:p>
                      <a:r>
                        <a:rPr lang="en-US" dirty="0"/>
                        <a:t>Tropism phi</a:t>
                      </a:r>
                    </a:p>
                  </a:txBody>
                  <a:tcPr/>
                </a:tc>
                <a:tc>
                  <a:txBody>
                    <a:bodyPr/>
                    <a:lstStyle/>
                    <a:p>
                      <a:r>
                        <a:rPr lang="en-US" dirty="0"/>
                        <a:t>Tropism</a:t>
                      </a:r>
                      <a:r>
                        <a:rPr lang="en-US" baseline="0" dirty="0"/>
                        <a:t> factor</a:t>
                      </a:r>
                      <a:endParaRPr lang="en-US" dirty="0"/>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0 </a:t>
                      </a:r>
                    </a:p>
                  </a:txBody>
                  <a:tcPr/>
                </a:tc>
                <a:tc>
                  <a:txBody>
                    <a:bodyPr/>
                    <a:lstStyle/>
                    <a:p>
                      <a:r>
                        <a:rPr lang="en-US" dirty="0"/>
                        <a:t>0</a:t>
                      </a:r>
                    </a:p>
                  </a:txBody>
                  <a:tcPr/>
                </a:tc>
                <a:tc>
                  <a:txBody>
                    <a:bodyPr/>
                    <a:lstStyle/>
                    <a:p>
                      <a:r>
                        <a:rPr lang="en-US" dirty="0"/>
                        <a:t>0.3</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90</a:t>
                      </a:r>
                    </a:p>
                  </a:txBody>
                  <a:tcPr/>
                </a:tc>
                <a:tc>
                  <a:txBody>
                    <a:bodyPr/>
                    <a:lstStyle/>
                    <a:p>
                      <a:r>
                        <a:rPr lang="en-US" dirty="0"/>
                        <a:t>0</a:t>
                      </a:r>
                    </a:p>
                  </a:txBody>
                  <a:tcPr/>
                </a:tc>
                <a:tc>
                  <a:txBody>
                    <a:bodyPr/>
                    <a:lstStyle/>
                    <a:p>
                      <a:r>
                        <a:rPr lang="en-US" dirty="0"/>
                        <a:t>0.8</a:t>
                      </a:r>
                    </a:p>
                  </a:txBody>
                  <a:tcPr/>
                </a:tc>
                <a:extLst>
                  <a:ext uri="{0D108BD9-81ED-4DB2-BD59-A6C34878D82A}">
                    <a16:rowId xmlns:a16="http://schemas.microsoft.com/office/drawing/2014/main" val="10002"/>
                  </a:ext>
                </a:extLst>
              </a:tr>
            </a:tbl>
          </a:graphicData>
        </a:graphic>
      </p:graphicFrame>
      <p:sp>
        <p:nvSpPr>
          <p:cNvPr id="3" name="Date Placeholder 2">
            <a:extLst>
              <a:ext uri="{FF2B5EF4-FFF2-40B4-BE49-F238E27FC236}">
                <a16:creationId xmlns:a16="http://schemas.microsoft.com/office/drawing/2014/main" id="{0794D122-C1BE-00BE-1731-B65180841A9B}"/>
              </a:ext>
            </a:extLst>
          </p:cNvPr>
          <p:cNvSpPr>
            <a:spLocks noGrp="1"/>
          </p:cNvSpPr>
          <p:nvPr>
            <p:ph type="dt" sz="half" idx="10"/>
          </p:nvPr>
        </p:nvSpPr>
        <p:spPr/>
        <p:txBody>
          <a:bodyPr/>
          <a:lstStyle/>
          <a:p>
            <a:fld id="{F487ED05-B682-B743-ADE1-A4F460F97012}" type="datetime1">
              <a:rPr lang="en-US" smtClean="0"/>
              <a:t>3/25/26</a:t>
            </a:fld>
            <a:endParaRPr lang="en-US"/>
          </a:p>
        </p:txBody>
      </p:sp>
      <p:sp>
        <p:nvSpPr>
          <p:cNvPr id="6" name="Footer Placeholder 5">
            <a:extLst>
              <a:ext uri="{FF2B5EF4-FFF2-40B4-BE49-F238E27FC236}">
                <a16:creationId xmlns:a16="http://schemas.microsoft.com/office/drawing/2014/main" id="{EA3E96B8-BCE1-E57B-126C-7422902B0DF5}"/>
              </a:ext>
            </a:extLst>
          </p:cNvPr>
          <p:cNvSpPr>
            <a:spLocks noGrp="1"/>
          </p:cNvSpPr>
          <p:nvPr>
            <p:ph type="ftr" sz="quarter" idx="11"/>
          </p:nvPr>
        </p:nvSpPr>
        <p:spPr/>
        <p:txBody>
          <a:bodyPr/>
          <a:lstStyle/>
          <a:p>
            <a:r>
              <a:rPr lang="en-US"/>
              <a:t>Does Not Contain CUI.</a:t>
            </a:r>
          </a:p>
        </p:txBody>
      </p:sp>
      <p:sp>
        <p:nvSpPr>
          <p:cNvPr id="8" name="Slide Number Placeholder 7">
            <a:extLst>
              <a:ext uri="{FF2B5EF4-FFF2-40B4-BE49-F238E27FC236}">
                <a16:creationId xmlns:a16="http://schemas.microsoft.com/office/drawing/2014/main" id="{B0768A14-A273-9FB5-2138-D27258A23057}"/>
              </a:ext>
            </a:extLst>
          </p:cNvPr>
          <p:cNvSpPr>
            <a:spLocks noGrp="1"/>
          </p:cNvSpPr>
          <p:nvPr>
            <p:ph type="sldNum" sz="quarter" idx="12"/>
          </p:nvPr>
        </p:nvSpPr>
        <p:spPr/>
        <p:txBody>
          <a:bodyPr/>
          <a:lstStyle/>
          <a:p>
            <a:fld id="{B4CE5C4C-399A-B444-9B2A-945D2610250E}" type="slidenum">
              <a:rPr lang="en-US" smtClean="0"/>
              <a:t>33</a:t>
            </a:fld>
            <a:endParaRPr lang="en-US"/>
          </a:p>
        </p:txBody>
      </p:sp>
    </p:spTree>
    <p:extLst>
      <p:ext uri="{BB962C8B-B14F-4D97-AF65-F5344CB8AC3E}">
        <p14:creationId xmlns:p14="http://schemas.microsoft.com/office/powerpoint/2010/main" val="1603388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branch Realization</a:t>
            </a:r>
          </a:p>
        </p:txBody>
      </p:sp>
      <p:sp>
        <p:nvSpPr>
          <p:cNvPr id="3" name="Content Placeholder 2"/>
          <p:cNvSpPr>
            <a:spLocks noGrp="1"/>
          </p:cNvSpPr>
          <p:nvPr>
            <p:ph idx="1"/>
          </p:nvPr>
        </p:nvSpPr>
        <p:spPr>
          <a:xfrm>
            <a:off x="457200" y="1383323"/>
            <a:ext cx="8229600" cy="4872785"/>
          </a:xfrm>
        </p:spPr>
        <p:txBody>
          <a:bodyPr>
            <a:normAutofit fontScale="40000" lnSpcReduction="20000"/>
          </a:bodyPr>
          <a:lstStyle/>
          <a:p>
            <a:r>
              <a:rPr lang="en-US" sz="4300" dirty="0"/>
              <a:t>Originally </a:t>
            </a:r>
            <a:r>
              <a:rPr lang="en-US" sz="4300" dirty="0" err="1"/>
              <a:t>Realise_Secondaries</a:t>
            </a:r>
            <a:r>
              <a:rPr lang="en-US" sz="4300" dirty="0"/>
              <a:t>() called Realise_PINE001_Secondaries() or Realise_DECIDUOUS001_Secondaries() based on a switch on tree species.</a:t>
            </a:r>
          </a:p>
          <a:p>
            <a:r>
              <a:rPr lang="en-US" sz="4300" dirty="0"/>
              <a:t>I rewrote </a:t>
            </a:r>
            <a:r>
              <a:rPr lang="en-US" sz="4300" dirty="0" err="1"/>
              <a:t>Realise_Secondaries</a:t>
            </a:r>
            <a:r>
              <a:rPr lang="en-US" sz="4300" dirty="0"/>
              <a:t>() so that it realizes secondary branches without the switch on species. Previous version of </a:t>
            </a:r>
            <a:r>
              <a:rPr lang="en-US" sz="4300" dirty="0" err="1"/>
              <a:t>Realise_Secondaries</a:t>
            </a:r>
            <a:r>
              <a:rPr lang="en-US" sz="4300" dirty="0"/>
              <a:t>() and </a:t>
            </a:r>
            <a:r>
              <a:rPr lang="en-US" sz="4300" dirty="0" err="1"/>
              <a:t>Realise_PINE</a:t>
            </a:r>
            <a:r>
              <a:rPr lang="en-US" sz="4300" dirty="0"/>
              <a:t>/</a:t>
            </a:r>
            <a:r>
              <a:rPr lang="en-US" sz="4300" dirty="0" err="1"/>
              <a:t>DECID_Secondaries</a:t>
            </a:r>
            <a:r>
              <a:rPr lang="en-US" sz="4300" dirty="0"/>
              <a:t>() were commented out.</a:t>
            </a:r>
          </a:p>
          <a:p>
            <a:r>
              <a:rPr lang="en-US" sz="4300" dirty="0"/>
              <a:t>Functions, </a:t>
            </a:r>
            <a:r>
              <a:rPr lang="en-US" sz="4300" dirty="0" err="1"/>
              <a:t>Secondary_Tropism_Factor</a:t>
            </a:r>
            <a:r>
              <a:rPr lang="en-US" sz="4300" dirty="0"/>
              <a:t>(), </a:t>
            </a:r>
            <a:r>
              <a:rPr lang="en-US" sz="4300" dirty="0" err="1"/>
              <a:t>Secondary_Tropism_Direction</a:t>
            </a:r>
            <a:r>
              <a:rPr lang="en-US" sz="4300" dirty="0"/>
              <a:t>(), </a:t>
            </a:r>
            <a:r>
              <a:rPr lang="en-US" sz="4300" dirty="0" err="1"/>
              <a:t>Secondary_Lamdacx</a:t>
            </a:r>
            <a:r>
              <a:rPr lang="en-US" sz="4300" dirty="0"/>
              <a:t>, </a:t>
            </a:r>
            <a:r>
              <a:rPr lang="en-US" sz="4300" dirty="0" err="1"/>
              <a:t>Secondary_Lamdacy</a:t>
            </a:r>
            <a:r>
              <a:rPr lang="en-US" sz="4300" dirty="0"/>
              <a:t>, </a:t>
            </a:r>
            <a:r>
              <a:rPr lang="en-US" sz="4300" dirty="0" err="1"/>
              <a:t>Secondary_Gamma</a:t>
            </a:r>
            <a:r>
              <a:rPr lang="en-US" sz="4300" dirty="0"/>
              <a:t> were all changed to allow reading of their respective fields from the species database.</a:t>
            </a:r>
          </a:p>
          <a:p>
            <a:r>
              <a:rPr lang="en-US" sz="4300" dirty="0"/>
              <a:t>Added these fields to the XML database file and added their reading to the </a:t>
            </a:r>
            <a:r>
              <a:rPr lang="en-US" sz="4300" dirty="0" err="1"/>
              <a:t>SpeciesDatabase</a:t>
            </a:r>
            <a:r>
              <a:rPr lang="en-US" sz="4300" dirty="0"/>
              <a:t> and </a:t>
            </a:r>
            <a:r>
              <a:rPr lang="en-US" sz="4300" dirty="0" err="1"/>
              <a:t>CategoryDataBase</a:t>
            </a:r>
            <a:r>
              <a:rPr lang="en-US" sz="4300" dirty="0"/>
              <a:t> structures, to make the primary description generic</a:t>
            </a:r>
          </a:p>
          <a:p>
            <a:endParaRPr lang="en-US" sz="4300" dirty="0"/>
          </a:p>
          <a:p>
            <a:r>
              <a:rPr lang="en-US" dirty="0" err="1">
                <a:latin typeface="Monaco"/>
                <a:cs typeface="Monaco"/>
              </a:rPr>
              <a:t>secondary_number_slope</a:t>
            </a:r>
            <a:r>
              <a:rPr lang="en-US" dirty="0">
                <a:latin typeface="Monaco"/>
                <a:cs typeface="Monaco"/>
              </a:rPr>
              <a:t>;    /* slope of linear fn. determining no. of secondary branch     */</a:t>
            </a:r>
            <a:endParaRPr lang="en-US" sz="3600" dirty="0">
              <a:latin typeface="Monaco"/>
              <a:cs typeface="Monaco"/>
            </a:endParaRPr>
          </a:p>
          <a:p>
            <a:r>
              <a:rPr lang="en-US" dirty="0" err="1">
                <a:latin typeface="Monaco"/>
                <a:cs typeface="Monaco"/>
              </a:rPr>
              <a:t>secondary_number_intercept</a:t>
            </a:r>
            <a:r>
              <a:rPr lang="en-US" dirty="0">
                <a:latin typeface="Monaco"/>
                <a:cs typeface="Monaco"/>
              </a:rPr>
              <a:t>;/* intercept of linear fn. determining no. of secondary branch */</a:t>
            </a:r>
            <a:endParaRPr lang="en-US" sz="3600" dirty="0">
              <a:latin typeface="Monaco"/>
              <a:cs typeface="Monaco"/>
            </a:endParaRPr>
          </a:p>
          <a:p>
            <a:r>
              <a:rPr lang="en-US" dirty="0" err="1">
                <a:latin typeface="Monaco"/>
                <a:cs typeface="Monaco"/>
              </a:rPr>
              <a:t>secondary_offset_fraction</a:t>
            </a:r>
            <a:r>
              <a:rPr lang="en-US" dirty="0">
                <a:latin typeface="Monaco"/>
                <a:cs typeface="Monaco"/>
              </a:rPr>
              <a:t>; /* fractional offset of secondary start location (</a:t>
            </a:r>
            <a:r>
              <a:rPr lang="en-US" dirty="0" err="1">
                <a:latin typeface="Monaco"/>
                <a:cs typeface="Monaco"/>
              </a:rPr>
              <a:t>tmin</a:t>
            </a:r>
            <a:r>
              <a:rPr lang="en-US" dirty="0">
                <a:latin typeface="Monaco"/>
                <a:cs typeface="Monaco"/>
              </a:rPr>
              <a:t>)        */</a:t>
            </a:r>
            <a:endParaRPr lang="en-US" sz="3600" dirty="0">
              <a:latin typeface="Monaco"/>
              <a:cs typeface="Monaco"/>
            </a:endParaRPr>
          </a:p>
          <a:p>
            <a:r>
              <a:rPr lang="en-US" dirty="0" err="1">
                <a:latin typeface="Monaco"/>
                <a:cs typeface="Monaco"/>
              </a:rPr>
              <a:t>secondary_avg_polar_angle</a:t>
            </a:r>
            <a:r>
              <a:rPr lang="en-US" dirty="0">
                <a:latin typeface="Monaco"/>
                <a:cs typeface="Monaco"/>
              </a:rPr>
              <a:t>; /* average polar angle of secondary branches                   */</a:t>
            </a:r>
            <a:endParaRPr lang="en-US" sz="3600" dirty="0">
              <a:latin typeface="Monaco"/>
              <a:cs typeface="Monaco"/>
            </a:endParaRPr>
          </a:p>
          <a:p>
            <a:r>
              <a:rPr lang="en-US" dirty="0" err="1">
                <a:latin typeface="Monaco"/>
                <a:cs typeface="Monaco"/>
              </a:rPr>
              <a:t>secondary_std_polar_angle</a:t>
            </a:r>
            <a:r>
              <a:rPr lang="en-US" dirty="0">
                <a:latin typeface="Monaco"/>
                <a:cs typeface="Monaco"/>
              </a:rPr>
              <a:t>; /* </a:t>
            </a:r>
            <a:r>
              <a:rPr lang="en-US" dirty="0" err="1">
                <a:latin typeface="Monaco"/>
                <a:cs typeface="Monaco"/>
              </a:rPr>
              <a:t>std</a:t>
            </a:r>
            <a:r>
              <a:rPr lang="en-US" dirty="0">
                <a:latin typeface="Monaco"/>
                <a:cs typeface="Monaco"/>
              </a:rPr>
              <a:t> </a:t>
            </a:r>
            <a:r>
              <a:rPr lang="en-US" dirty="0" err="1">
                <a:latin typeface="Monaco"/>
                <a:cs typeface="Monaco"/>
              </a:rPr>
              <a:t>dev</a:t>
            </a:r>
            <a:r>
              <a:rPr lang="en-US" dirty="0">
                <a:latin typeface="Monaco"/>
                <a:cs typeface="Monaco"/>
              </a:rPr>
              <a:t> of the polar angle of secondary branches            */</a:t>
            </a:r>
            <a:endParaRPr lang="en-US" sz="3600" dirty="0">
              <a:latin typeface="Monaco"/>
              <a:cs typeface="Monaco"/>
            </a:endParaRPr>
          </a:p>
          <a:p>
            <a:r>
              <a:rPr lang="en-US" dirty="0" err="1">
                <a:latin typeface="Monaco"/>
                <a:cs typeface="Monaco"/>
              </a:rPr>
              <a:t>secondary_radius_factor</a:t>
            </a:r>
            <a:r>
              <a:rPr lang="en-US" dirty="0">
                <a:latin typeface="Monaco"/>
                <a:cs typeface="Monaco"/>
              </a:rPr>
              <a:t>;   /* Start radius of </a:t>
            </a:r>
            <a:r>
              <a:rPr lang="en-US" dirty="0" err="1">
                <a:latin typeface="Monaco"/>
                <a:cs typeface="Monaco"/>
              </a:rPr>
              <a:t>secondaries</a:t>
            </a:r>
            <a:r>
              <a:rPr lang="en-US" dirty="0">
                <a:latin typeface="Monaco"/>
                <a:cs typeface="Monaco"/>
              </a:rPr>
              <a:t> as a factor of secondary radius */</a:t>
            </a:r>
            <a:endParaRPr lang="en-US" sz="3600" dirty="0">
              <a:latin typeface="Monaco"/>
              <a:cs typeface="Monaco"/>
            </a:endParaRPr>
          </a:p>
          <a:p>
            <a:r>
              <a:rPr lang="en-US" dirty="0" err="1">
                <a:latin typeface="Monaco"/>
                <a:cs typeface="Monaco"/>
              </a:rPr>
              <a:t>secondary_tropism_factor</a:t>
            </a:r>
            <a:r>
              <a:rPr lang="en-US" dirty="0">
                <a:latin typeface="Monaco"/>
                <a:cs typeface="Monaco"/>
              </a:rPr>
              <a:t>;  /* determines the secondary tropism                            */</a:t>
            </a:r>
            <a:endParaRPr lang="en-US" sz="3600" dirty="0">
              <a:latin typeface="Monaco"/>
              <a:cs typeface="Monaco"/>
            </a:endParaRPr>
          </a:p>
          <a:p>
            <a:r>
              <a:rPr lang="en-US" dirty="0" err="1">
                <a:latin typeface="Monaco"/>
                <a:cs typeface="Monaco"/>
              </a:rPr>
              <a:t>secondary_tropism_theta</a:t>
            </a:r>
            <a:r>
              <a:rPr lang="en-US" dirty="0">
                <a:latin typeface="Monaco"/>
                <a:cs typeface="Monaco"/>
              </a:rPr>
              <a:t>;   /* polar angle (theta) of the secondary tropism direction      */</a:t>
            </a:r>
            <a:endParaRPr lang="en-US" sz="3600" dirty="0">
              <a:latin typeface="Monaco"/>
              <a:cs typeface="Monaco"/>
            </a:endParaRPr>
          </a:p>
          <a:p>
            <a:r>
              <a:rPr lang="en-US" dirty="0" err="1">
                <a:latin typeface="Monaco"/>
                <a:cs typeface="Monaco"/>
              </a:rPr>
              <a:t>secondary_tropism_phi</a:t>
            </a:r>
            <a:r>
              <a:rPr lang="en-US" dirty="0">
                <a:latin typeface="Monaco"/>
                <a:cs typeface="Monaco"/>
              </a:rPr>
              <a:t>;     /* azimuthal angle (phi) of the secondary tropism direction    */</a:t>
            </a:r>
            <a:endParaRPr lang="en-US" sz="3600" dirty="0">
              <a:latin typeface="Monaco"/>
              <a:cs typeface="Monaco"/>
            </a:endParaRPr>
          </a:p>
          <a:p>
            <a:r>
              <a:rPr lang="en-US" dirty="0" err="1">
                <a:latin typeface="Monaco"/>
                <a:cs typeface="Monaco"/>
              </a:rPr>
              <a:t>secondary_lamdacx_stdev</a:t>
            </a:r>
            <a:r>
              <a:rPr lang="en-US" dirty="0">
                <a:latin typeface="Monaco"/>
                <a:cs typeface="Monaco"/>
              </a:rPr>
              <a:t>;   /* </a:t>
            </a:r>
            <a:r>
              <a:rPr lang="en-US" dirty="0" err="1">
                <a:latin typeface="Monaco"/>
                <a:cs typeface="Monaco"/>
              </a:rPr>
              <a:t>stdev</a:t>
            </a:r>
            <a:r>
              <a:rPr lang="en-US" dirty="0">
                <a:latin typeface="Monaco"/>
                <a:cs typeface="Monaco"/>
              </a:rPr>
              <a:t> of curvature wavelength in x-direction                */</a:t>
            </a:r>
            <a:endParaRPr lang="en-US" sz="3600" dirty="0">
              <a:latin typeface="Monaco"/>
              <a:cs typeface="Monaco"/>
            </a:endParaRPr>
          </a:p>
          <a:p>
            <a:r>
              <a:rPr lang="en-US" dirty="0" err="1">
                <a:latin typeface="Monaco"/>
                <a:cs typeface="Monaco"/>
              </a:rPr>
              <a:t>secondary_lamdacx_mean</a:t>
            </a:r>
            <a:r>
              <a:rPr lang="en-US" dirty="0">
                <a:latin typeface="Monaco"/>
                <a:cs typeface="Monaco"/>
              </a:rPr>
              <a:t>;    /* mean of curvature wavelength in x-direction                 */</a:t>
            </a:r>
            <a:endParaRPr lang="en-US" sz="3600" dirty="0">
              <a:latin typeface="Monaco"/>
              <a:cs typeface="Monaco"/>
            </a:endParaRPr>
          </a:p>
          <a:p>
            <a:r>
              <a:rPr lang="en-US" dirty="0" err="1">
                <a:latin typeface="Monaco"/>
                <a:cs typeface="Monaco"/>
              </a:rPr>
              <a:t>secondary_lamdacy_stdev</a:t>
            </a:r>
            <a:r>
              <a:rPr lang="en-US" dirty="0">
                <a:latin typeface="Monaco"/>
                <a:cs typeface="Monaco"/>
              </a:rPr>
              <a:t>;   /* </a:t>
            </a:r>
            <a:r>
              <a:rPr lang="en-US" dirty="0" err="1">
                <a:latin typeface="Monaco"/>
                <a:cs typeface="Monaco"/>
              </a:rPr>
              <a:t>stdev</a:t>
            </a:r>
            <a:r>
              <a:rPr lang="en-US" dirty="0">
                <a:latin typeface="Monaco"/>
                <a:cs typeface="Monaco"/>
              </a:rPr>
              <a:t> of curvature wavelength in y-direction                */</a:t>
            </a:r>
            <a:endParaRPr lang="en-US" sz="3600" dirty="0">
              <a:latin typeface="Monaco"/>
              <a:cs typeface="Monaco"/>
            </a:endParaRPr>
          </a:p>
          <a:p>
            <a:r>
              <a:rPr lang="en-US" dirty="0" err="1">
                <a:latin typeface="Monaco"/>
                <a:cs typeface="Monaco"/>
              </a:rPr>
              <a:t>secondary_lamdacy_mean</a:t>
            </a:r>
            <a:r>
              <a:rPr lang="en-US" dirty="0">
                <a:latin typeface="Monaco"/>
                <a:cs typeface="Monaco"/>
              </a:rPr>
              <a:t>;    /* mean of curvature wavelength in y-direction                 */</a:t>
            </a:r>
            <a:endParaRPr lang="en-US" sz="3600" dirty="0">
              <a:latin typeface="Monaco"/>
              <a:cs typeface="Monaco"/>
            </a:endParaRPr>
          </a:p>
          <a:p>
            <a:r>
              <a:rPr lang="en-US" dirty="0" err="1">
                <a:latin typeface="Monaco"/>
                <a:cs typeface="Monaco"/>
              </a:rPr>
              <a:t>secondary_gamma_stdev</a:t>
            </a:r>
            <a:r>
              <a:rPr lang="en-US" dirty="0">
                <a:latin typeface="Monaco"/>
                <a:cs typeface="Monaco"/>
              </a:rPr>
              <a:t>;     /* </a:t>
            </a:r>
            <a:r>
              <a:rPr lang="en-US" dirty="0" err="1">
                <a:latin typeface="Monaco"/>
                <a:cs typeface="Monaco"/>
              </a:rPr>
              <a:t>stdev</a:t>
            </a:r>
            <a:r>
              <a:rPr lang="en-US" dirty="0">
                <a:latin typeface="Monaco"/>
                <a:cs typeface="Monaco"/>
              </a:rPr>
              <a:t> of secondary branch curvature scale-factor            */</a:t>
            </a:r>
            <a:endParaRPr lang="en-US" sz="3600" dirty="0">
              <a:latin typeface="Monaco"/>
              <a:cs typeface="Monaco"/>
            </a:endParaRPr>
          </a:p>
          <a:p>
            <a:r>
              <a:rPr lang="en-US" dirty="0" err="1">
                <a:latin typeface="Monaco"/>
                <a:cs typeface="Monaco"/>
              </a:rPr>
              <a:t>secondary_gamma_mean</a:t>
            </a:r>
            <a:r>
              <a:rPr lang="en-US" dirty="0">
                <a:latin typeface="Monaco"/>
                <a:cs typeface="Monaco"/>
              </a:rPr>
              <a:t>;      /* mean of secondary branch curvature scale-factor             */</a:t>
            </a:r>
          </a:p>
        </p:txBody>
      </p:sp>
      <p:sp>
        <p:nvSpPr>
          <p:cNvPr id="4" name="Date Placeholder 3">
            <a:extLst>
              <a:ext uri="{FF2B5EF4-FFF2-40B4-BE49-F238E27FC236}">
                <a16:creationId xmlns:a16="http://schemas.microsoft.com/office/drawing/2014/main" id="{01E24FE4-0103-9CDB-FB1E-9F4F10001ADB}"/>
              </a:ext>
            </a:extLst>
          </p:cNvPr>
          <p:cNvSpPr>
            <a:spLocks noGrp="1"/>
          </p:cNvSpPr>
          <p:nvPr>
            <p:ph type="dt" sz="half" idx="10"/>
          </p:nvPr>
        </p:nvSpPr>
        <p:spPr/>
        <p:txBody>
          <a:bodyPr/>
          <a:lstStyle/>
          <a:p>
            <a:fld id="{F75599B3-C6A6-6B4A-B752-F46F26BA4B57}" type="datetime1">
              <a:rPr lang="en-US" smtClean="0"/>
              <a:t>3/25/26</a:t>
            </a:fld>
            <a:endParaRPr lang="en-US"/>
          </a:p>
        </p:txBody>
      </p:sp>
      <p:sp>
        <p:nvSpPr>
          <p:cNvPr id="5" name="Footer Placeholder 4">
            <a:extLst>
              <a:ext uri="{FF2B5EF4-FFF2-40B4-BE49-F238E27FC236}">
                <a16:creationId xmlns:a16="http://schemas.microsoft.com/office/drawing/2014/main" id="{38BF8006-1760-7C60-962B-11B275014028}"/>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B43C9312-2959-8FC5-6A3C-08EE3A881BA4}"/>
              </a:ext>
            </a:extLst>
          </p:cNvPr>
          <p:cNvSpPr>
            <a:spLocks noGrp="1"/>
          </p:cNvSpPr>
          <p:nvPr>
            <p:ph type="sldNum" sz="quarter" idx="12"/>
          </p:nvPr>
        </p:nvSpPr>
        <p:spPr/>
        <p:txBody>
          <a:bodyPr/>
          <a:lstStyle/>
          <a:p>
            <a:fld id="{B4CE5C4C-399A-B444-9B2A-945D2610250E}" type="slidenum">
              <a:rPr lang="en-US" smtClean="0"/>
              <a:t>34</a:t>
            </a:fld>
            <a:endParaRPr lang="en-US"/>
          </a:p>
        </p:txBody>
      </p:sp>
    </p:spTree>
    <p:extLst>
      <p:ext uri="{BB962C8B-B14F-4D97-AF65-F5344CB8AC3E}">
        <p14:creationId xmlns:p14="http://schemas.microsoft.com/office/powerpoint/2010/main" val="4159939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6857"/>
            <a:ext cx="8229600" cy="1143000"/>
          </a:xfrm>
        </p:spPr>
        <p:txBody>
          <a:bodyPr/>
          <a:lstStyle/>
          <a:p>
            <a:r>
              <a:rPr lang="en-US" dirty="0"/>
              <a:t>Secondary branch numbers</a:t>
            </a:r>
          </a:p>
        </p:txBody>
      </p:sp>
      <p:graphicFrame>
        <p:nvGraphicFramePr>
          <p:cNvPr id="8" name="Table 7"/>
          <p:cNvGraphicFramePr>
            <a:graphicFrameLocks noGrp="1"/>
          </p:cNvGraphicFramePr>
          <p:nvPr>
            <p:extLst>
              <p:ext uri="{D42A27DB-BD31-4B8C-83A1-F6EECF244321}">
                <p14:modId xmlns:p14="http://schemas.microsoft.com/office/powerpoint/2010/main" val="1680559786"/>
              </p:ext>
            </p:extLst>
          </p:nvPr>
        </p:nvGraphicFramePr>
        <p:xfrm>
          <a:off x="2372092" y="5331347"/>
          <a:ext cx="4399815" cy="1112520"/>
        </p:xfrm>
        <a:graphic>
          <a:graphicData uri="http://schemas.openxmlformats.org/drawingml/2006/table">
            <a:tbl>
              <a:tblPr firstRow="1" bandRow="1">
                <a:tableStyleId>{5940675A-B579-460E-94D1-54222C63F5DA}</a:tableStyleId>
              </a:tblPr>
              <a:tblGrid>
                <a:gridCol w="1466605">
                  <a:extLst>
                    <a:ext uri="{9D8B030D-6E8A-4147-A177-3AD203B41FA5}">
                      <a16:colId xmlns:a16="http://schemas.microsoft.com/office/drawing/2014/main" val="20000"/>
                    </a:ext>
                  </a:extLst>
                </a:gridCol>
                <a:gridCol w="1466605">
                  <a:extLst>
                    <a:ext uri="{9D8B030D-6E8A-4147-A177-3AD203B41FA5}">
                      <a16:colId xmlns:a16="http://schemas.microsoft.com/office/drawing/2014/main" val="20001"/>
                    </a:ext>
                  </a:extLst>
                </a:gridCol>
                <a:gridCol w="1466605">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Slope</a:t>
                      </a:r>
                    </a:p>
                  </a:txBody>
                  <a:tcPr/>
                </a:tc>
                <a:tc>
                  <a:txBody>
                    <a:bodyPr/>
                    <a:lstStyle/>
                    <a:p>
                      <a:r>
                        <a:rPr lang="en-US" dirty="0"/>
                        <a:t>Intercept</a:t>
                      </a:r>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1.045</a:t>
                      </a:r>
                    </a:p>
                  </a:txBody>
                  <a:tcPr/>
                </a:tc>
                <a:tc>
                  <a:txBody>
                    <a:bodyPr/>
                    <a:lstStyle/>
                    <a:p>
                      <a:r>
                        <a:rPr lang="en-US" dirty="0"/>
                        <a:t>0</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18.95864</a:t>
                      </a:r>
                    </a:p>
                  </a:txBody>
                  <a:tcPr/>
                </a:tc>
                <a:tc>
                  <a:txBody>
                    <a:bodyPr/>
                    <a:lstStyle/>
                    <a:p>
                      <a:r>
                        <a:rPr lang="en-US" dirty="0"/>
                        <a:t>-4.26094</a:t>
                      </a:r>
                    </a:p>
                  </a:txBody>
                  <a:tcPr/>
                </a:tc>
                <a:extLst>
                  <a:ext uri="{0D108BD9-81ED-4DB2-BD59-A6C34878D82A}">
                    <a16:rowId xmlns:a16="http://schemas.microsoft.com/office/drawing/2014/main" val="10002"/>
                  </a:ext>
                </a:extLst>
              </a:tr>
            </a:tbl>
          </a:graphicData>
        </a:graphic>
      </p:graphicFrame>
      <p:pic>
        <p:nvPicPr>
          <p:cNvPr id="3" name="Picture 2" descr="Screen Shot 2012-09-11 at 8.39.00 A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775148" y="855940"/>
            <a:ext cx="5762355" cy="4302584"/>
          </a:xfrm>
          <a:prstGeom prst="rect">
            <a:avLst/>
          </a:prstGeom>
        </p:spPr>
      </p:pic>
      <p:sp>
        <p:nvSpPr>
          <p:cNvPr id="4" name="Date Placeholder 3">
            <a:extLst>
              <a:ext uri="{FF2B5EF4-FFF2-40B4-BE49-F238E27FC236}">
                <a16:creationId xmlns:a16="http://schemas.microsoft.com/office/drawing/2014/main" id="{0199B7E3-635D-5BEB-D8F6-24262B5EF743}"/>
              </a:ext>
            </a:extLst>
          </p:cNvPr>
          <p:cNvSpPr>
            <a:spLocks noGrp="1"/>
          </p:cNvSpPr>
          <p:nvPr>
            <p:ph type="dt" sz="half" idx="10"/>
          </p:nvPr>
        </p:nvSpPr>
        <p:spPr/>
        <p:txBody>
          <a:bodyPr/>
          <a:lstStyle/>
          <a:p>
            <a:fld id="{6DA80A89-022A-CE4C-A88F-471175E49FAA}" type="datetime1">
              <a:rPr lang="en-US" smtClean="0"/>
              <a:t>3/25/26</a:t>
            </a:fld>
            <a:endParaRPr lang="en-US"/>
          </a:p>
        </p:txBody>
      </p:sp>
      <p:sp>
        <p:nvSpPr>
          <p:cNvPr id="5" name="Footer Placeholder 4">
            <a:extLst>
              <a:ext uri="{FF2B5EF4-FFF2-40B4-BE49-F238E27FC236}">
                <a16:creationId xmlns:a16="http://schemas.microsoft.com/office/drawing/2014/main" id="{94300320-246C-574B-253A-7B386339B5D2}"/>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B3CD402B-4827-D585-41C0-46AC6E93BC4F}"/>
              </a:ext>
            </a:extLst>
          </p:cNvPr>
          <p:cNvSpPr>
            <a:spLocks noGrp="1"/>
          </p:cNvSpPr>
          <p:nvPr>
            <p:ph type="sldNum" sz="quarter" idx="12"/>
          </p:nvPr>
        </p:nvSpPr>
        <p:spPr/>
        <p:txBody>
          <a:bodyPr/>
          <a:lstStyle/>
          <a:p>
            <a:fld id="{B4CE5C4C-399A-B444-9B2A-945D2610250E}" type="slidenum">
              <a:rPr lang="en-US" smtClean="0"/>
              <a:t>35</a:t>
            </a:fld>
            <a:endParaRPr lang="en-US"/>
          </a:p>
        </p:txBody>
      </p:sp>
    </p:spTree>
    <p:extLst>
      <p:ext uri="{BB962C8B-B14F-4D97-AF65-F5344CB8AC3E}">
        <p14:creationId xmlns:p14="http://schemas.microsoft.com/office/powerpoint/2010/main" val="129656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6857"/>
            <a:ext cx="8229600" cy="1143000"/>
          </a:xfrm>
        </p:spPr>
        <p:txBody>
          <a:bodyPr/>
          <a:lstStyle/>
          <a:p>
            <a:r>
              <a:rPr lang="en-US" dirty="0"/>
              <a:t>Secondary start offset</a:t>
            </a:r>
          </a:p>
        </p:txBody>
      </p:sp>
      <p:graphicFrame>
        <p:nvGraphicFramePr>
          <p:cNvPr id="8" name="Table 7"/>
          <p:cNvGraphicFramePr>
            <a:graphicFrameLocks noGrp="1"/>
          </p:cNvGraphicFramePr>
          <p:nvPr>
            <p:extLst>
              <p:ext uri="{D42A27DB-BD31-4B8C-83A1-F6EECF244321}">
                <p14:modId xmlns:p14="http://schemas.microsoft.com/office/powerpoint/2010/main" val="2558329492"/>
              </p:ext>
            </p:extLst>
          </p:nvPr>
        </p:nvGraphicFramePr>
        <p:xfrm>
          <a:off x="2548369" y="5032657"/>
          <a:ext cx="4145508" cy="1112520"/>
        </p:xfrm>
        <a:graphic>
          <a:graphicData uri="http://schemas.openxmlformats.org/drawingml/2006/table">
            <a:tbl>
              <a:tblPr firstRow="1" bandRow="1">
                <a:tableStyleId>{5940675A-B579-460E-94D1-54222C63F5DA}</a:tableStyleId>
              </a:tblPr>
              <a:tblGrid>
                <a:gridCol w="1557462">
                  <a:extLst>
                    <a:ext uri="{9D8B030D-6E8A-4147-A177-3AD203B41FA5}">
                      <a16:colId xmlns:a16="http://schemas.microsoft.com/office/drawing/2014/main" val="20000"/>
                    </a:ext>
                  </a:extLst>
                </a:gridCol>
                <a:gridCol w="2588046">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Fractional</a:t>
                      </a:r>
                      <a:r>
                        <a:rPr lang="en-US" baseline="0" dirty="0"/>
                        <a:t> offset [0-1]</a:t>
                      </a:r>
                      <a:endParaRPr lang="en-US" dirty="0"/>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0.8</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0.3</a:t>
                      </a:r>
                    </a:p>
                  </a:txBody>
                  <a:tcPr/>
                </a:tc>
                <a:extLst>
                  <a:ext uri="{0D108BD9-81ED-4DB2-BD59-A6C34878D82A}">
                    <a16:rowId xmlns:a16="http://schemas.microsoft.com/office/drawing/2014/main" val="10002"/>
                  </a:ext>
                </a:extLst>
              </a:tr>
            </a:tbl>
          </a:graphicData>
        </a:graphic>
      </p:graphicFrame>
      <p:pic>
        <p:nvPicPr>
          <p:cNvPr id="4" name="Picture 3" descr="Screen Shot 2012-09-11 at 9.26.08 A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9375" y="1398909"/>
            <a:ext cx="3449777" cy="3355133"/>
          </a:xfrm>
          <a:prstGeom prst="rect">
            <a:avLst/>
          </a:prstGeom>
        </p:spPr>
      </p:pic>
      <p:pic>
        <p:nvPicPr>
          <p:cNvPr id="5" name="Picture 4" descr="Screen Shot 2012-09-11 at 9.26.30 AM.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67484" y="1407438"/>
            <a:ext cx="3298382" cy="3346604"/>
          </a:xfrm>
          <a:prstGeom prst="rect">
            <a:avLst/>
          </a:prstGeom>
        </p:spPr>
      </p:pic>
      <p:sp>
        <p:nvSpPr>
          <p:cNvPr id="3" name="Date Placeholder 2">
            <a:extLst>
              <a:ext uri="{FF2B5EF4-FFF2-40B4-BE49-F238E27FC236}">
                <a16:creationId xmlns:a16="http://schemas.microsoft.com/office/drawing/2014/main" id="{F3D747DD-EB2E-8E2A-1BB1-E767858FC31B}"/>
              </a:ext>
            </a:extLst>
          </p:cNvPr>
          <p:cNvSpPr>
            <a:spLocks noGrp="1"/>
          </p:cNvSpPr>
          <p:nvPr>
            <p:ph type="dt" sz="half" idx="10"/>
          </p:nvPr>
        </p:nvSpPr>
        <p:spPr/>
        <p:txBody>
          <a:bodyPr/>
          <a:lstStyle/>
          <a:p>
            <a:fld id="{1A431FA0-894D-FA4D-8C7C-91358675B2FD}" type="datetime1">
              <a:rPr lang="en-US" smtClean="0"/>
              <a:t>3/25/26</a:t>
            </a:fld>
            <a:endParaRPr lang="en-US"/>
          </a:p>
        </p:txBody>
      </p:sp>
      <p:sp>
        <p:nvSpPr>
          <p:cNvPr id="6" name="Footer Placeholder 5">
            <a:extLst>
              <a:ext uri="{FF2B5EF4-FFF2-40B4-BE49-F238E27FC236}">
                <a16:creationId xmlns:a16="http://schemas.microsoft.com/office/drawing/2014/main" id="{C508F664-E6DD-0910-71A5-64FB52CA7457}"/>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FB065B42-85BA-A78F-5FB6-370A2D87FD2E}"/>
              </a:ext>
            </a:extLst>
          </p:cNvPr>
          <p:cNvSpPr>
            <a:spLocks noGrp="1"/>
          </p:cNvSpPr>
          <p:nvPr>
            <p:ph type="sldNum" sz="quarter" idx="12"/>
          </p:nvPr>
        </p:nvSpPr>
        <p:spPr/>
        <p:txBody>
          <a:bodyPr/>
          <a:lstStyle/>
          <a:p>
            <a:fld id="{B4CE5C4C-399A-B444-9B2A-945D2610250E}" type="slidenum">
              <a:rPr lang="en-US" smtClean="0"/>
              <a:t>36</a:t>
            </a:fld>
            <a:endParaRPr lang="en-US"/>
          </a:p>
        </p:txBody>
      </p:sp>
    </p:spTree>
    <p:extLst>
      <p:ext uri="{BB962C8B-B14F-4D97-AF65-F5344CB8AC3E}">
        <p14:creationId xmlns:p14="http://schemas.microsoft.com/office/powerpoint/2010/main" val="2837021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6857"/>
            <a:ext cx="8229600" cy="1143000"/>
          </a:xfrm>
        </p:spPr>
        <p:txBody>
          <a:bodyPr/>
          <a:lstStyle/>
          <a:p>
            <a:r>
              <a:rPr lang="en-US" dirty="0"/>
              <a:t>Secondary polar angles</a:t>
            </a:r>
          </a:p>
        </p:txBody>
      </p:sp>
      <p:graphicFrame>
        <p:nvGraphicFramePr>
          <p:cNvPr id="8" name="Table 7"/>
          <p:cNvGraphicFramePr>
            <a:graphicFrameLocks noGrp="1"/>
          </p:cNvGraphicFramePr>
          <p:nvPr>
            <p:extLst>
              <p:ext uri="{D42A27DB-BD31-4B8C-83A1-F6EECF244321}">
                <p14:modId xmlns:p14="http://schemas.microsoft.com/office/powerpoint/2010/main" val="1718790469"/>
              </p:ext>
            </p:extLst>
          </p:nvPr>
        </p:nvGraphicFramePr>
        <p:xfrm>
          <a:off x="2381998" y="5332064"/>
          <a:ext cx="4399815" cy="1112520"/>
        </p:xfrm>
        <a:graphic>
          <a:graphicData uri="http://schemas.openxmlformats.org/drawingml/2006/table">
            <a:tbl>
              <a:tblPr firstRow="1" bandRow="1">
                <a:tableStyleId>{5940675A-B579-460E-94D1-54222C63F5DA}</a:tableStyleId>
              </a:tblPr>
              <a:tblGrid>
                <a:gridCol w="1466605">
                  <a:extLst>
                    <a:ext uri="{9D8B030D-6E8A-4147-A177-3AD203B41FA5}">
                      <a16:colId xmlns:a16="http://schemas.microsoft.com/office/drawing/2014/main" val="20000"/>
                    </a:ext>
                  </a:extLst>
                </a:gridCol>
                <a:gridCol w="1466605">
                  <a:extLst>
                    <a:ext uri="{9D8B030D-6E8A-4147-A177-3AD203B41FA5}">
                      <a16:colId xmlns:a16="http://schemas.microsoft.com/office/drawing/2014/main" val="20001"/>
                    </a:ext>
                  </a:extLst>
                </a:gridCol>
                <a:gridCol w="1466605">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Mean</a:t>
                      </a:r>
                    </a:p>
                  </a:txBody>
                  <a:tcPr/>
                </a:tc>
                <a:tc>
                  <a:txBody>
                    <a:bodyPr/>
                    <a:lstStyle/>
                    <a:p>
                      <a:r>
                        <a:rPr lang="en-US" dirty="0" err="1"/>
                        <a:t>Std</a:t>
                      </a:r>
                      <a:r>
                        <a:rPr lang="en-US" baseline="0" dirty="0"/>
                        <a:t> dev.</a:t>
                      </a:r>
                      <a:endParaRPr lang="en-US" dirty="0"/>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45</a:t>
                      </a:r>
                    </a:p>
                  </a:txBody>
                  <a:tcPr/>
                </a:tc>
                <a:tc>
                  <a:txBody>
                    <a:bodyPr/>
                    <a:lstStyle/>
                    <a:p>
                      <a:r>
                        <a:rPr lang="en-US" dirty="0"/>
                        <a:t>20.0</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7</a:t>
                      </a:r>
                    </a:p>
                  </a:txBody>
                  <a:tcPr/>
                </a:tc>
                <a:tc>
                  <a:txBody>
                    <a:bodyPr/>
                    <a:lstStyle/>
                    <a:p>
                      <a:r>
                        <a:rPr lang="en-US" dirty="0"/>
                        <a:t>0.65</a:t>
                      </a:r>
                    </a:p>
                  </a:txBody>
                  <a:tcPr/>
                </a:tc>
                <a:extLst>
                  <a:ext uri="{0D108BD9-81ED-4DB2-BD59-A6C34878D82A}">
                    <a16:rowId xmlns:a16="http://schemas.microsoft.com/office/drawing/2014/main" val="10002"/>
                  </a:ext>
                </a:extLst>
              </a:tr>
            </a:tbl>
          </a:graphicData>
        </a:graphic>
      </p:graphicFrame>
      <p:pic>
        <p:nvPicPr>
          <p:cNvPr id="4" name="Picture 3" descr="Screen Shot 2012-09-11 at 10.44.33 A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6554" y="1372805"/>
            <a:ext cx="3021060" cy="3731898"/>
          </a:xfrm>
          <a:prstGeom prst="rect">
            <a:avLst/>
          </a:prstGeom>
        </p:spPr>
      </p:pic>
      <p:pic>
        <p:nvPicPr>
          <p:cNvPr id="5" name="Picture 4" descr="Screen Shot 2012-09-11 at 10.44.40 AM.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81906" y="1372805"/>
            <a:ext cx="3085880" cy="3745161"/>
          </a:xfrm>
          <a:prstGeom prst="rect">
            <a:avLst/>
          </a:prstGeom>
        </p:spPr>
      </p:pic>
      <p:sp>
        <p:nvSpPr>
          <p:cNvPr id="3" name="Date Placeholder 2">
            <a:extLst>
              <a:ext uri="{FF2B5EF4-FFF2-40B4-BE49-F238E27FC236}">
                <a16:creationId xmlns:a16="http://schemas.microsoft.com/office/drawing/2014/main" id="{7FFDB9ED-715F-746B-2D1A-62AB1C040343}"/>
              </a:ext>
            </a:extLst>
          </p:cNvPr>
          <p:cNvSpPr>
            <a:spLocks noGrp="1"/>
          </p:cNvSpPr>
          <p:nvPr>
            <p:ph type="dt" sz="half" idx="10"/>
          </p:nvPr>
        </p:nvSpPr>
        <p:spPr/>
        <p:txBody>
          <a:bodyPr/>
          <a:lstStyle/>
          <a:p>
            <a:fld id="{EF7BCA63-FA0E-A148-BEC8-52B90683815C}" type="datetime1">
              <a:rPr lang="en-US" smtClean="0"/>
              <a:t>3/25/26</a:t>
            </a:fld>
            <a:endParaRPr lang="en-US"/>
          </a:p>
        </p:txBody>
      </p:sp>
      <p:sp>
        <p:nvSpPr>
          <p:cNvPr id="6" name="Footer Placeholder 5">
            <a:extLst>
              <a:ext uri="{FF2B5EF4-FFF2-40B4-BE49-F238E27FC236}">
                <a16:creationId xmlns:a16="http://schemas.microsoft.com/office/drawing/2014/main" id="{9D203FC4-615F-4DC4-CAFB-F14EE167652B}"/>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B75344CE-E480-1785-9EC8-2325918910C8}"/>
              </a:ext>
            </a:extLst>
          </p:cNvPr>
          <p:cNvSpPr>
            <a:spLocks noGrp="1"/>
          </p:cNvSpPr>
          <p:nvPr>
            <p:ph type="sldNum" sz="quarter" idx="12"/>
          </p:nvPr>
        </p:nvSpPr>
        <p:spPr/>
        <p:txBody>
          <a:bodyPr/>
          <a:lstStyle/>
          <a:p>
            <a:fld id="{B4CE5C4C-399A-B444-9B2A-945D2610250E}" type="slidenum">
              <a:rPr lang="en-US" smtClean="0"/>
              <a:t>37</a:t>
            </a:fld>
            <a:endParaRPr lang="en-US"/>
          </a:p>
        </p:txBody>
      </p:sp>
    </p:spTree>
    <p:extLst>
      <p:ext uri="{BB962C8B-B14F-4D97-AF65-F5344CB8AC3E}">
        <p14:creationId xmlns:p14="http://schemas.microsoft.com/office/powerpoint/2010/main" val="2498897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6857"/>
            <a:ext cx="8229600" cy="728928"/>
          </a:xfrm>
        </p:spPr>
        <p:txBody>
          <a:bodyPr/>
          <a:lstStyle/>
          <a:p>
            <a:r>
              <a:rPr lang="en-US" dirty="0"/>
              <a:t>Secondary start radius factor</a:t>
            </a:r>
          </a:p>
        </p:txBody>
      </p:sp>
      <p:graphicFrame>
        <p:nvGraphicFramePr>
          <p:cNvPr id="8" name="Table 7"/>
          <p:cNvGraphicFramePr>
            <a:graphicFrameLocks noGrp="1"/>
          </p:cNvGraphicFramePr>
          <p:nvPr>
            <p:extLst>
              <p:ext uri="{D42A27DB-BD31-4B8C-83A1-F6EECF244321}">
                <p14:modId xmlns:p14="http://schemas.microsoft.com/office/powerpoint/2010/main" val="1938465741"/>
              </p:ext>
            </p:extLst>
          </p:nvPr>
        </p:nvGraphicFramePr>
        <p:xfrm>
          <a:off x="2386505" y="5076087"/>
          <a:ext cx="4283925" cy="1112520"/>
        </p:xfrm>
        <a:graphic>
          <a:graphicData uri="http://schemas.openxmlformats.org/drawingml/2006/table">
            <a:tbl>
              <a:tblPr firstRow="1" bandRow="1">
                <a:tableStyleId>{5940675A-B579-460E-94D1-54222C63F5DA}</a:tableStyleId>
              </a:tblPr>
              <a:tblGrid>
                <a:gridCol w="1531550">
                  <a:extLst>
                    <a:ext uri="{9D8B030D-6E8A-4147-A177-3AD203B41FA5}">
                      <a16:colId xmlns:a16="http://schemas.microsoft.com/office/drawing/2014/main" val="20000"/>
                    </a:ext>
                  </a:extLst>
                </a:gridCol>
                <a:gridCol w="2752375">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Radius Factor [0-1]</a:t>
                      </a:r>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0.1</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1.0</a:t>
                      </a:r>
                    </a:p>
                  </a:txBody>
                  <a:tcPr/>
                </a:tc>
                <a:extLst>
                  <a:ext uri="{0D108BD9-81ED-4DB2-BD59-A6C34878D82A}">
                    <a16:rowId xmlns:a16="http://schemas.microsoft.com/office/drawing/2014/main" val="10002"/>
                  </a:ext>
                </a:extLst>
              </a:tr>
            </a:tbl>
          </a:graphicData>
        </a:graphic>
      </p:graphicFrame>
      <p:pic>
        <p:nvPicPr>
          <p:cNvPr id="3" name="Picture 2" descr="Screen Shot 2012-09-11 at 1.40.44 P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9958" y="1519717"/>
            <a:ext cx="4393097" cy="3351606"/>
          </a:xfrm>
          <a:prstGeom prst="rect">
            <a:avLst/>
          </a:prstGeom>
        </p:spPr>
      </p:pic>
      <p:pic>
        <p:nvPicPr>
          <p:cNvPr id="6" name="Picture 5" descr="Screen Shot 2012-09-11 at 1.40.52 PM.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03211" y="1519716"/>
            <a:ext cx="4358740" cy="3351607"/>
          </a:xfrm>
          <a:prstGeom prst="rect">
            <a:avLst/>
          </a:prstGeom>
        </p:spPr>
      </p:pic>
      <p:sp>
        <p:nvSpPr>
          <p:cNvPr id="4" name="Date Placeholder 3">
            <a:extLst>
              <a:ext uri="{FF2B5EF4-FFF2-40B4-BE49-F238E27FC236}">
                <a16:creationId xmlns:a16="http://schemas.microsoft.com/office/drawing/2014/main" id="{0A21D4D3-D943-036E-CCBA-918184B9D8FD}"/>
              </a:ext>
            </a:extLst>
          </p:cNvPr>
          <p:cNvSpPr>
            <a:spLocks noGrp="1"/>
          </p:cNvSpPr>
          <p:nvPr>
            <p:ph type="dt" sz="half" idx="10"/>
          </p:nvPr>
        </p:nvSpPr>
        <p:spPr/>
        <p:txBody>
          <a:bodyPr/>
          <a:lstStyle/>
          <a:p>
            <a:fld id="{D3E8BA4F-BA8A-A440-8ABA-A42145D27830}" type="datetime1">
              <a:rPr lang="en-US" smtClean="0"/>
              <a:t>3/25/26</a:t>
            </a:fld>
            <a:endParaRPr lang="en-US"/>
          </a:p>
        </p:txBody>
      </p:sp>
      <p:sp>
        <p:nvSpPr>
          <p:cNvPr id="5" name="Footer Placeholder 4">
            <a:extLst>
              <a:ext uri="{FF2B5EF4-FFF2-40B4-BE49-F238E27FC236}">
                <a16:creationId xmlns:a16="http://schemas.microsoft.com/office/drawing/2014/main" id="{490ED861-D4C3-DE62-E540-BE50BBA5A88E}"/>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A3D73860-EE0D-9F76-E993-5CF48662EEEB}"/>
              </a:ext>
            </a:extLst>
          </p:cNvPr>
          <p:cNvSpPr>
            <a:spLocks noGrp="1"/>
          </p:cNvSpPr>
          <p:nvPr>
            <p:ph type="sldNum" sz="quarter" idx="12"/>
          </p:nvPr>
        </p:nvSpPr>
        <p:spPr/>
        <p:txBody>
          <a:bodyPr/>
          <a:lstStyle/>
          <a:p>
            <a:fld id="{B4CE5C4C-399A-B444-9B2A-945D2610250E}" type="slidenum">
              <a:rPr lang="en-US" smtClean="0"/>
              <a:t>38</a:t>
            </a:fld>
            <a:endParaRPr lang="en-US"/>
          </a:p>
        </p:txBody>
      </p:sp>
    </p:spTree>
    <p:extLst>
      <p:ext uri="{BB962C8B-B14F-4D97-AF65-F5344CB8AC3E}">
        <p14:creationId xmlns:p14="http://schemas.microsoft.com/office/powerpoint/2010/main" val="2764462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branch tropism</a:t>
            </a:r>
          </a:p>
        </p:txBody>
      </p:sp>
      <p:graphicFrame>
        <p:nvGraphicFramePr>
          <p:cNvPr id="7" name="Table 6"/>
          <p:cNvGraphicFramePr>
            <a:graphicFrameLocks noGrp="1"/>
          </p:cNvGraphicFramePr>
          <p:nvPr>
            <p:extLst>
              <p:ext uri="{D42A27DB-BD31-4B8C-83A1-F6EECF244321}">
                <p14:modId xmlns:p14="http://schemas.microsoft.com/office/powerpoint/2010/main" val="4111057340"/>
              </p:ext>
            </p:extLst>
          </p:nvPr>
        </p:nvGraphicFramePr>
        <p:xfrm>
          <a:off x="762000" y="5076087"/>
          <a:ext cx="7400020" cy="1112520"/>
        </p:xfrm>
        <a:graphic>
          <a:graphicData uri="http://schemas.openxmlformats.org/drawingml/2006/table">
            <a:tbl>
              <a:tblPr firstRow="1" bandRow="1">
                <a:tableStyleId>{5940675A-B579-460E-94D1-54222C63F5DA}</a:tableStyleId>
              </a:tblPr>
              <a:tblGrid>
                <a:gridCol w="1850005">
                  <a:extLst>
                    <a:ext uri="{9D8B030D-6E8A-4147-A177-3AD203B41FA5}">
                      <a16:colId xmlns:a16="http://schemas.microsoft.com/office/drawing/2014/main" val="20000"/>
                    </a:ext>
                  </a:extLst>
                </a:gridCol>
                <a:gridCol w="1850005">
                  <a:extLst>
                    <a:ext uri="{9D8B030D-6E8A-4147-A177-3AD203B41FA5}">
                      <a16:colId xmlns:a16="http://schemas.microsoft.com/office/drawing/2014/main" val="20001"/>
                    </a:ext>
                  </a:extLst>
                </a:gridCol>
                <a:gridCol w="1850005">
                  <a:extLst>
                    <a:ext uri="{9D8B030D-6E8A-4147-A177-3AD203B41FA5}">
                      <a16:colId xmlns:a16="http://schemas.microsoft.com/office/drawing/2014/main" val="20002"/>
                    </a:ext>
                  </a:extLst>
                </a:gridCol>
                <a:gridCol w="1850005">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t>Tropism</a:t>
                      </a:r>
                      <a:r>
                        <a:rPr lang="en-US" baseline="0" dirty="0"/>
                        <a:t> theta</a:t>
                      </a:r>
                      <a:endParaRPr lang="en-US" dirty="0"/>
                    </a:p>
                  </a:txBody>
                  <a:tcPr/>
                </a:tc>
                <a:tc>
                  <a:txBody>
                    <a:bodyPr/>
                    <a:lstStyle/>
                    <a:p>
                      <a:r>
                        <a:rPr lang="en-US" dirty="0"/>
                        <a:t>Tropism phi</a:t>
                      </a:r>
                    </a:p>
                  </a:txBody>
                  <a:tcPr/>
                </a:tc>
                <a:tc>
                  <a:txBody>
                    <a:bodyPr/>
                    <a:lstStyle/>
                    <a:p>
                      <a:r>
                        <a:rPr lang="en-US" dirty="0"/>
                        <a:t>Tropism</a:t>
                      </a:r>
                      <a:r>
                        <a:rPr lang="en-US" baseline="0" dirty="0"/>
                        <a:t> factor</a:t>
                      </a:r>
                      <a:endParaRPr lang="en-US" dirty="0"/>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0 </a:t>
                      </a:r>
                    </a:p>
                  </a:txBody>
                  <a:tcPr/>
                </a:tc>
                <a:tc>
                  <a:txBody>
                    <a:bodyPr/>
                    <a:lstStyle/>
                    <a:p>
                      <a:r>
                        <a:rPr lang="en-US" dirty="0"/>
                        <a:t>0</a:t>
                      </a:r>
                    </a:p>
                  </a:txBody>
                  <a:tcPr/>
                </a:tc>
                <a:tc>
                  <a:txBody>
                    <a:bodyPr/>
                    <a:lstStyle/>
                    <a:p>
                      <a:r>
                        <a:rPr lang="en-US" dirty="0"/>
                        <a:t>0.0</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90</a:t>
                      </a:r>
                    </a:p>
                  </a:txBody>
                  <a:tcPr/>
                </a:tc>
                <a:tc>
                  <a:txBody>
                    <a:bodyPr/>
                    <a:lstStyle/>
                    <a:p>
                      <a:r>
                        <a:rPr lang="en-US" dirty="0"/>
                        <a:t>0</a:t>
                      </a:r>
                    </a:p>
                  </a:txBody>
                  <a:tcPr/>
                </a:tc>
                <a:tc>
                  <a:txBody>
                    <a:bodyPr/>
                    <a:lstStyle/>
                    <a:p>
                      <a:r>
                        <a:rPr lang="en-US" dirty="0"/>
                        <a:t>0.9</a:t>
                      </a:r>
                    </a:p>
                  </a:txBody>
                  <a:tcPr/>
                </a:tc>
                <a:extLst>
                  <a:ext uri="{0D108BD9-81ED-4DB2-BD59-A6C34878D82A}">
                    <a16:rowId xmlns:a16="http://schemas.microsoft.com/office/drawing/2014/main" val="10002"/>
                  </a:ext>
                </a:extLst>
              </a:tr>
            </a:tbl>
          </a:graphicData>
        </a:graphic>
      </p:graphicFrame>
      <p:pic>
        <p:nvPicPr>
          <p:cNvPr id="3" name="Picture 2" descr="Screen Shot 2012-09-11 at 3.12.05 PM.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5882" y="1015896"/>
            <a:ext cx="3904979" cy="3967877"/>
          </a:xfrm>
          <a:prstGeom prst="rect">
            <a:avLst/>
          </a:prstGeom>
        </p:spPr>
      </p:pic>
      <p:pic>
        <p:nvPicPr>
          <p:cNvPr id="6" name="Picture 5" descr="Screen Shot 2012-09-11 at 3.12.12 PM.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1526" y="1015896"/>
            <a:ext cx="3524146" cy="3957281"/>
          </a:xfrm>
          <a:prstGeom prst="rect">
            <a:avLst/>
          </a:prstGeom>
        </p:spPr>
      </p:pic>
      <p:sp>
        <p:nvSpPr>
          <p:cNvPr id="4" name="Date Placeholder 3">
            <a:extLst>
              <a:ext uri="{FF2B5EF4-FFF2-40B4-BE49-F238E27FC236}">
                <a16:creationId xmlns:a16="http://schemas.microsoft.com/office/drawing/2014/main" id="{59687F9A-10E8-8645-498F-A88C10D89197}"/>
              </a:ext>
            </a:extLst>
          </p:cNvPr>
          <p:cNvSpPr>
            <a:spLocks noGrp="1"/>
          </p:cNvSpPr>
          <p:nvPr>
            <p:ph type="dt" sz="half" idx="10"/>
          </p:nvPr>
        </p:nvSpPr>
        <p:spPr/>
        <p:txBody>
          <a:bodyPr/>
          <a:lstStyle/>
          <a:p>
            <a:fld id="{7A72BBDF-DF7C-264B-AD5E-57D859851CFD}" type="datetime1">
              <a:rPr lang="en-US" smtClean="0"/>
              <a:t>3/25/26</a:t>
            </a:fld>
            <a:endParaRPr lang="en-US"/>
          </a:p>
        </p:txBody>
      </p:sp>
      <p:sp>
        <p:nvSpPr>
          <p:cNvPr id="5" name="Footer Placeholder 4">
            <a:extLst>
              <a:ext uri="{FF2B5EF4-FFF2-40B4-BE49-F238E27FC236}">
                <a16:creationId xmlns:a16="http://schemas.microsoft.com/office/drawing/2014/main" id="{2C11F904-B05C-DA05-9A69-C933E75D400D}"/>
              </a:ext>
            </a:extLst>
          </p:cNvPr>
          <p:cNvSpPr>
            <a:spLocks noGrp="1"/>
          </p:cNvSpPr>
          <p:nvPr>
            <p:ph type="ftr" sz="quarter" idx="11"/>
          </p:nvPr>
        </p:nvSpPr>
        <p:spPr/>
        <p:txBody>
          <a:bodyPr/>
          <a:lstStyle/>
          <a:p>
            <a:r>
              <a:rPr lang="en-US"/>
              <a:t>Does Not Contain CUI.</a:t>
            </a:r>
          </a:p>
        </p:txBody>
      </p:sp>
      <p:sp>
        <p:nvSpPr>
          <p:cNvPr id="8" name="Slide Number Placeholder 7">
            <a:extLst>
              <a:ext uri="{FF2B5EF4-FFF2-40B4-BE49-F238E27FC236}">
                <a16:creationId xmlns:a16="http://schemas.microsoft.com/office/drawing/2014/main" id="{F26BD109-D2C6-05CB-D1AE-E9174065FE99}"/>
              </a:ext>
            </a:extLst>
          </p:cNvPr>
          <p:cNvSpPr>
            <a:spLocks noGrp="1"/>
          </p:cNvSpPr>
          <p:nvPr>
            <p:ph type="sldNum" sz="quarter" idx="12"/>
          </p:nvPr>
        </p:nvSpPr>
        <p:spPr/>
        <p:txBody>
          <a:bodyPr/>
          <a:lstStyle/>
          <a:p>
            <a:fld id="{B4CE5C4C-399A-B444-9B2A-945D2610250E}" type="slidenum">
              <a:rPr lang="en-US" smtClean="0"/>
              <a:t>39</a:t>
            </a:fld>
            <a:endParaRPr lang="en-US"/>
          </a:p>
        </p:txBody>
      </p:sp>
    </p:spTree>
    <p:extLst>
      <p:ext uri="{BB962C8B-B14F-4D97-AF65-F5344CB8AC3E}">
        <p14:creationId xmlns:p14="http://schemas.microsoft.com/office/powerpoint/2010/main" val="2398749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branch curvature</a:t>
            </a:r>
          </a:p>
        </p:txBody>
      </p:sp>
      <p:graphicFrame>
        <p:nvGraphicFramePr>
          <p:cNvPr id="8" name="Table 7"/>
          <p:cNvGraphicFramePr>
            <a:graphicFrameLocks noGrp="1"/>
          </p:cNvGraphicFramePr>
          <p:nvPr/>
        </p:nvGraphicFramePr>
        <p:xfrm>
          <a:off x="3139753" y="5263731"/>
          <a:ext cx="2933210" cy="1112520"/>
        </p:xfrm>
        <a:graphic>
          <a:graphicData uri="http://schemas.openxmlformats.org/drawingml/2006/table">
            <a:tbl>
              <a:tblPr firstRow="1" bandRow="1">
                <a:tableStyleId>{5940675A-B579-460E-94D1-54222C63F5DA}</a:tableStyleId>
              </a:tblPr>
              <a:tblGrid>
                <a:gridCol w="1466605">
                  <a:extLst>
                    <a:ext uri="{9D8B030D-6E8A-4147-A177-3AD203B41FA5}">
                      <a16:colId xmlns:a16="http://schemas.microsoft.com/office/drawing/2014/main" val="20000"/>
                    </a:ext>
                  </a:extLst>
                </a:gridCol>
                <a:gridCol w="1466605">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Gamma</a:t>
                      </a:r>
                    </a:p>
                  </a:txBody>
                  <a:tcPr/>
                </a:tc>
                <a:extLst>
                  <a:ext uri="{0D108BD9-81ED-4DB2-BD59-A6C34878D82A}">
                    <a16:rowId xmlns:a16="http://schemas.microsoft.com/office/drawing/2014/main" val="10000"/>
                  </a:ext>
                </a:extLst>
              </a:tr>
              <a:tr h="370840">
                <a:tc>
                  <a:txBody>
                    <a:bodyPr/>
                    <a:lstStyle/>
                    <a:p>
                      <a:r>
                        <a:rPr lang="en-US" dirty="0"/>
                        <a:t>Left Tree</a:t>
                      </a:r>
                    </a:p>
                  </a:txBody>
                  <a:tcPr/>
                </a:tc>
                <a:tc>
                  <a:txBody>
                    <a:bodyPr/>
                    <a:lstStyle/>
                    <a:p>
                      <a:r>
                        <a:rPr lang="en-US" dirty="0"/>
                        <a:t>0.075</a:t>
                      </a:r>
                    </a:p>
                  </a:txBody>
                  <a:tcPr/>
                </a:tc>
                <a:extLst>
                  <a:ext uri="{0D108BD9-81ED-4DB2-BD59-A6C34878D82A}">
                    <a16:rowId xmlns:a16="http://schemas.microsoft.com/office/drawing/2014/main" val="10001"/>
                  </a:ext>
                </a:extLst>
              </a:tr>
              <a:tr h="370840">
                <a:tc>
                  <a:txBody>
                    <a:bodyPr/>
                    <a:lstStyle/>
                    <a:p>
                      <a:r>
                        <a:rPr lang="en-US" dirty="0"/>
                        <a:t>Right Tree</a:t>
                      </a:r>
                    </a:p>
                  </a:txBody>
                  <a:tcPr/>
                </a:tc>
                <a:tc>
                  <a:txBody>
                    <a:bodyPr/>
                    <a:lstStyle/>
                    <a:p>
                      <a:r>
                        <a:rPr lang="en-US" dirty="0"/>
                        <a:t>0.75</a:t>
                      </a:r>
                    </a:p>
                  </a:txBody>
                  <a:tcPr/>
                </a:tc>
                <a:extLst>
                  <a:ext uri="{0D108BD9-81ED-4DB2-BD59-A6C34878D82A}">
                    <a16:rowId xmlns:a16="http://schemas.microsoft.com/office/drawing/2014/main" val="10002"/>
                  </a:ext>
                </a:extLst>
              </a:tr>
            </a:tbl>
          </a:graphicData>
        </a:graphic>
      </p:graphicFrame>
      <p:pic>
        <p:nvPicPr>
          <p:cNvPr id="5" name="Picture 4" descr="Screen Shot 2012-09-11 at 3.28.51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90144" y="1296954"/>
            <a:ext cx="3911956" cy="3925516"/>
          </a:xfrm>
          <a:prstGeom prst="rect">
            <a:avLst/>
          </a:prstGeom>
        </p:spPr>
      </p:pic>
      <p:pic>
        <p:nvPicPr>
          <p:cNvPr id="6" name="Picture 5" descr="Screen Shot 2012-09-11 at 3.29.00 PM.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63438" y="1296954"/>
            <a:ext cx="3923362" cy="3930138"/>
          </a:xfrm>
          <a:prstGeom prst="rect">
            <a:avLst/>
          </a:prstGeom>
        </p:spPr>
      </p:pic>
      <p:sp>
        <p:nvSpPr>
          <p:cNvPr id="3" name="Date Placeholder 2">
            <a:extLst>
              <a:ext uri="{FF2B5EF4-FFF2-40B4-BE49-F238E27FC236}">
                <a16:creationId xmlns:a16="http://schemas.microsoft.com/office/drawing/2014/main" id="{653C27F8-861F-060D-9903-F13CB3A44553}"/>
              </a:ext>
            </a:extLst>
          </p:cNvPr>
          <p:cNvSpPr>
            <a:spLocks noGrp="1"/>
          </p:cNvSpPr>
          <p:nvPr>
            <p:ph type="dt" sz="half" idx="10"/>
          </p:nvPr>
        </p:nvSpPr>
        <p:spPr/>
        <p:txBody>
          <a:bodyPr/>
          <a:lstStyle/>
          <a:p>
            <a:fld id="{18DCBC94-8268-664A-BAE5-7490982A9276}" type="datetime1">
              <a:rPr lang="en-US" smtClean="0"/>
              <a:t>3/25/26</a:t>
            </a:fld>
            <a:endParaRPr lang="en-US"/>
          </a:p>
        </p:txBody>
      </p:sp>
      <p:sp>
        <p:nvSpPr>
          <p:cNvPr id="4" name="Footer Placeholder 3">
            <a:extLst>
              <a:ext uri="{FF2B5EF4-FFF2-40B4-BE49-F238E27FC236}">
                <a16:creationId xmlns:a16="http://schemas.microsoft.com/office/drawing/2014/main" id="{FAF6C91B-069E-3637-F78C-BEEB2A388756}"/>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86BA3BC2-A47A-0489-3BE1-FE1D3E5FF9EC}"/>
              </a:ext>
            </a:extLst>
          </p:cNvPr>
          <p:cNvSpPr>
            <a:spLocks noGrp="1"/>
          </p:cNvSpPr>
          <p:nvPr>
            <p:ph type="sldNum" sz="quarter" idx="12"/>
          </p:nvPr>
        </p:nvSpPr>
        <p:spPr/>
        <p:txBody>
          <a:bodyPr/>
          <a:lstStyle/>
          <a:p>
            <a:fld id="{B4CE5C4C-399A-B444-9B2A-945D2610250E}" type="slidenum">
              <a:rPr lang="en-US" smtClean="0"/>
              <a:t>40</a:t>
            </a:fld>
            <a:endParaRPr lang="en-US"/>
          </a:p>
        </p:txBody>
      </p:sp>
    </p:spTree>
    <p:extLst>
      <p:ext uri="{BB962C8B-B14F-4D97-AF65-F5344CB8AC3E}">
        <p14:creationId xmlns:p14="http://schemas.microsoft.com/office/powerpoint/2010/main" val="1614150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Tertiary branch Realizations</a:t>
            </a:r>
          </a:p>
        </p:txBody>
      </p:sp>
      <p:sp>
        <p:nvSpPr>
          <p:cNvPr id="3" name="Content Placeholder 2"/>
          <p:cNvSpPr>
            <a:spLocks noGrp="1"/>
          </p:cNvSpPr>
          <p:nvPr>
            <p:ph idx="1"/>
          </p:nvPr>
        </p:nvSpPr>
        <p:spPr>
          <a:xfrm>
            <a:off x="457200" y="1600200"/>
            <a:ext cx="8229600" cy="4872785"/>
          </a:xfrm>
        </p:spPr>
        <p:txBody>
          <a:bodyPr>
            <a:noAutofit/>
          </a:bodyPr>
          <a:lstStyle/>
          <a:p>
            <a:r>
              <a:rPr lang="en-US" sz="1800" dirty="0"/>
              <a:t>Rewrote </a:t>
            </a:r>
            <a:r>
              <a:rPr lang="en-US" sz="1800" dirty="0" err="1"/>
              <a:t>Realise_Tertiaries</a:t>
            </a:r>
            <a:r>
              <a:rPr lang="en-US" sz="1800" dirty="0"/>
              <a:t>() so that it realizes tertiary branches without switches on species. Previous version of </a:t>
            </a:r>
            <a:r>
              <a:rPr lang="en-US" sz="1800" dirty="0" err="1"/>
              <a:t>Realise_Tertiaries</a:t>
            </a:r>
            <a:r>
              <a:rPr lang="en-US" sz="1800" dirty="0"/>
              <a:t>() was commented out.</a:t>
            </a:r>
          </a:p>
          <a:p>
            <a:r>
              <a:rPr lang="en-US" sz="1800" dirty="0"/>
              <a:t>Functions, </a:t>
            </a:r>
            <a:r>
              <a:rPr lang="en-US" sz="1800" dirty="0" err="1"/>
              <a:t>Tertiary_Branch_Volume_Fraction</a:t>
            </a:r>
            <a:r>
              <a:rPr lang="en-US" sz="1800" dirty="0"/>
              <a:t>() and </a:t>
            </a:r>
            <a:r>
              <a:rPr lang="en-US" sz="1800" dirty="0" err="1"/>
              <a:t>Tertiary_Branch_Moisture</a:t>
            </a:r>
            <a:r>
              <a:rPr lang="en-US" sz="1800" dirty="0"/>
              <a:t>() were changed to allow reading of their respective fields from the species database.</a:t>
            </a:r>
          </a:p>
          <a:p>
            <a:r>
              <a:rPr lang="en-US" sz="1800" dirty="0"/>
              <a:t>Changed </a:t>
            </a:r>
            <a:r>
              <a:rPr lang="en-US" sz="1800" dirty="0" err="1"/>
              <a:t>Estimate_SAR_Tertiaries</a:t>
            </a:r>
            <a:r>
              <a:rPr lang="en-US" sz="1800" dirty="0"/>
              <a:t>() to use the correct tertiary branch parameters.</a:t>
            </a:r>
          </a:p>
          <a:p>
            <a:endParaRPr lang="en-US" sz="1800" dirty="0"/>
          </a:p>
          <a:p>
            <a:r>
              <a:rPr lang="en-US" sz="1800" dirty="0"/>
              <a:t>Added these fields to the XML database file and added their reading to the </a:t>
            </a:r>
            <a:r>
              <a:rPr lang="en-US" sz="1800" dirty="0" err="1"/>
              <a:t>SpeciesDatabase</a:t>
            </a:r>
            <a:r>
              <a:rPr lang="en-US" sz="1800" dirty="0"/>
              <a:t> and </a:t>
            </a:r>
            <a:r>
              <a:rPr lang="en-US" sz="1800" dirty="0" err="1"/>
              <a:t>CategoryDataBase</a:t>
            </a:r>
            <a:r>
              <a:rPr lang="en-US" sz="1800" dirty="0"/>
              <a:t> structures, to make the primary description generic</a:t>
            </a:r>
            <a:endParaRPr lang="en-US" sz="1600" dirty="0"/>
          </a:p>
          <a:p>
            <a:r>
              <a:rPr lang="en-US" sz="1000" dirty="0" err="1">
                <a:latin typeface="Monaco"/>
                <a:cs typeface="Monaco"/>
              </a:rPr>
              <a:t>tertiary_min_radius</a:t>
            </a:r>
            <a:r>
              <a:rPr lang="en-US" sz="1000" dirty="0">
                <a:latin typeface="Monaco"/>
                <a:cs typeface="Monaco"/>
              </a:rPr>
              <a:t>;       /* minimum radius of tertiary branches                         */</a:t>
            </a:r>
          </a:p>
          <a:p>
            <a:r>
              <a:rPr lang="en-US" sz="1000" dirty="0" err="1">
                <a:latin typeface="Monaco"/>
                <a:cs typeface="Monaco"/>
              </a:rPr>
              <a:t>tertiary_min_length</a:t>
            </a:r>
            <a:r>
              <a:rPr lang="en-US" sz="1000" dirty="0">
                <a:latin typeface="Monaco"/>
                <a:cs typeface="Monaco"/>
              </a:rPr>
              <a:t>;       /* minimum length of tertiary branches                         */</a:t>
            </a:r>
          </a:p>
          <a:p>
            <a:r>
              <a:rPr lang="en-US" sz="1000" dirty="0" err="1">
                <a:latin typeface="Monaco"/>
                <a:cs typeface="Monaco"/>
              </a:rPr>
              <a:t>tertiary_volume_fraction</a:t>
            </a:r>
            <a:r>
              <a:rPr lang="en-US" sz="1000" dirty="0">
                <a:latin typeface="Monaco"/>
                <a:cs typeface="Monaco"/>
              </a:rPr>
              <a:t>;  /* fraction of the crown volume occupied by tertiary branches  */</a:t>
            </a:r>
          </a:p>
          <a:p>
            <a:r>
              <a:rPr lang="en-US" sz="1000" dirty="0" err="1">
                <a:latin typeface="Monaco"/>
                <a:cs typeface="Monaco"/>
              </a:rPr>
              <a:t>tertiary_number_factor</a:t>
            </a:r>
            <a:r>
              <a:rPr lang="en-US" sz="1000" dirty="0">
                <a:latin typeface="Monaco"/>
                <a:cs typeface="Monaco"/>
              </a:rPr>
              <a:t>;    /* scale factor to determine maximum tertiary number           */</a:t>
            </a:r>
          </a:p>
          <a:p>
            <a:r>
              <a:rPr lang="en-US" sz="1000" dirty="0" err="1">
                <a:latin typeface="Monaco"/>
                <a:cs typeface="Monaco"/>
              </a:rPr>
              <a:t>tertiary_moisture</a:t>
            </a:r>
            <a:r>
              <a:rPr lang="en-US" sz="1000" dirty="0">
                <a:latin typeface="Monaco"/>
                <a:cs typeface="Monaco"/>
              </a:rPr>
              <a:t>;         /* fractional moisture in tertiary branches                    */</a:t>
            </a:r>
          </a:p>
        </p:txBody>
      </p:sp>
      <p:sp>
        <p:nvSpPr>
          <p:cNvPr id="4" name="Date Placeholder 3">
            <a:extLst>
              <a:ext uri="{FF2B5EF4-FFF2-40B4-BE49-F238E27FC236}">
                <a16:creationId xmlns:a16="http://schemas.microsoft.com/office/drawing/2014/main" id="{15890E50-C23C-12F3-8284-8E6EEE744718}"/>
              </a:ext>
            </a:extLst>
          </p:cNvPr>
          <p:cNvSpPr>
            <a:spLocks noGrp="1"/>
          </p:cNvSpPr>
          <p:nvPr>
            <p:ph type="dt" sz="half" idx="10"/>
          </p:nvPr>
        </p:nvSpPr>
        <p:spPr/>
        <p:txBody>
          <a:bodyPr/>
          <a:lstStyle/>
          <a:p>
            <a:fld id="{3925861C-92E1-E443-A342-9F3FE9E94DC1}" type="datetime1">
              <a:rPr lang="en-US" smtClean="0"/>
              <a:t>3/25/26</a:t>
            </a:fld>
            <a:endParaRPr lang="en-US"/>
          </a:p>
        </p:txBody>
      </p:sp>
      <p:sp>
        <p:nvSpPr>
          <p:cNvPr id="5" name="Footer Placeholder 4">
            <a:extLst>
              <a:ext uri="{FF2B5EF4-FFF2-40B4-BE49-F238E27FC236}">
                <a16:creationId xmlns:a16="http://schemas.microsoft.com/office/drawing/2014/main" id="{C2E6D49D-8275-6230-161F-D0740047EDC6}"/>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9CAD68AE-5211-D15D-E1E9-9DBF9D652220}"/>
              </a:ext>
            </a:extLst>
          </p:cNvPr>
          <p:cNvSpPr>
            <a:spLocks noGrp="1"/>
          </p:cNvSpPr>
          <p:nvPr>
            <p:ph type="sldNum" sz="quarter" idx="12"/>
          </p:nvPr>
        </p:nvSpPr>
        <p:spPr/>
        <p:txBody>
          <a:bodyPr/>
          <a:lstStyle/>
          <a:p>
            <a:fld id="{B4CE5C4C-399A-B444-9B2A-945D2610250E}" type="slidenum">
              <a:rPr lang="en-US" smtClean="0"/>
              <a:t>41</a:t>
            </a:fld>
            <a:endParaRPr lang="en-US"/>
          </a:p>
        </p:txBody>
      </p:sp>
    </p:spTree>
    <p:extLst>
      <p:ext uri="{BB962C8B-B14F-4D97-AF65-F5344CB8AC3E}">
        <p14:creationId xmlns:p14="http://schemas.microsoft.com/office/powerpoint/2010/main" val="2364942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Tertiary branch controls</a:t>
            </a:r>
          </a:p>
        </p:txBody>
      </p:sp>
      <p:pic>
        <p:nvPicPr>
          <p:cNvPr id="3" name="Picture 2" descr="Screen Shot 2012-09-12 at 2.22.41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57465" y="1356809"/>
            <a:ext cx="6388411" cy="4218635"/>
          </a:xfrm>
          <a:prstGeom prst="rect">
            <a:avLst/>
          </a:prstGeom>
        </p:spPr>
      </p:pic>
      <p:sp>
        <p:nvSpPr>
          <p:cNvPr id="7" name="TextBox 6"/>
          <p:cNvSpPr txBox="1"/>
          <p:nvPr/>
        </p:nvSpPr>
        <p:spPr>
          <a:xfrm>
            <a:off x="715364" y="5665709"/>
            <a:ext cx="7306358" cy="954107"/>
          </a:xfrm>
          <a:prstGeom prst="rect">
            <a:avLst/>
          </a:prstGeom>
          <a:noFill/>
        </p:spPr>
        <p:txBody>
          <a:bodyPr wrap="square" rtlCol="0">
            <a:spAutoFit/>
          </a:bodyPr>
          <a:lstStyle/>
          <a:p>
            <a:pPr marL="285750" indent="-285750">
              <a:buFont typeface="Arial"/>
              <a:buChar char="•"/>
            </a:pPr>
            <a:r>
              <a:rPr lang="en-US" sz="1400" dirty="0"/>
              <a:t>Size (radius, length) are calculated based on primary and secondary branch dimensions. Although minimum dimensions can now be specified.</a:t>
            </a:r>
          </a:p>
          <a:p>
            <a:pPr marL="285750" indent="-285750">
              <a:buFont typeface="Arial"/>
              <a:buChar char="•"/>
            </a:pPr>
            <a:r>
              <a:rPr lang="en-US" sz="1400" dirty="0"/>
              <a:t>Tertiary volume fraction, canopy size, branch volume, and Maximum Number of realizations (for Monte Carlo purposes) decide the actual number of branches.  </a:t>
            </a:r>
          </a:p>
        </p:txBody>
      </p:sp>
      <p:sp>
        <p:nvSpPr>
          <p:cNvPr id="4" name="Date Placeholder 3">
            <a:extLst>
              <a:ext uri="{FF2B5EF4-FFF2-40B4-BE49-F238E27FC236}">
                <a16:creationId xmlns:a16="http://schemas.microsoft.com/office/drawing/2014/main" id="{41150A02-4591-B191-3969-9003D2946378}"/>
              </a:ext>
            </a:extLst>
          </p:cNvPr>
          <p:cNvSpPr>
            <a:spLocks noGrp="1"/>
          </p:cNvSpPr>
          <p:nvPr>
            <p:ph type="dt" sz="half" idx="10"/>
          </p:nvPr>
        </p:nvSpPr>
        <p:spPr/>
        <p:txBody>
          <a:bodyPr/>
          <a:lstStyle/>
          <a:p>
            <a:fld id="{DBB71B75-BD07-DE48-B7CA-7D1A9A979B77}" type="datetime1">
              <a:rPr lang="en-US" smtClean="0"/>
              <a:t>3/25/26</a:t>
            </a:fld>
            <a:endParaRPr lang="en-US"/>
          </a:p>
        </p:txBody>
      </p:sp>
      <p:sp>
        <p:nvSpPr>
          <p:cNvPr id="5" name="Footer Placeholder 4">
            <a:extLst>
              <a:ext uri="{FF2B5EF4-FFF2-40B4-BE49-F238E27FC236}">
                <a16:creationId xmlns:a16="http://schemas.microsoft.com/office/drawing/2014/main" id="{BF1B0AD9-D2F6-7781-649E-2468A3807DC6}"/>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DDF04828-8907-4A10-B312-FD25A462446D}"/>
              </a:ext>
            </a:extLst>
          </p:cNvPr>
          <p:cNvSpPr>
            <a:spLocks noGrp="1"/>
          </p:cNvSpPr>
          <p:nvPr>
            <p:ph type="sldNum" sz="quarter" idx="12"/>
          </p:nvPr>
        </p:nvSpPr>
        <p:spPr/>
        <p:txBody>
          <a:bodyPr/>
          <a:lstStyle/>
          <a:p>
            <a:fld id="{B4CE5C4C-399A-B444-9B2A-945D2610250E}" type="slidenum">
              <a:rPr lang="en-US" smtClean="0"/>
              <a:t>42</a:t>
            </a:fld>
            <a:endParaRPr lang="en-US"/>
          </a:p>
        </p:txBody>
      </p:sp>
    </p:spTree>
    <p:extLst>
      <p:ext uri="{BB962C8B-B14F-4D97-AF65-F5344CB8AC3E}">
        <p14:creationId xmlns:p14="http://schemas.microsoft.com/office/powerpoint/2010/main" val="3277670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Foliage Realizations</a:t>
            </a:r>
          </a:p>
        </p:txBody>
      </p:sp>
      <p:sp>
        <p:nvSpPr>
          <p:cNvPr id="3" name="Content Placeholder 2"/>
          <p:cNvSpPr>
            <a:spLocks noGrp="1"/>
          </p:cNvSpPr>
          <p:nvPr>
            <p:ph idx="1"/>
          </p:nvPr>
        </p:nvSpPr>
        <p:spPr>
          <a:xfrm>
            <a:off x="457200" y="1600200"/>
            <a:ext cx="8229600" cy="4872785"/>
          </a:xfrm>
        </p:spPr>
        <p:txBody>
          <a:bodyPr>
            <a:noAutofit/>
          </a:bodyPr>
          <a:lstStyle/>
          <a:p>
            <a:r>
              <a:rPr lang="en-US" sz="1800" dirty="0"/>
              <a:t>Rewrote </a:t>
            </a:r>
            <a:r>
              <a:rPr lang="en-US" sz="1800" dirty="0" err="1"/>
              <a:t>Realise_Foliage</a:t>
            </a:r>
            <a:r>
              <a:rPr lang="en-US" sz="1800" dirty="0"/>
              <a:t>() so that it realizes leaves without switches on species. Previous version of </a:t>
            </a:r>
            <a:r>
              <a:rPr lang="en-US" sz="1800" dirty="0" err="1"/>
              <a:t>Realise_Foliage</a:t>
            </a:r>
            <a:r>
              <a:rPr lang="en-US" sz="1800" dirty="0"/>
              <a:t>() was commented out.</a:t>
            </a:r>
          </a:p>
          <a:p>
            <a:r>
              <a:rPr lang="en-US" sz="1800" dirty="0"/>
              <a:t>Functions, </a:t>
            </a:r>
            <a:r>
              <a:rPr lang="en-US" sz="1800" dirty="0" err="1"/>
              <a:t>Foliage_Volume_Fraction</a:t>
            </a:r>
            <a:r>
              <a:rPr lang="en-US" sz="1800" dirty="0"/>
              <a:t>() and </a:t>
            </a:r>
            <a:r>
              <a:rPr lang="en-US" sz="1800" dirty="0" err="1"/>
              <a:t>Foliage_Moisture</a:t>
            </a:r>
            <a:r>
              <a:rPr lang="en-US" sz="1800" dirty="0"/>
              <a:t>() were changed to allow reading of their respective fields from the species database.</a:t>
            </a:r>
          </a:p>
          <a:p>
            <a:r>
              <a:rPr lang="en-US" sz="1800" dirty="0"/>
              <a:t>Added function </a:t>
            </a:r>
            <a:r>
              <a:rPr lang="en-US" sz="1800" dirty="0" err="1"/>
              <a:t>Leaf_Size</a:t>
            </a:r>
            <a:r>
              <a:rPr lang="en-US" sz="1800" dirty="0"/>
              <a:t>() instead of having Leaf_Dimension_1/2/3() that reads in correct parameters with randomized leaf sizes</a:t>
            </a:r>
          </a:p>
          <a:p>
            <a:r>
              <a:rPr lang="en-US" sz="1800" dirty="0"/>
              <a:t>Changed </a:t>
            </a:r>
            <a:r>
              <a:rPr lang="en-US" sz="1800" dirty="0" err="1"/>
              <a:t>Estimate_SAR_Foliage</a:t>
            </a:r>
            <a:r>
              <a:rPr lang="en-US" sz="1800" dirty="0"/>
              <a:t>() to use the correct tertiary branch parameters.</a:t>
            </a:r>
          </a:p>
          <a:p>
            <a:r>
              <a:rPr lang="en-US" sz="1800" dirty="0"/>
              <a:t>Added these fields to the XML database file and added their reading to the </a:t>
            </a:r>
            <a:r>
              <a:rPr lang="en-US" sz="1800" dirty="0" err="1"/>
              <a:t>SpeciesDatabase</a:t>
            </a:r>
            <a:r>
              <a:rPr lang="en-US" sz="1800" dirty="0"/>
              <a:t> and </a:t>
            </a:r>
            <a:r>
              <a:rPr lang="en-US" sz="1800" dirty="0" err="1"/>
              <a:t>CategoryDataBase</a:t>
            </a:r>
            <a:r>
              <a:rPr lang="en-US" sz="1800" dirty="0"/>
              <a:t> structures, to make the primary description generic</a:t>
            </a:r>
            <a:endParaRPr lang="en-US" sz="1600" dirty="0"/>
          </a:p>
          <a:p>
            <a:r>
              <a:rPr lang="en-US" sz="1000" dirty="0" err="1">
                <a:latin typeface="Monaco"/>
                <a:cs typeface="Monaco"/>
              </a:rPr>
              <a:t>leaf_shape</a:t>
            </a:r>
            <a:r>
              <a:rPr lang="en-US" sz="1000" dirty="0">
                <a:latin typeface="Monaco"/>
                <a:cs typeface="Monaco"/>
              </a:rPr>
              <a:t>;                /* leaf shape code, either needle or broadleaf                 */</a:t>
            </a:r>
          </a:p>
          <a:p>
            <a:r>
              <a:rPr lang="en-US" sz="1000" dirty="0" err="1">
                <a:latin typeface="Monaco"/>
                <a:cs typeface="Monaco"/>
              </a:rPr>
              <a:t>leaf_width_mean</a:t>
            </a:r>
            <a:r>
              <a:rPr lang="en-US" sz="1000" dirty="0">
                <a:latin typeface="Monaco"/>
                <a:cs typeface="Monaco"/>
              </a:rPr>
              <a:t>;           /* mean leaf width                                             */</a:t>
            </a:r>
          </a:p>
          <a:p>
            <a:r>
              <a:rPr lang="en-US" sz="1000" dirty="0" err="1">
                <a:latin typeface="Monaco"/>
                <a:cs typeface="Monaco"/>
              </a:rPr>
              <a:t>leaf_width_stdev</a:t>
            </a:r>
            <a:r>
              <a:rPr lang="en-US" sz="1000" dirty="0">
                <a:latin typeface="Monaco"/>
                <a:cs typeface="Monaco"/>
              </a:rPr>
              <a:t>;          /* standard deviation of leaf width                            */</a:t>
            </a:r>
          </a:p>
          <a:p>
            <a:r>
              <a:rPr lang="en-US" sz="1000" dirty="0" err="1">
                <a:latin typeface="Monaco"/>
                <a:cs typeface="Monaco"/>
              </a:rPr>
              <a:t>leaf_height_mean</a:t>
            </a:r>
            <a:r>
              <a:rPr lang="en-US" sz="1000" dirty="0">
                <a:latin typeface="Monaco"/>
                <a:cs typeface="Monaco"/>
              </a:rPr>
              <a:t>;          /* mean leaf height                                            */</a:t>
            </a:r>
          </a:p>
          <a:p>
            <a:r>
              <a:rPr lang="en-US" sz="1000" dirty="0" err="1">
                <a:latin typeface="Monaco"/>
                <a:cs typeface="Monaco"/>
              </a:rPr>
              <a:t>leaf_height_stdev</a:t>
            </a:r>
            <a:r>
              <a:rPr lang="en-US" sz="1000" dirty="0">
                <a:latin typeface="Monaco"/>
                <a:cs typeface="Monaco"/>
              </a:rPr>
              <a:t>;         /* standard deviation of leaf height                           */</a:t>
            </a:r>
          </a:p>
          <a:p>
            <a:r>
              <a:rPr lang="en-US" sz="1000" dirty="0" err="1">
                <a:latin typeface="Monaco"/>
                <a:cs typeface="Monaco"/>
              </a:rPr>
              <a:t>leaf_thickness_mean</a:t>
            </a:r>
            <a:r>
              <a:rPr lang="en-US" sz="1000" dirty="0">
                <a:latin typeface="Monaco"/>
                <a:cs typeface="Monaco"/>
              </a:rPr>
              <a:t>;       /* mean leaf thickness                                         */</a:t>
            </a:r>
          </a:p>
          <a:p>
            <a:r>
              <a:rPr lang="en-US" sz="1000" dirty="0" err="1">
                <a:latin typeface="Monaco"/>
                <a:cs typeface="Monaco"/>
              </a:rPr>
              <a:t>leaf_thickness_stdev</a:t>
            </a:r>
            <a:r>
              <a:rPr lang="en-US" sz="1000" dirty="0">
                <a:latin typeface="Monaco"/>
                <a:cs typeface="Monaco"/>
              </a:rPr>
              <a:t>;      /* standard deviation of leaf thickness                        */</a:t>
            </a:r>
          </a:p>
          <a:p>
            <a:r>
              <a:rPr lang="en-US" sz="1000" dirty="0" err="1">
                <a:latin typeface="Monaco"/>
                <a:cs typeface="Monaco"/>
              </a:rPr>
              <a:t>leaf_volume_fraction</a:t>
            </a:r>
            <a:r>
              <a:rPr lang="en-US" sz="1000" dirty="0">
                <a:latin typeface="Monaco"/>
                <a:cs typeface="Monaco"/>
              </a:rPr>
              <a:t>;      /* fraction of the crown volume occupied by leaves             */</a:t>
            </a:r>
          </a:p>
          <a:p>
            <a:r>
              <a:rPr lang="en-US" sz="1000" dirty="0" err="1">
                <a:latin typeface="Monaco"/>
                <a:cs typeface="Monaco"/>
              </a:rPr>
              <a:t>leaf_number_factor</a:t>
            </a:r>
            <a:r>
              <a:rPr lang="en-US" sz="1000" dirty="0">
                <a:latin typeface="Monaco"/>
                <a:cs typeface="Monaco"/>
              </a:rPr>
              <a:t>;        /* scale factor to determine maximum number of leaves          */</a:t>
            </a:r>
          </a:p>
          <a:p>
            <a:r>
              <a:rPr lang="fr-FR" sz="1000" dirty="0" err="1">
                <a:latin typeface="Monaco"/>
                <a:cs typeface="Monaco"/>
              </a:rPr>
              <a:t>leaf_moisture</a:t>
            </a:r>
            <a:r>
              <a:rPr lang="fr-FR" sz="1000" dirty="0">
                <a:latin typeface="Monaco"/>
                <a:cs typeface="Monaco"/>
              </a:rPr>
              <a:t>;             /* </a:t>
            </a:r>
            <a:r>
              <a:rPr lang="fr-FR" sz="1000" dirty="0" err="1">
                <a:latin typeface="Monaco"/>
                <a:cs typeface="Monaco"/>
              </a:rPr>
              <a:t>fractional</a:t>
            </a:r>
            <a:r>
              <a:rPr lang="fr-FR" sz="1000" dirty="0">
                <a:latin typeface="Monaco"/>
                <a:cs typeface="Monaco"/>
              </a:rPr>
              <a:t> </a:t>
            </a:r>
            <a:r>
              <a:rPr lang="fr-FR" sz="1000" dirty="0" err="1">
                <a:latin typeface="Monaco"/>
                <a:cs typeface="Monaco"/>
              </a:rPr>
              <a:t>moisture</a:t>
            </a:r>
            <a:r>
              <a:rPr lang="fr-FR" sz="1000" dirty="0">
                <a:latin typeface="Monaco"/>
                <a:cs typeface="Monaco"/>
              </a:rPr>
              <a:t> in </a:t>
            </a:r>
            <a:r>
              <a:rPr lang="fr-FR" sz="1000" dirty="0" err="1">
                <a:latin typeface="Monaco"/>
                <a:cs typeface="Monaco"/>
              </a:rPr>
              <a:t>leaves</a:t>
            </a:r>
            <a:r>
              <a:rPr lang="fr-FR" sz="1000" dirty="0">
                <a:latin typeface="Monaco"/>
                <a:cs typeface="Monaco"/>
              </a:rPr>
              <a:t>                               */</a:t>
            </a:r>
            <a:endParaRPr lang="en-US" sz="1000" dirty="0">
              <a:latin typeface="Monaco"/>
              <a:cs typeface="Monaco"/>
            </a:endParaRPr>
          </a:p>
        </p:txBody>
      </p:sp>
      <p:sp>
        <p:nvSpPr>
          <p:cNvPr id="4" name="Date Placeholder 3">
            <a:extLst>
              <a:ext uri="{FF2B5EF4-FFF2-40B4-BE49-F238E27FC236}">
                <a16:creationId xmlns:a16="http://schemas.microsoft.com/office/drawing/2014/main" id="{11A0A773-9598-60E9-7C16-945BA1E210CA}"/>
              </a:ext>
            </a:extLst>
          </p:cNvPr>
          <p:cNvSpPr>
            <a:spLocks noGrp="1"/>
          </p:cNvSpPr>
          <p:nvPr>
            <p:ph type="dt" sz="half" idx="10"/>
          </p:nvPr>
        </p:nvSpPr>
        <p:spPr/>
        <p:txBody>
          <a:bodyPr/>
          <a:lstStyle/>
          <a:p>
            <a:fld id="{F879C091-3C89-C84B-83EB-44AE10192919}" type="datetime1">
              <a:rPr lang="en-US" smtClean="0"/>
              <a:t>3/25/26</a:t>
            </a:fld>
            <a:endParaRPr lang="en-US"/>
          </a:p>
        </p:txBody>
      </p:sp>
      <p:sp>
        <p:nvSpPr>
          <p:cNvPr id="5" name="Footer Placeholder 4">
            <a:extLst>
              <a:ext uri="{FF2B5EF4-FFF2-40B4-BE49-F238E27FC236}">
                <a16:creationId xmlns:a16="http://schemas.microsoft.com/office/drawing/2014/main" id="{52FFE00B-E6A4-04CD-B4AE-FD166C4A4D9A}"/>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587A6F7F-7437-A6CF-6AD2-7D08B9732CB9}"/>
              </a:ext>
            </a:extLst>
          </p:cNvPr>
          <p:cNvSpPr>
            <a:spLocks noGrp="1"/>
          </p:cNvSpPr>
          <p:nvPr>
            <p:ph type="sldNum" sz="quarter" idx="12"/>
          </p:nvPr>
        </p:nvSpPr>
        <p:spPr/>
        <p:txBody>
          <a:bodyPr/>
          <a:lstStyle/>
          <a:p>
            <a:fld id="{B4CE5C4C-399A-B444-9B2A-945D2610250E}" type="slidenum">
              <a:rPr lang="en-US" smtClean="0"/>
              <a:t>43</a:t>
            </a:fld>
            <a:endParaRPr lang="en-US"/>
          </a:p>
        </p:txBody>
      </p:sp>
    </p:spTree>
    <p:extLst>
      <p:ext uri="{BB962C8B-B14F-4D97-AF65-F5344CB8AC3E}">
        <p14:creationId xmlns:p14="http://schemas.microsoft.com/office/powerpoint/2010/main" val="3777732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Foliage controls</a:t>
            </a:r>
          </a:p>
        </p:txBody>
      </p:sp>
      <p:sp>
        <p:nvSpPr>
          <p:cNvPr id="7" name="TextBox 6"/>
          <p:cNvSpPr txBox="1"/>
          <p:nvPr/>
        </p:nvSpPr>
        <p:spPr>
          <a:xfrm>
            <a:off x="715364" y="5739697"/>
            <a:ext cx="7306358" cy="369332"/>
          </a:xfrm>
          <a:prstGeom prst="rect">
            <a:avLst/>
          </a:prstGeom>
          <a:noFill/>
        </p:spPr>
        <p:txBody>
          <a:bodyPr wrap="square" rtlCol="0">
            <a:spAutoFit/>
          </a:bodyPr>
          <a:lstStyle/>
          <a:p>
            <a:pPr marL="285750" indent="-285750">
              <a:buFont typeface="Arial"/>
              <a:buChar char="•"/>
            </a:pPr>
            <a:r>
              <a:rPr lang="en-US" dirty="0"/>
              <a:t>Can now specify mean/</a:t>
            </a:r>
            <a:r>
              <a:rPr lang="en-US" dirty="0" err="1"/>
              <a:t>stdev</a:t>
            </a:r>
            <a:r>
              <a:rPr lang="en-US" dirty="0"/>
              <a:t> of leaf dimensions</a:t>
            </a:r>
          </a:p>
        </p:txBody>
      </p:sp>
      <p:pic>
        <p:nvPicPr>
          <p:cNvPr id="5" name="Picture 4" descr="Screen Shot 2012-09-13 at 11.04.28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95113" y="1279201"/>
            <a:ext cx="6190210" cy="4354449"/>
          </a:xfrm>
          <a:prstGeom prst="rect">
            <a:avLst/>
          </a:prstGeom>
        </p:spPr>
      </p:pic>
      <p:sp>
        <p:nvSpPr>
          <p:cNvPr id="3" name="Date Placeholder 2">
            <a:extLst>
              <a:ext uri="{FF2B5EF4-FFF2-40B4-BE49-F238E27FC236}">
                <a16:creationId xmlns:a16="http://schemas.microsoft.com/office/drawing/2014/main" id="{BA5EC645-AD91-CD95-4887-B0E239436183}"/>
              </a:ext>
            </a:extLst>
          </p:cNvPr>
          <p:cNvSpPr>
            <a:spLocks noGrp="1"/>
          </p:cNvSpPr>
          <p:nvPr>
            <p:ph type="dt" sz="half" idx="10"/>
          </p:nvPr>
        </p:nvSpPr>
        <p:spPr/>
        <p:txBody>
          <a:bodyPr/>
          <a:lstStyle/>
          <a:p>
            <a:fld id="{EE802B72-003A-5744-975D-3A04A362A934}" type="datetime1">
              <a:rPr lang="en-US" smtClean="0"/>
              <a:t>3/25/26</a:t>
            </a:fld>
            <a:endParaRPr lang="en-US"/>
          </a:p>
        </p:txBody>
      </p:sp>
      <p:sp>
        <p:nvSpPr>
          <p:cNvPr id="4" name="Footer Placeholder 3">
            <a:extLst>
              <a:ext uri="{FF2B5EF4-FFF2-40B4-BE49-F238E27FC236}">
                <a16:creationId xmlns:a16="http://schemas.microsoft.com/office/drawing/2014/main" id="{B4172115-BDE6-E02B-9504-5CB725DE123D}"/>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4363711D-AAFE-4069-DF04-A3A2B013D580}"/>
              </a:ext>
            </a:extLst>
          </p:cNvPr>
          <p:cNvSpPr>
            <a:spLocks noGrp="1"/>
          </p:cNvSpPr>
          <p:nvPr>
            <p:ph type="sldNum" sz="quarter" idx="12"/>
          </p:nvPr>
        </p:nvSpPr>
        <p:spPr/>
        <p:txBody>
          <a:bodyPr/>
          <a:lstStyle/>
          <a:p>
            <a:fld id="{B4CE5C4C-399A-B444-9B2A-945D2610250E}" type="slidenum">
              <a:rPr lang="en-US" smtClean="0"/>
              <a:t>44</a:t>
            </a:fld>
            <a:endParaRPr lang="en-US"/>
          </a:p>
        </p:txBody>
      </p:sp>
    </p:spTree>
    <p:extLst>
      <p:ext uri="{BB962C8B-B14F-4D97-AF65-F5344CB8AC3E}">
        <p14:creationId xmlns:p14="http://schemas.microsoft.com/office/powerpoint/2010/main" val="37451717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Foliage controls</a:t>
            </a:r>
          </a:p>
        </p:txBody>
      </p:sp>
      <p:sp>
        <p:nvSpPr>
          <p:cNvPr id="7" name="TextBox 6"/>
          <p:cNvSpPr txBox="1"/>
          <p:nvPr/>
        </p:nvSpPr>
        <p:spPr>
          <a:xfrm>
            <a:off x="721225" y="5417313"/>
            <a:ext cx="7306358" cy="923330"/>
          </a:xfrm>
          <a:prstGeom prst="rect">
            <a:avLst/>
          </a:prstGeom>
          <a:noFill/>
        </p:spPr>
        <p:txBody>
          <a:bodyPr wrap="square" rtlCol="0">
            <a:spAutoFit/>
          </a:bodyPr>
          <a:lstStyle/>
          <a:p>
            <a:pPr marL="285750" indent="-285750">
              <a:buFont typeface="Arial"/>
              <a:buChar char="•"/>
            </a:pPr>
            <a:r>
              <a:rPr lang="en-US" dirty="0"/>
              <a:t>Leaf volume fraction, canopy size, leaf volume, and Maximum Number of realizations (for Monte Carlo purposes) decide the actual number of leaves.  </a:t>
            </a:r>
          </a:p>
        </p:txBody>
      </p:sp>
      <p:pic>
        <p:nvPicPr>
          <p:cNvPr id="3" name="Picture 2" descr="Screen Shot 2012-09-13 at 2.29.43 PM.png"/>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527950" y="1476910"/>
            <a:ext cx="2992276" cy="3598586"/>
          </a:xfrm>
          <a:prstGeom prst="rect">
            <a:avLst/>
          </a:prstGeom>
        </p:spPr>
      </p:pic>
      <p:pic>
        <p:nvPicPr>
          <p:cNvPr id="6" name="Picture 5" descr="Screen Shot 2012-09-13 at 11.04.28 AM.pn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391352" y="1476910"/>
            <a:ext cx="2992276" cy="3598586"/>
          </a:xfrm>
          <a:prstGeom prst="rect">
            <a:avLst/>
          </a:prstGeom>
        </p:spPr>
      </p:pic>
      <p:sp>
        <p:nvSpPr>
          <p:cNvPr id="4" name="Date Placeholder 3">
            <a:extLst>
              <a:ext uri="{FF2B5EF4-FFF2-40B4-BE49-F238E27FC236}">
                <a16:creationId xmlns:a16="http://schemas.microsoft.com/office/drawing/2014/main" id="{85123104-E750-E6FE-D7FF-178B351277ED}"/>
              </a:ext>
            </a:extLst>
          </p:cNvPr>
          <p:cNvSpPr>
            <a:spLocks noGrp="1"/>
          </p:cNvSpPr>
          <p:nvPr>
            <p:ph type="dt" sz="half" idx="10"/>
          </p:nvPr>
        </p:nvSpPr>
        <p:spPr/>
        <p:txBody>
          <a:bodyPr/>
          <a:lstStyle/>
          <a:p>
            <a:fld id="{6A5313D8-5F91-4544-A60E-8893C6B1BCC0}" type="datetime1">
              <a:rPr lang="en-US" smtClean="0"/>
              <a:t>3/25/26</a:t>
            </a:fld>
            <a:endParaRPr lang="en-US"/>
          </a:p>
        </p:txBody>
      </p:sp>
      <p:sp>
        <p:nvSpPr>
          <p:cNvPr id="5" name="Footer Placeholder 4">
            <a:extLst>
              <a:ext uri="{FF2B5EF4-FFF2-40B4-BE49-F238E27FC236}">
                <a16:creationId xmlns:a16="http://schemas.microsoft.com/office/drawing/2014/main" id="{A75C15D5-EFD7-07A7-40AC-237591E20E1A}"/>
              </a:ext>
            </a:extLst>
          </p:cNvPr>
          <p:cNvSpPr>
            <a:spLocks noGrp="1"/>
          </p:cNvSpPr>
          <p:nvPr>
            <p:ph type="ftr" sz="quarter" idx="11"/>
          </p:nvPr>
        </p:nvSpPr>
        <p:spPr/>
        <p:txBody>
          <a:bodyPr/>
          <a:lstStyle/>
          <a:p>
            <a:r>
              <a:rPr lang="en-US"/>
              <a:t>Does Not Contain CUI.</a:t>
            </a:r>
          </a:p>
        </p:txBody>
      </p:sp>
      <p:sp>
        <p:nvSpPr>
          <p:cNvPr id="8" name="Slide Number Placeholder 7">
            <a:extLst>
              <a:ext uri="{FF2B5EF4-FFF2-40B4-BE49-F238E27FC236}">
                <a16:creationId xmlns:a16="http://schemas.microsoft.com/office/drawing/2014/main" id="{061944C1-6858-F56F-9225-CA7983208EB8}"/>
              </a:ext>
            </a:extLst>
          </p:cNvPr>
          <p:cNvSpPr>
            <a:spLocks noGrp="1"/>
          </p:cNvSpPr>
          <p:nvPr>
            <p:ph type="sldNum" sz="quarter" idx="12"/>
          </p:nvPr>
        </p:nvSpPr>
        <p:spPr/>
        <p:txBody>
          <a:bodyPr/>
          <a:lstStyle/>
          <a:p>
            <a:fld id="{B4CE5C4C-399A-B444-9B2A-945D2610250E}" type="slidenum">
              <a:rPr lang="en-US" smtClean="0"/>
              <a:t>45</a:t>
            </a:fld>
            <a:endParaRPr lang="en-US"/>
          </a:p>
        </p:txBody>
      </p:sp>
    </p:spTree>
    <p:extLst>
      <p:ext uri="{BB962C8B-B14F-4D97-AF65-F5344CB8AC3E}">
        <p14:creationId xmlns:p14="http://schemas.microsoft.com/office/powerpoint/2010/main" val="2846188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orestTrio.jpeg"/>
          <p:cNvPicPr>
            <a:picLocks noGrp="1" noChangeAspect="1"/>
          </p:cNvPicPr>
          <p:nvPr>
            <p:ph idx="1"/>
          </p:nvPr>
        </p:nvPicPr>
        <p:blipFill rotWithShape="1">
          <a:blip r:embed="rId2">
            <a:extLst>
              <a:ext uri="{28A0092B-C50C-407E-A947-70E740481C1C}">
                <a14:useLocalDpi xmlns:a14="http://schemas.microsoft.com/office/drawing/2010/main" val="0"/>
              </a:ext>
            </a:extLst>
          </a:blip>
          <a:srcRect l="24025" t="42955" r="26891" b="13905"/>
          <a:stretch/>
        </p:blipFill>
        <p:spPr>
          <a:xfrm>
            <a:off x="0" y="0"/>
            <a:ext cx="9144000" cy="3828641"/>
          </a:xfrm>
        </p:spPr>
      </p:pic>
      <p:sp>
        <p:nvSpPr>
          <p:cNvPr id="5" name="TextBox 4"/>
          <p:cNvSpPr txBox="1"/>
          <p:nvPr/>
        </p:nvSpPr>
        <p:spPr>
          <a:xfrm>
            <a:off x="2200864" y="2993404"/>
            <a:ext cx="1192967" cy="369332"/>
          </a:xfrm>
          <a:prstGeom prst="rect">
            <a:avLst/>
          </a:prstGeom>
          <a:noFill/>
        </p:spPr>
        <p:txBody>
          <a:bodyPr wrap="square" rtlCol="0">
            <a:spAutoFit/>
          </a:bodyPr>
          <a:lstStyle/>
          <a:p>
            <a:r>
              <a:rPr lang="en-US" dirty="0"/>
              <a:t>     Birch</a:t>
            </a:r>
          </a:p>
        </p:txBody>
      </p:sp>
      <p:pic>
        <p:nvPicPr>
          <p:cNvPr id="6" name="Picture 5"/>
          <p:cNvPicPr>
            <a:picLocks noChangeAspect="1"/>
          </p:cNvPicPr>
          <p:nvPr/>
        </p:nvPicPr>
        <p:blipFill>
          <a:blip r:embed="rId3"/>
          <a:stretch>
            <a:fillRect/>
          </a:stretch>
        </p:blipFill>
        <p:spPr>
          <a:xfrm>
            <a:off x="0" y="3092705"/>
            <a:ext cx="2507686" cy="3765295"/>
          </a:xfrm>
          <a:prstGeom prst="rect">
            <a:avLst/>
          </a:prstGeom>
        </p:spPr>
      </p:pic>
      <p:sp>
        <p:nvSpPr>
          <p:cNvPr id="2" name="Date Placeholder 1">
            <a:extLst>
              <a:ext uri="{FF2B5EF4-FFF2-40B4-BE49-F238E27FC236}">
                <a16:creationId xmlns:a16="http://schemas.microsoft.com/office/drawing/2014/main" id="{D0A89429-9A7F-06FC-B5FB-E515E5EC8865}"/>
              </a:ext>
            </a:extLst>
          </p:cNvPr>
          <p:cNvSpPr>
            <a:spLocks noGrp="1"/>
          </p:cNvSpPr>
          <p:nvPr>
            <p:ph type="dt" sz="half" idx="10"/>
          </p:nvPr>
        </p:nvSpPr>
        <p:spPr/>
        <p:txBody>
          <a:bodyPr/>
          <a:lstStyle/>
          <a:p>
            <a:fld id="{470E0777-131D-E64B-B227-9E375C96F3D1}" type="datetime1">
              <a:rPr lang="en-US" smtClean="0"/>
              <a:t>3/25/26</a:t>
            </a:fld>
            <a:endParaRPr lang="en-US"/>
          </a:p>
        </p:txBody>
      </p:sp>
      <p:sp>
        <p:nvSpPr>
          <p:cNvPr id="3" name="Footer Placeholder 2">
            <a:extLst>
              <a:ext uri="{FF2B5EF4-FFF2-40B4-BE49-F238E27FC236}">
                <a16:creationId xmlns:a16="http://schemas.microsoft.com/office/drawing/2014/main" id="{84D3CB54-D9AA-872A-ED62-DF8DF5BDF004}"/>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AF534A90-36C1-55C4-B1FA-B8624EC06810}"/>
              </a:ext>
            </a:extLst>
          </p:cNvPr>
          <p:cNvSpPr>
            <a:spLocks noGrp="1"/>
          </p:cNvSpPr>
          <p:nvPr>
            <p:ph type="sldNum" sz="quarter" idx="12"/>
          </p:nvPr>
        </p:nvSpPr>
        <p:spPr/>
        <p:txBody>
          <a:bodyPr/>
          <a:lstStyle/>
          <a:p>
            <a:fld id="{B4CE5C4C-399A-B444-9B2A-945D2610250E}" type="slidenum">
              <a:rPr lang="en-US" smtClean="0"/>
              <a:t>46</a:t>
            </a:fld>
            <a:endParaRPr lang="en-US"/>
          </a:p>
        </p:txBody>
      </p:sp>
      <p:sp>
        <p:nvSpPr>
          <p:cNvPr id="8" name="TextBox 7">
            <a:extLst>
              <a:ext uri="{FF2B5EF4-FFF2-40B4-BE49-F238E27FC236}">
                <a16:creationId xmlns:a16="http://schemas.microsoft.com/office/drawing/2014/main" id="{9D3A532F-ED4D-372E-41C4-052CB7CC78B3}"/>
              </a:ext>
            </a:extLst>
          </p:cNvPr>
          <p:cNvSpPr txBox="1"/>
          <p:nvPr/>
        </p:nvSpPr>
        <p:spPr>
          <a:xfrm>
            <a:off x="4252403" y="2993404"/>
            <a:ext cx="1190945" cy="369332"/>
          </a:xfrm>
          <a:prstGeom prst="rect">
            <a:avLst/>
          </a:prstGeom>
          <a:noFill/>
        </p:spPr>
        <p:txBody>
          <a:bodyPr wrap="square" rtlCol="0">
            <a:spAutoFit/>
          </a:bodyPr>
          <a:lstStyle/>
          <a:p>
            <a:r>
              <a:rPr lang="en-US" dirty="0"/>
              <a:t>Hemlock</a:t>
            </a:r>
          </a:p>
        </p:txBody>
      </p:sp>
      <p:sp>
        <p:nvSpPr>
          <p:cNvPr id="10" name="TextBox 9">
            <a:extLst>
              <a:ext uri="{FF2B5EF4-FFF2-40B4-BE49-F238E27FC236}">
                <a16:creationId xmlns:a16="http://schemas.microsoft.com/office/drawing/2014/main" id="{A1B86DCA-1CF9-4A5A-01DF-17114A8C5D3D}"/>
              </a:ext>
            </a:extLst>
          </p:cNvPr>
          <p:cNvSpPr txBox="1"/>
          <p:nvPr/>
        </p:nvSpPr>
        <p:spPr>
          <a:xfrm>
            <a:off x="6578078" y="2993404"/>
            <a:ext cx="694736" cy="369332"/>
          </a:xfrm>
          <a:prstGeom prst="rect">
            <a:avLst/>
          </a:prstGeom>
          <a:noFill/>
        </p:spPr>
        <p:txBody>
          <a:bodyPr wrap="square" rtlCol="0">
            <a:spAutoFit/>
          </a:bodyPr>
          <a:lstStyle/>
          <a:p>
            <a:r>
              <a:rPr lang="en-US" dirty="0"/>
              <a:t>Pine</a:t>
            </a:r>
          </a:p>
        </p:txBody>
      </p:sp>
    </p:spTree>
    <p:extLst>
      <p:ext uri="{BB962C8B-B14F-4D97-AF65-F5344CB8AC3E}">
        <p14:creationId xmlns:p14="http://schemas.microsoft.com/office/powerpoint/2010/main" val="2571442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Eastern Hemlock</a:t>
            </a:r>
          </a:p>
        </p:txBody>
      </p:sp>
      <p:pic>
        <p:nvPicPr>
          <p:cNvPr id="4" name="Content Placeholder 3" descr="EasternHemlock.jpg"/>
          <p:cNvPicPr>
            <a:picLocks noGrp="1" noChangeAspect="1"/>
          </p:cNvPicPr>
          <p:nvPr>
            <p:ph idx="1"/>
          </p:nvPr>
        </p:nvPicPr>
        <p:blipFill rotWithShape="1">
          <a:blip r:embed="rId2">
            <a:extLst>
              <a:ext uri="{28A0092B-C50C-407E-A947-70E740481C1C}">
                <a14:useLocalDpi xmlns:a14="http://schemas.microsoft.com/office/drawing/2010/main" val="0"/>
              </a:ext>
            </a:extLst>
          </a:blip>
          <a:srcRect l="27698" t="31651" r="17435" b="19140"/>
          <a:stretch/>
        </p:blipFill>
        <p:spPr>
          <a:xfrm>
            <a:off x="0" y="1487932"/>
            <a:ext cx="9144000" cy="3892489"/>
          </a:xfrm>
        </p:spPr>
      </p:pic>
      <p:sp>
        <p:nvSpPr>
          <p:cNvPr id="5" name="TextBox 4"/>
          <p:cNvSpPr txBox="1"/>
          <p:nvPr/>
        </p:nvSpPr>
        <p:spPr>
          <a:xfrm>
            <a:off x="386487" y="4710908"/>
            <a:ext cx="375513" cy="246221"/>
          </a:xfrm>
          <a:prstGeom prst="rect">
            <a:avLst/>
          </a:prstGeom>
          <a:noFill/>
        </p:spPr>
        <p:txBody>
          <a:bodyPr wrap="square" rtlCol="0">
            <a:spAutoFit/>
          </a:bodyPr>
          <a:lstStyle/>
          <a:p>
            <a:r>
              <a:rPr lang="en-US" sz="1000" dirty="0"/>
              <a:t>5m</a:t>
            </a:r>
          </a:p>
        </p:txBody>
      </p:sp>
      <p:sp>
        <p:nvSpPr>
          <p:cNvPr id="3" name="Date Placeholder 2">
            <a:extLst>
              <a:ext uri="{FF2B5EF4-FFF2-40B4-BE49-F238E27FC236}">
                <a16:creationId xmlns:a16="http://schemas.microsoft.com/office/drawing/2014/main" id="{219831A9-4E30-6D3C-9346-7D175377899B}"/>
              </a:ext>
            </a:extLst>
          </p:cNvPr>
          <p:cNvSpPr>
            <a:spLocks noGrp="1"/>
          </p:cNvSpPr>
          <p:nvPr>
            <p:ph type="dt" sz="half" idx="10"/>
          </p:nvPr>
        </p:nvSpPr>
        <p:spPr/>
        <p:txBody>
          <a:bodyPr/>
          <a:lstStyle/>
          <a:p>
            <a:fld id="{9B8BF01B-A351-AD45-B590-C778044017E2}" type="datetime1">
              <a:rPr lang="en-US" smtClean="0"/>
              <a:t>3/25/26</a:t>
            </a:fld>
            <a:endParaRPr lang="en-US"/>
          </a:p>
        </p:txBody>
      </p:sp>
      <p:sp>
        <p:nvSpPr>
          <p:cNvPr id="6" name="Footer Placeholder 5">
            <a:extLst>
              <a:ext uri="{FF2B5EF4-FFF2-40B4-BE49-F238E27FC236}">
                <a16:creationId xmlns:a16="http://schemas.microsoft.com/office/drawing/2014/main" id="{EA25E936-68F8-DCFC-FD76-0032589AC08A}"/>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C9607815-121A-31AF-6CE2-99AD1817CF47}"/>
              </a:ext>
            </a:extLst>
          </p:cNvPr>
          <p:cNvSpPr>
            <a:spLocks noGrp="1"/>
          </p:cNvSpPr>
          <p:nvPr>
            <p:ph type="sldNum" sz="quarter" idx="12"/>
          </p:nvPr>
        </p:nvSpPr>
        <p:spPr/>
        <p:txBody>
          <a:bodyPr/>
          <a:lstStyle/>
          <a:p>
            <a:fld id="{B4CE5C4C-399A-B444-9B2A-945D2610250E}" type="slidenum">
              <a:rPr lang="en-US" smtClean="0"/>
              <a:t>47</a:t>
            </a:fld>
            <a:endParaRPr lang="en-US"/>
          </a:p>
        </p:txBody>
      </p:sp>
      <p:sp>
        <p:nvSpPr>
          <p:cNvPr id="9" name="TextBox 8">
            <a:extLst>
              <a:ext uri="{FF2B5EF4-FFF2-40B4-BE49-F238E27FC236}">
                <a16:creationId xmlns:a16="http://schemas.microsoft.com/office/drawing/2014/main" id="{BBDA5A99-4EA8-9901-2A5D-4977F43D36D1}"/>
              </a:ext>
            </a:extLst>
          </p:cNvPr>
          <p:cNvSpPr txBox="1"/>
          <p:nvPr/>
        </p:nvSpPr>
        <p:spPr>
          <a:xfrm>
            <a:off x="1025020" y="4710908"/>
            <a:ext cx="494612" cy="246221"/>
          </a:xfrm>
          <a:prstGeom prst="rect">
            <a:avLst/>
          </a:prstGeom>
          <a:noFill/>
        </p:spPr>
        <p:txBody>
          <a:bodyPr wrap="square" rtlCol="0">
            <a:spAutoFit/>
          </a:bodyPr>
          <a:lstStyle/>
          <a:p>
            <a:r>
              <a:rPr lang="en-US" sz="1000" dirty="0"/>
              <a:t>10m</a:t>
            </a:r>
          </a:p>
        </p:txBody>
      </p:sp>
      <p:sp>
        <p:nvSpPr>
          <p:cNvPr id="16" name="TextBox 15">
            <a:extLst>
              <a:ext uri="{FF2B5EF4-FFF2-40B4-BE49-F238E27FC236}">
                <a16:creationId xmlns:a16="http://schemas.microsoft.com/office/drawing/2014/main" id="{F7222A1C-832F-B7C3-BDAB-455FDD3E7B41}"/>
              </a:ext>
            </a:extLst>
          </p:cNvPr>
          <p:cNvSpPr txBox="1"/>
          <p:nvPr/>
        </p:nvSpPr>
        <p:spPr>
          <a:xfrm>
            <a:off x="2138712" y="4710908"/>
            <a:ext cx="494612" cy="246221"/>
          </a:xfrm>
          <a:prstGeom prst="rect">
            <a:avLst/>
          </a:prstGeom>
          <a:noFill/>
        </p:spPr>
        <p:txBody>
          <a:bodyPr wrap="square" rtlCol="0">
            <a:spAutoFit/>
          </a:bodyPr>
          <a:lstStyle/>
          <a:p>
            <a:r>
              <a:rPr lang="en-US" sz="1000" dirty="0"/>
              <a:t>15m</a:t>
            </a:r>
          </a:p>
        </p:txBody>
      </p:sp>
      <p:sp>
        <p:nvSpPr>
          <p:cNvPr id="17" name="TextBox 16">
            <a:extLst>
              <a:ext uri="{FF2B5EF4-FFF2-40B4-BE49-F238E27FC236}">
                <a16:creationId xmlns:a16="http://schemas.microsoft.com/office/drawing/2014/main" id="{05D7A191-BA2F-AB4B-2542-7CB03BD1CC98}"/>
              </a:ext>
            </a:extLst>
          </p:cNvPr>
          <p:cNvSpPr txBox="1"/>
          <p:nvPr/>
        </p:nvSpPr>
        <p:spPr>
          <a:xfrm>
            <a:off x="3475514" y="4710908"/>
            <a:ext cx="494612" cy="246221"/>
          </a:xfrm>
          <a:prstGeom prst="rect">
            <a:avLst/>
          </a:prstGeom>
          <a:noFill/>
        </p:spPr>
        <p:txBody>
          <a:bodyPr wrap="square" rtlCol="0">
            <a:spAutoFit/>
          </a:bodyPr>
          <a:lstStyle/>
          <a:p>
            <a:r>
              <a:rPr lang="en-US" sz="1000" dirty="0"/>
              <a:t>20m</a:t>
            </a:r>
          </a:p>
        </p:txBody>
      </p:sp>
      <p:sp>
        <p:nvSpPr>
          <p:cNvPr id="18" name="TextBox 17">
            <a:extLst>
              <a:ext uri="{FF2B5EF4-FFF2-40B4-BE49-F238E27FC236}">
                <a16:creationId xmlns:a16="http://schemas.microsoft.com/office/drawing/2014/main" id="{227B0AF1-A198-F459-0B13-83405427AF81}"/>
              </a:ext>
            </a:extLst>
          </p:cNvPr>
          <p:cNvSpPr txBox="1"/>
          <p:nvPr/>
        </p:nvSpPr>
        <p:spPr>
          <a:xfrm>
            <a:off x="4837204" y="4710908"/>
            <a:ext cx="494612" cy="246221"/>
          </a:xfrm>
          <a:prstGeom prst="rect">
            <a:avLst/>
          </a:prstGeom>
          <a:noFill/>
        </p:spPr>
        <p:txBody>
          <a:bodyPr wrap="square" rtlCol="0">
            <a:spAutoFit/>
          </a:bodyPr>
          <a:lstStyle/>
          <a:p>
            <a:r>
              <a:rPr lang="en-US" sz="1000" dirty="0"/>
              <a:t>25m</a:t>
            </a:r>
          </a:p>
        </p:txBody>
      </p:sp>
      <p:sp>
        <p:nvSpPr>
          <p:cNvPr id="19" name="TextBox 18">
            <a:extLst>
              <a:ext uri="{FF2B5EF4-FFF2-40B4-BE49-F238E27FC236}">
                <a16:creationId xmlns:a16="http://schemas.microsoft.com/office/drawing/2014/main" id="{0CC734E6-DEC6-4E39-B511-CCB366EEF075}"/>
              </a:ext>
            </a:extLst>
          </p:cNvPr>
          <p:cNvSpPr txBox="1"/>
          <p:nvPr/>
        </p:nvSpPr>
        <p:spPr>
          <a:xfrm>
            <a:off x="6408096" y="4710908"/>
            <a:ext cx="494612" cy="246221"/>
          </a:xfrm>
          <a:prstGeom prst="rect">
            <a:avLst/>
          </a:prstGeom>
          <a:noFill/>
        </p:spPr>
        <p:txBody>
          <a:bodyPr wrap="square" rtlCol="0">
            <a:spAutoFit/>
          </a:bodyPr>
          <a:lstStyle/>
          <a:p>
            <a:r>
              <a:rPr lang="en-US" sz="1000" dirty="0"/>
              <a:t>30m</a:t>
            </a:r>
          </a:p>
        </p:txBody>
      </p:sp>
      <p:sp>
        <p:nvSpPr>
          <p:cNvPr id="20" name="TextBox 19">
            <a:extLst>
              <a:ext uri="{FF2B5EF4-FFF2-40B4-BE49-F238E27FC236}">
                <a16:creationId xmlns:a16="http://schemas.microsoft.com/office/drawing/2014/main" id="{E21A11F9-A7EC-A4B5-F789-0164AF478908}"/>
              </a:ext>
            </a:extLst>
          </p:cNvPr>
          <p:cNvSpPr txBox="1"/>
          <p:nvPr/>
        </p:nvSpPr>
        <p:spPr>
          <a:xfrm>
            <a:off x="7871674" y="4710908"/>
            <a:ext cx="494612" cy="246221"/>
          </a:xfrm>
          <a:prstGeom prst="rect">
            <a:avLst/>
          </a:prstGeom>
          <a:noFill/>
        </p:spPr>
        <p:txBody>
          <a:bodyPr wrap="square" rtlCol="0">
            <a:spAutoFit/>
          </a:bodyPr>
          <a:lstStyle/>
          <a:p>
            <a:r>
              <a:rPr lang="en-US" sz="1000" dirty="0"/>
              <a:t>35m</a:t>
            </a:r>
          </a:p>
        </p:txBody>
      </p:sp>
    </p:spTree>
    <p:extLst>
      <p:ext uri="{BB962C8B-B14F-4D97-AF65-F5344CB8AC3E}">
        <p14:creationId xmlns:p14="http://schemas.microsoft.com/office/powerpoint/2010/main" val="15433392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 Pine</a:t>
            </a:r>
          </a:p>
        </p:txBody>
      </p:sp>
      <p:pic>
        <p:nvPicPr>
          <p:cNvPr id="4" name="Content Placeholder 3" descr="RedPine.jpg"/>
          <p:cNvPicPr>
            <a:picLocks noGrp="1" noChangeAspect="1"/>
          </p:cNvPicPr>
          <p:nvPr>
            <p:ph idx="1"/>
          </p:nvPr>
        </p:nvPicPr>
        <p:blipFill rotWithShape="1">
          <a:blip r:embed="rId2">
            <a:extLst>
              <a:ext uri="{28A0092B-C50C-407E-A947-70E740481C1C}">
                <a14:useLocalDpi xmlns:a14="http://schemas.microsoft.com/office/drawing/2010/main" val="0"/>
              </a:ext>
            </a:extLst>
          </a:blip>
          <a:srcRect l="26051" t="34792" r="16561" b="18721"/>
          <a:stretch/>
        </p:blipFill>
        <p:spPr>
          <a:xfrm>
            <a:off x="-6216" y="1885978"/>
            <a:ext cx="9150216" cy="3601369"/>
          </a:xfrm>
        </p:spPr>
      </p:pic>
      <p:sp>
        <p:nvSpPr>
          <p:cNvPr id="3" name="Date Placeholder 2">
            <a:extLst>
              <a:ext uri="{FF2B5EF4-FFF2-40B4-BE49-F238E27FC236}">
                <a16:creationId xmlns:a16="http://schemas.microsoft.com/office/drawing/2014/main" id="{189FA221-4D37-1E6E-AFDB-C277A3E819E8}"/>
              </a:ext>
            </a:extLst>
          </p:cNvPr>
          <p:cNvSpPr>
            <a:spLocks noGrp="1"/>
          </p:cNvSpPr>
          <p:nvPr>
            <p:ph type="dt" sz="half" idx="10"/>
          </p:nvPr>
        </p:nvSpPr>
        <p:spPr/>
        <p:txBody>
          <a:bodyPr/>
          <a:lstStyle/>
          <a:p>
            <a:fld id="{D2DF0B8E-0675-8E44-8B9E-5821DB602158}" type="datetime1">
              <a:rPr lang="en-US" smtClean="0"/>
              <a:t>3/25/26</a:t>
            </a:fld>
            <a:endParaRPr lang="en-US"/>
          </a:p>
        </p:txBody>
      </p:sp>
      <p:sp>
        <p:nvSpPr>
          <p:cNvPr id="6" name="Footer Placeholder 5">
            <a:extLst>
              <a:ext uri="{FF2B5EF4-FFF2-40B4-BE49-F238E27FC236}">
                <a16:creationId xmlns:a16="http://schemas.microsoft.com/office/drawing/2014/main" id="{C782806B-5F51-F5B9-41F2-A2B21EF49A6C}"/>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BE3C27CA-9826-E886-65FF-6FE05EF74CD5}"/>
              </a:ext>
            </a:extLst>
          </p:cNvPr>
          <p:cNvSpPr>
            <a:spLocks noGrp="1"/>
          </p:cNvSpPr>
          <p:nvPr>
            <p:ph type="sldNum" sz="quarter" idx="12"/>
          </p:nvPr>
        </p:nvSpPr>
        <p:spPr/>
        <p:txBody>
          <a:bodyPr/>
          <a:lstStyle/>
          <a:p>
            <a:fld id="{B4CE5C4C-399A-B444-9B2A-945D2610250E}" type="slidenum">
              <a:rPr lang="en-US" smtClean="0"/>
              <a:t>48</a:t>
            </a:fld>
            <a:endParaRPr lang="en-US"/>
          </a:p>
        </p:txBody>
      </p:sp>
      <p:sp>
        <p:nvSpPr>
          <p:cNvPr id="8" name="TextBox 7">
            <a:extLst>
              <a:ext uri="{FF2B5EF4-FFF2-40B4-BE49-F238E27FC236}">
                <a16:creationId xmlns:a16="http://schemas.microsoft.com/office/drawing/2014/main" id="{268D6F34-68CF-9623-97F3-6E001E006568}"/>
              </a:ext>
            </a:extLst>
          </p:cNvPr>
          <p:cNvSpPr txBox="1"/>
          <p:nvPr/>
        </p:nvSpPr>
        <p:spPr>
          <a:xfrm>
            <a:off x="457200" y="4851584"/>
            <a:ext cx="375513" cy="246221"/>
          </a:xfrm>
          <a:prstGeom prst="rect">
            <a:avLst/>
          </a:prstGeom>
          <a:noFill/>
        </p:spPr>
        <p:txBody>
          <a:bodyPr wrap="square" rtlCol="0">
            <a:spAutoFit/>
          </a:bodyPr>
          <a:lstStyle/>
          <a:p>
            <a:r>
              <a:rPr lang="en-US" sz="1000" dirty="0"/>
              <a:t>5m</a:t>
            </a:r>
          </a:p>
        </p:txBody>
      </p:sp>
      <p:sp>
        <p:nvSpPr>
          <p:cNvPr id="9" name="TextBox 8">
            <a:extLst>
              <a:ext uri="{FF2B5EF4-FFF2-40B4-BE49-F238E27FC236}">
                <a16:creationId xmlns:a16="http://schemas.microsoft.com/office/drawing/2014/main" id="{F9D4662D-03D2-EDA9-02E2-04448AFB14BD}"/>
              </a:ext>
            </a:extLst>
          </p:cNvPr>
          <p:cNvSpPr txBox="1"/>
          <p:nvPr/>
        </p:nvSpPr>
        <p:spPr>
          <a:xfrm>
            <a:off x="1095733" y="4851584"/>
            <a:ext cx="494612" cy="246221"/>
          </a:xfrm>
          <a:prstGeom prst="rect">
            <a:avLst/>
          </a:prstGeom>
          <a:noFill/>
        </p:spPr>
        <p:txBody>
          <a:bodyPr wrap="square" rtlCol="0">
            <a:spAutoFit/>
          </a:bodyPr>
          <a:lstStyle/>
          <a:p>
            <a:r>
              <a:rPr lang="en-US" sz="1000" dirty="0"/>
              <a:t>10m</a:t>
            </a:r>
          </a:p>
        </p:txBody>
      </p:sp>
      <p:sp>
        <p:nvSpPr>
          <p:cNvPr id="10" name="TextBox 9">
            <a:extLst>
              <a:ext uri="{FF2B5EF4-FFF2-40B4-BE49-F238E27FC236}">
                <a16:creationId xmlns:a16="http://schemas.microsoft.com/office/drawing/2014/main" id="{ED992D58-CA83-3FBA-B583-5DB98799BE3A}"/>
              </a:ext>
            </a:extLst>
          </p:cNvPr>
          <p:cNvSpPr txBox="1"/>
          <p:nvPr/>
        </p:nvSpPr>
        <p:spPr>
          <a:xfrm>
            <a:off x="2209425" y="4851584"/>
            <a:ext cx="494612" cy="246221"/>
          </a:xfrm>
          <a:prstGeom prst="rect">
            <a:avLst/>
          </a:prstGeom>
          <a:noFill/>
        </p:spPr>
        <p:txBody>
          <a:bodyPr wrap="square" rtlCol="0">
            <a:spAutoFit/>
          </a:bodyPr>
          <a:lstStyle/>
          <a:p>
            <a:r>
              <a:rPr lang="en-US" sz="1000" dirty="0"/>
              <a:t>15m</a:t>
            </a:r>
          </a:p>
        </p:txBody>
      </p:sp>
      <p:sp>
        <p:nvSpPr>
          <p:cNvPr id="11" name="TextBox 10">
            <a:extLst>
              <a:ext uri="{FF2B5EF4-FFF2-40B4-BE49-F238E27FC236}">
                <a16:creationId xmlns:a16="http://schemas.microsoft.com/office/drawing/2014/main" id="{D463865B-1660-D369-8EDC-DEC388A49755}"/>
              </a:ext>
            </a:extLst>
          </p:cNvPr>
          <p:cNvSpPr txBox="1"/>
          <p:nvPr/>
        </p:nvSpPr>
        <p:spPr>
          <a:xfrm>
            <a:off x="3546227" y="4851584"/>
            <a:ext cx="494612" cy="246221"/>
          </a:xfrm>
          <a:prstGeom prst="rect">
            <a:avLst/>
          </a:prstGeom>
          <a:noFill/>
        </p:spPr>
        <p:txBody>
          <a:bodyPr wrap="square" rtlCol="0">
            <a:spAutoFit/>
          </a:bodyPr>
          <a:lstStyle/>
          <a:p>
            <a:r>
              <a:rPr lang="en-US" sz="1000" dirty="0"/>
              <a:t>20m</a:t>
            </a:r>
          </a:p>
        </p:txBody>
      </p:sp>
      <p:sp>
        <p:nvSpPr>
          <p:cNvPr id="12" name="TextBox 11">
            <a:extLst>
              <a:ext uri="{FF2B5EF4-FFF2-40B4-BE49-F238E27FC236}">
                <a16:creationId xmlns:a16="http://schemas.microsoft.com/office/drawing/2014/main" id="{7739AB96-AB1C-6BE3-E82D-5062D2D01765}"/>
              </a:ext>
            </a:extLst>
          </p:cNvPr>
          <p:cNvSpPr txBox="1"/>
          <p:nvPr/>
        </p:nvSpPr>
        <p:spPr>
          <a:xfrm>
            <a:off x="4996589" y="4861537"/>
            <a:ext cx="494612" cy="246221"/>
          </a:xfrm>
          <a:prstGeom prst="rect">
            <a:avLst/>
          </a:prstGeom>
          <a:noFill/>
        </p:spPr>
        <p:txBody>
          <a:bodyPr wrap="square" rtlCol="0">
            <a:spAutoFit/>
          </a:bodyPr>
          <a:lstStyle/>
          <a:p>
            <a:r>
              <a:rPr lang="en-US" sz="1000" dirty="0"/>
              <a:t>25m</a:t>
            </a:r>
          </a:p>
        </p:txBody>
      </p:sp>
      <p:sp>
        <p:nvSpPr>
          <p:cNvPr id="13" name="TextBox 12">
            <a:extLst>
              <a:ext uri="{FF2B5EF4-FFF2-40B4-BE49-F238E27FC236}">
                <a16:creationId xmlns:a16="http://schemas.microsoft.com/office/drawing/2014/main" id="{442C72B0-D12A-4EE1-A164-9FE865FA883A}"/>
              </a:ext>
            </a:extLst>
          </p:cNvPr>
          <p:cNvSpPr txBox="1"/>
          <p:nvPr/>
        </p:nvSpPr>
        <p:spPr>
          <a:xfrm>
            <a:off x="6333391" y="4851584"/>
            <a:ext cx="494612" cy="246221"/>
          </a:xfrm>
          <a:prstGeom prst="rect">
            <a:avLst/>
          </a:prstGeom>
          <a:noFill/>
        </p:spPr>
        <p:txBody>
          <a:bodyPr wrap="square" rtlCol="0">
            <a:spAutoFit/>
          </a:bodyPr>
          <a:lstStyle/>
          <a:p>
            <a:r>
              <a:rPr lang="en-US" sz="1000" dirty="0"/>
              <a:t>30m</a:t>
            </a:r>
          </a:p>
        </p:txBody>
      </p:sp>
      <p:sp>
        <p:nvSpPr>
          <p:cNvPr id="14" name="TextBox 13">
            <a:extLst>
              <a:ext uri="{FF2B5EF4-FFF2-40B4-BE49-F238E27FC236}">
                <a16:creationId xmlns:a16="http://schemas.microsoft.com/office/drawing/2014/main" id="{1701CAFA-419C-F724-9DCB-E297C534CFB2}"/>
              </a:ext>
            </a:extLst>
          </p:cNvPr>
          <p:cNvSpPr txBox="1"/>
          <p:nvPr/>
        </p:nvSpPr>
        <p:spPr>
          <a:xfrm>
            <a:off x="7942387" y="4851584"/>
            <a:ext cx="494612" cy="246221"/>
          </a:xfrm>
          <a:prstGeom prst="rect">
            <a:avLst/>
          </a:prstGeom>
          <a:noFill/>
        </p:spPr>
        <p:txBody>
          <a:bodyPr wrap="square" rtlCol="0">
            <a:spAutoFit/>
          </a:bodyPr>
          <a:lstStyle/>
          <a:p>
            <a:r>
              <a:rPr lang="en-US" sz="1000" dirty="0"/>
              <a:t>35m</a:t>
            </a:r>
          </a:p>
        </p:txBody>
      </p:sp>
    </p:spTree>
    <p:extLst>
      <p:ext uri="{BB962C8B-B14F-4D97-AF65-F5344CB8AC3E}">
        <p14:creationId xmlns:p14="http://schemas.microsoft.com/office/powerpoint/2010/main" val="1195190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Birch</a:t>
            </a:r>
          </a:p>
        </p:txBody>
      </p:sp>
      <p:pic>
        <p:nvPicPr>
          <p:cNvPr id="4" name="Content Placeholder 3" descr="PaperBirch.jpg"/>
          <p:cNvPicPr>
            <a:picLocks noGrp="1" noChangeAspect="1"/>
          </p:cNvPicPr>
          <p:nvPr>
            <p:ph idx="1"/>
          </p:nvPr>
        </p:nvPicPr>
        <p:blipFill rotWithShape="1">
          <a:blip r:embed="rId2">
            <a:extLst>
              <a:ext uri="{28A0092B-C50C-407E-A947-70E740481C1C}">
                <a14:useLocalDpi xmlns:a14="http://schemas.microsoft.com/office/drawing/2010/main" val="0"/>
              </a:ext>
            </a:extLst>
          </a:blip>
          <a:srcRect l="29853" t="33956" r="11817" b="20394"/>
          <a:stretch/>
        </p:blipFill>
        <p:spPr>
          <a:xfrm>
            <a:off x="0" y="1417637"/>
            <a:ext cx="9148098" cy="3264142"/>
          </a:xfrm>
        </p:spPr>
      </p:pic>
      <p:sp>
        <p:nvSpPr>
          <p:cNvPr id="3" name="Date Placeholder 2">
            <a:extLst>
              <a:ext uri="{FF2B5EF4-FFF2-40B4-BE49-F238E27FC236}">
                <a16:creationId xmlns:a16="http://schemas.microsoft.com/office/drawing/2014/main" id="{595E4879-EFA3-9792-061B-1FF522143EF7}"/>
              </a:ext>
            </a:extLst>
          </p:cNvPr>
          <p:cNvSpPr>
            <a:spLocks noGrp="1"/>
          </p:cNvSpPr>
          <p:nvPr>
            <p:ph type="dt" sz="half" idx="10"/>
          </p:nvPr>
        </p:nvSpPr>
        <p:spPr/>
        <p:txBody>
          <a:bodyPr/>
          <a:lstStyle/>
          <a:p>
            <a:fld id="{99DECCB5-28E4-0341-974F-0BDC399C837B}" type="datetime1">
              <a:rPr lang="en-US" smtClean="0"/>
              <a:t>3/25/26</a:t>
            </a:fld>
            <a:endParaRPr lang="en-US"/>
          </a:p>
        </p:txBody>
      </p:sp>
      <p:sp>
        <p:nvSpPr>
          <p:cNvPr id="6" name="Footer Placeholder 5">
            <a:extLst>
              <a:ext uri="{FF2B5EF4-FFF2-40B4-BE49-F238E27FC236}">
                <a16:creationId xmlns:a16="http://schemas.microsoft.com/office/drawing/2014/main" id="{66D865B4-2498-0D0C-594C-0A56F6A262DF}"/>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0327C653-913A-1EEA-581B-E830823E7D79}"/>
              </a:ext>
            </a:extLst>
          </p:cNvPr>
          <p:cNvSpPr>
            <a:spLocks noGrp="1"/>
          </p:cNvSpPr>
          <p:nvPr>
            <p:ph type="sldNum" sz="quarter" idx="12"/>
          </p:nvPr>
        </p:nvSpPr>
        <p:spPr/>
        <p:txBody>
          <a:bodyPr/>
          <a:lstStyle/>
          <a:p>
            <a:fld id="{B4CE5C4C-399A-B444-9B2A-945D2610250E}" type="slidenum">
              <a:rPr lang="en-US" smtClean="0"/>
              <a:t>49</a:t>
            </a:fld>
            <a:endParaRPr lang="en-US"/>
          </a:p>
        </p:txBody>
      </p:sp>
      <p:sp>
        <p:nvSpPr>
          <p:cNvPr id="8" name="TextBox 7">
            <a:extLst>
              <a:ext uri="{FF2B5EF4-FFF2-40B4-BE49-F238E27FC236}">
                <a16:creationId xmlns:a16="http://schemas.microsoft.com/office/drawing/2014/main" id="{23FA9A65-94D6-8542-A2AB-5156AB0FCAF6}"/>
              </a:ext>
            </a:extLst>
          </p:cNvPr>
          <p:cNvSpPr txBox="1"/>
          <p:nvPr/>
        </p:nvSpPr>
        <p:spPr>
          <a:xfrm>
            <a:off x="87548" y="4154062"/>
            <a:ext cx="375513" cy="246221"/>
          </a:xfrm>
          <a:prstGeom prst="rect">
            <a:avLst/>
          </a:prstGeom>
          <a:noFill/>
        </p:spPr>
        <p:txBody>
          <a:bodyPr wrap="square" rtlCol="0">
            <a:spAutoFit/>
          </a:bodyPr>
          <a:lstStyle/>
          <a:p>
            <a:r>
              <a:rPr lang="en-US" sz="1000" dirty="0"/>
              <a:t>5m</a:t>
            </a:r>
          </a:p>
        </p:txBody>
      </p:sp>
      <p:sp>
        <p:nvSpPr>
          <p:cNvPr id="9" name="TextBox 8">
            <a:extLst>
              <a:ext uri="{FF2B5EF4-FFF2-40B4-BE49-F238E27FC236}">
                <a16:creationId xmlns:a16="http://schemas.microsoft.com/office/drawing/2014/main" id="{E85C07A1-8901-BCC6-DCAE-BBB3B4EF3135}"/>
              </a:ext>
            </a:extLst>
          </p:cNvPr>
          <p:cNvSpPr txBox="1"/>
          <p:nvPr/>
        </p:nvSpPr>
        <p:spPr>
          <a:xfrm>
            <a:off x="726081" y="4154062"/>
            <a:ext cx="494612" cy="246221"/>
          </a:xfrm>
          <a:prstGeom prst="rect">
            <a:avLst/>
          </a:prstGeom>
          <a:noFill/>
        </p:spPr>
        <p:txBody>
          <a:bodyPr wrap="square" rtlCol="0">
            <a:spAutoFit/>
          </a:bodyPr>
          <a:lstStyle/>
          <a:p>
            <a:r>
              <a:rPr lang="en-US" sz="1000" dirty="0"/>
              <a:t>10m</a:t>
            </a:r>
          </a:p>
        </p:txBody>
      </p:sp>
      <p:sp>
        <p:nvSpPr>
          <p:cNvPr id="10" name="TextBox 9">
            <a:extLst>
              <a:ext uri="{FF2B5EF4-FFF2-40B4-BE49-F238E27FC236}">
                <a16:creationId xmlns:a16="http://schemas.microsoft.com/office/drawing/2014/main" id="{9AFD9FE0-64D9-A2D6-D4ED-124F418A4613}"/>
              </a:ext>
            </a:extLst>
          </p:cNvPr>
          <p:cNvSpPr txBox="1"/>
          <p:nvPr/>
        </p:nvSpPr>
        <p:spPr>
          <a:xfrm>
            <a:off x="1695047" y="4164016"/>
            <a:ext cx="494612" cy="246221"/>
          </a:xfrm>
          <a:prstGeom prst="rect">
            <a:avLst/>
          </a:prstGeom>
          <a:noFill/>
        </p:spPr>
        <p:txBody>
          <a:bodyPr wrap="square" rtlCol="0">
            <a:spAutoFit/>
          </a:bodyPr>
          <a:lstStyle/>
          <a:p>
            <a:r>
              <a:rPr lang="en-US" sz="1000" dirty="0"/>
              <a:t>15m</a:t>
            </a:r>
          </a:p>
        </p:txBody>
      </p:sp>
      <p:sp>
        <p:nvSpPr>
          <p:cNvPr id="11" name="TextBox 10">
            <a:extLst>
              <a:ext uri="{FF2B5EF4-FFF2-40B4-BE49-F238E27FC236}">
                <a16:creationId xmlns:a16="http://schemas.microsoft.com/office/drawing/2014/main" id="{F0A5BD4F-650E-1344-173C-A5D2EE22F661}"/>
              </a:ext>
            </a:extLst>
          </p:cNvPr>
          <p:cNvSpPr txBox="1"/>
          <p:nvPr/>
        </p:nvSpPr>
        <p:spPr>
          <a:xfrm>
            <a:off x="2933136" y="4154062"/>
            <a:ext cx="494612" cy="246221"/>
          </a:xfrm>
          <a:prstGeom prst="rect">
            <a:avLst/>
          </a:prstGeom>
          <a:noFill/>
        </p:spPr>
        <p:txBody>
          <a:bodyPr wrap="square" rtlCol="0">
            <a:spAutoFit/>
          </a:bodyPr>
          <a:lstStyle/>
          <a:p>
            <a:r>
              <a:rPr lang="en-US" sz="1000" dirty="0"/>
              <a:t>20m</a:t>
            </a:r>
          </a:p>
        </p:txBody>
      </p:sp>
      <p:sp>
        <p:nvSpPr>
          <p:cNvPr id="12" name="TextBox 11">
            <a:extLst>
              <a:ext uri="{FF2B5EF4-FFF2-40B4-BE49-F238E27FC236}">
                <a16:creationId xmlns:a16="http://schemas.microsoft.com/office/drawing/2014/main" id="{AF25422D-CC4E-4045-ED73-B17C7448D6C1}"/>
              </a:ext>
            </a:extLst>
          </p:cNvPr>
          <p:cNvSpPr txBox="1"/>
          <p:nvPr/>
        </p:nvSpPr>
        <p:spPr>
          <a:xfrm>
            <a:off x="4171225" y="4164016"/>
            <a:ext cx="494612" cy="246221"/>
          </a:xfrm>
          <a:prstGeom prst="rect">
            <a:avLst/>
          </a:prstGeom>
          <a:noFill/>
        </p:spPr>
        <p:txBody>
          <a:bodyPr wrap="square" rtlCol="0">
            <a:spAutoFit/>
          </a:bodyPr>
          <a:lstStyle/>
          <a:p>
            <a:r>
              <a:rPr lang="en-US" sz="1000" dirty="0"/>
              <a:t>25m</a:t>
            </a:r>
          </a:p>
        </p:txBody>
      </p:sp>
      <p:sp>
        <p:nvSpPr>
          <p:cNvPr id="13" name="TextBox 12">
            <a:extLst>
              <a:ext uri="{FF2B5EF4-FFF2-40B4-BE49-F238E27FC236}">
                <a16:creationId xmlns:a16="http://schemas.microsoft.com/office/drawing/2014/main" id="{8CA68437-57BA-99BB-F4A1-A0B2F07AD808}"/>
              </a:ext>
            </a:extLst>
          </p:cNvPr>
          <p:cNvSpPr txBox="1"/>
          <p:nvPr/>
        </p:nvSpPr>
        <p:spPr>
          <a:xfrm>
            <a:off x="5871980" y="4154062"/>
            <a:ext cx="494612" cy="246221"/>
          </a:xfrm>
          <a:prstGeom prst="rect">
            <a:avLst/>
          </a:prstGeom>
          <a:noFill/>
        </p:spPr>
        <p:txBody>
          <a:bodyPr wrap="square" rtlCol="0">
            <a:spAutoFit/>
          </a:bodyPr>
          <a:lstStyle/>
          <a:p>
            <a:r>
              <a:rPr lang="en-US" sz="1000" dirty="0"/>
              <a:t>30m</a:t>
            </a:r>
          </a:p>
        </p:txBody>
      </p:sp>
      <p:sp>
        <p:nvSpPr>
          <p:cNvPr id="14" name="TextBox 13">
            <a:extLst>
              <a:ext uri="{FF2B5EF4-FFF2-40B4-BE49-F238E27FC236}">
                <a16:creationId xmlns:a16="http://schemas.microsoft.com/office/drawing/2014/main" id="{4532A21B-F5AD-6029-0CE6-599B97357CE8}"/>
              </a:ext>
            </a:extLst>
          </p:cNvPr>
          <p:cNvSpPr txBox="1"/>
          <p:nvPr/>
        </p:nvSpPr>
        <p:spPr>
          <a:xfrm>
            <a:off x="7783750" y="4162247"/>
            <a:ext cx="494612" cy="246221"/>
          </a:xfrm>
          <a:prstGeom prst="rect">
            <a:avLst/>
          </a:prstGeom>
          <a:noFill/>
        </p:spPr>
        <p:txBody>
          <a:bodyPr wrap="square" rtlCol="0">
            <a:spAutoFit/>
          </a:bodyPr>
          <a:lstStyle/>
          <a:p>
            <a:r>
              <a:rPr lang="en-US" sz="1000" dirty="0"/>
              <a:t>35m</a:t>
            </a:r>
          </a:p>
        </p:txBody>
      </p:sp>
    </p:spTree>
    <p:extLst>
      <p:ext uri="{BB962C8B-B14F-4D97-AF65-F5344CB8AC3E}">
        <p14:creationId xmlns:p14="http://schemas.microsoft.com/office/powerpoint/2010/main" val="396172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a:t>
            </a:r>
            <a:r>
              <a:rPr lang="en-US" dirty="0" err="1"/>
              <a:t>Permittivities</a:t>
            </a:r>
            <a:endParaRPr lang="en-US" dirty="0"/>
          </a:p>
        </p:txBody>
      </p:sp>
      <p:sp>
        <p:nvSpPr>
          <p:cNvPr id="3" name="Content Placeholder 2"/>
          <p:cNvSpPr>
            <a:spLocks noGrp="1"/>
          </p:cNvSpPr>
          <p:nvPr>
            <p:ph idx="1"/>
          </p:nvPr>
        </p:nvSpPr>
        <p:spPr>
          <a:xfrm>
            <a:off x="457200" y="1237619"/>
            <a:ext cx="8229600" cy="4872785"/>
          </a:xfrm>
        </p:spPr>
        <p:txBody>
          <a:bodyPr>
            <a:noAutofit/>
          </a:bodyPr>
          <a:lstStyle/>
          <a:p>
            <a:r>
              <a:rPr lang="en-US" sz="1800" dirty="0"/>
              <a:t>Originally, the function </a:t>
            </a:r>
            <a:r>
              <a:rPr lang="en-US" sz="1800" dirty="0" err="1"/>
              <a:t>Effective_Permittivity</a:t>
            </a:r>
            <a:r>
              <a:rPr lang="en-US" sz="1800" dirty="0"/>
              <a:t>() computed the effective wave vectors by averaging the polarizabilities of stems, branches and leaves of the first five trees. Because all trees belonged to the same species, this was ok.</a:t>
            </a:r>
          </a:p>
          <a:p>
            <a:r>
              <a:rPr lang="en-US" sz="1800" dirty="0"/>
              <a:t>Changed </a:t>
            </a:r>
            <a:r>
              <a:rPr lang="en-US" sz="1800" dirty="0" err="1"/>
              <a:t>Effective_Permittivity</a:t>
            </a:r>
            <a:r>
              <a:rPr lang="en-US" sz="1800" dirty="0"/>
              <a:t>() to loop over the first N trees of each species and compute species specific effective wave vectors.</a:t>
            </a:r>
          </a:p>
          <a:p>
            <a:r>
              <a:rPr lang="en-US" sz="1800" dirty="0"/>
              <a:t>To do that, </a:t>
            </a:r>
            <a:r>
              <a:rPr lang="en-US" sz="1800" dirty="0" err="1"/>
              <a:t>pPR</a:t>
            </a:r>
            <a:r>
              <a:rPr lang="en-US" sz="1800" dirty="0"/>
              <a:t>-&gt;</a:t>
            </a:r>
            <a:r>
              <a:rPr lang="en-US" sz="1800" dirty="0" err="1"/>
              <a:t>koz</a:t>
            </a:r>
            <a:r>
              <a:rPr lang="en-US" sz="1800" dirty="0"/>
              <a:t>_(living/dry), </a:t>
            </a:r>
            <a:r>
              <a:rPr lang="en-US" sz="1800" dirty="0" err="1"/>
              <a:t>pPR</a:t>
            </a:r>
            <a:r>
              <a:rPr lang="en-US" sz="1800" dirty="0"/>
              <a:t>-&gt;</a:t>
            </a:r>
            <a:r>
              <a:rPr lang="en-US" sz="1800" dirty="0" err="1"/>
              <a:t>kez</a:t>
            </a:r>
            <a:r>
              <a:rPr lang="en-US" sz="1800" dirty="0"/>
              <a:t>_(living/dry) were defined as complex arrays of length M (for M species). The loop over trees was nested inside a loop over species.</a:t>
            </a:r>
          </a:p>
          <a:p>
            <a:r>
              <a:rPr lang="en-US" sz="1800" dirty="0"/>
              <a:t>The computation of effective permittivity of leaves and tertiary branches was changed to use already realized tertiaries and leaves instead of re-realizing them as was the case. </a:t>
            </a:r>
          </a:p>
          <a:p>
            <a:pPr lvl="1"/>
            <a:r>
              <a:rPr lang="en-US" sz="1400" dirty="0"/>
              <a:t>I’m not perfectly confident that I did that part right. The </a:t>
            </a:r>
            <a:r>
              <a:rPr lang="en-US" sz="1400" dirty="0" err="1"/>
              <a:t>polarizabilities</a:t>
            </a:r>
            <a:r>
              <a:rPr lang="en-US" sz="1400" dirty="0"/>
              <a:t> of stems and branches are summed up and normalized by total crown volume (of all N trees). In case of tertiaries and leaves, this is different because only a small sample of leaves and tertiaries are actually realized. The </a:t>
            </a:r>
            <a:r>
              <a:rPr lang="en-US" sz="1400" dirty="0" err="1"/>
              <a:t>polarizabilities</a:t>
            </a:r>
            <a:r>
              <a:rPr lang="en-US" sz="1400" dirty="0"/>
              <a:t> are therefore averaged over a fraction of the crown volume. I’m not perfectly confident what the normalization in this case ought to be.</a:t>
            </a:r>
          </a:p>
          <a:p>
            <a:pPr lvl="2"/>
            <a:r>
              <a:rPr lang="en-US" sz="1000" dirty="0"/>
              <a:t>Alternately I can just use the same code as original and re-realize the leaves and tertiaries for each species. I haven’t done that yet. </a:t>
            </a:r>
          </a:p>
        </p:txBody>
      </p:sp>
      <p:sp>
        <p:nvSpPr>
          <p:cNvPr id="4" name="Date Placeholder 3">
            <a:extLst>
              <a:ext uri="{FF2B5EF4-FFF2-40B4-BE49-F238E27FC236}">
                <a16:creationId xmlns:a16="http://schemas.microsoft.com/office/drawing/2014/main" id="{C24C74A5-1E1A-2C3C-2F7D-C6BD50BB5A7A}"/>
              </a:ext>
            </a:extLst>
          </p:cNvPr>
          <p:cNvSpPr>
            <a:spLocks noGrp="1"/>
          </p:cNvSpPr>
          <p:nvPr>
            <p:ph type="dt" sz="half" idx="10"/>
          </p:nvPr>
        </p:nvSpPr>
        <p:spPr/>
        <p:txBody>
          <a:bodyPr/>
          <a:lstStyle/>
          <a:p>
            <a:fld id="{5735B9F5-1CFC-6C43-9A77-352BFAC24051}" type="datetime1">
              <a:rPr lang="en-US" smtClean="0"/>
              <a:t>3/25/26</a:t>
            </a:fld>
            <a:endParaRPr lang="en-US"/>
          </a:p>
        </p:txBody>
      </p:sp>
      <p:sp>
        <p:nvSpPr>
          <p:cNvPr id="5" name="Footer Placeholder 4">
            <a:extLst>
              <a:ext uri="{FF2B5EF4-FFF2-40B4-BE49-F238E27FC236}">
                <a16:creationId xmlns:a16="http://schemas.microsoft.com/office/drawing/2014/main" id="{94ABB9F2-9142-B5D5-A5C4-777452FB70DF}"/>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0EF7598A-3BA3-E67C-6E4F-34AEB588845A}"/>
              </a:ext>
            </a:extLst>
          </p:cNvPr>
          <p:cNvSpPr>
            <a:spLocks noGrp="1"/>
          </p:cNvSpPr>
          <p:nvPr>
            <p:ph type="sldNum" sz="quarter" idx="12"/>
          </p:nvPr>
        </p:nvSpPr>
        <p:spPr/>
        <p:txBody>
          <a:bodyPr/>
          <a:lstStyle/>
          <a:p>
            <a:fld id="{B4CE5C4C-399A-B444-9B2A-945D2610250E}" type="slidenum">
              <a:rPr lang="en-US" smtClean="0"/>
              <a:t>50</a:t>
            </a:fld>
            <a:endParaRPr lang="en-US"/>
          </a:p>
        </p:txBody>
      </p:sp>
    </p:spTree>
    <p:extLst>
      <p:ext uri="{BB962C8B-B14F-4D97-AF65-F5344CB8AC3E}">
        <p14:creationId xmlns:p14="http://schemas.microsoft.com/office/powerpoint/2010/main" val="10112845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Attenuation Map</a:t>
            </a:r>
          </a:p>
        </p:txBody>
      </p:sp>
      <p:sp>
        <p:nvSpPr>
          <p:cNvPr id="3" name="Content Placeholder 2"/>
          <p:cNvSpPr>
            <a:spLocks noGrp="1"/>
          </p:cNvSpPr>
          <p:nvPr>
            <p:ph idx="1"/>
          </p:nvPr>
        </p:nvSpPr>
        <p:spPr>
          <a:xfrm>
            <a:off x="457200" y="1600200"/>
            <a:ext cx="8229600" cy="4872785"/>
          </a:xfrm>
        </p:spPr>
        <p:txBody>
          <a:bodyPr>
            <a:noAutofit/>
          </a:bodyPr>
          <a:lstStyle/>
          <a:p>
            <a:r>
              <a:rPr lang="en-US" sz="1800" dirty="0"/>
              <a:t>Originally, </a:t>
            </a:r>
            <a:r>
              <a:rPr lang="en-US" sz="1800" dirty="0" err="1"/>
              <a:t>Attenuation_Map</a:t>
            </a:r>
            <a:r>
              <a:rPr lang="en-US" sz="1800" dirty="0"/>
              <a:t>() computed the 3-D attenuation lookup table by computing path lengths of rays through canopies</a:t>
            </a:r>
          </a:p>
          <a:p>
            <a:pPr lvl="1"/>
            <a:r>
              <a:rPr lang="en-US" sz="1400" dirty="0"/>
              <a:t>For Bounce attenuation map the rays originate at the voxel of the 3-D map and point to the radar opposite the radar line of sight.</a:t>
            </a:r>
          </a:p>
          <a:p>
            <a:pPr lvl="1"/>
            <a:r>
              <a:rPr lang="en-US" sz="1400" dirty="0"/>
              <a:t>For Direct attenuation map the rays originate at the voxel of the 3D map and point to the ground along the radar line of sight.</a:t>
            </a:r>
          </a:p>
          <a:p>
            <a:r>
              <a:rPr lang="en-US" sz="1800" dirty="0"/>
              <a:t>There was no attenuation through stems (i.e. stems appeared transparent).</a:t>
            </a:r>
          </a:p>
          <a:p>
            <a:r>
              <a:rPr lang="en-US" sz="1800" dirty="0"/>
              <a:t>Added code that accounts for stems in the attenuation map by treating them as perfectly opaque cylinders. </a:t>
            </a:r>
          </a:p>
          <a:p>
            <a:r>
              <a:rPr lang="en-US" sz="1800" dirty="0"/>
              <a:t>However, that takes way too long, so this piece of code is only activated if the variable ENABLE_ATTENUATION_FROM_STEMS is defined.</a:t>
            </a:r>
          </a:p>
        </p:txBody>
      </p:sp>
      <p:sp>
        <p:nvSpPr>
          <p:cNvPr id="4" name="Date Placeholder 3">
            <a:extLst>
              <a:ext uri="{FF2B5EF4-FFF2-40B4-BE49-F238E27FC236}">
                <a16:creationId xmlns:a16="http://schemas.microsoft.com/office/drawing/2014/main" id="{C1C2CFD7-CEBC-41E1-5257-50CC2EC9F44A}"/>
              </a:ext>
            </a:extLst>
          </p:cNvPr>
          <p:cNvSpPr>
            <a:spLocks noGrp="1"/>
          </p:cNvSpPr>
          <p:nvPr>
            <p:ph type="dt" sz="half" idx="10"/>
          </p:nvPr>
        </p:nvSpPr>
        <p:spPr/>
        <p:txBody>
          <a:bodyPr/>
          <a:lstStyle/>
          <a:p>
            <a:fld id="{20B5BBD6-4C4B-6541-8F05-CFE7D4C4ECBE}" type="datetime1">
              <a:rPr lang="en-US" smtClean="0"/>
              <a:t>3/25/26</a:t>
            </a:fld>
            <a:endParaRPr lang="en-US"/>
          </a:p>
        </p:txBody>
      </p:sp>
      <p:sp>
        <p:nvSpPr>
          <p:cNvPr id="5" name="Footer Placeholder 4">
            <a:extLst>
              <a:ext uri="{FF2B5EF4-FFF2-40B4-BE49-F238E27FC236}">
                <a16:creationId xmlns:a16="http://schemas.microsoft.com/office/drawing/2014/main" id="{0D210BCA-68DF-1BD7-0583-879A8B3FC8E2}"/>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A4CCFD9C-742E-1F93-4E85-0D0630E75E78}"/>
              </a:ext>
            </a:extLst>
          </p:cNvPr>
          <p:cNvSpPr>
            <a:spLocks noGrp="1"/>
          </p:cNvSpPr>
          <p:nvPr>
            <p:ph type="sldNum" sz="quarter" idx="12"/>
          </p:nvPr>
        </p:nvSpPr>
        <p:spPr/>
        <p:txBody>
          <a:bodyPr/>
          <a:lstStyle/>
          <a:p>
            <a:fld id="{B4CE5C4C-399A-B444-9B2A-945D2610250E}" type="slidenum">
              <a:rPr lang="en-US" smtClean="0"/>
              <a:t>51</a:t>
            </a:fld>
            <a:endParaRPr lang="en-US"/>
          </a:p>
        </p:txBody>
      </p:sp>
    </p:spTree>
    <p:extLst>
      <p:ext uri="{BB962C8B-B14F-4D97-AF65-F5344CB8AC3E}">
        <p14:creationId xmlns:p14="http://schemas.microsoft.com/office/powerpoint/2010/main" val="3522143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367" y="148603"/>
            <a:ext cx="8229600" cy="1143000"/>
          </a:xfrm>
        </p:spPr>
        <p:txBody>
          <a:bodyPr/>
          <a:lstStyle/>
          <a:p>
            <a:r>
              <a:rPr lang="en-US" dirty="0"/>
              <a:t>Attenuation from stems</a:t>
            </a:r>
          </a:p>
        </p:txBody>
      </p:sp>
      <p:pic>
        <p:nvPicPr>
          <p:cNvPr id="4" name="Content Placeholder 3" descr="Screen Shot 2012-09-26 at 3.34.57 PM.png"/>
          <p:cNvPicPr>
            <a:picLocks noGrp="1" noChangeAspect="1"/>
          </p:cNvPicPr>
          <p:nvPr>
            <p:ph idx="1"/>
          </p:nvPr>
        </p:nvPicPr>
        <p:blipFill>
          <a:blip r:embed="rId2" cstate="print">
            <a:extLst>
              <a:ext uri="{28A0092B-C50C-407E-A947-70E740481C1C}">
                <a14:useLocalDpi xmlns:a14="http://schemas.microsoft.com/office/drawing/2010/main"/>
              </a:ext>
            </a:extLst>
          </a:blip>
          <a:srcRect/>
          <a:stretch>
            <a:fillRect/>
          </a:stretch>
        </p:blipFill>
        <p:spPr>
          <a:xfrm>
            <a:off x="2000776" y="3056939"/>
            <a:ext cx="5272038" cy="2899418"/>
          </a:xfrm>
        </p:spPr>
      </p:pic>
      <p:sp>
        <p:nvSpPr>
          <p:cNvPr id="5" name="TextBox 4"/>
          <p:cNvSpPr txBox="1"/>
          <p:nvPr/>
        </p:nvSpPr>
        <p:spPr>
          <a:xfrm>
            <a:off x="3861264" y="6134485"/>
            <a:ext cx="1042736" cy="369332"/>
          </a:xfrm>
          <a:prstGeom prst="rect">
            <a:avLst/>
          </a:prstGeom>
          <a:noFill/>
        </p:spPr>
        <p:txBody>
          <a:bodyPr wrap="none" rtlCol="0">
            <a:spAutoFit/>
          </a:bodyPr>
          <a:lstStyle/>
          <a:p>
            <a:r>
              <a:rPr lang="en-US" dirty="0"/>
              <a:t>80m tree</a:t>
            </a:r>
          </a:p>
        </p:txBody>
      </p:sp>
      <p:cxnSp>
        <p:nvCxnSpPr>
          <p:cNvPr id="7" name="Straight Arrow Connector 6"/>
          <p:cNvCxnSpPr/>
          <p:nvPr/>
        </p:nvCxnSpPr>
        <p:spPr>
          <a:xfrm flipV="1">
            <a:off x="4636795" y="5649735"/>
            <a:ext cx="155106" cy="4847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8" name="Picture 7" descr="Screen Shot 2012-08-01 at 11.59.43 AM.pn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000776" y="939111"/>
            <a:ext cx="5847211" cy="1965250"/>
          </a:xfrm>
          <a:prstGeom prst="rect">
            <a:avLst/>
          </a:prstGeom>
        </p:spPr>
      </p:pic>
      <p:sp>
        <p:nvSpPr>
          <p:cNvPr id="9" name="TextBox 8"/>
          <p:cNvSpPr txBox="1"/>
          <p:nvPr/>
        </p:nvSpPr>
        <p:spPr>
          <a:xfrm>
            <a:off x="730056" y="1742651"/>
            <a:ext cx="808297" cy="369332"/>
          </a:xfrm>
          <a:prstGeom prst="rect">
            <a:avLst/>
          </a:prstGeom>
          <a:noFill/>
        </p:spPr>
        <p:txBody>
          <a:bodyPr wrap="none" rtlCol="0">
            <a:spAutoFit/>
          </a:bodyPr>
          <a:lstStyle/>
          <a:p>
            <a:r>
              <a:rPr lang="en-US" dirty="0"/>
              <a:t>before</a:t>
            </a:r>
          </a:p>
        </p:txBody>
      </p:sp>
      <p:sp>
        <p:nvSpPr>
          <p:cNvPr id="10" name="TextBox 9"/>
          <p:cNvSpPr txBox="1"/>
          <p:nvPr/>
        </p:nvSpPr>
        <p:spPr>
          <a:xfrm>
            <a:off x="730056" y="4137316"/>
            <a:ext cx="633507" cy="369332"/>
          </a:xfrm>
          <a:prstGeom prst="rect">
            <a:avLst/>
          </a:prstGeom>
          <a:noFill/>
        </p:spPr>
        <p:txBody>
          <a:bodyPr wrap="none" rtlCol="0">
            <a:spAutoFit/>
          </a:bodyPr>
          <a:lstStyle/>
          <a:p>
            <a:r>
              <a:rPr lang="en-US" dirty="0"/>
              <a:t>after</a:t>
            </a:r>
          </a:p>
        </p:txBody>
      </p:sp>
      <p:sp>
        <p:nvSpPr>
          <p:cNvPr id="3" name="Date Placeholder 2">
            <a:extLst>
              <a:ext uri="{FF2B5EF4-FFF2-40B4-BE49-F238E27FC236}">
                <a16:creationId xmlns:a16="http://schemas.microsoft.com/office/drawing/2014/main" id="{C39EEA54-F75D-5B7D-E1F9-E7184BDEC1B2}"/>
              </a:ext>
            </a:extLst>
          </p:cNvPr>
          <p:cNvSpPr>
            <a:spLocks noGrp="1"/>
          </p:cNvSpPr>
          <p:nvPr>
            <p:ph type="dt" sz="half" idx="10"/>
          </p:nvPr>
        </p:nvSpPr>
        <p:spPr/>
        <p:txBody>
          <a:bodyPr/>
          <a:lstStyle/>
          <a:p>
            <a:fld id="{01E13B77-00EB-AC4E-86C6-F0D71C3DBFF2}" type="datetime1">
              <a:rPr lang="en-US" smtClean="0"/>
              <a:t>3/25/26</a:t>
            </a:fld>
            <a:endParaRPr lang="en-US"/>
          </a:p>
        </p:txBody>
      </p:sp>
      <p:sp>
        <p:nvSpPr>
          <p:cNvPr id="6" name="Footer Placeholder 5">
            <a:extLst>
              <a:ext uri="{FF2B5EF4-FFF2-40B4-BE49-F238E27FC236}">
                <a16:creationId xmlns:a16="http://schemas.microsoft.com/office/drawing/2014/main" id="{8AA23EBA-D1EC-17BC-F6A6-9341B96F1A8F}"/>
              </a:ext>
            </a:extLst>
          </p:cNvPr>
          <p:cNvSpPr>
            <a:spLocks noGrp="1"/>
          </p:cNvSpPr>
          <p:nvPr>
            <p:ph type="ftr" sz="quarter" idx="11"/>
          </p:nvPr>
        </p:nvSpPr>
        <p:spPr/>
        <p:txBody>
          <a:bodyPr/>
          <a:lstStyle/>
          <a:p>
            <a:r>
              <a:rPr lang="en-US"/>
              <a:t>Does Not Contain CUI.</a:t>
            </a:r>
          </a:p>
        </p:txBody>
      </p:sp>
      <p:sp>
        <p:nvSpPr>
          <p:cNvPr id="11" name="Slide Number Placeholder 10">
            <a:extLst>
              <a:ext uri="{FF2B5EF4-FFF2-40B4-BE49-F238E27FC236}">
                <a16:creationId xmlns:a16="http://schemas.microsoft.com/office/drawing/2014/main" id="{AD028261-C753-7C57-8E2A-AB77A0A240D4}"/>
              </a:ext>
            </a:extLst>
          </p:cNvPr>
          <p:cNvSpPr>
            <a:spLocks noGrp="1"/>
          </p:cNvSpPr>
          <p:nvPr>
            <p:ph type="sldNum" sz="quarter" idx="12"/>
          </p:nvPr>
        </p:nvSpPr>
        <p:spPr/>
        <p:txBody>
          <a:bodyPr/>
          <a:lstStyle/>
          <a:p>
            <a:fld id="{B4CE5C4C-399A-B444-9B2A-945D2610250E}" type="slidenum">
              <a:rPr lang="en-US" smtClean="0"/>
              <a:t>52</a:t>
            </a:fld>
            <a:endParaRPr lang="en-US"/>
          </a:p>
        </p:txBody>
      </p:sp>
    </p:spTree>
    <p:extLst>
      <p:ext uri="{BB962C8B-B14F-4D97-AF65-F5344CB8AC3E}">
        <p14:creationId xmlns:p14="http://schemas.microsoft.com/office/powerpoint/2010/main" val="3064482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Multithreaded code	</a:t>
            </a:r>
          </a:p>
        </p:txBody>
      </p:sp>
      <p:sp>
        <p:nvSpPr>
          <p:cNvPr id="3" name="Content Placeholder 2"/>
          <p:cNvSpPr>
            <a:spLocks noGrp="1"/>
          </p:cNvSpPr>
          <p:nvPr>
            <p:ph idx="1"/>
          </p:nvPr>
        </p:nvSpPr>
        <p:spPr/>
        <p:txBody>
          <a:bodyPr>
            <a:normAutofit fontScale="77500" lnSpcReduction="20000"/>
          </a:bodyPr>
          <a:lstStyle/>
          <a:p>
            <a:r>
              <a:rPr lang="en-US" dirty="0"/>
              <a:t>Wrote threaded versions of each module to allow faster computation</a:t>
            </a:r>
          </a:p>
          <a:p>
            <a:pPr lvl="1"/>
            <a:r>
              <a:rPr lang="en-US" dirty="0" err="1"/>
              <a:t>Effective_Permittivities_SMP</a:t>
            </a:r>
            <a:r>
              <a:rPr lang="en-US" dirty="0"/>
              <a:t>()</a:t>
            </a:r>
          </a:p>
          <a:p>
            <a:pPr lvl="2"/>
            <a:r>
              <a:rPr lang="en-US" dirty="0"/>
              <a:t>Added function </a:t>
            </a:r>
            <a:r>
              <a:rPr lang="en-US" dirty="0" err="1"/>
              <a:t>Compute_Alpha</a:t>
            </a:r>
            <a:r>
              <a:rPr lang="en-US" dirty="0"/>
              <a:t>() to run as a separate thread for each tree</a:t>
            </a:r>
          </a:p>
          <a:p>
            <a:pPr lvl="1"/>
            <a:r>
              <a:rPr lang="en-US" dirty="0" err="1"/>
              <a:t>Attenuation_MAP_SMP</a:t>
            </a:r>
            <a:r>
              <a:rPr lang="en-US" dirty="0"/>
              <a:t>()</a:t>
            </a:r>
          </a:p>
          <a:p>
            <a:pPr lvl="2"/>
            <a:r>
              <a:rPr lang="en-US" dirty="0"/>
              <a:t>Added functions </a:t>
            </a:r>
            <a:r>
              <a:rPr lang="en-US" dirty="0" err="1"/>
              <a:t>Compute_Bounce</a:t>
            </a:r>
            <a:r>
              <a:rPr lang="en-US" dirty="0"/>
              <a:t>/</a:t>
            </a:r>
            <a:r>
              <a:rPr lang="en-US" dirty="0" err="1"/>
              <a:t>Direct_Gamma</a:t>
            </a:r>
            <a:r>
              <a:rPr lang="en-US" dirty="0"/>
              <a:t>() to run as a separate thread for each vertical bin</a:t>
            </a:r>
          </a:p>
          <a:p>
            <a:pPr lvl="1"/>
            <a:r>
              <a:rPr lang="en-US" dirty="0" err="1"/>
              <a:t>PolSARproSIM_Direct_Ground_SMP</a:t>
            </a:r>
            <a:r>
              <a:rPr lang="en-US" dirty="0"/>
              <a:t>()</a:t>
            </a:r>
          </a:p>
          <a:p>
            <a:pPr lvl="2"/>
            <a:r>
              <a:rPr lang="en-US" dirty="0"/>
              <a:t>Added function </a:t>
            </a:r>
            <a:r>
              <a:rPr lang="en-US" dirty="0" err="1"/>
              <a:t>Direct_Ground_Rangeline</a:t>
            </a:r>
            <a:r>
              <a:rPr lang="en-US" dirty="0"/>
              <a:t>() to run as a separate thread for each range line</a:t>
            </a:r>
          </a:p>
          <a:p>
            <a:pPr lvl="1"/>
            <a:r>
              <a:rPr lang="en-US" dirty="0" err="1"/>
              <a:t>PolSARproSIM_ShortVegetation_Direct</a:t>
            </a:r>
            <a:r>
              <a:rPr lang="en-US" dirty="0"/>
              <a:t>/</a:t>
            </a:r>
            <a:r>
              <a:rPr lang="en-US" dirty="0" err="1"/>
              <a:t>Bounce_SMP</a:t>
            </a:r>
            <a:r>
              <a:rPr lang="en-US" dirty="0"/>
              <a:t>()</a:t>
            </a:r>
          </a:p>
          <a:p>
            <a:pPr lvl="2"/>
            <a:r>
              <a:rPr lang="en-US" dirty="0"/>
              <a:t>Added functions </a:t>
            </a:r>
            <a:r>
              <a:rPr lang="en-US" dirty="0" err="1"/>
              <a:t>Image_ShortVeg_Direct</a:t>
            </a:r>
            <a:r>
              <a:rPr lang="en-US" dirty="0"/>
              <a:t>/</a:t>
            </a:r>
            <a:r>
              <a:rPr lang="en-US" dirty="0" err="1"/>
              <a:t>Bounce_Stem</a:t>
            </a:r>
            <a:r>
              <a:rPr lang="en-US" dirty="0"/>
              <a:t>/Leaves() to run as separate threads for each range line</a:t>
            </a:r>
          </a:p>
          <a:p>
            <a:pPr lvl="1"/>
            <a:r>
              <a:rPr lang="en-US" dirty="0" err="1"/>
              <a:t>PolSARproSIM_Forest_SMP</a:t>
            </a:r>
            <a:r>
              <a:rPr lang="en-US" dirty="0"/>
              <a:t>()</a:t>
            </a:r>
          </a:p>
          <a:p>
            <a:pPr lvl="2"/>
            <a:r>
              <a:rPr lang="en-US" dirty="0"/>
              <a:t>Combines Direct and Bounce scattering codes at the </a:t>
            </a:r>
            <a:r>
              <a:rPr lang="en-US" dirty="0" err="1"/>
              <a:t>Image_Cylinder</a:t>
            </a:r>
            <a:r>
              <a:rPr lang="en-US" dirty="0"/>
              <a:t>() level.</a:t>
            </a:r>
          </a:p>
          <a:p>
            <a:pPr lvl="2"/>
            <a:r>
              <a:rPr lang="en-US" dirty="0"/>
              <a:t>Added function </a:t>
            </a:r>
            <a:r>
              <a:rPr lang="en-US" dirty="0" err="1"/>
              <a:t>Image_Tree_SMP</a:t>
            </a:r>
            <a:r>
              <a:rPr lang="en-US" dirty="0"/>
              <a:t>() to run as a separate thread for each tree. </a:t>
            </a:r>
          </a:p>
          <a:p>
            <a:pPr lvl="2"/>
            <a:endParaRPr lang="en-US" dirty="0"/>
          </a:p>
          <a:p>
            <a:r>
              <a:rPr lang="en-US" dirty="0"/>
              <a:t>This code can be activated by either </a:t>
            </a:r>
          </a:p>
          <a:p>
            <a:pPr lvl="1"/>
            <a:r>
              <a:rPr lang="en-US" dirty="0"/>
              <a:t>Uncommenting line #define ENABLE_THREADS in </a:t>
            </a:r>
            <a:r>
              <a:rPr lang="en-US" dirty="0" err="1"/>
              <a:t>PolSARproSIM_definitions.h</a:t>
            </a:r>
            <a:endParaRPr lang="en-US" dirty="0"/>
          </a:p>
          <a:p>
            <a:pPr lvl="1"/>
            <a:r>
              <a:rPr lang="en-US" dirty="0"/>
              <a:t>Or including -DENABLE_THREADS are an argument for the </a:t>
            </a:r>
            <a:r>
              <a:rPr lang="en-US" dirty="0" err="1"/>
              <a:t>gcc</a:t>
            </a:r>
            <a:r>
              <a:rPr lang="en-US" dirty="0"/>
              <a:t> command (see </a:t>
            </a:r>
            <a:r>
              <a:rPr lang="en-US" dirty="0" err="1"/>
              <a:t>Makefile</a:t>
            </a:r>
            <a:r>
              <a:rPr lang="en-US" dirty="0"/>
              <a:t>)</a:t>
            </a:r>
          </a:p>
        </p:txBody>
      </p:sp>
      <p:sp>
        <p:nvSpPr>
          <p:cNvPr id="4" name="Date Placeholder 3">
            <a:extLst>
              <a:ext uri="{FF2B5EF4-FFF2-40B4-BE49-F238E27FC236}">
                <a16:creationId xmlns:a16="http://schemas.microsoft.com/office/drawing/2014/main" id="{E1DE5B4F-6D2E-4E4C-F0CA-D75F9237D060}"/>
              </a:ext>
            </a:extLst>
          </p:cNvPr>
          <p:cNvSpPr>
            <a:spLocks noGrp="1"/>
          </p:cNvSpPr>
          <p:nvPr>
            <p:ph type="dt" sz="half" idx="10"/>
          </p:nvPr>
        </p:nvSpPr>
        <p:spPr/>
        <p:txBody>
          <a:bodyPr/>
          <a:lstStyle/>
          <a:p>
            <a:fld id="{9B508DC7-1637-1042-829A-DC58DC20E055}" type="datetime1">
              <a:rPr lang="en-US" smtClean="0"/>
              <a:t>3/25/26</a:t>
            </a:fld>
            <a:endParaRPr lang="en-US"/>
          </a:p>
        </p:txBody>
      </p:sp>
      <p:sp>
        <p:nvSpPr>
          <p:cNvPr id="5" name="Footer Placeholder 4">
            <a:extLst>
              <a:ext uri="{FF2B5EF4-FFF2-40B4-BE49-F238E27FC236}">
                <a16:creationId xmlns:a16="http://schemas.microsoft.com/office/drawing/2014/main" id="{6D2BF2B2-164C-881D-A01F-85156BD2F698}"/>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D4EC0A0F-D227-E99F-4D5F-5A61AB67249C}"/>
              </a:ext>
            </a:extLst>
          </p:cNvPr>
          <p:cNvSpPr>
            <a:spLocks noGrp="1"/>
          </p:cNvSpPr>
          <p:nvPr>
            <p:ph type="sldNum" sz="quarter" idx="12"/>
          </p:nvPr>
        </p:nvSpPr>
        <p:spPr/>
        <p:txBody>
          <a:bodyPr/>
          <a:lstStyle/>
          <a:p>
            <a:fld id="{B4CE5C4C-399A-B444-9B2A-945D2610250E}" type="slidenum">
              <a:rPr lang="en-US" smtClean="0"/>
              <a:t>53</a:t>
            </a:fld>
            <a:endParaRPr lang="en-US"/>
          </a:p>
        </p:txBody>
      </p:sp>
    </p:spTree>
    <p:extLst>
      <p:ext uri="{BB962C8B-B14F-4D97-AF65-F5344CB8AC3E}">
        <p14:creationId xmlns:p14="http://schemas.microsoft.com/office/powerpoint/2010/main" val="38287609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Processing</a:t>
            </a:r>
          </a:p>
        </p:txBody>
      </p:sp>
      <p:sp>
        <p:nvSpPr>
          <p:cNvPr id="3" name="Content Placeholder 2"/>
          <p:cNvSpPr>
            <a:spLocks noGrp="1"/>
          </p:cNvSpPr>
          <p:nvPr>
            <p:ph idx="1"/>
          </p:nvPr>
        </p:nvSpPr>
        <p:spPr/>
        <p:txBody>
          <a:bodyPr>
            <a:normAutofit/>
          </a:bodyPr>
          <a:lstStyle/>
          <a:p>
            <a:r>
              <a:rPr lang="en-US" dirty="0"/>
              <a:t>Original code overwrites the repeat track by overwriting the slave files</a:t>
            </a:r>
          </a:p>
          <a:p>
            <a:r>
              <a:rPr lang="en-US" dirty="0"/>
              <a:t>Changed the naming convention of files and locations. The new files are stored in the directory specified as input, </a:t>
            </a:r>
          </a:p>
          <a:p>
            <a:pPr lvl="1"/>
            <a:r>
              <a:rPr lang="en-US" dirty="0"/>
              <a:t>$</a:t>
            </a:r>
            <a:r>
              <a:rPr lang="en-US" dirty="0" err="1"/>
              <a:t>argv</a:t>
            </a:r>
            <a:r>
              <a:rPr lang="en-US" dirty="0"/>
              <a:t>[1]/$(</a:t>
            </a:r>
            <a:r>
              <a:rPr lang="en-US" dirty="0" err="1"/>
              <a:t>sceneid</a:t>
            </a:r>
            <a:r>
              <a:rPr lang="en-US" dirty="0"/>
              <a:t>)_track($</a:t>
            </a:r>
            <a:r>
              <a:rPr lang="en-US" dirty="0" err="1"/>
              <a:t>nnn</a:t>
            </a:r>
            <a:r>
              <a:rPr lang="en-US" dirty="0"/>
              <a:t>)_$(Pol).bin </a:t>
            </a:r>
          </a:p>
          <a:p>
            <a:pPr lvl="1"/>
            <a:r>
              <a:rPr lang="en-US" dirty="0"/>
              <a:t>With $</a:t>
            </a:r>
            <a:r>
              <a:rPr lang="en-US" dirty="0" err="1"/>
              <a:t>nnn</a:t>
            </a:r>
            <a:r>
              <a:rPr lang="en-US" dirty="0"/>
              <a:t> = 000 for master track and so on</a:t>
            </a:r>
          </a:p>
          <a:p>
            <a:pPr lvl="1"/>
            <a:r>
              <a:rPr lang="en-US" dirty="0"/>
              <a:t>Running for multiple baselines seemed to work</a:t>
            </a:r>
          </a:p>
          <a:p>
            <a:pPr marL="457200" lvl="1" indent="0">
              <a:buNone/>
            </a:pPr>
            <a:endParaRPr lang="en-US" dirty="0"/>
          </a:p>
          <a:p>
            <a:r>
              <a:rPr lang="en-US" dirty="0"/>
              <a:t>Changed the code so that the memory is allocated for each polarization image and track rather than the same memory location overwritten for every track. This allows for moving the loop over tracks inside each module. </a:t>
            </a:r>
          </a:p>
          <a:p>
            <a:endParaRPr lang="en-US" dirty="0"/>
          </a:p>
          <a:p>
            <a:endParaRPr lang="en-US" dirty="0"/>
          </a:p>
        </p:txBody>
      </p:sp>
      <p:sp>
        <p:nvSpPr>
          <p:cNvPr id="4" name="Date Placeholder 3">
            <a:extLst>
              <a:ext uri="{FF2B5EF4-FFF2-40B4-BE49-F238E27FC236}">
                <a16:creationId xmlns:a16="http://schemas.microsoft.com/office/drawing/2014/main" id="{E7F07217-E0E9-1325-D0CB-625974FAEA84}"/>
              </a:ext>
            </a:extLst>
          </p:cNvPr>
          <p:cNvSpPr>
            <a:spLocks noGrp="1"/>
          </p:cNvSpPr>
          <p:nvPr>
            <p:ph type="dt" sz="half" idx="10"/>
          </p:nvPr>
        </p:nvSpPr>
        <p:spPr/>
        <p:txBody>
          <a:bodyPr/>
          <a:lstStyle/>
          <a:p>
            <a:fld id="{51F540CB-67B8-F548-AF57-9ABBE96ABDFD}" type="datetime1">
              <a:rPr lang="en-US" smtClean="0"/>
              <a:t>3/25/26</a:t>
            </a:fld>
            <a:endParaRPr lang="en-US"/>
          </a:p>
        </p:txBody>
      </p:sp>
      <p:sp>
        <p:nvSpPr>
          <p:cNvPr id="5" name="Footer Placeholder 4">
            <a:extLst>
              <a:ext uri="{FF2B5EF4-FFF2-40B4-BE49-F238E27FC236}">
                <a16:creationId xmlns:a16="http://schemas.microsoft.com/office/drawing/2014/main" id="{971B72A0-DF79-1D49-B620-558E51647DB2}"/>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06CCAAB7-3E0A-690F-FA2F-2B68A40185B7}"/>
              </a:ext>
            </a:extLst>
          </p:cNvPr>
          <p:cNvSpPr>
            <a:spLocks noGrp="1"/>
          </p:cNvSpPr>
          <p:nvPr>
            <p:ph type="sldNum" sz="quarter" idx="12"/>
          </p:nvPr>
        </p:nvSpPr>
        <p:spPr/>
        <p:txBody>
          <a:bodyPr/>
          <a:lstStyle/>
          <a:p>
            <a:fld id="{B4CE5C4C-399A-B444-9B2A-945D2610250E}" type="slidenum">
              <a:rPr lang="en-US" smtClean="0"/>
              <a:t>54</a:t>
            </a:fld>
            <a:endParaRPr lang="en-US"/>
          </a:p>
        </p:txBody>
      </p:sp>
    </p:spTree>
    <p:extLst>
      <p:ext uri="{BB962C8B-B14F-4D97-AF65-F5344CB8AC3E}">
        <p14:creationId xmlns:p14="http://schemas.microsoft.com/office/powerpoint/2010/main" val="37854534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923717" cy="1143000"/>
          </a:xfrm>
        </p:spPr>
        <p:txBody>
          <a:bodyPr>
            <a:normAutofit/>
          </a:bodyPr>
          <a:lstStyle/>
          <a:p>
            <a:r>
              <a:rPr lang="en-US" sz="2800" dirty="0"/>
              <a:t>Changing Loop Order</a:t>
            </a:r>
          </a:p>
        </p:txBody>
      </p:sp>
      <p:sp>
        <p:nvSpPr>
          <p:cNvPr id="3" name="Date Placeholder 2">
            <a:extLst>
              <a:ext uri="{FF2B5EF4-FFF2-40B4-BE49-F238E27FC236}">
                <a16:creationId xmlns:a16="http://schemas.microsoft.com/office/drawing/2014/main" id="{B700471F-ECB0-EB7D-BF58-CDD00246C753}"/>
              </a:ext>
            </a:extLst>
          </p:cNvPr>
          <p:cNvSpPr>
            <a:spLocks noGrp="1"/>
          </p:cNvSpPr>
          <p:nvPr>
            <p:ph type="dt" sz="half" idx="10"/>
          </p:nvPr>
        </p:nvSpPr>
        <p:spPr/>
        <p:txBody>
          <a:bodyPr/>
          <a:lstStyle/>
          <a:p>
            <a:fld id="{FFDE7052-5A83-194E-BCBB-9038B11D85FA}" type="datetime1">
              <a:rPr lang="en-US" smtClean="0"/>
              <a:t>3/25/26</a:t>
            </a:fld>
            <a:endParaRPr lang="en-US"/>
          </a:p>
        </p:txBody>
      </p:sp>
      <p:sp>
        <p:nvSpPr>
          <p:cNvPr id="4" name="Footer Placeholder 3">
            <a:extLst>
              <a:ext uri="{FF2B5EF4-FFF2-40B4-BE49-F238E27FC236}">
                <a16:creationId xmlns:a16="http://schemas.microsoft.com/office/drawing/2014/main" id="{DC47581C-B17B-96D2-0D85-DF09D50275E0}"/>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40E15F7F-687A-0378-36B9-FEF6FE9741B0}"/>
              </a:ext>
            </a:extLst>
          </p:cNvPr>
          <p:cNvSpPr>
            <a:spLocks noGrp="1"/>
          </p:cNvSpPr>
          <p:nvPr>
            <p:ph type="sldNum" sz="quarter" idx="12"/>
          </p:nvPr>
        </p:nvSpPr>
        <p:spPr/>
        <p:txBody>
          <a:bodyPr/>
          <a:lstStyle/>
          <a:p>
            <a:fld id="{B4CE5C4C-399A-B444-9B2A-945D2610250E}" type="slidenum">
              <a:rPr lang="en-US" smtClean="0"/>
              <a:t>55</a:t>
            </a:fld>
            <a:endParaRPr lang="en-US"/>
          </a:p>
        </p:txBody>
      </p:sp>
      <p:sp>
        <p:nvSpPr>
          <p:cNvPr id="176" name="Rectangle 175">
            <a:extLst>
              <a:ext uri="{FF2B5EF4-FFF2-40B4-BE49-F238E27FC236}">
                <a16:creationId xmlns:a16="http://schemas.microsoft.com/office/drawing/2014/main" id="{E7DFA2C6-0DB5-11D5-6C15-7C71DC8CE03B}"/>
              </a:ext>
            </a:extLst>
          </p:cNvPr>
          <p:cNvSpPr/>
          <p:nvPr/>
        </p:nvSpPr>
        <p:spPr>
          <a:xfrm>
            <a:off x="5858109" y="57150"/>
            <a:ext cx="2771541" cy="6737350"/>
          </a:xfrm>
          <a:prstGeom prst="rect">
            <a:avLst/>
          </a:prstGeom>
          <a:solidFill>
            <a:srgbClr val="4F81BD">
              <a:lumMod val="40000"/>
              <a:lumOff val="60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7" name="Rectangle 176">
            <a:extLst>
              <a:ext uri="{FF2B5EF4-FFF2-40B4-BE49-F238E27FC236}">
                <a16:creationId xmlns:a16="http://schemas.microsoft.com/office/drawing/2014/main" id="{ADC4DAE2-4608-AA2B-FF03-490CD9BD46A4}"/>
              </a:ext>
            </a:extLst>
          </p:cNvPr>
          <p:cNvSpPr/>
          <p:nvPr/>
        </p:nvSpPr>
        <p:spPr>
          <a:xfrm>
            <a:off x="4095750" y="2447546"/>
            <a:ext cx="2044700" cy="2088397"/>
          </a:xfrm>
          <a:prstGeom prst="rect">
            <a:avLst/>
          </a:prstGeom>
          <a:solidFill>
            <a:srgbClr val="4F81BD">
              <a:lumMod val="20000"/>
              <a:lumOff val="80000"/>
            </a:srgbClr>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178" name="Group 177">
            <a:extLst>
              <a:ext uri="{FF2B5EF4-FFF2-40B4-BE49-F238E27FC236}">
                <a16:creationId xmlns:a16="http://schemas.microsoft.com/office/drawing/2014/main" id="{F887BCB2-35BD-659A-C331-0B015831C67A}"/>
              </a:ext>
            </a:extLst>
          </p:cNvPr>
          <p:cNvGrpSpPr/>
          <p:nvPr/>
        </p:nvGrpSpPr>
        <p:grpSpPr>
          <a:xfrm>
            <a:off x="4364570" y="146641"/>
            <a:ext cx="3914219" cy="6593976"/>
            <a:chOff x="4364570" y="146641"/>
            <a:chExt cx="3914219" cy="6593976"/>
          </a:xfrm>
        </p:grpSpPr>
        <p:grpSp>
          <p:nvGrpSpPr>
            <p:cNvPr id="179" name="Group 178">
              <a:extLst>
                <a:ext uri="{FF2B5EF4-FFF2-40B4-BE49-F238E27FC236}">
                  <a16:creationId xmlns:a16="http://schemas.microsoft.com/office/drawing/2014/main" id="{C5DE5C88-9558-C0BB-518B-D46EF7BC1290}"/>
                </a:ext>
              </a:extLst>
            </p:cNvPr>
            <p:cNvGrpSpPr/>
            <p:nvPr/>
          </p:nvGrpSpPr>
          <p:grpSpPr>
            <a:xfrm>
              <a:off x="4364570" y="146641"/>
              <a:ext cx="3914219" cy="6593976"/>
              <a:chOff x="4200942" y="257104"/>
              <a:chExt cx="3914219" cy="6593976"/>
            </a:xfrm>
          </p:grpSpPr>
          <p:grpSp>
            <p:nvGrpSpPr>
              <p:cNvPr id="182" name="Group 181">
                <a:extLst>
                  <a:ext uri="{FF2B5EF4-FFF2-40B4-BE49-F238E27FC236}">
                    <a16:creationId xmlns:a16="http://schemas.microsoft.com/office/drawing/2014/main" id="{CE222EC8-52D8-8915-5DBF-2A53594FFCCE}"/>
                  </a:ext>
                </a:extLst>
              </p:cNvPr>
              <p:cNvGrpSpPr/>
              <p:nvPr/>
            </p:nvGrpSpPr>
            <p:grpSpPr>
              <a:xfrm>
                <a:off x="4757627" y="257104"/>
                <a:ext cx="3153877" cy="6593976"/>
                <a:chOff x="4417136" y="644138"/>
                <a:chExt cx="3153877" cy="6593976"/>
              </a:xfrm>
            </p:grpSpPr>
            <p:sp>
              <p:nvSpPr>
                <p:cNvPr id="220" name="Freeform 219">
                  <a:extLst>
                    <a:ext uri="{FF2B5EF4-FFF2-40B4-BE49-F238E27FC236}">
                      <a16:creationId xmlns:a16="http://schemas.microsoft.com/office/drawing/2014/main" id="{756C335C-D863-4AE0-9BA7-D8764947E9DA}"/>
                    </a:ext>
                  </a:extLst>
                </p:cNvPr>
                <p:cNvSpPr/>
                <p:nvPr/>
              </p:nvSpPr>
              <p:spPr>
                <a:xfrm>
                  <a:off x="6616421" y="644138"/>
                  <a:ext cx="936854"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Trees	</a:t>
                  </a:r>
                </a:p>
              </p:txBody>
            </p:sp>
            <p:sp>
              <p:nvSpPr>
                <p:cNvPr id="221" name="Freeform 220">
                  <a:extLst>
                    <a:ext uri="{FF2B5EF4-FFF2-40B4-BE49-F238E27FC236}">
                      <a16:creationId xmlns:a16="http://schemas.microsoft.com/office/drawing/2014/main" id="{4FF7F2B0-A651-78E2-C734-A41EB488DB60}"/>
                    </a:ext>
                  </a:extLst>
                </p:cNvPr>
                <p:cNvSpPr/>
                <p:nvPr/>
              </p:nvSpPr>
              <p:spPr>
                <a:xfrm>
                  <a:off x="7010169" y="1009018"/>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22" name="Freeform 221">
                  <a:extLst>
                    <a:ext uri="{FF2B5EF4-FFF2-40B4-BE49-F238E27FC236}">
                      <a16:creationId xmlns:a16="http://schemas.microsoft.com/office/drawing/2014/main" id="{BF12BF78-163B-F69B-2B4C-48C34337FE2B}"/>
                    </a:ext>
                  </a:extLst>
                </p:cNvPr>
                <p:cNvSpPr/>
                <p:nvPr/>
              </p:nvSpPr>
              <p:spPr>
                <a:xfrm>
                  <a:off x="4417136" y="3633452"/>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Ground/Short vegetation Imaging</a:t>
                  </a:r>
                </a:p>
              </p:txBody>
            </p:sp>
            <p:sp>
              <p:nvSpPr>
                <p:cNvPr id="223" name="Freeform 222">
                  <a:extLst>
                    <a:ext uri="{FF2B5EF4-FFF2-40B4-BE49-F238E27FC236}">
                      <a16:creationId xmlns:a16="http://schemas.microsoft.com/office/drawing/2014/main" id="{BBB7007D-0D70-817C-CDA6-E531CD81CEE7}"/>
                    </a:ext>
                  </a:extLst>
                </p:cNvPr>
                <p:cNvSpPr/>
                <p:nvPr/>
              </p:nvSpPr>
              <p:spPr>
                <a:xfrm>
                  <a:off x="7011841" y="1489735"/>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24" name="Freeform 223">
                  <a:extLst>
                    <a:ext uri="{FF2B5EF4-FFF2-40B4-BE49-F238E27FC236}">
                      <a16:creationId xmlns:a16="http://schemas.microsoft.com/office/drawing/2014/main" id="{F3EB90B5-99CB-3CF2-4486-F1E1FAB281AD}"/>
                    </a:ext>
                  </a:extLst>
                </p:cNvPr>
                <p:cNvSpPr/>
                <p:nvPr/>
              </p:nvSpPr>
              <p:spPr>
                <a:xfrm>
                  <a:off x="4495451" y="3097323"/>
                  <a:ext cx="936854"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rgbClr val="F79646">
                      <a:lumMod val="75000"/>
                    </a:srgbClr>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Tracks</a:t>
                  </a:r>
                </a:p>
              </p:txBody>
            </p:sp>
            <p:sp>
              <p:nvSpPr>
                <p:cNvPr id="225" name="Freeform 224">
                  <a:extLst>
                    <a:ext uri="{FF2B5EF4-FFF2-40B4-BE49-F238E27FC236}">
                      <a16:creationId xmlns:a16="http://schemas.microsoft.com/office/drawing/2014/main" id="{6FE41A21-589D-1A54-2F2D-3D29239F6B17}"/>
                    </a:ext>
                  </a:extLst>
                </p:cNvPr>
                <p:cNvSpPr/>
                <p:nvPr/>
              </p:nvSpPr>
              <p:spPr>
                <a:xfrm>
                  <a:off x="4885563" y="3467143"/>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26" name="Freeform 225">
                  <a:extLst>
                    <a:ext uri="{FF2B5EF4-FFF2-40B4-BE49-F238E27FC236}">
                      <a16:creationId xmlns:a16="http://schemas.microsoft.com/office/drawing/2014/main" id="{D52BE47A-2D8A-B0F2-3D00-CA4E5527F3F6}"/>
                    </a:ext>
                  </a:extLst>
                </p:cNvPr>
                <p:cNvSpPr/>
                <p:nvPr/>
              </p:nvSpPr>
              <p:spPr>
                <a:xfrm>
                  <a:off x="6621193" y="1148019"/>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err="1">
                      <a:ln>
                        <a:noFill/>
                      </a:ln>
                      <a:solidFill>
                        <a:prstClr val="black"/>
                      </a:solidFill>
                      <a:effectLst/>
                      <a:uLnTx/>
                      <a:uFillTx/>
                      <a:latin typeface="Calibri"/>
                      <a:ea typeface="+mn-ea"/>
                      <a:cs typeface="+mn-cs"/>
                    </a:rPr>
                    <a:t>Realise</a:t>
                  </a:r>
                  <a:r>
                    <a:rPr kumimoji="0" lang="en-US" sz="800" b="0" i="0" u="none" strike="noStrike" kern="0" cap="none" spc="0" normalizeH="0" baseline="0" noProof="0" dirty="0">
                      <a:ln>
                        <a:noFill/>
                      </a:ln>
                      <a:solidFill>
                        <a:prstClr val="black"/>
                      </a:solidFill>
                      <a:effectLst/>
                      <a:uLnTx/>
                      <a:uFillTx/>
                      <a:latin typeface="Calibri"/>
                      <a:ea typeface="+mn-ea"/>
                      <a:cs typeface="+mn-cs"/>
                    </a:rPr>
                    <a:t> Tree</a:t>
                  </a:r>
                </a:p>
              </p:txBody>
            </p:sp>
            <p:sp>
              <p:nvSpPr>
                <p:cNvPr id="227" name="Freeform 226">
                  <a:extLst>
                    <a:ext uri="{FF2B5EF4-FFF2-40B4-BE49-F238E27FC236}">
                      <a16:creationId xmlns:a16="http://schemas.microsoft.com/office/drawing/2014/main" id="{CE7E493B-4DF5-87D2-60A6-1AA6188519DC}"/>
                    </a:ext>
                  </a:extLst>
                </p:cNvPr>
                <p:cNvSpPr/>
                <p:nvPr/>
              </p:nvSpPr>
              <p:spPr>
                <a:xfrm>
                  <a:off x="4876798" y="4009491"/>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28" name="Freeform 227">
                  <a:extLst>
                    <a:ext uri="{FF2B5EF4-FFF2-40B4-BE49-F238E27FC236}">
                      <a16:creationId xmlns:a16="http://schemas.microsoft.com/office/drawing/2014/main" id="{91BBC2D0-1C0D-3C1E-E435-0F3349D123DB}"/>
                    </a:ext>
                  </a:extLst>
                </p:cNvPr>
                <p:cNvSpPr/>
                <p:nvPr/>
              </p:nvSpPr>
              <p:spPr>
                <a:xfrm>
                  <a:off x="6628079" y="6552641"/>
                  <a:ext cx="936854" cy="348066"/>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Tree</a:t>
                  </a:r>
                </a:p>
              </p:txBody>
            </p:sp>
            <p:sp>
              <p:nvSpPr>
                <p:cNvPr id="229" name="Freeform 228">
                  <a:extLst>
                    <a:ext uri="{FF2B5EF4-FFF2-40B4-BE49-F238E27FC236}">
                      <a16:creationId xmlns:a16="http://schemas.microsoft.com/office/drawing/2014/main" id="{DA3AF0B6-F0FA-9C5A-C563-CB865FB26045}"/>
                    </a:ext>
                  </a:extLst>
                </p:cNvPr>
                <p:cNvSpPr/>
                <p:nvPr/>
              </p:nvSpPr>
              <p:spPr>
                <a:xfrm>
                  <a:off x="7018191" y="6400483"/>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30" name="Freeform 229">
                  <a:extLst>
                    <a:ext uri="{FF2B5EF4-FFF2-40B4-BE49-F238E27FC236}">
                      <a16:creationId xmlns:a16="http://schemas.microsoft.com/office/drawing/2014/main" id="{8864E9AC-E8BD-04C2-6F1B-5E89FE05AA1D}"/>
                    </a:ext>
                  </a:extLst>
                </p:cNvPr>
                <p:cNvSpPr/>
                <p:nvPr/>
              </p:nvSpPr>
              <p:spPr>
                <a:xfrm>
                  <a:off x="4493684" y="4147697"/>
                  <a:ext cx="936854" cy="348066"/>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rgbClr val="F79646">
                      <a:lumMod val="75000"/>
                    </a:srgbClr>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Track</a:t>
                  </a:r>
                </a:p>
              </p:txBody>
            </p:sp>
            <p:sp>
              <p:nvSpPr>
                <p:cNvPr id="231" name="Freeform 230">
                  <a:extLst>
                    <a:ext uri="{FF2B5EF4-FFF2-40B4-BE49-F238E27FC236}">
                      <a16:creationId xmlns:a16="http://schemas.microsoft.com/office/drawing/2014/main" id="{37C3829D-9177-97FE-6423-D2FB00199937}"/>
                    </a:ext>
                  </a:extLst>
                </p:cNvPr>
                <p:cNvSpPr/>
                <p:nvPr/>
              </p:nvSpPr>
              <p:spPr>
                <a:xfrm>
                  <a:off x="7018191" y="6900707"/>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32" name="Freeform 231">
                  <a:extLst>
                    <a:ext uri="{FF2B5EF4-FFF2-40B4-BE49-F238E27FC236}">
                      <a16:creationId xmlns:a16="http://schemas.microsoft.com/office/drawing/2014/main" id="{CE1190C7-017E-B791-B3C4-253A8343ED20}"/>
                    </a:ext>
                  </a:extLst>
                </p:cNvPr>
                <p:cNvSpPr/>
                <p:nvPr/>
              </p:nvSpPr>
              <p:spPr>
                <a:xfrm>
                  <a:off x="6634159" y="7031232"/>
                  <a:ext cx="936854" cy="206882"/>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Exit</a:t>
                  </a:r>
                </a:p>
              </p:txBody>
            </p:sp>
          </p:grpSp>
          <p:cxnSp>
            <p:nvCxnSpPr>
              <p:cNvPr id="183" name="Straight Connector 182">
                <a:extLst>
                  <a:ext uri="{FF2B5EF4-FFF2-40B4-BE49-F238E27FC236}">
                    <a16:creationId xmlns:a16="http://schemas.microsoft.com/office/drawing/2014/main" id="{DC1F3AF9-CAE6-07CF-772F-5A981D3FB30C}"/>
                  </a:ext>
                </a:extLst>
              </p:cNvPr>
              <p:cNvCxnSpPr/>
              <p:nvPr/>
            </p:nvCxnSpPr>
            <p:spPr>
              <a:xfrm flipH="1" flipV="1">
                <a:off x="4200942" y="3926356"/>
                <a:ext cx="635000" cy="6350"/>
              </a:xfrm>
              <a:prstGeom prst="line">
                <a:avLst/>
              </a:prstGeom>
              <a:noFill/>
              <a:ln w="25400" cap="flat" cmpd="sng" algn="ctr">
                <a:solidFill>
                  <a:srgbClr val="F79646">
                    <a:lumMod val="75000"/>
                  </a:srgbClr>
                </a:solidFill>
                <a:prstDash val="solid"/>
              </a:ln>
              <a:effectLst>
                <a:outerShdw blurRad="40000" dist="20000" dir="5400000" rotWithShape="0">
                  <a:srgbClr val="000000">
                    <a:alpha val="38000"/>
                  </a:srgbClr>
                </a:outerShdw>
              </a:effectLst>
            </p:spPr>
          </p:cxnSp>
          <p:cxnSp>
            <p:nvCxnSpPr>
              <p:cNvPr id="184" name="Straight Connector 183">
                <a:extLst>
                  <a:ext uri="{FF2B5EF4-FFF2-40B4-BE49-F238E27FC236}">
                    <a16:creationId xmlns:a16="http://schemas.microsoft.com/office/drawing/2014/main" id="{A9BB8B43-F07B-586B-25BC-F38383AB350A}"/>
                  </a:ext>
                </a:extLst>
              </p:cNvPr>
              <p:cNvCxnSpPr/>
              <p:nvPr/>
            </p:nvCxnSpPr>
            <p:spPr>
              <a:xfrm flipV="1">
                <a:off x="4214639" y="2863985"/>
                <a:ext cx="0" cy="1044197"/>
              </a:xfrm>
              <a:prstGeom prst="line">
                <a:avLst/>
              </a:prstGeom>
              <a:noFill/>
              <a:ln w="25400" cap="flat" cmpd="sng" algn="ctr">
                <a:solidFill>
                  <a:srgbClr val="F79646">
                    <a:lumMod val="75000"/>
                  </a:srgbClr>
                </a:solidFill>
                <a:prstDash val="solid"/>
              </a:ln>
              <a:effectLst>
                <a:outerShdw blurRad="40000" dist="20000" dir="5400000" rotWithShape="0">
                  <a:srgbClr val="000000">
                    <a:alpha val="38000"/>
                  </a:srgbClr>
                </a:outerShdw>
              </a:effectLst>
            </p:spPr>
          </p:cxnSp>
          <p:cxnSp>
            <p:nvCxnSpPr>
              <p:cNvPr id="185" name="Straight Arrow Connector 184">
                <a:extLst>
                  <a:ext uri="{FF2B5EF4-FFF2-40B4-BE49-F238E27FC236}">
                    <a16:creationId xmlns:a16="http://schemas.microsoft.com/office/drawing/2014/main" id="{E958B95B-849E-C18A-BCBD-49724CA8A598}"/>
                  </a:ext>
                </a:extLst>
              </p:cNvPr>
              <p:cNvCxnSpPr/>
              <p:nvPr/>
            </p:nvCxnSpPr>
            <p:spPr>
              <a:xfrm>
                <a:off x="4212170" y="2874931"/>
                <a:ext cx="635000" cy="0"/>
              </a:xfrm>
              <a:prstGeom prst="straightConnector1">
                <a:avLst/>
              </a:prstGeom>
              <a:noFill/>
              <a:ln w="25400" cap="flat" cmpd="sng" algn="ctr">
                <a:solidFill>
                  <a:srgbClr val="F79646">
                    <a:lumMod val="75000"/>
                  </a:srgbClr>
                </a:solidFill>
                <a:prstDash val="solid"/>
                <a:tailEnd type="arrow"/>
              </a:ln>
              <a:effectLst>
                <a:outerShdw blurRad="40000" dist="20000" dir="5400000" rotWithShape="0">
                  <a:srgbClr val="000000">
                    <a:alpha val="38000"/>
                  </a:srgbClr>
                </a:outerShdw>
              </a:effectLst>
            </p:spPr>
          </p:cxnSp>
          <p:cxnSp>
            <p:nvCxnSpPr>
              <p:cNvPr id="186" name="Straight Connector 185">
                <a:extLst>
                  <a:ext uri="{FF2B5EF4-FFF2-40B4-BE49-F238E27FC236}">
                    <a16:creationId xmlns:a16="http://schemas.microsoft.com/office/drawing/2014/main" id="{B5736404-E2A4-FF2B-AE91-1156B2F53478}"/>
                  </a:ext>
                </a:extLst>
              </p:cNvPr>
              <p:cNvCxnSpPr/>
              <p:nvPr/>
            </p:nvCxnSpPr>
            <p:spPr>
              <a:xfrm flipH="1">
                <a:off x="6058184" y="6345570"/>
                <a:ext cx="910386" cy="0"/>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87" name="Straight Connector 186">
                <a:extLst>
                  <a:ext uri="{FF2B5EF4-FFF2-40B4-BE49-F238E27FC236}">
                    <a16:creationId xmlns:a16="http://schemas.microsoft.com/office/drawing/2014/main" id="{5E03EA0D-2CA2-217A-9C0C-D6F0F6ADCC3A}"/>
                  </a:ext>
                </a:extLst>
              </p:cNvPr>
              <p:cNvCxnSpPr/>
              <p:nvPr/>
            </p:nvCxnSpPr>
            <p:spPr>
              <a:xfrm flipV="1">
                <a:off x="6058184" y="427890"/>
                <a:ext cx="0" cy="5925979"/>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88" name="Straight Arrow Connector 187">
                <a:extLst>
                  <a:ext uri="{FF2B5EF4-FFF2-40B4-BE49-F238E27FC236}">
                    <a16:creationId xmlns:a16="http://schemas.microsoft.com/office/drawing/2014/main" id="{C8FCC34A-1634-4850-5727-EEF002BA993F}"/>
                  </a:ext>
                </a:extLst>
              </p:cNvPr>
              <p:cNvCxnSpPr/>
              <p:nvPr/>
            </p:nvCxnSpPr>
            <p:spPr>
              <a:xfrm>
                <a:off x="6058184" y="427370"/>
                <a:ext cx="898728"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nvGrpSpPr>
              <p:cNvPr id="189" name="Group 188">
                <a:extLst>
                  <a:ext uri="{FF2B5EF4-FFF2-40B4-BE49-F238E27FC236}">
                    <a16:creationId xmlns:a16="http://schemas.microsoft.com/office/drawing/2014/main" id="{B75D1CA5-E2F1-570A-4243-F68792BA77C4}"/>
                  </a:ext>
                </a:extLst>
              </p:cNvPr>
              <p:cNvGrpSpPr/>
              <p:nvPr/>
            </p:nvGrpSpPr>
            <p:grpSpPr>
              <a:xfrm>
                <a:off x="6196280" y="1240714"/>
                <a:ext cx="1918881" cy="4750860"/>
                <a:chOff x="5657850" y="1634532"/>
                <a:chExt cx="1918881" cy="4750860"/>
              </a:xfrm>
            </p:grpSpPr>
            <p:grpSp>
              <p:nvGrpSpPr>
                <p:cNvPr id="190" name="Group 189">
                  <a:extLst>
                    <a:ext uri="{FF2B5EF4-FFF2-40B4-BE49-F238E27FC236}">
                      <a16:creationId xmlns:a16="http://schemas.microsoft.com/office/drawing/2014/main" id="{993B8C88-40DB-7FAC-1084-FBB0076076A9}"/>
                    </a:ext>
                  </a:extLst>
                </p:cNvPr>
                <p:cNvGrpSpPr/>
                <p:nvPr/>
              </p:nvGrpSpPr>
              <p:grpSpPr>
                <a:xfrm>
                  <a:off x="6216330" y="1634532"/>
                  <a:ext cx="1360401" cy="4750860"/>
                  <a:chOff x="3896112" y="1600752"/>
                  <a:chExt cx="1360401" cy="4750860"/>
                </a:xfrm>
              </p:grpSpPr>
              <p:sp>
                <p:nvSpPr>
                  <p:cNvPr id="207" name="Freeform 206">
                    <a:extLst>
                      <a:ext uri="{FF2B5EF4-FFF2-40B4-BE49-F238E27FC236}">
                        <a16:creationId xmlns:a16="http://schemas.microsoft.com/office/drawing/2014/main" id="{F809B681-D975-9B8C-0597-71CF60228239}"/>
                      </a:ext>
                    </a:extLst>
                  </p:cNvPr>
                  <p:cNvSpPr/>
                  <p:nvPr/>
                </p:nvSpPr>
                <p:spPr>
                  <a:xfrm>
                    <a:off x="4103572" y="1600752"/>
                    <a:ext cx="936854"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Branch	</a:t>
                    </a:r>
                  </a:p>
                </p:txBody>
              </p:sp>
              <p:sp>
                <p:nvSpPr>
                  <p:cNvPr id="208" name="Freeform 207">
                    <a:extLst>
                      <a:ext uri="{FF2B5EF4-FFF2-40B4-BE49-F238E27FC236}">
                        <a16:creationId xmlns:a16="http://schemas.microsoft.com/office/drawing/2014/main" id="{FFEB89B0-777F-C092-CF04-D9BED45F464F}"/>
                      </a:ext>
                    </a:extLst>
                  </p:cNvPr>
                  <p:cNvSpPr/>
                  <p:nvPr/>
                </p:nvSpPr>
                <p:spPr>
                  <a:xfrm>
                    <a:off x="4493684" y="1949048"/>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09" name="Freeform 208">
                    <a:extLst>
                      <a:ext uri="{FF2B5EF4-FFF2-40B4-BE49-F238E27FC236}">
                        <a16:creationId xmlns:a16="http://schemas.microsoft.com/office/drawing/2014/main" id="{11FB87A2-0E25-8C24-85C1-061500329A4C}"/>
                      </a:ext>
                    </a:extLst>
                  </p:cNvPr>
                  <p:cNvSpPr/>
                  <p:nvPr/>
                </p:nvSpPr>
                <p:spPr>
                  <a:xfrm>
                    <a:off x="3896112" y="3113009"/>
                    <a:ext cx="1360401"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Make cylinder from section</a:t>
                    </a:r>
                  </a:p>
                </p:txBody>
              </p:sp>
              <p:sp>
                <p:nvSpPr>
                  <p:cNvPr id="210" name="Freeform 209">
                    <a:extLst>
                      <a:ext uri="{FF2B5EF4-FFF2-40B4-BE49-F238E27FC236}">
                        <a16:creationId xmlns:a16="http://schemas.microsoft.com/office/drawing/2014/main" id="{00EF43D9-D910-FD2D-E3C7-3339068697A6}"/>
                      </a:ext>
                    </a:extLst>
                  </p:cNvPr>
                  <p:cNvSpPr/>
                  <p:nvPr/>
                </p:nvSpPr>
                <p:spPr>
                  <a:xfrm>
                    <a:off x="4083986" y="2111859"/>
                    <a:ext cx="956440"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rgbClr val="F79646">
                        <a:lumMod val="75000"/>
                      </a:srgbClr>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Tracks</a:t>
                    </a:r>
                  </a:p>
                </p:txBody>
              </p:sp>
              <p:sp>
                <p:nvSpPr>
                  <p:cNvPr id="211" name="Freeform 210">
                    <a:extLst>
                      <a:ext uri="{FF2B5EF4-FFF2-40B4-BE49-F238E27FC236}">
                        <a16:creationId xmlns:a16="http://schemas.microsoft.com/office/drawing/2014/main" id="{4301DF07-6C26-5926-2136-8F34315AEB27}"/>
                      </a:ext>
                    </a:extLst>
                  </p:cNvPr>
                  <p:cNvSpPr/>
                  <p:nvPr/>
                </p:nvSpPr>
                <p:spPr>
                  <a:xfrm>
                    <a:off x="4493684" y="2960960"/>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12" name="Freeform 211">
                    <a:extLst>
                      <a:ext uri="{FF2B5EF4-FFF2-40B4-BE49-F238E27FC236}">
                        <a16:creationId xmlns:a16="http://schemas.microsoft.com/office/drawing/2014/main" id="{CE7AC1FE-DACB-DC05-054B-E7326B155EB9}"/>
                      </a:ext>
                    </a:extLst>
                  </p:cNvPr>
                  <p:cNvSpPr/>
                  <p:nvPr/>
                </p:nvSpPr>
                <p:spPr>
                  <a:xfrm>
                    <a:off x="4493684" y="3461535"/>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13" name="Freeform 212">
                    <a:extLst>
                      <a:ext uri="{FF2B5EF4-FFF2-40B4-BE49-F238E27FC236}">
                        <a16:creationId xmlns:a16="http://schemas.microsoft.com/office/drawing/2014/main" id="{BE19F887-DA2B-18D1-7AE9-9114922C44F7}"/>
                      </a:ext>
                    </a:extLst>
                  </p:cNvPr>
                  <p:cNvSpPr/>
                  <p:nvPr/>
                </p:nvSpPr>
                <p:spPr>
                  <a:xfrm>
                    <a:off x="3896113" y="3612906"/>
                    <a:ext cx="1360400"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Image cylinder</a:t>
                    </a:r>
                  </a:p>
                </p:txBody>
              </p:sp>
              <p:sp>
                <p:nvSpPr>
                  <p:cNvPr id="214" name="Freeform 213">
                    <a:extLst>
                      <a:ext uri="{FF2B5EF4-FFF2-40B4-BE49-F238E27FC236}">
                        <a16:creationId xmlns:a16="http://schemas.microsoft.com/office/drawing/2014/main" id="{15B40977-2790-E29E-DCDB-2A828C3AC556}"/>
                      </a:ext>
                    </a:extLst>
                  </p:cNvPr>
                  <p:cNvSpPr/>
                  <p:nvPr/>
                </p:nvSpPr>
                <p:spPr>
                  <a:xfrm>
                    <a:off x="4082048" y="5352182"/>
                    <a:ext cx="980740" cy="500466"/>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Branch</a:t>
                    </a:r>
                  </a:p>
                </p:txBody>
              </p:sp>
              <p:sp>
                <p:nvSpPr>
                  <p:cNvPr id="215" name="Freeform 214">
                    <a:extLst>
                      <a:ext uri="{FF2B5EF4-FFF2-40B4-BE49-F238E27FC236}">
                        <a16:creationId xmlns:a16="http://schemas.microsoft.com/office/drawing/2014/main" id="{F1EE00BF-5A60-3618-600C-A42F11F6981F}"/>
                      </a:ext>
                    </a:extLst>
                  </p:cNvPr>
                  <p:cNvSpPr/>
                  <p:nvPr/>
                </p:nvSpPr>
                <p:spPr>
                  <a:xfrm>
                    <a:off x="4493684" y="396097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16" name="Freeform 215">
                    <a:extLst>
                      <a:ext uri="{FF2B5EF4-FFF2-40B4-BE49-F238E27FC236}">
                        <a16:creationId xmlns:a16="http://schemas.microsoft.com/office/drawing/2014/main" id="{A2747394-8FF9-4CFF-3B1B-08082BB712D1}"/>
                      </a:ext>
                    </a:extLst>
                  </p:cNvPr>
                  <p:cNvSpPr/>
                  <p:nvPr/>
                </p:nvSpPr>
                <p:spPr>
                  <a:xfrm>
                    <a:off x="4493684" y="518926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17" name="Freeform 216">
                    <a:extLst>
                      <a:ext uri="{FF2B5EF4-FFF2-40B4-BE49-F238E27FC236}">
                        <a16:creationId xmlns:a16="http://schemas.microsoft.com/office/drawing/2014/main" id="{2004C6A5-AFA5-7BBB-DB5F-73DEF25B2AA8}"/>
                      </a:ext>
                    </a:extLst>
                  </p:cNvPr>
                  <p:cNvSpPr/>
                  <p:nvPr/>
                </p:nvSpPr>
                <p:spPr>
                  <a:xfrm>
                    <a:off x="4071286" y="4113020"/>
                    <a:ext cx="1013026" cy="448517"/>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Section</a:t>
                    </a:r>
                  </a:p>
                </p:txBody>
              </p:sp>
              <p:sp>
                <p:nvSpPr>
                  <p:cNvPr id="218" name="Freeform 217">
                    <a:extLst>
                      <a:ext uri="{FF2B5EF4-FFF2-40B4-BE49-F238E27FC236}">
                        <a16:creationId xmlns:a16="http://schemas.microsoft.com/office/drawing/2014/main" id="{37E44564-F5ED-28B1-4744-AFAB7DC83FCA}"/>
                      </a:ext>
                    </a:extLst>
                  </p:cNvPr>
                  <p:cNvSpPr/>
                  <p:nvPr/>
                </p:nvSpPr>
                <p:spPr>
                  <a:xfrm>
                    <a:off x="4493684" y="5862029"/>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19" name="Freeform 218">
                    <a:extLst>
                      <a:ext uri="{FF2B5EF4-FFF2-40B4-BE49-F238E27FC236}">
                        <a16:creationId xmlns:a16="http://schemas.microsoft.com/office/drawing/2014/main" id="{54E7212A-C279-FC16-D78D-8DA7A01702DC}"/>
                      </a:ext>
                    </a:extLst>
                  </p:cNvPr>
                  <p:cNvSpPr/>
                  <p:nvPr/>
                </p:nvSpPr>
                <p:spPr>
                  <a:xfrm>
                    <a:off x="4103572" y="6003546"/>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Move to Other type of Branch or leaf</a:t>
                    </a:r>
                  </a:p>
                </p:txBody>
              </p:sp>
            </p:grpSp>
            <p:sp>
              <p:nvSpPr>
                <p:cNvPr id="191" name="Freeform 190">
                  <a:extLst>
                    <a:ext uri="{FF2B5EF4-FFF2-40B4-BE49-F238E27FC236}">
                      <a16:creationId xmlns:a16="http://schemas.microsoft.com/office/drawing/2014/main" id="{6C0EEF7A-1CEC-C7CB-BC8F-69EF9CF92DB8}"/>
                    </a:ext>
                  </a:extLst>
                </p:cNvPr>
                <p:cNvSpPr/>
                <p:nvPr/>
              </p:nvSpPr>
              <p:spPr>
                <a:xfrm>
                  <a:off x="6397854" y="2641443"/>
                  <a:ext cx="962789"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sections</a:t>
                  </a:r>
                </a:p>
              </p:txBody>
            </p:sp>
            <p:sp>
              <p:nvSpPr>
                <p:cNvPr id="192" name="Freeform 191">
                  <a:extLst>
                    <a:ext uri="{FF2B5EF4-FFF2-40B4-BE49-F238E27FC236}">
                      <a16:creationId xmlns:a16="http://schemas.microsoft.com/office/drawing/2014/main" id="{225973C4-EC07-EF11-E60D-63B86556B909}"/>
                    </a:ext>
                  </a:extLst>
                </p:cNvPr>
                <p:cNvSpPr/>
                <p:nvPr/>
              </p:nvSpPr>
              <p:spPr>
                <a:xfrm>
                  <a:off x="6813901" y="249342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93" name="Freeform 192">
                  <a:extLst>
                    <a:ext uri="{FF2B5EF4-FFF2-40B4-BE49-F238E27FC236}">
                      <a16:creationId xmlns:a16="http://schemas.microsoft.com/office/drawing/2014/main" id="{F4A44A86-CEA8-1152-6E06-D7CCE05EE3C2}"/>
                    </a:ext>
                  </a:extLst>
                </p:cNvPr>
                <p:cNvSpPr/>
                <p:nvPr/>
              </p:nvSpPr>
              <p:spPr>
                <a:xfrm>
                  <a:off x="6812230" y="4608591"/>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94" name="Freeform 193">
                  <a:extLst>
                    <a:ext uri="{FF2B5EF4-FFF2-40B4-BE49-F238E27FC236}">
                      <a16:creationId xmlns:a16="http://schemas.microsoft.com/office/drawing/2014/main" id="{40A5EE22-2D3D-A9E8-5711-4268B792E53B}"/>
                    </a:ext>
                  </a:extLst>
                </p:cNvPr>
                <p:cNvSpPr/>
                <p:nvPr/>
              </p:nvSpPr>
              <p:spPr>
                <a:xfrm>
                  <a:off x="6379070" y="4760639"/>
                  <a:ext cx="1013026" cy="448517"/>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rgbClr val="F79646">
                      <a:lumMod val="75000"/>
                    </a:srgbClr>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Track</a:t>
                  </a:r>
                </a:p>
              </p:txBody>
            </p:sp>
            <p:grpSp>
              <p:nvGrpSpPr>
                <p:cNvPr id="195" name="Group 194">
                  <a:extLst>
                    <a:ext uri="{FF2B5EF4-FFF2-40B4-BE49-F238E27FC236}">
                      <a16:creationId xmlns:a16="http://schemas.microsoft.com/office/drawing/2014/main" id="{B937C54B-B322-5B70-F031-A23E9CCAAFFA}"/>
                    </a:ext>
                  </a:extLst>
                </p:cNvPr>
                <p:cNvGrpSpPr/>
                <p:nvPr/>
              </p:nvGrpSpPr>
              <p:grpSpPr>
                <a:xfrm>
                  <a:off x="6032500" y="2800651"/>
                  <a:ext cx="371704" cy="1574499"/>
                  <a:chOff x="5701592" y="2827781"/>
                  <a:chExt cx="594921" cy="2160144"/>
                </a:xfrm>
              </p:grpSpPr>
              <p:cxnSp>
                <p:nvCxnSpPr>
                  <p:cNvPr id="204" name="Straight Connector 203">
                    <a:extLst>
                      <a:ext uri="{FF2B5EF4-FFF2-40B4-BE49-F238E27FC236}">
                        <a16:creationId xmlns:a16="http://schemas.microsoft.com/office/drawing/2014/main" id="{F24E09AB-98B6-F657-D11F-9A520D0EACF3}"/>
                      </a:ext>
                    </a:extLst>
                  </p:cNvPr>
                  <p:cNvCxnSpPr/>
                  <p:nvPr/>
                </p:nvCxnSpPr>
                <p:spPr>
                  <a:xfrm flipH="1" flipV="1">
                    <a:off x="5708921" y="4974808"/>
                    <a:ext cx="564879" cy="6558"/>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205" name="Straight Connector 204">
                    <a:extLst>
                      <a:ext uri="{FF2B5EF4-FFF2-40B4-BE49-F238E27FC236}">
                        <a16:creationId xmlns:a16="http://schemas.microsoft.com/office/drawing/2014/main" id="{AA31221D-EBDC-D86F-FCCA-A2972B298B46}"/>
                      </a:ext>
                    </a:extLst>
                  </p:cNvPr>
                  <p:cNvCxnSpPr/>
                  <p:nvPr/>
                </p:nvCxnSpPr>
                <p:spPr>
                  <a:xfrm flipV="1">
                    <a:off x="5713490" y="2827781"/>
                    <a:ext cx="0" cy="2160144"/>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206" name="Straight Arrow Connector 205">
                    <a:extLst>
                      <a:ext uri="{FF2B5EF4-FFF2-40B4-BE49-F238E27FC236}">
                        <a16:creationId xmlns:a16="http://schemas.microsoft.com/office/drawing/2014/main" id="{22BB1097-CDBA-A4C7-F37B-39231405C0DD}"/>
                      </a:ext>
                    </a:extLst>
                  </p:cNvPr>
                  <p:cNvCxnSpPr/>
                  <p:nvPr/>
                </p:nvCxnSpPr>
                <p:spPr>
                  <a:xfrm>
                    <a:off x="5701592" y="2834338"/>
                    <a:ext cx="594921"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grpSp>
              <p:nvGrpSpPr>
                <p:cNvPr id="196" name="Group 195">
                  <a:extLst>
                    <a:ext uri="{FF2B5EF4-FFF2-40B4-BE49-F238E27FC236}">
                      <a16:creationId xmlns:a16="http://schemas.microsoft.com/office/drawing/2014/main" id="{24D9E0BF-3995-06B2-C27A-330B92FF54CB}"/>
                    </a:ext>
                  </a:extLst>
                </p:cNvPr>
                <p:cNvGrpSpPr/>
                <p:nvPr/>
              </p:nvGrpSpPr>
              <p:grpSpPr>
                <a:xfrm>
                  <a:off x="5835650" y="2320662"/>
                  <a:ext cx="566616" cy="2670438"/>
                  <a:chOff x="5701592" y="2827781"/>
                  <a:chExt cx="594921" cy="2160144"/>
                </a:xfrm>
              </p:grpSpPr>
              <p:cxnSp>
                <p:nvCxnSpPr>
                  <p:cNvPr id="201" name="Straight Connector 200">
                    <a:extLst>
                      <a:ext uri="{FF2B5EF4-FFF2-40B4-BE49-F238E27FC236}">
                        <a16:creationId xmlns:a16="http://schemas.microsoft.com/office/drawing/2014/main" id="{B419C58A-544A-FC1A-3FD7-D8A59B32ECF5}"/>
                      </a:ext>
                    </a:extLst>
                  </p:cNvPr>
                  <p:cNvCxnSpPr/>
                  <p:nvPr/>
                </p:nvCxnSpPr>
                <p:spPr>
                  <a:xfrm flipH="1" flipV="1">
                    <a:off x="5708921" y="4974808"/>
                    <a:ext cx="564879" cy="6558"/>
                  </a:xfrm>
                  <a:prstGeom prst="line">
                    <a:avLst/>
                  </a:prstGeom>
                  <a:noFill/>
                  <a:ln w="25400" cap="flat" cmpd="sng" algn="ctr">
                    <a:solidFill>
                      <a:srgbClr val="F79646">
                        <a:lumMod val="75000"/>
                      </a:srgbClr>
                    </a:solidFill>
                    <a:prstDash val="solid"/>
                  </a:ln>
                  <a:effectLst>
                    <a:outerShdw blurRad="40000" dist="20000" dir="5400000" rotWithShape="0">
                      <a:srgbClr val="000000">
                        <a:alpha val="38000"/>
                      </a:srgbClr>
                    </a:outerShdw>
                  </a:effectLst>
                </p:spPr>
              </p:cxnSp>
              <p:cxnSp>
                <p:nvCxnSpPr>
                  <p:cNvPr id="202" name="Straight Connector 201">
                    <a:extLst>
                      <a:ext uri="{FF2B5EF4-FFF2-40B4-BE49-F238E27FC236}">
                        <a16:creationId xmlns:a16="http://schemas.microsoft.com/office/drawing/2014/main" id="{AA925876-BE38-460F-6F8B-93BCD4EDD7B5}"/>
                      </a:ext>
                    </a:extLst>
                  </p:cNvPr>
                  <p:cNvCxnSpPr/>
                  <p:nvPr/>
                </p:nvCxnSpPr>
                <p:spPr>
                  <a:xfrm flipV="1">
                    <a:off x="5713490" y="2827781"/>
                    <a:ext cx="0" cy="2160144"/>
                  </a:xfrm>
                  <a:prstGeom prst="line">
                    <a:avLst/>
                  </a:prstGeom>
                  <a:noFill/>
                  <a:ln w="25400" cap="flat" cmpd="sng" algn="ctr">
                    <a:solidFill>
                      <a:srgbClr val="F79646">
                        <a:lumMod val="75000"/>
                      </a:srgbClr>
                    </a:solidFill>
                    <a:prstDash val="solid"/>
                  </a:ln>
                  <a:effectLst>
                    <a:outerShdw blurRad="40000" dist="20000" dir="5400000" rotWithShape="0">
                      <a:srgbClr val="000000">
                        <a:alpha val="38000"/>
                      </a:srgbClr>
                    </a:outerShdw>
                  </a:effectLst>
                </p:spPr>
              </p:cxnSp>
              <p:cxnSp>
                <p:nvCxnSpPr>
                  <p:cNvPr id="203" name="Straight Arrow Connector 202">
                    <a:extLst>
                      <a:ext uri="{FF2B5EF4-FFF2-40B4-BE49-F238E27FC236}">
                        <a16:creationId xmlns:a16="http://schemas.microsoft.com/office/drawing/2014/main" id="{08BDF39D-EC67-7BCE-C7AD-9F8DAAC50FAF}"/>
                      </a:ext>
                    </a:extLst>
                  </p:cNvPr>
                  <p:cNvCxnSpPr/>
                  <p:nvPr/>
                </p:nvCxnSpPr>
                <p:spPr>
                  <a:xfrm>
                    <a:off x="5701592" y="2834338"/>
                    <a:ext cx="594921" cy="0"/>
                  </a:xfrm>
                  <a:prstGeom prst="straightConnector1">
                    <a:avLst/>
                  </a:prstGeom>
                  <a:noFill/>
                  <a:ln w="25400" cap="flat" cmpd="sng" algn="ctr">
                    <a:solidFill>
                      <a:srgbClr val="F79646">
                        <a:lumMod val="75000"/>
                      </a:srgbClr>
                    </a:solidFill>
                    <a:prstDash val="solid"/>
                    <a:tailEnd type="arrow"/>
                  </a:ln>
                  <a:effectLst>
                    <a:outerShdw blurRad="40000" dist="20000" dir="5400000" rotWithShape="0">
                      <a:srgbClr val="000000">
                        <a:alpha val="38000"/>
                      </a:srgbClr>
                    </a:outerShdw>
                  </a:effectLst>
                </p:spPr>
              </p:cxnSp>
            </p:grpSp>
            <p:grpSp>
              <p:nvGrpSpPr>
                <p:cNvPr id="197" name="Group 196">
                  <a:extLst>
                    <a:ext uri="{FF2B5EF4-FFF2-40B4-BE49-F238E27FC236}">
                      <a16:creationId xmlns:a16="http://schemas.microsoft.com/office/drawing/2014/main" id="{1E0F6FFE-7443-0DBE-B238-83191A7B82D6}"/>
                    </a:ext>
                  </a:extLst>
                </p:cNvPr>
                <p:cNvGrpSpPr/>
                <p:nvPr/>
              </p:nvGrpSpPr>
              <p:grpSpPr>
                <a:xfrm>
                  <a:off x="5657850" y="1783693"/>
                  <a:ext cx="772290" cy="3862394"/>
                  <a:chOff x="5701592" y="2827781"/>
                  <a:chExt cx="594921" cy="2160144"/>
                </a:xfrm>
              </p:grpSpPr>
              <p:cxnSp>
                <p:nvCxnSpPr>
                  <p:cNvPr id="198" name="Straight Connector 197">
                    <a:extLst>
                      <a:ext uri="{FF2B5EF4-FFF2-40B4-BE49-F238E27FC236}">
                        <a16:creationId xmlns:a16="http://schemas.microsoft.com/office/drawing/2014/main" id="{C3C7229F-0439-0C2F-B518-B73708374B9C}"/>
                      </a:ext>
                    </a:extLst>
                  </p:cNvPr>
                  <p:cNvCxnSpPr/>
                  <p:nvPr/>
                </p:nvCxnSpPr>
                <p:spPr>
                  <a:xfrm flipH="1" flipV="1">
                    <a:off x="5708921" y="4974808"/>
                    <a:ext cx="564879" cy="6558"/>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99" name="Straight Connector 198">
                    <a:extLst>
                      <a:ext uri="{FF2B5EF4-FFF2-40B4-BE49-F238E27FC236}">
                        <a16:creationId xmlns:a16="http://schemas.microsoft.com/office/drawing/2014/main" id="{84CEBB51-821E-B61F-C2F3-DA2B67663E63}"/>
                      </a:ext>
                    </a:extLst>
                  </p:cNvPr>
                  <p:cNvCxnSpPr/>
                  <p:nvPr/>
                </p:nvCxnSpPr>
                <p:spPr>
                  <a:xfrm flipV="1">
                    <a:off x="5713490" y="2827781"/>
                    <a:ext cx="0" cy="2160144"/>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200" name="Straight Arrow Connector 199">
                    <a:extLst>
                      <a:ext uri="{FF2B5EF4-FFF2-40B4-BE49-F238E27FC236}">
                        <a16:creationId xmlns:a16="http://schemas.microsoft.com/office/drawing/2014/main" id="{16D7662B-8E86-5F8E-9417-81E35462E34B}"/>
                      </a:ext>
                    </a:extLst>
                  </p:cNvPr>
                  <p:cNvCxnSpPr/>
                  <p:nvPr/>
                </p:nvCxnSpPr>
                <p:spPr>
                  <a:xfrm>
                    <a:off x="5701592" y="2834338"/>
                    <a:ext cx="594921"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grpSp>
        </p:grpSp>
        <p:sp>
          <p:nvSpPr>
            <p:cNvPr id="180" name="Freeform 179">
              <a:extLst>
                <a:ext uri="{FF2B5EF4-FFF2-40B4-BE49-F238E27FC236}">
                  <a16:creationId xmlns:a16="http://schemas.microsoft.com/office/drawing/2014/main" id="{BD11013A-C02A-AF20-6B0F-214D372E3826}"/>
                </a:ext>
              </a:extLst>
            </p:cNvPr>
            <p:cNvSpPr/>
            <p:nvPr/>
          </p:nvSpPr>
          <p:spPr>
            <a:xfrm>
              <a:off x="4997803" y="4187877"/>
              <a:ext cx="936854" cy="206882"/>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Move To Trees</a:t>
              </a:r>
            </a:p>
          </p:txBody>
        </p:sp>
        <p:sp>
          <p:nvSpPr>
            <p:cNvPr id="181" name="Freeform 180">
              <a:extLst>
                <a:ext uri="{FF2B5EF4-FFF2-40B4-BE49-F238E27FC236}">
                  <a16:creationId xmlns:a16="http://schemas.microsoft.com/office/drawing/2014/main" id="{9A7A3D38-6602-9995-31C0-1251BEE572BF}"/>
                </a:ext>
              </a:extLst>
            </p:cNvPr>
            <p:cNvSpPr/>
            <p:nvPr/>
          </p:nvSpPr>
          <p:spPr>
            <a:xfrm>
              <a:off x="5389682" y="4027430"/>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grpSp>
      <p:sp>
        <p:nvSpPr>
          <p:cNvPr id="233" name="TextBox 232">
            <a:extLst>
              <a:ext uri="{FF2B5EF4-FFF2-40B4-BE49-F238E27FC236}">
                <a16:creationId xmlns:a16="http://schemas.microsoft.com/office/drawing/2014/main" id="{011FEBB9-C3C3-5E3A-EECA-177395F5FA40}"/>
              </a:ext>
            </a:extLst>
          </p:cNvPr>
          <p:cNvSpPr txBox="1"/>
          <p:nvPr/>
        </p:nvSpPr>
        <p:spPr>
          <a:xfrm>
            <a:off x="4095750" y="4157955"/>
            <a:ext cx="889000" cy="369332"/>
          </a:xfrm>
          <a:prstGeom prst="rect">
            <a:avLst/>
          </a:prstGeom>
          <a:noFill/>
        </p:spPr>
        <p:txBody>
          <a:bodyPr wrap="square" rtlCol="0">
            <a:spAutoFit/>
          </a:bodyPr>
          <a:lstStyle/>
          <a:p>
            <a:pPr defTabSz="457200"/>
            <a:r>
              <a:rPr lang="en-US" dirty="0">
                <a:solidFill>
                  <a:prstClr val="black"/>
                </a:solidFill>
                <a:latin typeface="Calibri"/>
              </a:rPr>
              <a:t>(a)</a:t>
            </a:r>
          </a:p>
        </p:txBody>
      </p:sp>
      <p:grpSp>
        <p:nvGrpSpPr>
          <p:cNvPr id="234" name="Group 233">
            <a:extLst>
              <a:ext uri="{FF2B5EF4-FFF2-40B4-BE49-F238E27FC236}">
                <a16:creationId xmlns:a16="http://schemas.microsoft.com/office/drawing/2014/main" id="{7C3EDD44-C34C-867F-FB5D-58E74F9B35D1}"/>
              </a:ext>
            </a:extLst>
          </p:cNvPr>
          <p:cNvGrpSpPr/>
          <p:nvPr/>
        </p:nvGrpSpPr>
        <p:grpSpPr>
          <a:xfrm>
            <a:off x="569384" y="1577382"/>
            <a:ext cx="1979726" cy="4524858"/>
            <a:chOff x="569384" y="1577382"/>
            <a:chExt cx="1979726" cy="4524858"/>
          </a:xfrm>
        </p:grpSpPr>
        <p:grpSp>
          <p:nvGrpSpPr>
            <p:cNvPr id="235" name="Group 234">
              <a:extLst>
                <a:ext uri="{FF2B5EF4-FFF2-40B4-BE49-F238E27FC236}">
                  <a16:creationId xmlns:a16="http://schemas.microsoft.com/office/drawing/2014/main" id="{C47F9B76-DF34-6CDC-DF73-E4832D6A1F19}"/>
                </a:ext>
              </a:extLst>
            </p:cNvPr>
            <p:cNvGrpSpPr/>
            <p:nvPr/>
          </p:nvGrpSpPr>
          <p:grpSpPr>
            <a:xfrm>
              <a:off x="1612256" y="1577382"/>
              <a:ext cx="936854" cy="4524858"/>
              <a:chOff x="4103572" y="1600752"/>
              <a:chExt cx="936854" cy="4524858"/>
            </a:xfrm>
          </p:grpSpPr>
          <p:sp>
            <p:nvSpPr>
              <p:cNvPr id="242" name="Freeform 241">
                <a:extLst>
                  <a:ext uri="{FF2B5EF4-FFF2-40B4-BE49-F238E27FC236}">
                    <a16:creationId xmlns:a16="http://schemas.microsoft.com/office/drawing/2014/main" id="{023F8C68-E744-4BBF-09C7-737A8B2BA045}"/>
                  </a:ext>
                </a:extLst>
              </p:cNvPr>
              <p:cNvSpPr/>
              <p:nvPr/>
            </p:nvSpPr>
            <p:spPr>
              <a:xfrm>
                <a:off x="4103572" y="1600752"/>
                <a:ext cx="936854"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Tracks	</a:t>
                </a:r>
              </a:p>
            </p:txBody>
          </p:sp>
          <p:sp>
            <p:nvSpPr>
              <p:cNvPr id="243" name="Freeform 242">
                <a:extLst>
                  <a:ext uri="{FF2B5EF4-FFF2-40B4-BE49-F238E27FC236}">
                    <a16:creationId xmlns:a16="http://schemas.microsoft.com/office/drawing/2014/main" id="{9B5C165E-98E7-4384-CBC5-903E1938ED05}"/>
                  </a:ext>
                </a:extLst>
              </p:cNvPr>
              <p:cNvSpPr/>
              <p:nvPr/>
            </p:nvSpPr>
            <p:spPr>
              <a:xfrm>
                <a:off x="4493684" y="197057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44" name="Freeform 243">
                <a:extLst>
                  <a:ext uri="{FF2B5EF4-FFF2-40B4-BE49-F238E27FC236}">
                    <a16:creationId xmlns:a16="http://schemas.microsoft.com/office/drawing/2014/main" id="{A7A4808A-FFCF-E88C-11DD-34D31D9AA666}"/>
                  </a:ext>
                </a:extLst>
              </p:cNvPr>
              <p:cNvSpPr/>
              <p:nvPr/>
            </p:nvSpPr>
            <p:spPr>
              <a:xfrm>
                <a:off x="4103572" y="2122851"/>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Ground/Short vegetation Imaging</a:t>
                </a:r>
              </a:p>
            </p:txBody>
          </p:sp>
          <p:sp>
            <p:nvSpPr>
              <p:cNvPr id="245" name="Freeform 244">
                <a:extLst>
                  <a:ext uri="{FF2B5EF4-FFF2-40B4-BE49-F238E27FC236}">
                    <a16:creationId xmlns:a16="http://schemas.microsoft.com/office/drawing/2014/main" id="{6F87C489-EB6C-DF3A-1592-1686635886A4}"/>
                  </a:ext>
                </a:extLst>
              </p:cNvPr>
              <p:cNvSpPr/>
              <p:nvPr/>
            </p:nvSpPr>
            <p:spPr>
              <a:xfrm>
                <a:off x="4493684" y="2492671"/>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46" name="Freeform 245">
                <a:extLst>
                  <a:ext uri="{FF2B5EF4-FFF2-40B4-BE49-F238E27FC236}">
                    <a16:creationId xmlns:a16="http://schemas.microsoft.com/office/drawing/2014/main" id="{E156EF8E-A6AA-FFC2-BA86-AAEB11D61C56}"/>
                  </a:ext>
                </a:extLst>
              </p:cNvPr>
              <p:cNvSpPr/>
              <p:nvPr/>
            </p:nvSpPr>
            <p:spPr>
              <a:xfrm>
                <a:off x="4103572" y="2644950"/>
                <a:ext cx="936854"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Tree</a:t>
                </a:r>
              </a:p>
            </p:txBody>
          </p:sp>
          <p:sp>
            <p:nvSpPr>
              <p:cNvPr id="247" name="Freeform 246">
                <a:extLst>
                  <a:ext uri="{FF2B5EF4-FFF2-40B4-BE49-F238E27FC236}">
                    <a16:creationId xmlns:a16="http://schemas.microsoft.com/office/drawing/2014/main" id="{6AE17B06-DCCE-20F2-98C4-56C230CC25E9}"/>
                  </a:ext>
                </a:extLst>
              </p:cNvPr>
              <p:cNvSpPr/>
              <p:nvPr/>
            </p:nvSpPr>
            <p:spPr>
              <a:xfrm>
                <a:off x="4493684" y="3014770"/>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48" name="Freeform 247">
                <a:extLst>
                  <a:ext uri="{FF2B5EF4-FFF2-40B4-BE49-F238E27FC236}">
                    <a16:creationId xmlns:a16="http://schemas.microsoft.com/office/drawing/2014/main" id="{177466DF-8949-9414-02E8-516C75A5ECA4}"/>
                  </a:ext>
                </a:extLst>
              </p:cNvPr>
              <p:cNvSpPr/>
              <p:nvPr/>
            </p:nvSpPr>
            <p:spPr>
              <a:xfrm>
                <a:off x="4103572" y="3167049"/>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err="1">
                    <a:ln>
                      <a:noFill/>
                    </a:ln>
                    <a:solidFill>
                      <a:prstClr val="black"/>
                    </a:solidFill>
                    <a:effectLst/>
                    <a:uLnTx/>
                    <a:uFillTx/>
                    <a:latin typeface="Calibri"/>
                    <a:ea typeface="+mn-ea"/>
                    <a:cs typeface="+mn-cs"/>
                  </a:rPr>
                  <a:t>Realise</a:t>
                </a:r>
                <a:r>
                  <a:rPr kumimoji="0" lang="en-US" sz="800" b="0" i="0" u="none" strike="noStrike" kern="0" cap="none" spc="0" normalizeH="0" baseline="0" noProof="0" dirty="0">
                    <a:ln>
                      <a:noFill/>
                    </a:ln>
                    <a:solidFill>
                      <a:prstClr val="black"/>
                    </a:solidFill>
                    <a:effectLst/>
                    <a:uLnTx/>
                    <a:uFillTx/>
                    <a:latin typeface="Calibri"/>
                    <a:ea typeface="+mn-ea"/>
                    <a:cs typeface="+mn-cs"/>
                  </a:rPr>
                  <a:t> Tree</a:t>
                </a:r>
              </a:p>
            </p:txBody>
          </p:sp>
          <p:sp>
            <p:nvSpPr>
              <p:cNvPr id="249" name="Freeform 248">
                <a:extLst>
                  <a:ext uri="{FF2B5EF4-FFF2-40B4-BE49-F238E27FC236}">
                    <a16:creationId xmlns:a16="http://schemas.microsoft.com/office/drawing/2014/main" id="{669DD4A0-7486-CE3C-CB66-98C81A1A9A91}"/>
                  </a:ext>
                </a:extLst>
              </p:cNvPr>
              <p:cNvSpPr/>
              <p:nvPr/>
            </p:nvSpPr>
            <p:spPr>
              <a:xfrm>
                <a:off x="4493684" y="3536869"/>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50" name="Freeform 249">
                <a:extLst>
                  <a:ext uri="{FF2B5EF4-FFF2-40B4-BE49-F238E27FC236}">
                    <a16:creationId xmlns:a16="http://schemas.microsoft.com/office/drawing/2014/main" id="{407FEA4A-524D-280B-E45E-BF3A83AAF2BD}"/>
                  </a:ext>
                </a:extLst>
              </p:cNvPr>
              <p:cNvSpPr/>
              <p:nvPr/>
            </p:nvSpPr>
            <p:spPr>
              <a:xfrm>
                <a:off x="4103572" y="3689148"/>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Image Tree</a:t>
                </a:r>
              </a:p>
            </p:txBody>
          </p:sp>
          <p:sp>
            <p:nvSpPr>
              <p:cNvPr id="251" name="Freeform 250">
                <a:extLst>
                  <a:ext uri="{FF2B5EF4-FFF2-40B4-BE49-F238E27FC236}">
                    <a16:creationId xmlns:a16="http://schemas.microsoft.com/office/drawing/2014/main" id="{09F40A7D-A079-4F57-9880-9982E4A4E6AF}"/>
                  </a:ext>
                </a:extLst>
              </p:cNvPr>
              <p:cNvSpPr/>
              <p:nvPr/>
            </p:nvSpPr>
            <p:spPr>
              <a:xfrm>
                <a:off x="4493684" y="4058968"/>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52" name="Freeform 251">
                <a:extLst>
                  <a:ext uri="{FF2B5EF4-FFF2-40B4-BE49-F238E27FC236}">
                    <a16:creationId xmlns:a16="http://schemas.microsoft.com/office/drawing/2014/main" id="{1B3B34C7-3CE0-DE7D-D457-87C98BBCF40A}"/>
                  </a:ext>
                </a:extLst>
              </p:cNvPr>
              <p:cNvSpPr/>
              <p:nvPr/>
            </p:nvSpPr>
            <p:spPr>
              <a:xfrm>
                <a:off x="4103572" y="4211247"/>
                <a:ext cx="936854" cy="348066"/>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Tree</a:t>
                </a:r>
              </a:p>
            </p:txBody>
          </p:sp>
          <p:sp>
            <p:nvSpPr>
              <p:cNvPr id="253" name="Freeform 252">
                <a:extLst>
                  <a:ext uri="{FF2B5EF4-FFF2-40B4-BE49-F238E27FC236}">
                    <a16:creationId xmlns:a16="http://schemas.microsoft.com/office/drawing/2014/main" id="{31C27517-F42C-66F3-CC75-BEBE7D2F73BF}"/>
                  </a:ext>
                </a:extLst>
              </p:cNvPr>
              <p:cNvSpPr/>
              <p:nvPr/>
            </p:nvSpPr>
            <p:spPr>
              <a:xfrm>
                <a:off x="4493684" y="4581067"/>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54" name="Freeform 253">
                <a:extLst>
                  <a:ext uri="{FF2B5EF4-FFF2-40B4-BE49-F238E27FC236}">
                    <a16:creationId xmlns:a16="http://schemas.microsoft.com/office/drawing/2014/main" id="{74B699B2-B911-BED1-CE55-B0B20E9A27CA}"/>
                  </a:ext>
                </a:extLst>
              </p:cNvPr>
              <p:cNvSpPr/>
              <p:nvPr/>
            </p:nvSpPr>
            <p:spPr>
              <a:xfrm>
                <a:off x="4103572" y="4733346"/>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Write Images</a:t>
                </a:r>
              </a:p>
            </p:txBody>
          </p:sp>
          <p:sp>
            <p:nvSpPr>
              <p:cNvPr id="255" name="Freeform 254">
                <a:extLst>
                  <a:ext uri="{FF2B5EF4-FFF2-40B4-BE49-F238E27FC236}">
                    <a16:creationId xmlns:a16="http://schemas.microsoft.com/office/drawing/2014/main" id="{D4B5C8A3-CB02-EA40-0EA1-BD49C58D9ECF}"/>
                  </a:ext>
                </a:extLst>
              </p:cNvPr>
              <p:cNvSpPr/>
              <p:nvPr/>
            </p:nvSpPr>
            <p:spPr>
              <a:xfrm>
                <a:off x="4493684" y="5103166"/>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56" name="Freeform 255">
                <a:extLst>
                  <a:ext uri="{FF2B5EF4-FFF2-40B4-BE49-F238E27FC236}">
                    <a16:creationId xmlns:a16="http://schemas.microsoft.com/office/drawing/2014/main" id="{7AA1B24C-74E3-B604-850D-FF1B476B8139}"/>
                  </a:ext>
                </a:extLst>
              </p:cNvPr>
              <p:cNvSpPr/>
              <p:nvPr/>
            </p:nvSpPr>
            <p:spPr>
              <a:xfrm>
                <a:off x="4103572" y="5255445"/>
                <a:ext cx="936854" cy="348066"/>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Track</a:t>
                </a:r>
              </a:p>
            </p:txBody>
          </p:sp>
          <p:sp>
            <p:nvSpPr>
              <p:cNvPr id="257" name="Freeform 256">
                <a:extLst>
                  <a:ext uri="{FF2B5EF4-FFF2-40B4-BE49-F238E27FC236}">
                    <a16:creationId xmlns:a16="http://schemas.microsoft.com/office/drawing/2014/main" id="{EE52DCF1-3178-F557-7CD1-C5486C9014AC}"/>
                  </a:ext>
                </a:extLst>
              </p:cNvPr>
              <p:cNvSpPr/>
              <p:nvPr/>
            </p:nvSpPr>
            <p:spPr>
              <a:xfrm>
                <a:off x="4493684" y="5625265"/>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58" name="Freeform 257">
                <a:extLst>
                  <a:ext uri="{FF2B5EF4-FFF2-40B4-BE49-F238E27FC236}">
                    <a16:creationId xmlns:a16="http://schemas.microsoft.com/office/drawing/2014/main" id="{AC89D656-D309-76F7-DB43-232224A1C665}"/>
                  </a:ext>
                </a:extLst>
              </p:cNvPr>
              <p:cNvSpPr/>
              <p:nvPr/>
            </p:nvSpPr>
            <p:spPr>
              <a:xfrm>
                <a:off x="4103572" y="5777544"/>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Exit</a:t>
                </a:r>
              </a:p>
            </p:txBody>
          </p:sp>
        </p:grpSp>
        <p:cxnSp>
          <p:nvCxnSpPr>
            <p:cNvPr id="236" name="Straight Connector 235">
              <a:extLst>
                <a:ext uri="{FF2B5EF4-FFF2-40B4-BE49-F238E27FC236}">
                  <a16:creationId xmlns:a16="http://schemas.microsoft.com/office/drawing/2014/main" id="{C92DF6B0-48A2-C7FE-AA30-9DDF38AA8129}"/>
                </a:ext>
              </a:extLst>
            </p:cNvPr>
            <p:cNvCxnSpPr/>
            <p:nvPr/>
          </p:nvCxnSpPr>
          <p:spPr>
            <a:xfrm flipH="1" flipV="1">
              <a:off x="988484" y="4351780"/>
              <a:ext cx="635000" cy="635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37" name="Straight Connector 236">
              <a:extLst>
                <a:ext uri="{FF2B5EF4-FFF2-40B4-BE49-F238E27FC236}">
                  <a16:creationId xmlns:a16="http://schemas.microsoft.com/office/drawing/2014/main" id="{DA01D58F-60D7-313F-DC6F-3561CA5BBCF4}"/>
                </a:ext>
              </a:extLst>
            </p:cNvPr>
            <p:cNvCxnSpPr/>
            <p:nvPr/>
          </p:nvCxnSpPr>
          <p:spPr>
            <a:xfrm flipV="1">
              <a:off x="988484" y="2776980"/>
              <a:ext cx="0" cy="158115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38" name="Straight Arrow Connector 237">
              <a:extLst>
                <a:ext uri="{FF2B5EF4-FFF2-40B4-BE49-F238E27FC236}">
                  <a16:creationId xmlns:a16="http://schemas.microsoft.com/office/drawing/2014/main" id="{5C79D57F-2FF9-BCF1-1C98-92F4312CEF71}"/>
                </a:ext>
              </a:extLst>
            </p:cNvPr>
            <p:cNvCxnSpPr/>
            <p:nvPr/>
          </p:nvCxnSpPr>
          <p:spPr>
            <a:xfrm>
              <a:off x="988484" y="2776980"/>
              <a:ext cx="63500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239" name="Straight Connector 238">
              <a:extLst>
                <a:ext uri="{FF2B5EF4-FFF2-40B4-BE49-F238E27FC236}">
                  <a16:creationId xmlns:a16="http://schemas.microsoft.com/office/drawing/2014/main" id="{82F498AB-9FCE-4632-C17E-29013D2B9996}"/>
                </a:ext>
              </a:extLst>
            </p:cNvPr>
            <p:cNvCxnSpPr/>
            <p:nvPr/>
          </p:nvCxnSpPr>
          <p:spPr>
            <a:xfrm flipH="1">
              <a:off x="569384" y="5405880"/>
              <a:ext cx="1054100"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40" name="Straight Connector 239">
              <a:extLst>
                <a:ext uri="{FF2B5EF4-FFF2-40B4-BE49-F238E27FC236}">
                  <a16:creationId xmlns:a16="http://schemas.microsoft.com/office/drawing/2014/main" id="{8C8A8C6E-9978-8A8F-B48C-7C4BFED65F11}"/>
                </a:ext>
              </a:extLst>
            </p:cNvPr>
            <p:cNvCxnSpPr/>
            <p:nvPr/>
          </p:nvCxnSpPr>
          <p:spPr>
            <a:xfrm flipV="1">
              <a:off x="569384" y="1729230"/>
              <a:ext cx="0" cy="367665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41" name="Straight Arrow Connector 240">
              <a:extLst>
                <a:ext uri="{FF2B5EF4-FFF2-40B4-BE49-F238E27FC236}">
                  <a16:creationId xmlns:a16="http://schemas.microsoft.com/office/drawing/2014/main" id="{E78D9D6A-C737-A5D6-9B7C-94306870B5F9}"/>
                </a:ext>
              </a:extLst>
            </p:cNvPr>
            <p:cNvCxnSpPr/>
            <p:nvPr/>
          </p:nvCxnSpPr>
          <p:spPr>
            <a:xfrm>
              <a:off x="569384" y="1729230"/>
              <a:ext cx="105410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grpSp>
      <p:sp>
        <p:nvSpPr>
          <p:cNvPr id="259" name="TextBox 258">
            <a:extLst>
              <a:ext uri="{FF2B5EF4-FFF2-40B4-BE49-F238E27FC236}">
                <a16:creationId xmlns:a16="http://schemas.microsoft.com/office/drawing/2014/main" id="{AAA9F8A6-57FD-8FDF-4EF9-64C7B9677C64}"/>
              </a:ext>
            </a:extLst>
          </p:cNvPr>
          <p:cNvSpPr txBox="1"/>
          <p:nvPr/>
        </p:nvSpPr>
        <p:spPr>
          <a:xfrm>
            <a:off x="5859347" y="6436573"/>
            <a:ext cx="889000" cy="369332"/>
          </a:xfrm>
          <a:prstGeom prst="rect">
            <a:avLst/>
          </a:prstGeom>
          <a:noFill/>
        </p:spPr>
        <p:txBody>
          <a:bodyPr wrap="square" rtlCol="0">
            <a:spAutoFit/>
          </a:bodyPr>
          <a:lstStyle/>
          <a:p>
            <a:pPr defTabSz="457200"/>
            <a:r>
              <a:rPr lang="en-US" dirty="0">
                <a:solidFill>
                  <a:prstClr val="black"/>
                </a:solidFill>
                <a:latin typeface="Calibri"/>
              </a:rPr>
              <a:t>(b)</a:t>
            </a:r>
          </a:p>
        </p:txBody>
      </p:sp>
      <p:sp>
        <p:nvSpPr>
          <p:cNvPr id="260" name="Right Arrow 259">
            <a:extLst>
              <a:ext uri="{FF2B5EF4-FFF2-40B4-BE49-F238E27FC236}">
                <a16:creationId xmlns:a16="http://schemas.microsoft.com/office/drawing/2014/main" id="{38755417-A31D-7EFE-A072-5612279A2FED}"/>
              </a:ext>
            </a:extLst>
          </p:cNvPr>
          <p:cNvSpPr/>
          <p:nvPr/>
        </p:nvSpPr>
        <p:spPr>
          <a:xfrm>
            <a:off x="2857500" y="3365500"/>
            <a:ext cx="1028700" cy="300278"/>
          </a:xfrm>
          <a:prstGeom prst="rightArrow">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47220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Temporal </a:t>
            </a:r>
            <a:r>
              <a:rPr lang="en-US" dirty="0" err="1"/>
              <a:t>decorrelation</a:t>
            </a:r>
            <a:endParaRPr lang="en-US" dirty="0"/>
          </a:p>
        </p:txBody>
      </p:sp>
      <p:sp>
        <p:nvSpPr>
          <p:cNvPr id="3" name="Content Placeholder 2"/>
          <p:cNvSpPr>
            <a:spLocks noGrp="1"/>
          </p:cNvSpPr>
          <p:nvPr>
            <p:ph idx="1"/>
          </p:nvPr>
        </p:nvSpPr>
        <p:spPr/>
        <p:txBody>
          <a:bodyPr>
            <a:normAutofit/>
          </a:bodyPr>
          <a:lstStyle/>
          <a:p>
            <a:r>
              <a:rPr lang="en-US" dirty="0"/>
              <a:t>Change model must include</a:t>
            </a:r>
          </a:p>
          <a:p>
            <a:pPr lvl="1"/>
            <a:r>
              <a:rPr lang="en-US" dirty="0"/>
              <a:t>Physical movement of </a:t>
            </a:r>
            <a:r>
              <a:rPr lang="en-US" dirty="0" err="1"/>
              <a:t>scatterers</a:t>
            </a:r>
            <a:endParaRPr lang="en-US" dirty="0"/>
          </a:p>
          <a:p>
            <a:pPr lvl="2"/>
            <a:r>
              <a:rPr lang="en-US" dirty="0"/>
              <a:t>Volume based: motion linked to height of volume</a:t>
            </a:r>
          </a:p>
          <a:p>
            <a:pPr lvl="2"/>
            <a:r>
              <a:rPr lang="en-US" dirty="0"/>
              <a:t>Vegetation based: motion is tied to canopy dimension and tree species, damped by branch radius</a:t>
            </a:r>
          </a:p>
          <a:p>
            <a:pPr lvl="1"/>
            <a:r>
              <a:rPr lang="en-US" dirty="0"/>
              <a:t>Dielectric change of </a:t>
            </a:r>
            <a:r>
              <a:rPr lang="en-US" dirty="0" err="1"/>
              <a:t>scatterers</a:t>
            </a:r>
            <a:endParaRPr lang="en-US" dirty="0"/>
          </a:p>
          <a:p>
            <a:pPr lvl="2"/>
            <a:r>
              <a:rPr lang="en-US" dirty="0"/>
              <a:t>Calculated by moisture change</a:t>
            </a:r>
          </a:p>
          <a:p>
            <a:pPr lvl="1"/>
            <a:r>
              <a:rPr lang="en-US" dirty="0"/>
              <a:t>Orientation of leaves</a:t>
            </a:r>
          </a:p>
          <a:p>
            <a:pPr lvl="1"/>
            <a:r>
              <a:rPr lang="en-US" dirty="0"/>
              <a:t>Removal of objects</a:t>
            </a:r>
          </a:p>
          <a:p>
            <a:pPr lvl="2"/>
            <a:r>
              <a:rPr lang="en-US" dirty="0"/>
              <a:t>Turn on and off based on size and track</a:t>
            </a:r>
          </a:p>
        </p:txBody>
      </p:sp>
      <p:sp>
        <p:nvSpPr>
          <p:cNvPr id="4" name="Date Placeholder 3">
            <a:extLst>
              <a:ext uri="{FF2B5EF4-FFF2-40B4-BE49-F238E27FC236}">
                <a16:creationId xmlns:a16="http://schemas.microsoft.com/office/drawing/2014/main" id="{8C31B598-1842-8764-CA2A-2FFBB6F1C257}"/>
              </a:ext>
            </a:extLst>
          </p:cNvPr>
          <p:cNvSpPr>
            <a:spLocks noGrp="1"/>
          </p:cNvSpPr>
          <p:nvPr>
            <p:ph type="dt" sz="half" idx="10"/>
          </p:nvPr>
        </p:nvSpPr>
        <p:spPr/>
        <p:txBody>
          <a:bodyPr/>
          <a:lstStyle/>
          <a:p>
            <a:fld id="{161372FC-75CD-3B4B-A7D7-C55480E84407}" type="datetime1">
              <a:rPr lang="en-US" smtClean="0"/>
              <a:t>3/25/26</a:t>
            </a:fld>
            <a:endParaRPr lang="en-US"/>
          </a:p>
        </p:txBody>
      </p:sp>
      <p:sp>
        <p:nvSpPr>
          <p:cNvPr id="5" name="Footer Placeholder 4">
            <a:extLst>
              <a:ext uri="{FF2B5EF4-FFF2-40B4-BE49-F238E27FC236}">
                <a16:creationId xmlns:a16="http://schemas.microsoft.com/office/drawing/2014/main" id="{D6A991ED-6607-DC9A-A5C5-A10DAAA133F3}"/>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A35FD737-576B-DE10-CEE4-8420E3C10577}"/>
              </a:ext>
            </a:extLst>
          </p:cNvPr>
          <p:cNvSpPr>
            <a:spLocks noGrp="1"/>
          </p:cNvSpPr>
          <p:nvPr>
            <p:ph type="sldNum" sz="quarter" idx="12"/>
          </p:nvPr>
        </p:nvSpPr>
        <p:spPr/>
        <p:txBody>
          <a:bodyPr/>
          <a:lstStyle/>
          <a:p>
            <a:fld id="{B4CE5C4C-399A-B444-9B2A-945D2610250E}" type="slidenum">
              <a:rPr lang="en-US" smtClean="0"/>
              <a:t>56</a:t>
            </a:fld>
            <a:endParaRPr lang="en-US"/>
          </a:p>
        </p:txBody>
      </p:sp>
    </p:spTree>
    <p:extLst>
      <p:ext uri="{BB962C8B-B14F-4D97-AF65-F5344CB8AC3E}">
        <p14:creationId xmlns:p14="http://schemas.microsoft.com/office/powerpoint/2010/main" val="20049812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876800" cy="746830"/>
          </a:xfrm>
        </p:spPr>
        <p:txBody>
          <a:bodyPr>
            <a:normAutofit fontScale="90000"/>
          </a:bodyPr>
          <a:lstStyle/>
          <a:p>
            <a:r>
              <a:rPr lang="en-US" sz="2000" dirty="0"/>
              <a:t>Adding module for temporal </a:t>
            </a:r>
            <a:r>
              <a:rPr lang="en-US" sz="2000" dirty="0" err="1"/>
              <a:t>decorrelation</a:t>
            </a:r>
            <a:r>
              <a:rPr lang="en-US" sz="2000" dirty="0"/>
              <a:t> model and implementation</a:t>
            </a:r>
          </a:p>
        </p:txBody>
      </p:sp>
      <p:sp>
        <p:nvSpPr>
          <p:cNvPr id="3" name="Date Placeholder 2">
            <a:extLst>
              <a:ext uri="{FF2B5EF4-FFF2-40B4-BE49-F238E27FC236}">
                <a16:creationId xmlns:a16="http://schemas.microsoft.com/office/drawing/2014/main" id="{87EB633C-C1B7-CD0D-3325-4A4F485E21CF}"/>
              </a:ext>
            </a:extLst>
          </p:cNvPr>
          <p:cNvSpPr>
            <a:spLocks noGrp="1"/>
          </p:cNvSpPr>
          <p:nvPr>
            <p:ph type="dt" sz="half" idx="10"/>
          </p:nvPr>
        </p:nvSpPr>
        <p:spPr/>
        <p:txBody>
          <a:bodyPr/>
          <a:lstStyle/>
          <a:p>
            <a:fld id="{F867EC73-1CEF-1F40-8F9A-883D6355606A}" type="datetime1">
              <a:rPr lang="en-US" smtClean="0"/>
              <a:t>3/25/26</a:t>
            </a:fld>
            <a:endParaRPr lang="en-US"/>
          </a:p>
        </p:txBody>
      </p:sp>
      <p:sp>
        <p:nvSpPr>
          <p:cNvPr id="8" name="Footer Placeholder 7">
            <a:extLst>
              <a:ext uri="{FF2B5EF4-FFF2-40B4-BE49-F238E27FC236}">
                <a16:creationId xmlns:a16="http://schemas.microsoft.com/office/drawing/2014/main" id="{3BD57BB3-5EEB-7FD6-6B75-C1A593025054}"/>
              </a:ext>
            </a:extLst>
          </p:cNvPr>
          <p:cNvSpPr>
            <a:spLocks noGrp="1"/>
          </p:cNvSpPr>
          <p:nvPr>
            <p:ph type="ftr" sz="quarter" idx="11"/>
          </p:nvPr>
        </p:nvSpPr>
        <p:spPr/>
        <p:txBody>
          <a:bodyPr/>
          <a:lstStyle/>
          <a:p>
            <a:r>
              <a:rPr lang="en-US"/>
              <a:t>Does Not Contain CUI.</a:t>
            </a:r>
          </a:p>
        </p:txBody>
      </p:sp>
      <p:sp>
        <p:nvSpPr>
          <p:cNvPr id="11" name="Slide Number Placeholder 10">
            <a:extLst>
              <a:ext uri="{FF2B5EF4-FFF2-40B4-BE49-F238E27FC236}">
                <a16:creationId xmlns:a16="http://schemas.microsoft.com/office/drawing/2014/main" id="{F9CDB7E0-E73F-344A-4C21-7F6EDC06BD90}"/>
              </a:ext>
            </a:extLst>
          </p:cNvPr>
          <p:cNvSpPr>
            <a:spLocks noGrp="1"/>
          </p:cNvSpPr>
          <p:nvPr>
            <p:ph type="sldNum" sz="quarter" idx="12"/>
          </p:nvPr>
        </p:nvSpPr>
        <p:spPr/>
        <p:txBody>
          <a:bodyPr/>
          <a:lstStyle/>
          <a:p>
            <a:fld id="{B4CE5C4C-399A-B444-9B2A-945D2610250E}" type="slidenum">
              <a:rPr lang="en-US" smtClean="0"/>
              <a:t>57</a:t>
            </a:fld>
            <a:endParaRPr lang="en-US"/>
          </a:p>
        </p:txBody>
      </p:sp>
      <p:grpSp>
        <p:nvGrpSpPr>
          <p:cNvPr id="138" name="Group 137">
            <a:extLst>
              <a:ext uri="{FF2B5EF4-FFF2-40B4-BE49-F238E27FC236}">
                <a16:creationId xmlns:a16="http://schemas.microsoft.com/office/drawing/2014/main" id="{9CA54993-89A7-285C-ED0D-9DE5B2B8ABBD}"/>
              </a:ext>
            </a:extLst>
          </p:cNvPr>
          <p:cNvGrpSpPr/>
          <p:nvPr/>
        </p:nvGrpSpPr>
        <p:grpSpPr>
          <a:xfrm>
            <a:off x="1700480" y="1281676"/>
            <a:ext cx="1918881" cy="4750860"/>
            <a:chOff x="5657850" y="1634532"/>
            <a:chExt cx="1918881" cy="4750860"/>
          </a:xfrm>
        </p:grpSpPr>
        <p:grpSp>
          <p:nvGrpSpPr>
            <p:cNvPr id="139" name="Group 138">
              <a:extLst>
                <a:ext uri="{FF2B5EF4-FFF2-40B4-BE49-F238E27FC236}">
                  <a16:creationId xmlns:a16="http://schemas.microsoft.com/office/drawing/2014/main" id="{C768ED8B-BF93-05B5-245F-00AA34629180}"/>
                </a:ext>
              </a:extLst>
            </p:cNvPr>
            <p:cNvGrpSpPr/>
            <p:nvPr/>
          </p:nvGrpSpPr>
          <p:grpSpPr>
            <a:xfrm>
              <a:off x="6216330" y="1634532"/>
              <a:ext cx="1360401" cy="4750860"/>
              <a:chOff x="3896112" y="1600752"/>
              <a:chExt cx="1360401" cy="4750860"/>
            </a:xfrm>
          </p:grpSpPr>
          <p:sp>
            <p:nvSpPr>
              <p:cNvPr id="156" name="Freeform 155">
                <a:extLst>
                  <a:ext uri="{FF2B5EF4-FFF2-40B4-BE49-F238E27FC236}">
                    <a16:creationId xmlns:a16="http://schemas.microsoft.com/office/drawing/2014/main" id="{44AF5FA0-CC45-FE99-0B70-1E23749A9263}"/>
                  </a:ext>
                </a:extLst>
              </p:cNvPr>
              <p:cNvSpPr/>
              <p:nvPr/>
            </p:nvSpPr>
            <p:spPr>
              <a:xfrm>
                <a:off x="4103572" y="1600752"/>
                <a:ext cx="936854"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Branch	</a:t>
                </a:r>
              </a:p>
            </p:txBody>
          </p:sp>
          <p:sp>
            <p:nvSpPr>
              <p:cNvPr id="157" name="Freeform 156">
                <a:extLst>
                  <a:ext uri="{FF2B5EF4-FFF2-40B4-BE49-F238E27FC236}">
                    <a16:creationId xmlns:a16="http://schemas.microsoft.com/office/drawing/2014/main" id="{3DAAF5EE-6F06-D06A-25E0-9F3EABB2F61D}"/>
                  </a:ext>
                </a:extLst>
              </p:cNvPr>
              <p:cNvSpPr/>
              <p:nvPr/>
            </p:nvSpPr>
            <p:spPr>
              <a:xfrm>
                <a:off x="4493684" y="1949048"/>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58" name="Freeform 157">
                <a:extLst>
                  <a:ext uri="{FF2B5EF4-FFF2-40B4-BE49-F238E27FC236}">
                    <a16:creationId xmlns:a16="http://schemas.microsoft.com/office/drawing/2014/main" id="{244D5633-7F22-81C1-14ED-569048FD42DF}"/>
                  </a:ext>
                </a:extLst>
              </p:cNvPr>
              <p:cNvSpPr/>
              <p:nvPr/>
            </p:nvSpPr>
            <p:spPr>
              <a:xfrm>
                <a:off x="3896112" y="3113009"/>
                <a:ext cx="1360401"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Make cylinder from section</a:t>
                </a:r>
              </a:p>
            </p:txBody>
          </p:sp>
          <p:sp>
            <p:nvSpPr>
              <p:cNvPr id="159" name="Freeform 158">
                <a:extLst>
                  <a:ext uri="{FF2B5EF4-FFF2-40B4-BE49-F238E27FC236}">
                    <a16:creationId xmlns:a16="http://schemas.microsoft.com/office/drawing/2014/main" id="{905E2BC9-B1FB-80BA-87F4-5604E6EB1692}"/>
                  </a:ext>
                </a:extLst>
              </p:cNvPr>
              <p:cNvSpPr/>
              <p:nvPr/>
            </p:nvSpPr>
            <p:spPr>
              <a:xfrm>
                <a:off x="4083986" y="2111859"/>
                <a:ext cx="956440"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Tracks</a:t>
                </a:r>
              </a:p>
            </p:txBody>
          </p:sp>
          <p:sp>
            <p:nvSpPr>
              <p:cNvPr id="160" name="Freeform 159">
                <a:extLst>
                  <a:ext uri="{FF2B5EF4-FFF2-40B4-BE49-F238E27FC236}">
                    <a16:creationId xmlns:a16="http://schemas.microsoft.com/office/drawing/2014/main" id="{A7CECFF5-D3A0-95A4-EA45-900E27FBA3FF}"/>
                  </a:ext>
                </a:extLst>
              </p:cNvPr>
              <p:cNvSpPr/>
              <p:nvPr/>
            </p:nvSpPr>
            <p:spPr>
              <a:xfrm>
                <a:off x="4493684" y="2960960"/>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61" name="Freeform 160">
                <a:extLst>
                  <a:ext uri="{FF2B5EF4-FFF2-40B4-BE49-F238E27FC236}">
                    <a16:creationId xmlns:a16="http://schemas.microsoft.com/office/drawing/2014/main" id="{07D072E7-F00F-A278-C639-2C4EB0369632}"/>
                  </a:ext>
                </a:extLst>
              </p:cNvPr>
              <p:cNvSpPr/>
              <p:nvPr/>
            </p:nvSpPr>
            <p:spPr>
              <a:xfrm>
                <a:off x="4493684" y="3461535"/>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62" name="Freeform 161">
                <a:extLst>
                  <a:ext uri="{FF2B5EF4-FFF2-40B4-BE49-F238E27FC236}">
                    <a16:creationId xmlns:a16="http://schemas.microsoft.com/office/drawing/2014/main" id="{E41F924E-B12D-70B1-CDB2-3E425F0D32A9}"/>
                  </a:ext>
                </a:extLst>
              </p:cNvPr>
              <p:cNvSpPr/>
              <p:nvPr/>
            </p:nvSpPr>
            <p:spPr>
              <a:xfrm>
                <a:off x="3896113" y="3612906"/>
                <a:ext cx="1360400"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Image cylinder</a:t>
                </a:r>
              </a:p>
            </p:txBody>
          </p:sp>
          <p:sp>
            <p:nvSpPr>
              <p:cNvPr id="163" name="Freeform 162">
                <a:extLst>
                  <a:ext uri="{FF2B5EF4-FFF2-40B4-BE49-F238E27FC236}">
                    <a16:creationId xmlns:a16="http://schemas.microsoft.com/office/drawing/2014/main" id="{2925677A-79C8-EB77-0DA2-12146E4CF7EF}"/>
                  </a:ext>
                </a:extLst>
              </p:cNvPr>
              <p:cNvSpPr/>
              <p:nvPr/>
            </p:nvSpPr>
            <p:spPr>
              <a:xfrm>
                <a:off x="4082048" y="5352182"/>
                <a:ext cx="980740" cy="500466"/>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Branch</a:t>
                </a:r>
              </a:p>
            </p:txBody>
          </p:sp>
          <p:sp>
            <p:nvSpPr>
              <p:cNvPr id="164" name="Freeform 163">
                <a:extLst>
                  <a:ext uri="{FF2B5EF4-FFF2-40B4-BE49-F238E27FC236}">
                    <a16:creationId xmlns:a16="http://schemas.microsoft.com/office/drawing/2014/main" id="{9049280C-EE49-7AF7-F7EE-8BAD36B61F75}"/>
                  </a:ext>
                </a:extLst>
              </p:cNvPr>
              <p:cNvSpPr/>
              <p:nvPr/>
            </p:nvSpPr>
            <p:spPr>
              <a:xfrm>
                <a:off x="4493684" y="396097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65" name="Freeform 164">
                <a:extLst>
                  <a:ext uri="{FF2B5EF4-FFF2-40B4-BE49-F238E27FC236}">
                    <a16:creationId xmlns:a16="http://schemas.microsoft.com/office/drawing/2014/main" id="{E04BD5EB-ED8A-FBD4-61CF-FF44E6DE1A06}"/>
                  </a:ext>
                </a:extLst>
              </p:cNvPr>
              <p:cNvSpPr/>
              <p:nvPr/>
            </p:nvSpPr>
            <p:spPr>
              <a:xfrm>
                <a:off x="4493684" y="518926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66" name="Freeform 165">
                <a:extLst>
                  <a:ext uri="{FF2B5EF4-FFF2-40B4-BE49-F238E27FC236}">
                    <a16:creationId xmlns:a16="http://schemas.microsoft.com/office/drawing/2014/main" id="{890B8E04-E7BB-1872-9B64-D38799605333}"/>
                  </a:ext>
                </a:extLst>
              </p:cNvPr>
              <p:cNvSpPr/>
              <p:nvPr/>
            </p:nvSpPr>
            <p:spPr>
              <a:xfrm>
                <a:off x="4071286" y="4113020"/>
                <a:ext cx="1013026" cy="448517"/>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Section</a:t>
                </a:r>
              </a:p>
            </p:txBody>
          </p:sp>
          <p:sp>
            <p:nvSpPr>
              <p:cNvPr id="167" name="Freeform 166">
                <a:extLst>
                  <a:ext uri="{FF2B5EF4-FFF2-40B4-BE49-F238E27FC236}">
                    <a16:creationId xmlns:a16="http://schemas.microsoft.com/office/drawing/2014/main" id="{1F62AB77-2CA0-7B36-78D0-B73B72977164}"/>
                  </a:ext>
                </a:extLst>
              </p:cNvPr>
              <p:cNvSpPr/>
              <p:nvPr/>
            </p:nvSpPr>
            <p:spPr>
              <a:xfrm>
                <a:off x="4493684" y="5862029"/>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68" name="Freeform 167">
                <a:extLst>
                  <a:ext uri="{FF2B5EF4-FFF2-40B4-BE49-F238E27FC236}">
                    <a16:creationId xmlns:a16="http://schemas.microsoft.com/office/drawing/2014/main" id="{640C6F5C-B127-ED6D-DF5D-27ECB186F039}"/>
                  </a:ext>
                </a:extLst>
              </p:cNvPr>
              <p:cNvSpPr/>
              <p:nvPr/>
            </p:nvSpPr>
            <p:spPr>
              <a:xfrm>
                <a:off x="4103572" y="6003546"/>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Move to Other type of Branch or leaf</a:t>
                </a:r>
              </a:p>
            </p:txBody>
          </p:sp>
        </p:grpSp>
        <p:sp>
          <p:nvSpPr>
            <p:cNvPr id="140" name="Freeform 139">
              <a:extLst>
                <a:ext uri="{FF2B5EF4-FFF2-40B4-BE49-F238E27FC236}">
                  <a16:creationId xmlns:a16="http://schemas.microsoft.com/office/drawing/2014/main" id="{1D61B279-7091-E21C-34C2-46ED1339FB3F}"/>
                </a:ext>
              </a:extLst>
            </p:cNvPr>
            <p:cNvSpPr/>
            <p:nvPr/>
          </p:nvSpPr>
          <p:spPr>
            <a:xfrm>
              <a:off x="6397854" y="2641443"/>
              <a:ext cx="962789"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sections</a:t>
              </a:r>
            </a:p>
          </p:txBody>
        </p:sp>
        <p:sp>
          <p:nvSpPr>
            <p:cNvPr id="141" name="Freeform 140">
              <a:extLst>
                <a:ext uri="{FF2B5EF4-FFF2-40B4-BE49-F238E27FC236}">
                  <a16:creationId xmlns:a16="http://schemas.microsoft.com/office/drawing/2014/main" id="{4D4B658C-E156-450B-B11E-0E60ADBD0E4B}"/>
                </a:ext>
              </a:extLst>
            </p:cNvPr>
            <p:cNvSpPr/>
            <p:nvPr/>
          </p:nvSpPr>
          <p:spPr>
            <a:xfrm>
              <a:off x="6813901" y="249342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42" name="Freeform 141">
              <a:extLst>
                <a:ext uri="{FF2B5EF4-FFF2-40B4-BE49-F238E27FC236}">
                  <a16:creationId xmlns:a16="http://schemas.microsoft.com/office/drawing/2014/main" id="{8960587F-0E22-2578-CAF5-6B23D41D64EB}"/>
                </a:ext>
              </a:extLst>
            </p:cNvPr>
            <p:cNvSpPr/>
            <p:nvPr/>
          </p:nvSpPr>
          <p:spPr>
            <a:xfrm>
              <a:off x="6812230" y="4608591"/>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43" name="Freeform 142">
              <a:extLst>
                <a:ext uri="{FF2B5EF4-FFF2-40B4-BE49-F238E27FC236}">
                  <a16:creationId xmlns:a16="http://schemas.microsoft.com/office/drawing/2014/main" id="{58856E61-1E12-E205-2357-1972B84C9672}"/>
                </a:ext>
              </a:extLst>
            </p:cNvPr>
            <p:cNvSpPr/>
            <p:nvPr/>
          </p:nvSpPr>
          <p:spPr>
            <a:xfrm>
              <a:off x="6379070" y="4760639"/>
              <a:ext cx="1013026" cy="448517"/>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Track</a:t>
              </a:r>
            </a:p>
          </p:txBody>
        </p:sp>
        <p:grpSp>
          <p:nvGrpSpPr>
            <p:cNvPr id="144" name="Group 143">
              <a:extLst>
                <a:ext uri="{FF2B5EF4-FFF2-40B4-BE49-F238E27FC236}">
                  <a16:creationId xmlns:a16="http://schemas.microsoft.com/office/drawing/2014/main" id="{479DA9C1-A2FF-E10B-674D-16A9B64D8B72}"/>
                </a:ext>
              </a:extLst>
            </p:cNvPr>
            <p:cNvGrpSpPr/>
            <p:nvPr/>
          </p:nvGrpSpPr>
          <p:grpSpPr>
            <a:xfrm>
              <a:off x="6032500" y="2800651"/>
              <a:ext cx="371704" cy="1574499"/>
              <a:chOff x="5701592" y="2827781"/>
              <a:chExt cx="594921" cy="2160144"/>
            </a:xfrm>
          </p:grpSpPr>
          <p:cxnSp>
            <p:nvCxnSpPr>
              <p:cNvPr id="153" name="Straight Connector 152">
                <a:extLst>
                  <a:ext uri="{FF2B5EF4-FFF2-40B4-BE49-F238E27FC236}">
                    <a16:creationId xmlns:a16="http://schemas.microsoft.com/office/drawing/2014/main" id="{16248DA4-B3A5-8A65-F03C-2E83F6171A08}"/>
                  </a:ext>
                </a:extLst>
              </p:cNvPr>
              <p:cNvCxnSpPr/>
              <p:nvPr/>
            </p:nvCxnSpPr>
            <p:spPr>
              <a:xfrm flipH="1" flipV="1">
                <a:off x="5708921" y="4974808"/>
                <a:ext cx="564879" cy="6558"/>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54" name="Straight Connector 153">
                <a:extLst>
                  <a:ext uri="{FF2B5EF4-FFF2-40B4-BE49-F238E27FC236}">
                    <a16:creationId xmlns:a16="http://schemas.microsoft.com/office/drawing/2014/main" id="{5403FDC8-7AEC-CFA6-69E5-280455A8C634}"/>
                  </a:ext>
                </a:extLst>
              </p:cNvPr>
              <p:cNvCxnSpPr/>
              <p:nvPr/>
            </p:nvCxnSpPr>
            <p:spPr>
              <a:xfrm flipV="1">
                <a:off x="5713490" y="2827781"/>
                <a:ext cx="0" cy="2160144"/>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55" name="Straight Arrow Connector 154">
                <a:extLst>
                  <a:ext uri="{FF2B5EF4-FFF2-40B4-BE49-F238E27FC236}">
                    <a16:creationId xmlns:a16="http://schemas.microsoft.com/office/drawing/2014/main" id="{EC310168-44A6-12EA-DF99-700ED46C9D2D}"/>
                  </a:ext>
                </a:extLst>
              </p:cNvPr>
              <p:cNvCxnSpPr/>
              <p:nvPr/>
            </p:nvCxnSpPr>
            <p:spPr>
              <a:xfrm>
                <a:off x="5701592" y="2834338"/>
                <a:ext cx="594921"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grpSp>
          <p:nvGrpSpPr>
            <p:cNvPr id="145" name="Group 144">
              <a:extLst>
                <a:ext uri="{FF2B5EF4-FFF2-40B4-BE49-F238E27FC236}">
                  <a16:creationId xmlns:a16="http://schemas.microsoft.com/office/drawing/2014/main" id="{09093A41-3DF3-D941-DC2C-AD061DB6F236}"/>
                </a:ext>
              </a:extLst>
            </p:cNvPr>
            <p:cNvGrpSpPr/>
            <p:nvPr/>
          </p:nvGrpSpPr>
          <p:grpSpPr>
            <a:xfrm>
              <a:off x="5835650" y="2320662"/>
              <a:ext cx="566616" cy="2670438"/>
              <a:chOff x="5701592" y="2827781"/>
              <a:chExt cx="594921" cy="2160144"/>
            </a:xfrm>
          </p:grpSpPr>
          <p:cxnSp>
            <p:nvCxnSpPr>
              <p:cNvPr id="150" name="Straight Connector 149">
                <a:extLst>
                  <a:ext uri="{FF2B5EF4-FFF2-40B4-BE49-F238E27FC236}">
                    <a16:creationId xmlns:a16="http://schemas.microsoft.com/office/drawing/2014/main" id="{7360C41D-C3F5-E32E-BF02-7722FA4CDCD5}"/>
                  </a:ext>
                </a:extLst>
              </p:cNvPr>
              <p:cNvCxnSpPr/>
              <p:nvPr/>
            </p:nvCxnSpPr>
            <p:spPr>
              <a:xfrm flipH="1" flipV="1">
                <a:off x="5708921" y="4974808"/>
                <a:ext cx="564879" cy="6558"/>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51" name="Straight Connector 150">
                <a:extLst>
                  <a:ext uri="{FF2B5EF4-FFF2-40B4-BE49-F238E27FC236}">
                    <a16:creationId xmlns:a16="http://schemas.microsoft.com/office/drawing/2014/main" id="{E66C3099-0514-EBFA-9287-379C5910B97B}"/>
                  </a:ext>
                </a:extLst>
              </p:cNvPr>
              <p:cNvCxnSpPr/>
              <p:nvPr/>
            </p:nvCxnSpPr>
            <p:spPr>
              <a:xfrm flipV="1">
                <a:off x="5713490" y="2827781"/>
                <a:ext cx="0" cy="2160144"/>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52" name="Straight Arrow Connector 151">
                <a:extLst>
                  <a:ext uri="{FF2B5EF4-FFF2-40B4-BE49-F238E27FC236}">
                    <a16:creationId xmlns:a16="http://schemas.microsoft.com/office/drawing/2014/main" id="{577FE49D-D6B4-360B-8C04-E9080061B970}"/>
                  </a:ext>
                </a:extLst>
              </p:cNvPr>
              <p:cNvCxnSpPr/>
              <p:nvPr/>
            </p:nvCxnSpPr>
            <p:spPr>
              <a:xfrm>
                <a:off x="5701592" y="2834338"/>
                <a:ext cx="594921"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grpSp>
          <p:nvGrpSpPr>
            <p:cNvPr id="146" name="Group 145">
              <a:extLst>
                <a:ext uri="{FF2B5EF4-FFF2-40B4-BE49-F238E27FC236}">
                  <a16:creationId xmlns:a16="http://schemas.microsoft.com/office/drawing/2014/main" id="{9F40BD49-1430-9F3B-18EF-B0847DCB208F}"/>
                </a:ext>
              </a:extLst>
            </p:cNvPr>
            <p:cNvGrpSpPr/>
            <p:nvPr/>
          </p:nvGrpSpPr>
          <p:grpSpPr>
            <a:xfrm>
              <a:off x="5657850" y="1783693"/>
              <a:ext cx="772290" cy="3862394"/>
              <a:chOff x="5701592" y="2827781"/>
              <a:chExt cx="594921" cy="2160144"/>
            </a:xfrm>
          </p:grpSpPr>
          <p:cxnSp>
            <p:nvCxnSpPr>
              <p:cNvPr id="147" name="Straight Connector 146">
                <a:extLst>
                  <a:ext uri="{FF2B5EF4-FFF2-40B4-BE49-F238E27FC236}">
                    <a16:creationId xmlns:a16="http://schemas.microsoft.com/office/drawing/2014/main" id="{5FC8B7AA-BFC0-F23D-8187-CA4BDBB3F289}"/>
                  </a:ext>
                </a:extLst>
              </p:cNvPr>
              <p:cNvCxnSpPr/>
              <p:nvPr/>
            </p:nvCxnSpPr>
            <p:spPr>
              <a:xfrm flipH="1" flipV="1">
                <a:off x="5708921" y="4974808"/>
                <a:ext cx="564879" cy="6558"/>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48" name="Straight Connector 147">
                <a:extLst>
                  <a:ext uri="{FF2B5EF4-FFF2-40B4-BE49-F238E27FC236}">
                    <a16:creationId xmlns:a16="http://schemas.microsoft.com/office/drawing/2014/main" id="{2DFDD56F-4E15-4294-2F39-256007AE5488}"/>
                  </a:ext>
                </a:extLst>
              </p:cNvPr>
              <p:cNvCxnSpPr/>
              <p:nvPr/>
            </p:nvCxnSpPr>
            <p:spPr>
              <a:xfrm flipV="1">
                <a:off x="5713490" y="2827781"/>
                <a:ext cx="0" cy="2160144"/>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49" name="Straight Arrow Connector 148">
                <a:extLst>
                  <a:ext uri="{FF2B5EF4-FFF2-40B4-BE49-F238E27FC236}">
                    <a16:creationId xmlns:a16="http://schemas.microsoft.com/office/drawing/2014/main" id="{3485E68D-0A0C-A000-BE05-1ACD7A07B450}"/>
                  </a:ext>
                </a:extLst>
              </p:cNvPr>
              <p:cNvCxnSpPr/>
              <p:nvPr/>
            </p:nvCxnSpPr>
            <p:spPr>
              <a:xfrm>
                <a:off x="5701592" y="2834338"/>
                <a:ext cx="594921"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grpSp>
      <p:grpSp>
        <p:nvGrpSpPr>
          <p:cNvPr id="169" name="Group 168">
            <a:extLst>
              <a:ext uri="{FF2B5EF4-FFF2-40B4-BE49-F238E27FC236}">
                <a16:creationId xmlns:a16="http://schemas.microsoft.com/office/drawing/2014/main" id="{DFBEE10E-0D89-898A-2730-6314271DFC13}"/>
              </a:ext>
            </a:extLst>
          </p:cNvPr>
          <p:cNvGrpSpPr/>
          <p:nvPr/>
        </p:nvGrpSpPr>
        <p:grpSpPr>
          <a:xfrm>
            <a:off x="6308808" y="657962"/>
            <a:ext cx="1360401" cy="5720278"/>
            <a:chOff x="3893074" y="1600752"/>
            <a:chExt cx="1360401" cy="5720278"/>
          </a:xfrm>
          <a:solidFill>
            <a:sysClr val="window" lastClr="FFFFFF"/>
          </a:solidFill>
        </p:grpSpPr>
        <p:sp>
          <p:nvSpPr>
            <p:cNvPr id="170" name="Freeform 169">
              <a:extLst>
                <a:ext uri="{FF2B5EF4-FFF2-40B4-BE49-F238E27FC236}">
                  <a16:creationId xmlns:a16="http://schemas.microsoft.com/office/drawing/2014/main" id="{D650739B-1671-211D-E7B4-7A72D30BB40D}"/>
                </a:ext>
              </a:extLst>
            </p:cNvPr>
            <p:cNvSpPr/>
            <p:nvPr/>
          </p:nvSpPr>
          <p:spPr>
            <a:xfrm>
              <a:off x="4103572" y="1600752"/>
              <a:ext cx="936854"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grp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Branch	</a:t>
              </a:r>
            </a:p>
          </p:txBody>
        </p:sp>
        <p:sp>
          <p:nvSpPr>
            <p:cNvPr id="171" name="Freeform 170">
              <a:extLst>
                <a:ext uri="{FF2B5EF4-FFF2-40B4-BE49-F238E27FC236}">
                  <a16:creationId xmlns:a16="http://schemas.microsoft.com/office/drawing/2014/main" id="{6E0AD4CC-2CE3-9026-B1AF-5C190E761A05}"/>
                </a:ext>
              </a:extLst>
            </p:cNvPr>
            <p:cNvSpPr/>
            <p:nvPr/>
          </p:nvSpPr>
          <p:spPr>
            <a:xfrm>
              <a:off x="4493684" y="1949048"/>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grp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72" name="Freeform 171">
              <a:extLst>
                <a:ext uri="{FF2B5EF4-FFF2-40B4-BE49-F238E27FC236}">
                  <a16:creationId xmlns:a16="http://schemas.microsoft.com/office/drawing/2014/main" id="{81D15475-725B-421B-7310-99F4D4D42200}"/>
                </a:ext>
              </a:extLst>
            </p:cNvPr>
            <p:cNvSpPr/>
            <p:nvPr/>
          </p:nvSpPr>
          <p:spPr>
            <a:xfrm>
              <a:off x="3893074" y="3596745"/>
              <a:ext cx="1360401"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grp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Make cylinder from section</a:t>
              </a:r>
            </a:p>
          </p:txBody>
        </p:sp>
        <p:sp>
          <p:nvSpPr>
            <p:cNvPr id="173" name="Freeform 172">
              <a:extLst>
                <a:ext uri="{FF2B5EF4-FFF2-40B4-BE49-F238E27FC236}">
                  <a16:creationId xmlns:a16="http://schemas.microsoft.com/office/drawing/2014/main" id="{B76E8154-AD5B-A1C7-F065-928ADAFC4ECE}"/>
                </a:ext>
              </a:extLst>
            </p:cNvPr>
            <p:cNvSpPr/>
            <p:nvPr/>
          </p:nvSpPr>
          <p:spPr>
            <a:xfrm>
              <a:off x="4083986" y="2111859"/>
              <a:ext cx="956440"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grp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Tracks</a:t>
              </a:r>
            </a:p>
          </p:txBody>
        </p:sp>
        <p:sp>
          <p:nvSpPr>
            <p:cNvPr id="174" name="Freeform 173">
              <a:extLst>
                <a:ext uri="{FF2B5EF4-FFF2-40B4-BE49-F238E27FC236}">
                  <a16:creationId xmlns:a16="http://schemas.microsoft.com/office/drawing/2014/main" id="{28E056AA-4C19-AF6E-6D35-0A48301F5CBD}"/>
                </a:ext>
              </a:extLst>
            </p:cNvPr>
            <p:cNvSpPr/>
            <p:nvPr/>
          </p:nvSpPr>
          <p:spPr>
            <a:xfrm>
              <a:off x="4493684" y="2960960"/>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grp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75" name="Freeform 174">
              <a:extLst>
                <a:ext uri="{FF2B5EF4-FFF2-40B4-BE49-F238E27FC236}">
                  <a16:creationId xmlns:a16="http://schemas.microsoft.com/office/drawing/2014/main" id="{51D776D6-928F-1E74-4E61-38DA43760917}"/>
                </a:ext>
              </a:extLst>
            </p:cNvPr>
            <p:cNvSpPr/>
            <p:nvPr/>
          </p:nvSpPr>
          <p:spPr>
            <a:xfrm>
              <a:off x="4493684" y="3455185"/>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grp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76" name="Freeform 175">
              <a:extLst>
                <a:ext uri="{FF2B5EF4-FFF2-40B4-BE49-F238E27FC236}">
                  <a16:creationId xmlns:a16="http://schemas.microsoft.com/office/drawing/2014/main" id="{ECB84FA1-948A-15A7-0205-FDC0E1E96C22}"/>
                </a:ext>
              </a:extLst>
            </p:cNvPr>
            <p:cNvSpPr/>
            <p:nvPr/>
          </p:nvSpPr>
          <p:spPr>
            <a:xfrm>
              <a:off x="3893074" y="4628121"/>
              <a:ext cx="1360400"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grp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Image cylinder</a:t>
              </a:r>
            </a:p>
          </p:txBody>
        </p:sp>
        <p:sp>
          <p:nvSpPr>
            <p:cNvPr id="177" name="Freeform 176">
              <a:extLst>
                <a:ext uri="{FF2B5EF4-FFF2-40B4-BE49-F238E27FC236}">
                  <a16:creationId xmlns:a16="http://schemas.microsoft.com/office/drawing/2014/main" id="{DF4B5B6A-6739-0949-5D6E-4B46EEA6AA30}"/>
                </a:ext>
              </a:extLst>
            </p:cNvPr>
            <p:cNvSpPr/>
            <p:nvPr/>
          </p:nvSpPr>
          <p:spPr>
            <a:xfrm>
              <a:off x="4083986" y="6329784"/>
              <a:ext cx="980740" cy="500466"/>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grp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Branch</a:t>
              </a:r>
            </a:p>
          </p:txBody>
        </p:sp>
        <p:sp>
          <p:nvSpPr>
            <p:cNvPr id="178" name="Freeform 177">
              <a:extLst>
                <a:ext uri="{FF2B5EF4-FFF2-40B4-BE49-F238E27FC236}">
                  <a16:creationId xmlns:a16="http://schemas.microsoft.com/office/drawing/2014/main" id="{B75E6A59-861D-9139-A33A-B1AFE0D09F89}"/>
                </a:ext>
              </a:extLst>
            </p:cNvPr>
            <p:cNvSpPr/>
            <p:nvPr/>
          </p:nvSpPr>
          <p:spPr>
            <a:xfrm>
              <a:off x="4493684" y="396097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grp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79" name="Freeform 178">
              <a:extLst>
                <a:ext uri="{FF2B5EF4-FFF2-40B4-BE49-F238E27FC236}">
                  <a16:creationId xmlns:a16="http://schemas.microsoft.com/office/drawing/2014/main" id="{DA5A12A4-2B98-7FFE-68A3-E293974E8DAC}"/>
                </a:ext>
              </a:extLst>
            </p:cNvPr>
            <p:cNvSpPr/>
            <p:nvPr/>
          </p:nvSpPr>
          <p:spPr>
            <a:xfrm>
              <a:off x="4493684" y="497971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grp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80" name="Freeform 179">
              <a:extLst>
                <a:ext uri="{FF2B5EF4-FFF2-40B4-BE49-F238E27FC236}">
                  <a16:creationId xmlns:a16="http://schemas.microsoft.com/office/drawing/2014/main" id="{7B72587E-933F-5785-3C3B-9DBAAA760E4D}"/>
                </a:ext>
              </a:extLst>
            </p:cNvPr>
            <p:cNvSpPr/>
            <p:nvPr/>
          </p:nvSpPr>
          <p:spPr>
            <a:xfrm>
              <a:off x="4065823" y="5117088"/>
              <a:ext cx="1013026" cy="448517"/>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grp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Section</a:t>
              </a:r>
            </a:p>
          </p:txBody>
        </p:sp>
        <p:sp>
          <p:nvSpPr>
            <p:cNvPr id="181" name="Freeform 180">
              <a:extLst>
                <a:ext uri="{FF2B5EF4-FFF2-40B4-BE49-F238E27FC236}">
                  <a16:creationId xmlns:a16="http://schemas.microsoft.com/office/drawing/2014/main" id="{B41ED0C1-2D84-25DB-EC16-0FDF6DF891D1}"/>
                </a:ext>
              </a:extLst>
            </p:cNvPr>
            <p:cNvSpPr/>
            <p:nvPr/>
          </p:nvSpPr>
          <p:spPr>
            <a:xfrm>
              <a:off x="4493684" y="5582629"/>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grp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82" name="Freeform 181">
              <a:extLst>
                <a:ext uri="{FF2B5EF4-FFF2-40B4-BE49-F238E27FC236}">
                  <a16:creationId xmlns:a16="http://schemas.microsoft.com/office/drawing/2014/main" id="{AB43DFEF-D2F8-8C89-F9BD-6FB9780851D8}"/>
                </a:ext>
              </a:extLst>
            </p:cNvPr>
            <p:cNvSpPr/>
            <p:nvPr/>
          </p:nvSpPr>
          <p:spPr>
            <a:xfrm>
              <a:off x="4101457" y="6972964"/>
              <a:ext cx="936854"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grp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Move to Other type of Branch or leaf</a:t>
              </a:r>
            </a:p>
          </p:txBody>
        </p:sp>
      </p:grpSp>
      <p:sp>
        <p:nvSpPr>
          <p:cNvPr id="183" name="Freeform 182">
            <a:extLst>
              <a:ext uri="{FF2B5EF4-FFF2-40B4-BE49-F238E27FC236}">
                <a16:creationId xmlns:a16="http://schemas.microsoft.com/office/drawing/2014/main" id="{76856122-2663-C551-9377-D7134ADBB4AB}"/>
              </a:ext>
            </a:extLst>
          </p:cNvPr>
          <p:cNvSpPr/>
          <p:nvPr/>
        </p:nvSpPr>
        <p:spPr>
          <a:xfrm>
            <a:off x="6518506" y="2162124"/>
            <a:ext cx="962789" cy="348066"/>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00"/>
                </a:moveTo>
                <a:lnTo>
                  <a:pt x="2000" y="0"/>
                </a:lnTo>
                <a:lnTo>
                  <a:pt x="8000" y="0"/>
                </a:lnTo>
                <a:lnTo>
                  <a:pt x="10000" y="5000"/>
                </a:lnTo>
                <a:lnTo>
                  <a:pt x="8000" y="10000"/>
                </a:lnTo>
                <a:lnTo>
                  <a:pt x="2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17851" tIns="30480" rIns="217851" bIns="30480"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sections</a:t>
            </a:r>
          </a:p>
        </p:txBody>
      </p:sp>
      <p:sp>
        <p:nvSpPr>
          <p:cNvPr id="184" name="Freeform 183">
            <a:extLst>
              <a:ext uri="{FF2B5EF4-FFF2-40B4-BE49-F238E27FC236}">
                <a16:creationId xmlns:a16="http://schemas.microsoft.com/office/drawing/2014/main" id="{5EFA059C-4AD6-06EC-CD04-062E4F613339}"/>
              </a:ext>
            </a:extLst>
          </p:cNvPr>
          <p:cNvSpPr/>
          <p:nvPr/>
        </p:nvSpPr>
        <p:spPr>
          <a:xfrm>
            <a:off x="6921851" y="1532062"/>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85" name="Freeform 184">
            <a:extLst>
              <a:ext uri="{FF2B5EF4-FFF2-40B4-BE49-F238E27FC236}">
                <a16:creationId xmlns:a16="http://schemas.microsoft.com/office/drawing/2014/main" id="{627CFD8F-ACC3-D273-F569-020F7959F4A0}"/>
              </a:ext>
            </a:extLst>
          </p:cNvPr>
          <p:cNvSpPr/>
          <p:nvPr/>
        </p:nvSpPr>
        <p:spPr>
          <a:xfrm>
            <a:off x="6920180" y="3526581"/>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186" name="Freeform 185">
            <a:extLst>
              <a:ext uri="{FF2B5EF4-FFF2-40B4-BE49-F238E27FC236}">
                <a16:creationId xmlns:a16="http://schemas.microsoft.com/office/drawing/2014/main" id="{346F57C8-9BE5-658C-6FE8-865F9C114104}"/>
              </a:ext>
            </a:extLst>
          </p:cNvPr>
          <p:cNvSpPr/>
          <p:nvPr/>
        </p:nvSpPr>
        <p:spPr>
          <a:xfrm>
            <a:off x="6481557" y="4789054"/>
            <a:ext cx="1013026" cy="448517"/>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264694" tIns="117497" rIns="264693" bIns="117496"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Last Track</a:t>
            </a:r>
          </a:p>
        </p:txBody>
      </p:sp>
      <p:grpSp>
        <p:nvGrpSpPr>
          <p:cNvPr id="187" name="Group 186">
            <a:extLst>
              <a:ext uri="{FF2B5EF4-FFF2-40B4-BE49-F238E27FC236}">
                <a16:creationId xmlns:a16="http://schemas.microsoft.com/office/drawing/2014/main" id="{6038A338-81B5-DB34-FA7F-25C0D49EF180}"/>
              </a:ext>
            </a:extLst>
          </p:cNvPr>
          <p:cNvGrpSpPr/>
          <p:nvPr/>
        </p:nvGrpSpPr>
        <p:grpSpPr>
          <a:xfrm>
            <a:off x="6146802" y="2322805"/>
            <a:ext cx="371704" cy="2084095"/>
            <a:chOff x="5701592" y="2827781"/>
            <a:chExt cx="594921" cy="2160144"/>
          </a:xfrm>
        </p:grpSpPr>
        <p:cxnSp>
          <p:nvCxnSpPr>
            <p:cNvPr id="188" name="Straight Connector 187">
              <a:extLst>
                <a:ext uri="{FF2B5EF4-FFF2-40B4-BE49-F238E27FC236}">
                  <a16:creationId xmlns:a16="http://schemas.microsoft.com/office/drawing/2014/main" id="{DB2987E3-9C44-5A40-818B-7EF5F61D8E6C}"/>
                </a:ext>
              </a:extLst>
            </p:cNvPr>
            <p:cNvCxnSpPr/>
            <p:nvPr/>
          </p:nvCxnSpPr>
          <p:spPr>
            <a:xfrm flipH="1" flipV="1">
              <a:off x="5708921" y="4974808"/>
              <a:ext cx="564879" cy="6558"/>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89" name="Straight Connector 188">
              <a:extLst>
                <a:ext uri="{FF2B5EF4-FFF2-40B4-BE49-F238E27FC236}">
                  <a16:creationId xmlns:a16="http://schemas.microsoft.com/office/drawing/2014/main" id="{10611759-5EE5-7BEF-00BB-7C81C6C3C910}"/>
                </a:ext>
              </a:extLst>
            </p:cNvPr>
            <p:cNvCxnSpPr/>
            <p:nvPr/>
          </p:nvCxnSpPr>
          <p:spPr>
            <a:xfrm flipV="1">
              <a:off x="5713490" y="2827781"/>
              <a:ext cx="0" cy="2160144"/>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90" name="Straight Arrow Connector 189">
              <a:extLst>
                <a:ext uri="{FF2B5EF4-FFF2-40B4-BE49-F238E27FC236}">
                  <a16:creationId xmlns:a16="http://schemas.microsoft.com/office/drawing/2014/main" id="{10286973-811A-99DD-F8E4-EAE7A0291DA8}"/>
                </a:ext>
              </a:extLst>
            </p:cNvPr>
            <p:cNvCxnSpPr/>
            <p:nvPr/>
          </p:nvCxnSpPr>
          <p:spPr>
            <a:xfrm>
              <a:off x="5701592" y="2834338"/>
              <a:ext cx="594921"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grpSp>
        <p:nvGrpSpPr>
          <p:cNvPr id="191" name="Group 190">
            <a:extLst>
              <a:ext uri="{FF2B5EF4-FFF2-40B4-BE49-F238E27FC236}">
                <a16:creationId xmlns:a16="http://schemas.microsoft.com/office/drawing/2014/main" id="{7406E1A0-D0A5-8961-74B5-07D251AE5BDA}"/>
              </a:ext>
            </a:extLst>
          </p:cNvPr>
          <p:cNvGrpSpPr/>
          <p:nvPr/>
        </p:nvGrpSpPr>
        <p:grpSpPr>
          <a:xfrm>
            <a:off x="5949207" y="1318736"/>
            <a:ext cx="566616" cy="3710464"/>
            <a:chOff x="5701592" y="2827781"/>
            <a:chExt cx="594921" cy="2160144"/>
          </a:xfrm>
        </p:grpSpPr>
        <p:cxnSp>
          <p:nvCxnSpPr>
            <p:cNvPr id="192" name="Straight Connector 191">
              <a:extLst>
                <a:ext uri="{FF2B5EF4-FFF2-40B4-BE49-F238E27FC236}">
                  <a16:creationId xmlns:a16="http://schemas.microsoft.com/office/drawing/2014/main" id="{DBAA1B4B-9BA4-75A2-C0D2-283D504D5729}"/>
                </a:ext>
              </a:extLst>
            </p:cNvPr>
            <p:cNvCxnSpPr/>
            <p:nvPr/>
          </p:nvCxnSpPr>
          <p:spPr>
            <a:xfrm flipH="1" flipV="1">
              <a:off x="5708921" y="4974808"/>
              <a:ext cx="564879" cy="6558"/>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93" name="Straight Connector 192">
              <a:extLst>
                <a:ext uri="{FF2B5EF4-FFF2-40B4-BE49-F238E27FC236}">
                  <a16:creationId xmlns:a16="http://schemas.microsoft.com/office/drawing/2014/main" id="{60CCC0AE-987F-B8D8-A8FD-AE5359F92996}"/>
                </a:ext>
              </a:extLst>
            </p:cNvPr>
            <p:cNvCxnSpPr/>
            <p:nvPr/>
          </p:nvCxnSpPr>
          <p:spPr>
            <a:xfrm flipV="1">
              <a:off x="5713490" y="2827781"/>
              <a:ext cx="0" cy="2160144"/>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94" name="Straight Arrow Connector 193">
              <a:extLst>
                <a:ext uri="{FF2B5EF4-FFF2-40B4-BE49-F238E27FC236}">
                  <a16:creationId xmlns:a16="http://schemas.microsoft.com/office/drawing/2014/main" id="{8CE5FE8D-123A-FA9C-A565-559B1F39728F}"/>
                </a:ext>
              </a:extLst>
            </p:cNvPr>
            <p:cNvCxnSpPr/>
            <p:nvPr/>
          </p:nvCxnSpPr>
          <p:spPr>
            <a:xfrm>
              <a:off x="5701592" y="2834338"/>
              <a:ext cx="594921"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grpSp>
        <p:nvGrpSpPr>
          <p:cNvPr id="195" name="Group 194">
            <a:extLst>
              <a:ext uri="{FF2B5EF4-FFF2-40B4-BE49-F238E27FC236}">
                <a16:creationId xmlns:a16="http://schemas.microsoft.com/office/drawing/2014/main" id="{29AA15BB-B5A1-F464-6017-52177580C48F}"/>
              </a:ext>
            </a:extLst>
          </p:cNvPr>
          <p:cNvGrpSpPr/>
          <p:nvPr/>
        </p:nvGrpSpPr>
        <p:grpSpPr>
          <a:xfrm>
            <a:off x="5763775" y="833349"/>
            <a:ext cx="772290" cy="4801953"/>
            <a:chOff x="5763775" y="833349"/>
            <a:chExt cx="772290" cy="4801953"/>
          </a:xfrm>
        </p:grpSpPr>
        <p:cxnSp>
          <p:nvCxnSpPr>
            <p:cNvPr id="196" name="Straight Connector 195">
              <a:extLst>
                <a:ext uri="{FF2B5EF4-FFF2-40B4-BE49-F238E27FC236}">
                  <a16:creationId xmlns:a16="http://schemas.microsoft.com/office/drawing/2014/main" id="{9F74993A-7492-3F43-8BA2-1A14CAED5EC8}"/>
                </a:ext>
              </a:extLst>
            </p:cNvPr>
            <p:cNvCxnSpPr/>
            <p:nvPr/>
          </p:nvCxnSpPr>
          <p:spPr>
            <a:xfrm flipH="1" flipV="1">
              <a:off x="5773289" y="5620679"/>
              <a:ext cx="733291" cy="14623"/>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97" name="Straight Connector 196">
              <a:extLst>
                <a:ext uri="{FF2B5EF4-FFF2-40B4-BE49-F238E27FC236}">
                  <a16:creationId xmlns:a16="http://schemas.microsoft.com/office/drawing/2014/main" id="{EDFC1A89-E1FC-71F8-0CFC-98006D601998}"/>
                </a:ext>
              </a:extLst>
            </p:cNvPr>
            <p:cNvCxnSpPr/>
            <p:nvPr/>
          </p:nvCxnSpPr>
          <p:spPr>
            <a:xfrm flipV="1">
              <a:off x="5779220" y="833349"/>
              <a:ext cx="0" cy="4787330"/>
            </a:xfrm>
            <a:prstGeom prst="line">
              <a:avLst/>
            </a:prstGeom>
            <a:noFill/>
            <a:ln w="25400" cap="flat" cmpd="sng" algn="ctr">
              <a:solidFill>
                <a:srgbClr val="000000"/>
              </a:solidFill>
              <a:prstDash val="solid"/>
            </a:ln>
            <a:effectLst>
              <a:outerShdw blurRad="40000" dist="20000" dir="5400000" rotWithShape="0">
                <a:srgbClr val="000000">
                  <a:alpha val="38000"/>
                </a:srgbClr>
              </a:outerShdw>
            </a:effectLst>
          </p:spPr>
        </p:cxnSp>
        <p:cxnSp>
          <p:nvCxnSpPr>
            <p:cNvPr id="198" name="Straight Arrow Connector 197">
              <a:extLst>
                <a:ext uri="{FF2B5EF4-FFF2-40B4-BE49-F238E27FC236}">
                  <a16:creationId xmlns:a16="http://schemas.microsoft.com/office/drawing/2014/main" id="{C9F19B9C-BE76-3779-C0F1-760ECC3D8831}"/>
                </a:ext>
              </a:extLst>
            </p:cNvPr>
            <p:cNvCxnSpPr/>
            <p:nvPr/>
          </p:nvCxnSpPr>
          <p:spPr>
            <a:xfrm>
              <a:off x="5763775" y="847969"/>
              <a:ext cx="772290" cy="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grpSp>
      <p:sp>
        <p:nvSpPr>
          <p:cNvPr id="199" name="Freeform 198">
            <a:extLst>
              <a:ext uri="{FF2B5EF4-FFF2-40B4-BE49-F238E27FC236}">
                <a16:creationId xmlns:a16="http://schemas.microsoft.com/office/drawing/2014/main" id="{B8C4D36A-109A-4AB9-5B85-7AB44FAB9D0B}"/>
              </a:ext>
            </a:extLst>
          </p:cNvPr>
          <p:cNvSpPr/>
          <p:nvPr/>
        </p:nvSpPr>
        <p:spPr>
          <a:xfrm>
            <a:off x="6324281" y="1670104"/>
            <a:ext cx="1360401"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rgbClr val="4F81BD">
              <a:lumMod val="20000"/>
              <a:lumOff val="80000"/>
            </a:srgbClr>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srgbClr val="FF0000"/>
                </a:solidFill>
                <a:effectLst/>
                <a:uLnTx/>
                <a:uFillTx/>
                <a:latin typeface="Calibri"/>
                <a:ea typeface="+mn-ea"/>
                <a:cs typeface="+mn-cs"/>
              </a:rPr>
              <a:t>Model </a:t>
            </a:r>
            <a:r>
              <a:rPr kumimoji="0" lang="en-US" sz="800" b="0" i="0" u="none" strike="noStrike" kern="0" cap="none" spc="0" normalizeH="0" baseline="0" noProof="0" dirty="0">
                <a:ln>
                  <a:noFill/>
                </a:ln>
                <a:solidFill>
                  <a:prstClr val="black"/>
                </a:solidFill>
                <a:effectLst/>
                <a:uLnTx/>
                <a:uFillTx/>
                <a:latin typeface="Calibri"/>
                <a:ea typeface="+mn-ea"/>
                <a:cs typeface="+mn-cs"/>
              </a:rPr>
              <a:t>Change</a:t>
            </a:r>
          </a:p>
        </p:txBody>
      </p:sp>
      <p:sp>
        <p:nvSpPr>
          <p:cNvPr id="200" name="Freeform 199">
            <a:extLst>
              <a:ext uri="{FF2B5EF4-FFF2-40B4-BE49-F238E27FC236}">
                <a16:creationId xmlns:a16="http://schemas.microsoft.com/office/drawing/2014/main" id="{06A2F4A8-7F19-B39C-77A6-CF9F55468FE5}"/>
              </a:ext>
            </a:extLst>
          </p:cNvPr>
          <p:cNvSpPr/>
          <p:nvPr/>
        </p:nvSpPr>
        <p:spPr>
          <a:xfrm>
            <a:off x="6324281" y="3174938"/>
            <a:ext cx="1360401" cy="348066"/>
          </a:xfrm>
          <a:custGeom>
            <a:avLst/>
            <a:gdLst>
              <a:gd name="connsiteX0" fmla="*/ 0 w 936854"/>
              <a:gd name="connsiteY0" fmla="*/ 34807 h 348066"/>
              <a:gd name="connsiteX1" fmla="*/ 34807 w 936854"/>
              <a:gd name="connsiteY1" fmla="*/ 0 h 348066"/>
              <a:gd name="connsiteX2" fmla="*/ 902047 w 936854"/>
              <a:gd name="connsiteY2" fmla="*/ 0 h 348066"/>
              <a:gd name="connsiteX3" fmla="*/ 936854 w 936854"/>
              <a:gd name="connsiteY3" fmla="*/ 34807 h 348066"/>
              <a:gd name="connsiteX4" fmla="*/ 936854 w 936854"/>
              <a:gd name="connsiteY4" fmla="*/ 313259 h 348066"/>
              <a:gd name="connsiteX5" fmla="*/ 902047 w 936854"/>
              <a:gd name="connsiteY5" fmla="*/ 348066 h 348066"/>
              <a:gd name="connsiteX6" fmla="*/ 34807 w 936854"/>
              <a:gd name="connsiteY6" fmla="*/ 348066 h 348066"/>
              <a:gd name="connsiteX7" fmla="*/ 0 w 936854"/>
              <a:gd name="connsiteY7" fmla="*/ 313259 h 348066"/>
              <a:gd name="connsiteX8" fmla="*/ 0 w 936854"/>
              <a:gd name="connsiteY8" fmla="*/ 34807 h 3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854" h="348066">
                <a:moveTo>
                  <a:pt x="0" y="34807"/>
                </a:moveTo>
                <a:cubicBezTo>
                  <a:pt x="0" y="15584"/>
                  <a:pt x="15584" y="0"/>
                  <a:pt x="34807" y="0"/>
                </a:cubicBezTo>
                <a:lnTo>
                  <a:pt x="902047" y="0"/>
                </a:lnTo>
                <a:cubicBezTo>
                  <a:pt x="921270" y="0"/>
                  <a:pt x="936854" y="15584"/>
                  <a:pt x="936854" y="34807"/>
                </a:cubicBezTo>
                <a:lnTo>
                  <a:pt x="936854" y="313259"/>
                </a:lnTo>
                <a:cubicBezTo>
                  <a:pt x="936854" y="332482"/>
                  <a:pt x="921270" y="348066"/>
                  <a:pt x="902047" y="348066"/>
                </a:cubicBezTo>
                <a:lnTo>
                  <a:pt x="34807" y="348066"/>
                </a:lnTo>
                <a:cubicBezTo>
                  <a:pt x="15584" y="348066"/>
                  <a:pt x="0" y="332482"/>
                  <a:pt x="0" y="313259"/>
                </a:cubicBezTo>
                <a:lnTo>
                  <a:pt x="0" y="34807"/>
                </a:lnTo>
                <a:close/>
              </a:path>
            </a:pathLst>
          </a:custGeom>
          <a:solidFill>
            <a:srgbClr val="4F81BD">
              <a:lumMod val="20000"/>
              <a:lumOff val="80000"/>
            </a:srgbClr>
          </a:solidFill>
          <a:ln w="25400" cap="flat" cmpd="sng" algn="ctr">
            <a:solidFill>
              <a:sysClr val="windowText" lastClr="000000"/>
            </a:solidFill>
            <a:prstDash val="solid"/>
          </a:ln>
          <a:effectLst/>
        </p:spPr>
        <p:txBody>
          <a:bodyPr spcFirstLastPara="0" vert="horz" wrap="square" lIns="40675" tIns="40675" rIns="40675" bIns="40675" numCol="1" spcCol="1270" anchor="ctr" anchorCtr="0">
            <a:noAutofit/>
          </a:body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Model Change again or simply </a:t>
            </a:r>
            <a:r>
              <a:rPr kumimoji="0" lang="en-US" sz="800" b="0" i="0" u="none" strike="noStrike" kern="0" cap="none" spc="0" normalizeH="0" baseline="0" noProof="0" dirty="0">
                <a:ln>
                  <a:noFill/>
                </a:ln>
                <a:solidFill>
                  <a:srgbClr val="FF0000"/>
                </a:solidFill>
                <a:effectLst/>
                <a:uLnTx/>
                <a:uFillTx/>
                <a:latin typeface="Calibri"/>
                <a:ea typeface="+mn-ea"/>
                <a:cs typeface="+mn-cs"/>
              </a:rPr>
              <a:t>Apply</a:t>
            </a:r>
            <a:r>
              <a:rPr kumimoji="0" lang="en-US" sz="800" b="0" i="0" u="none" strike="noStrike" kern="0" cap="none" spc="0" normalizeH="0" baseline="0" noProof="0" dirty="0">
                <a:ln>
                  <a:noFill/>
                </a:ln>
                <a:solidFill>
                  <a:prstClr val="black"/>
                </a:solidFill>
                <a:effectLst/>
                <a:uLnTx/>
                <a:uFillTx/>
                <a:latin typeface="Calibri"/>
                <a:ea typeface="+mn-ea"/>
                <a:cs typeface="+mn-cs"/>
              </a:rPr>
              <a:t> Change to cylinder</a:t>
            </a:r>
          </a:p>
        </p:txBody>
      </p:sp>
      <p:sp>
        <p:nvSpPr>
          <p:cNvPr id="201" name="Freeform 200">
            <a:extLst>
              <a:ext uri="{FF2B5EF4-FFF2-40B4-BE49-F238E27FC236}">
                <a16:creationId xmlns:a16="http://schemas.microsoft.com/office/drawing/2014/main" id="{FD8DABA5-DDFA-0F6D-454D-2DF7005B78D0}"/>
              </a:ext>
            </a:extLst>
          </p:cNvPr>
          <p:cNvSpPr/>
          <p:nvPr/>
        </p:nvSpPr>
        <p:spPr>
          <a:xfrm>
            <a:off x="6915501" y="5241948"/>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02" name="Freeform 201">
            <a:extLst>
              <a:ext uri="{FF2B5EF4-FFF2-40B4-BE49-F238E27FC236}">
                <a16:creationId xmlns:a16="http://schemas.microsoft.com/office/drawing/2014/main" id="{4628CC4D-5801-F686-92E8-BF2BA7ED8F49}"/>
              </a:ext>
            </a:extLst>
          </p:cNvPr>
          <p:cNvSpPr/>
          <p:nvPr/>
        </p:nvSpPr>
        <p:spPr>
          <a:xfrm>
            <a:off x="6909418" y="5891591"/>
            <a:ext cx="156630" cy="130525"/>
          </a:xfrm>
          <a:custGeom>
            <a:avLst/>
            <a:gdLst>
              <a:gd name="connsiteX0" fmla="*/ 0 w 130524"/>
              <a:gd name="connsiteY0" fmla="*/ 31326 h 156629"/>
              <a:gd name="connsiteX1" fmla="*/ 65262 w 130524"/>
              <a:gd name="connsiteY1" fmla="*/ 31326 h 156629"/>
              <a:gd name="connsiteX2" fmla="*/ 65262 w 130524"/>
              <a:gd name="connsiteY2" fmla="*/ 0 h 156629"/>
              <a:gd name="connsiteX3" fmla="*/ 130524 w 130524"/>
              <a:gd name="connsiteY3" fmla="*/ 78315 h 156629"/>
              <a:gd name="connsiteX4" fmla="*/ 65262 w 130524"/>
              <a:gd name="connsiteY4" fmla="*/ 156629 h 156629"/>
              <a:gd name="connsiteX5" fmla="*/ 65262 w 130524"/>
              <a:gd name="connsiteY5" fmla="*/ 125303 h 156629"/>
              <a:gd name="connsiteX6" fmla="*/ 0 w 130524"/>
              <a:gd name="connsiteY6" fmla="*/ 125303 h 156629"/>
              <a:gd name="connsiteX7" fmla="*/ 0 w 130524"/>
              <a:gd name="connsiteY7" fmla="*/ 31326 h 15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24" h="156629">
                <a:moveTo>
                  <a:pt x="104419" y="1"/>
                </a:moveTo>
                <a:lnTo>
                  <a:pt x="104419" y="78315"/>
                </a:lnTo>
                <a:lnTo>
                  <a:pt x="130524" y="78315"/>
                </a:lnTo>
                <a:lnTo>
                  <a:pt x="65262" y="156628"/>
                </a:lnTo>
                <a:lnTo>
                  <a:pt x="0" y="78315"/>
                </a:lnTo>
                <a:lnTo>
                  <a:pt x="26105" y="78315"/>
                </a:lnTo>
                <a:lnTo>
                  <a:pt x="26105" y="1"/>
                </a:lnTo>
                <a:lnTo>
                  <a:pt x="104419" y="1"/>
                </a:lnTo>
                <a:close/>
              </a:path>
            </a:pathLst>
          </a:custGeom>
          <a:solidFill>
            <a:sysClr val="window" lastClr="FFFFFF"/>
          </a:solidFill>
          <a:ln w="25400" cap="flat" cmpd="sng" algn="ctr">
            <a:solidFill>
              <a:sysClr val="windowText" lastClr="000000"/>
            </a:solidFill>
            <a:prstDash val="solid"/>
          </a:ln>
          <a:effectLst/>
        </p:spPr>
        <p:txBody>
          <a:bodyPr spcFirstLastPara="0" vert="horz" wrap="square" lIns="31327" tIns="1" rIns="31326" bIns="39157" numCol="1" spcCol="1270" anchor="ctr" anchorCtr="0">
            <a:noAutofit/>
          </a:bodyPr>
          <a:lstStyle/>
          <a:p>
            <a:pPr marL="0" marR="0" lvl="0" indent="0" algn="ctr" defTabSz="266700" eaLnBrk="1" fontAlgn="auto" latinLnBrk="0" hangingPunct="1">
              <a:lnSpc>
                <a:spcPct val="90000"/>
              </a:lnSpc>
              <a:spcBef>
                <a:spcPct val="0"/>
              </a:spcBef>
              <a:spcAft>
                <a:spcPct val="35000"/>
              </a:spcAft>
              <a:buClrTx/>
              <a:buSzTx/>
              <a:buFontTx/>
              <a:buNone/>
              <a:tabLst/>
              <a:defRPr/>
            </a:pPr>
            <a:endParaRPr kumimoji="0" lang="en-US" sz="600" b="0" i="0" u="none" strike="noStrike" kern="0" cap="none" spc="0" normalizeH="0" baseline="0" noProof="0">
              <a:ln>
                <a:noFill/>
              </a:ln>
              <a:solidFill>
                <a:prstClr val="black"/>
              </a:solidFill>
              <a:effectLst/>
              <a:uLnTx/>
              <a:uFillTx/>
              <a:latin typeface="Calibri"/>
              <a:ea typeface="+mn-ea"/>
              <a:cs typeface="+mn-cs"/>
            </a:endParaRPr>
          </a:p>
        </p:txBody>
      </p:sp>
      <p:sp>
        <p:nvSpPr>
          <p:cNvPr id="203" name="Right Arrow 202">
            <a:extLst>
              <a:ext uri="{FF2B5EF4-FFF2-40B4-BE49-F238E27FC236}">
                <a16:creationId xmlns:a16="http://schemas.microsoft.com/office/drawing/2014/main" id="{05FB0F76-C42C-D32E-1302-8ABAD10F854C}"/>
              </a:ext>
            </a:extLst>
          </p:cNvPr>
          <p:cNvSpPr/>
          <p:nvPr/>
        </p:nvSpPr>
        <p:spPr>
          <a:xfrm>
            <a:off x="4216400" y="3215361"/>
            <a:ext cx="1028700" cy="300278"/>
          </a:xfrm>
          <a:prstGeom prst="rightArrow">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48004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change</a:t>
            </a:r>
          </a:p>
        </p:txBody>
      </p:sp>
      <p:sp>
        <p:nvSpPr>
          <p:cNvPr id="3" name="Content Placeholder 2"/>
          <p:cNvSpPr>
            <a:spLocks noGrp="1"/>
          </p:cNvSpPr>
          <p:nvPr>
            <p:ph idx="1"/>
          </p:nvPr>
        </p:nvSpPr>
        <p:spPr>
          <a:xfrm>
            <a:off x="457200" y="1412631"/>
            <a:ext cx="8229600" cy="4525963"/>
          </a:xfrm>
        </p:spPr>
        <p:txBody>
          <a:bodyPr>
            <a:normAutofit/>
          </a:bodyPr>
          <a:lstStyle/>
          <a:p>
            <a:r>
              <a:rPr lang="en-US" sz="2000" dirty="0"/>
              <a:t>Moisture and Motion profiles currently include:</a:t>
            </a:r>
          </a:p>
          <a:p>
            <a:pPr lvl="1"/>
            <a:r>
              <a:rPr lang="en-US" dirty="0"/>
              <a:t>No change</a:t>
            </a:r>
          </a:p>
          <a:p>
            <a:pPr lvl="1"/>
            <a:r>
              <a:rPr lang="en-US" dirty="0"/>
              <a:t>Polynomial change profile: 	</a:t>
            </a:r>
          </a:p>
          <a:p>
            <a:pPr lvl="1"/>
            <a:r>
              <a:rPr lang="en-US" dirty="0"/>
              <a:t>Exponential change profile:</a:t>
            </a:r>
          </a:p>
          <a:p>
            <a:pPr lvl="1"/>
            <a:r>
              <a:rPr lang="en-US" dirty="0"/>
              <a:t>With a set of coefficients (A, B and C) each for motion and moisture that can be specified for every track separately in the input file</a:t>
            </a:r>
          </a:p>
          <a:p>
            <a:pPr lvl="1"/>
            <a:endParaRPr lang="en-US" dirty="0"/>
          </a:p>
          <a:p>
            <a:r>
              <a:rPr lang="en-US" sz="2000" dirty="0"/>
              <a:t>Option to compute the statistics of applied change is included </a:t>
            </a:r>
          </a:p>
        </p:txBody>
      </p:sp>
      <p:pic>
        <p:nvPicPr>
          <p:cNvPr id="4" name="Picture 3"/>
          <p:cNvPicPr>
            <a:picLocks noChangeAspect="1"/>
          </p:cNvPicPr>
          <p:nvPr/>
        </p:nvPicPr>
        <p:blipFill>
          <a:blip r:embed="rId2"/>
          <a:stretch>
            <a:fillRect/>
          </a:stretch>
        </p:blipFill>
        <p:spPr>
          <a:xfrm>
            <a:off x="1799166" y="4651130"/>
            <a:ext cx="2317750" cy="1562100"/>
          </a:xfrm>
          <a:prstGeom prst="rect">
            <a:avLst/>
          </a:prstGeom>
        </p:spPr>
      </p:pic>
      <p:pic>
        <p:nvPicPr>
          <p:cNvPr id="5" name="Picture 4"/>
          <p:cNvPicPr>
            <a:picLocks noChangeAspect="1"/>
          </p:cNvPicPr>
          <p:nvPr/>
        </p:nvPicPr>
        <p:blipFill>
          <a:blip r:embed="rId3"/>
          <a:stretch>
            <a:fillRect/>
          </a:stretch>
        </p:blipFill>
        <p:spPr>
          <a:xfrm>
            <a:off x="4445000" y="2237415"/>
            <a:ext cx="2235200" cy="260350"/>
          </a:xfrm>
          <a:prstGeom prst="rect">
            <a:avLst/>
          </a:prstGeom>
        </p:spPr>
      </p:pic>
      <p:pic>
        <p:nvPicPr>
          <p:cNvPr id="6" name="Picture 5"/>
          <p:cNvPicPr>
            <a:picLocks noChangeAspect="1"/>
          </p:cNvPicPr>
          <p:nvPr/>
        </p:nvPicPr>
        <p:blipFill>
          <a:blip r:embed="rId4"/>
          <a:stretch>
            <a:fillRect/>
          </a:stretch>
        </p:blipFill>
        <p:spPr>
          <a:xfrm>
            <a:off x="5562600" y="5125264"/>
            <a:ext cx="1752600" cy="565150"/>
          </a:xfrm>
          <a:prstGeom prst="rect">
            <a:avLst/>
          </a:prstGeom>
        </p:spPr>
      </p:pic>
      <p:pic>
        <p:nvPicPr>
          <p:cNvPr id="8" name="Picture 7"/>
          <p:cNvPicPr>
            <a:picLocks noChangeAspect="1"/>
          </p:cNvPicPr>
          <p:nvPr/>
        </p:nvPicPr>
        <p:blipFill>
          <a:blip r:embed="rId5"/>
          <a:stretch>
            <a:fillRect/>
          </a:stretch>
        </p:blipFill>
        <p:spPr>
          <a:xfrm>
            <a:off x="4445000" y="2603497"/>
            <a:ext cx="1778000" cy="266700"/>
          </a:xfrm>
          <a:prstGeom prst="rect">
            <a:avLst/>
          </a:prstGeom>
        </p:spPr>
      </p:pic>
      <p:sp>
        <p:nvSpPr>
          <p:cNvPr id="7" name="Date Placeholder 6">
            <a:extLst>
              <a:ext uri="{FF2B5EF4-FFF2-40B4-BE49-F238E27FC236}">
                <a16:creationId xmlns:a16="http://schemas.microsoft.com/office/drawing/2014/main" id="{17595CBB-5B72-0639-A0FA-EEF569FBBCC7}"/>
              </a:ext>
            </a:extLst>
          </p:cNvPr>
          <p:cNvSpPr>
            <a:spLocks noGrp="1"/>
          </p:cNvSpPr>
          <p:nvPr>
            <p:ph type="dt" sz="half" idx="10"/>
          </p:nvPr>
        </p:nvSpPr>
        <p:spPr/>
        <p:txBody>
          <a:bodyPr/>
          <a:lstStyle/>
          <a:p>
            <a:fld id="{2A6F657E-9B12-3E46-8C7B-E8FA6980A9AD}" type="datetime1">
              <a:rPr lang="en-US" smtClean="0"/>
              <a:t>3/25/26</a:t>
            </a:fld>
            <a:endParaRPr lang="en-US"/>
          </a:p>
        </p:txBody>
      </p:sp>
      <p:sp>
        <p:nvSpPr>
          <p:cNvPr id="9" name="Footer Placeholder 8">
            <a:extLst>
              <a:ext uri="{FF2B5EF4-FFF2-40B4-BE49-F238E27FC236}">
                <a16:creationId xmlns:a16="http://schemas.microsoft.com/office/drawing/2014/main" id="{62700612-AFED-899F-9CA0-8692CC1C1E76}"/>
              </a:ext>
            </a:extLst>
          </p:cNvPr>
          <p:cNvSpPr>
            <a:spLocks noGrp="1"/>
          </p:cNvSpPr>
          <p:nvPr>
            <p:ph type="ftr" sz="quarter" idx="11"/>
          </p:nvPr>
        </p:nvSpPr>
        <p:spPr/>
        <p:txBody>
          <a:bodyPr/>
          <a:lstStyle/>
          <a:p>
            <a:r>
              <a:rPr lang="en-US"/>
              <a:t>Does Not Contain CUI.</a:t>
            </a:r>
          </a:p>
        </p:txBody>
      </p:sp>
      <p:sp>
        <p:nvSpPr>
          <p:cNvPr id="10" name="Slide Number Placeholder 9">
            <a:extLst>
              <a:ext uri="{FF2B5EF4-FFF2-40B4-BE49-F238E27FC236}">
                <a16:creationId xmlns:a16="http://schemas.microsoft.com/office/drawing/2014/main" id="{A2E17B40-57A8-1A2D-9E7D-A2F446922A9B}"/>
              </a:ext>
            </a:extLst>
          </p:cNvPr>
          <p:cNvSpPr>
            <a:spLocks noGrp="1"/>
          </p:cNvSpPr>
          <p:nvPr>
            <p:ph type="sldNum" sz="quarter" idx="12"/>
          </p:nvPr>
        </p:nvSpPr>
        <p:spPr/>
        <p:txBody>
          <a:bodyPr/>
          <a:lstStyle/>
          <a:p>
            <a:fld id="{B4CE5C4C-399A-B444-9B2A-945D2610250E}" type="slidenum">
              <a:rPr lang="en-US" smtClean="0"/>
              <a:t>58</a:t>
            </a:fld>
            <a:endParaRPr lang="en-US"/>
          </a:p>
        </p:txBody>
      </p:sp>
    </p:spTree>
    <p:extLst>
      <p:ext uri="{BB962C8B-B14F-4D97-AF65-F5344CB8AC3E}">
        <p14:creationId xmlns:p14="http://schemas.microsoft.com/office/powerpoint/2010/main" val="37335652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Estimated statistics of applied motion – for all trees</a:t>
            </a:r>
          </a:p>
        </p:txBody>
      </p:sp>
      <p:pic>
        <p:nvPicPr>
          <p:cNvPr id="5" name="Picture 4"/>
          <p:cNvPicPr>
            <a:picLocks noChangeAspect="1"/>
          </p:cNvPicPr>
          <p:nvPr/>
        </p:nvPicPr>
        <p:blipFill>
          <a:blip r:embed="rId2"/>
          <a:stretch>
            <a:fillRect/>
          </a:stretch>
        </p:blipFill>
        <p:spPr>
          <a:xfrm>
            <a:off x="3606800" y="6313059"/>
            <a:ext cx="2235200" cy="260350"/>
          </a:xfrm>
          <a:prstGeom prst="rect">
            <a:avLst/>
          </a:prstGeom>
        </p:spPr>
      </p:pic>
      <p:pic>
        <p:nvPicPr>
          <p:cNvPr id="9" name="Content Placeholder 8" descr="motion_stats.eps"/>
          <p:cNvPicPr>
            <a:picLocks noGrp="1" noChangeAspect="1"/>
          </p:cNvPicPr>
          <p:nvPr>
            <p:ph idx="1"/>
          </p:nvPr>
        </p:nvPicPr>
        <p:blipFill rotWithShape="1">
          <a:blip r:embed="rId3">
            <a:extLst>
              <a:ext uri="{28A0092B-C50C-407E-A947-70E740481C1C}">
                <a14:useLocalDpi xmlns:a14="http://schemas.microsoft.com/office/drawing/2010/main" val="0"/>
              </a:ext>
            </a:extLst>
          </a:blip>
          <a:srcRect l="3139" t="4489" r="6507" b="2350"/>
          <a:stretch/>
        </p:blipFill>
        <p:spPr>
          <a:xfrm>
            <a:off x="1540932" y="1417638"/>
            <a:ext cx="6104468" cy="4720534"/>
          </a:xfrm>
        </p:spPr>
      </p:pic>
      <p:sp>
        <p:nvSpPr>
          <p:cNvPr id="3" name="Date Placeholder 2">
            <a:extLst>
              <a:ext uri="{FF2B5EF4-FFF2-40B4-BE49-F238E27FC236}">
                <a16:creationId xmlns:a16="http://schemas.microsoft.com/office/drawing/2014/main" id="{F42ED05F-620C-EFC2-8E7F-2276C9164B08}"/>
              </a:ext>
            </a:extLst>
          </p:cNvPr>
          <p:cNvSpPr>
            <a:spLocks noGrp="1"/>
          </p:cNvSpPr>
          <p:nvPr>
            <p:ph type="dt" sz="half" idx="10"/>
          </p:nvPr>
        </p:nvSpPr>
        <p:spPr/>
        <p:txBody>
          <a:bodyPr/>
          <a:lstStyle/>
          <a:p>
            <a:fld id="{02C653B2-F58C-E042-B1B5-9CC69F4DAB2B}" type="datetime1">
              <a:rPr lang="en-US" smtClean="0"/>
              <a:t>3/25/26</a:t>
            </a:fld>
            <a:endParaRPr lang="en-US"/>
          </a:p>
        </p:txBody>
      </p:sp>
      <p:sp>
        <p:nvSpPr>
          <p:cNvPr id="4" name="Footer Placeholder 3">
            <a:extLst>
              <a:ext uri="{FF2B5EF4-FFF2-40B4-BE49-F238E27FC236}">
                <a16:creationId xmlns:a16="http://schemas.microsoft.com/office/drawing/2014/main" id="{E8CD1483-6AA2-3319-F631-90FC328E219A}"/>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57AFAD92-81D9-4576-A534-12607AA7B0F0}"/>
              </a:ext>
            </a:extLst>
          </p:cNvPr>
          <p:cNvSpPr>
            <a:spLocks noGrp="1"/>
          </p:cNvSpPr>
          <p:nvPr>
            <p:ph type="sldNum" sz="quarter" idx="12"/>
          </p:nvPr>
        </p:nvSpPr>
        <p:spPr/>
        <p:txBody>
          <a:bodyPr/>
          <a:lstStyle/>
          <a:p>
            <a:fld id="{B4CE5C4C-399A-B444-9B2A-945D2610250E}" type="slidenum">
              <a:rPr lang="en-US" smtClean="0"/>
              <a:t>59</a:t>
            </a:fld>
            <a:endParaRPr lang="en-US"/>
          </a:p>
        </p:txBody>
      </p:sp>
    </p:spTree>
    <p:extLst>
      <p:ext uri="{BB962C8B-B14F-4D97-AF65-F5344CB8AC3E}">
        <p14:creationId xmlns:p14="http://schemas.microsoft.com/office/powerpoint/2010/main" val="7495788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Simulated Temporal </a:t>
            </a:r>
            <a:r>
              <a:rPr lang="en-US" sz="2400" dirty="0" err="1"/>
              <a:t>Decorrelation</a:t>
            </a:r>
            <a:r>
              <a:rPr lang="en-US" sz="2400" dirty="0"/>
              <a:t> (HH)</a:t>
            </a:r>
          </a:p>
        </p:txBody>
      </p:sp>
      <p:pic>
        <p:nvPicPr>
          <p:cNvPr id="13" name="Content Placeholder 12" descr="coherence_v_slope.eps"/>
          <p:cNvPicPr>
            <a:picLocks noGrp="1" noChangeAspect="1"/>
          </p:cNvPicPr>
          <p:nvPr>
            <p:ph idx="1"/>
          </p:nvPr>
        </p:nvPicPr>
        <p:blipFill rotWithShape="1">
          <a:blip r:embed="rId2">
            <a:extLst>
              <a:ext uri="{28A0092B-C50C-407E-A947-70E740481C1C}">
                <a14:useLocalDpi xmlns:a14="http://schemas.microsoft.com/office/drawing/2010/main" val="0"/>
              </a:ext>
            </a:extLst>
          </a:blip>
          <a:srcRect l="3684" t="3367" r="7224" b="3285"/>
          <a:stretch/>
        </p:blipFill>
        <p:spPr>
          <a:xfrm>
            <a:off x="1676399" y="1358369"/>
            <a:ext cx="5554134" cy="4588598"/>
          </a:xfrm>
        </p:spPr>
      </p:pic>
      <p:pic>
        <p:nvPicPr>
          <p:cNvPr id="14" name="Picture 13"/>
          <p:cNvPicPr>
            <a:picLocks noChangeAspect="1"/>
          </p:cNvPicPr>
          <p:nvPr/>
        </p:nvPicPr>
        <p:blipFill>
          <a:blip r:embed="rId3"/>
          <a:stretch>
            <a:fillRect/>
          </a:stretch>
        </p:blipFill>
        <p:spPr>
          <a:xfrm>
            <a:off x="4995333" y="6216750"/>
            <a:ext cx="2235200" cy="260350"/>
          </a:xfrm>
          <a:prstGeom prst="rect">
            <a:avLst/>
          </a:prstGeom>
        </p:spPr>
      </p:pic>
      <p:pic>
        <p:nvPicPr>
          <p:cNvPr id="15" name="Picture 14"/>
          <p:cNvPicPr>
            <a:picLocks noChangeAspect="1"/>
          </p:cNvPicPr>
          <p:nvPr/>
        </p:nvPicPr>
        <p:blipFill>
          <a:blip r:embed="rId4"/>
          <a:stretch>
            <a:fillRect/>
          </a:stretch>
        </p:blipFill>
        <p:spPr>
          <a:xfrm>
            <a:off x="1693324" y="6112935"/>
            <a:ext cx="2895600" cy="476250"/>
          </a:xfrm>
          <a:prstGeom prst="rect">
            <a:avLst/>
          </a:prstGeom>
        </p:spPr>
      </p:pic>
      <p:sp>
        <p:nvSpPr>
          <p:cNvPr id="3" name="Date Placeholder 2">
            <a:extLst>
              <a:ext uri="{FF2B5EF4-FFF2-40B4-BE49-F238E27FC236}">
                <a16:creationId xmlns:a16="http://schemas.microsoft.com/office/drawing/2014/main" id="{8DB2A2FB-F416-7C37-0FEF-BA2D6E3AD5B7}"/>
              </a:ext>
            </a:extLst>
          </p:cNvPr>
          <p:cNvSpPr>
            <a:spLocks noGrp="1"/>
          </p:cNvSpPr>
          <p:nvPr>
            <p:ph type="dt" sz="half" idx="10"/>
          </p:nvPr>
        </p:nvSpPr>
        <p:spPr/>
        <p:txBody>
          <a:bodyPr/>
          <a:lstStyle/>
          <a:p>
            <a:fld id="{CA61BE18-3158-514A-B41E-0A71A49C3BF0}" type="datetime1">
              <a:rPr lang="en-US" smtClean="0"/>
              <a:t>3/25/26</a:t>
            </a:fld>
            <a:endParaRPr lang="en-US"/>
          </a:p>
        </p:txBody>
      </p:sp>
      <p:sp>
        <p:nvSpPr>
          <p:cNvPr id="4" name="Footer Placeholder 3">
            <a:extLst>
              <a:ext uri="{FF2B5EF4-FFF2-40B4-BE49-F238E27FC236}">
                <a16:creationId xmlns:a16="http://schemas.microsoft.com/office/drawing/2014/main" id="{6805B7A3-5B52-7495-B67A-1E3461CC4F06}"/>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582D30C4-8899-5AB2-C711-1F623378B1F8}"/>
              </a:ext>
            </a:extLst>
          </p:cNvPr>
          <p:cNvSpPr>
            <a:spLocks noGrp="1"/>
          </p:cNvSpPr>
          <p:nvPr>
            <p:ph type="sldNum" sz="quarter" idx="12"/>
          </p:nvPr>
        </p:nvSpPr>
        <p:spPr/>
        <p:txBody>
          <a:bodyPr/>
          <a:lstStyle/>
          <a:p>
            <a:fld id="{B4CE5C4C-399A-B444-9B2A-945D2610250E}" type="slidenum">
              <a:rPr lang="en-US" smtClean="0"/>
              <a:t>60</a:t>
            </a:fld>
            <a:endParaRPr lang="en-US"/>
          </a:p>
        </p:txBody>
      </p:sp>
    </p:spTree>
    <p:extLst>
      <p:ext uri="{BB962C8B-B14F-4D97-AF65-F5344CB8AC3E}">
        <p14:creationId xmlns:p14="http://schemas.microsoft.com/office/powerpoint/2010/main" val="19018749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Estimated statistics of applied motion – for all trees</a:t>
            </a:r>
          </a:p>
        </p:txBody>
      </p:sp>
      <p:pic>
        <p:nvPicPr>
          <p:cNvPr id="5" name="Picture 4"/>
          <p:cNvPicPr>
            <a:picLocks noChangeAspect="1"/>
          </p:cNvPicPr>
          <p:nvPr/>
        </p:nvPicPr>
        <p:blipFill>
          <a:blip r:embed="rId2"/>
          <a:stretch>
            <a:fillRect/>
          </a:stretch>
        </p:blipFill>
        <p:spPr>
          <a:xfrm>
            <a:off x="3606800" y="6262257"/>
            <a:ext cx="2235200" cy="260350"/>
          </a:xfrm>
          <a:prstGeom prst="rect">
            <a:avLst/>
          </a:prstGeom>
        </p:spPr>
      </p:pic>
      <p:pic>
        <p:nvPicPr>
          <p:cNvPr id="4" name="Content Placeholder 3" descr="motion_stats_quad.eps"/>
          <p:cNvPicPr>
            <a:picLocks noGrp="1" noChangeAspect="1"/>
          </p:cNvPicPr>
          <p:nvPr>
            <p:ph idx="1"/>
          </p:nvPr>
        </p:nvPicPr>
        <p:blipFill rotWithShape="1">
          <a:blip r:embed="rId3">
            <a:extLst>
              <a:ext uri="{28A0092B-C50C-407E-A947-70E740481C1C}">
                <a14:useLocalDpi xmlns:a14="http://schemas.microsoft.com/office/drawing/2010/main" val="0"/>
              </a:ext>
            </a:extLst>
          </a:blip>
          <a:srcRect l="3560" t="3929" r="7768" b="3286"/>
          <a:stretch/>
        </p:blipFill>
        <p:spPr>
          <a:xfrm>
            <a:off x="1610306" y="1320800"/>
            <a:ext cx="5933496" cy="4656667"/>
          </a:xfrm>
        </p:spPr>
      </p:pic>
      <p:sp>
        <p:nvSpPr>
          <p:cNvPr id="3" name="Date Placeholder 2">
            <a:extLst>
              <a:ext uri="{FF2B5EF4-FFF2-40B4-BE49-F238E27FC236}">
                <a16:creationId xmlns:a16="http://schemas.microsoft.com/office/drawing/2014/main" id="{A9AEDCB9-EA49-970E-0B58-195FE575AD5F}"/>
              </a:ext>
            </a:extLst>
          </p:cNvPr>
          <p:cNvSpPr>
            <a:spLocks noGrp="1"/>
          </p:cNvSpPr>
          <p:nvPr>
            <p:ph type="dt" sz="half" idx="10"/>
          </p:nvPr>
        </p:nvSpPr>
        <p:spPr/>
        <p:txBody>
          <a:bodyPr/>
          <a:lstStyle/>
          <a:p>
            <a:fld id="{F749C428-E7F3-A849-A4C8-F35DEDD099EE}" type="datetime1">
              <a:rPr lang="en-US" smtClean="0"/>
              <a:t>3/25/26</a:t>
            </a:fld>
            <a:endParaRPr lang="en-US"/>
          </a:p>
        </p:txBody>
      </p:sp>
      <p:sp>
        <p:nvSpPr>
          <p:cNvPr id="6" name="Footer Placeholder 5">
            <a:extLst>
              <a:ext uri="{FF2B5EF4-FFF2-40B4-BE49-F238E27FC236}">
                <a16:creationId xmlns:a16="http://schemas.microsoft.com/office/drawing/2014/main" id="{709D3D56-7E02-0C35-E59E-062661B58495}"/>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DC4D1FEE-AAF3-04E3-FE93-7E39E57E598B}"/>
              </a:ext>
            </a:extLst>
          </p:cNvPr>
          <p:cNvSpPr>
            <a:spLocks noGrp="1"/>
          </p:cNvSpPr>
          <p:nvPr>
            <p:ph type="sldNum" sz="quarter" idx="12"/>
          </p:nvPr>
        </p:nvSpPr>
        <p:spPr/>
        <p:txBody>
          <a:bodyPr/>
          <a:lstStyle/>
          <a:p>
            <a:fld id="{B4CE5C4C-399A-B444-9B2A-945D2610250E}" type="slidenum">
              <a:rPr lang="en-US" smtClean="0"/>
              <a:t>61</a:t>
            </a:fld>
            <a:endParaRPr lang="en-US"/>
          </a:p>
        </p:txBody>
      </p:sp>
    </p:spTree>
    <p:extLst>
      <p:ext uri="{BB962C8B-B14F-4D97-AF65-F5344CB8AC3E}">
        <p14:creationId xmlns:p14="http://schemas.microsoft.com/office/powerpoint/2010/main" val="3147473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Simulated Temporal </a:t>
            </a:r>
            <a:r>
              <a:rPr lang="en-US" sz="2400" dirty="0" err="1"/>
              <a:t>Decorrelation</a:t>
            </a:r>
            <a:r>
              <a:rPr lang="en-US" sz="2400" dirty="0"/>
              <a:t> (HH)</a:t>
            </a:r>
          </a:p>
        </p:txBody>
      </p:sp>
      <p:pic>
        <p:nvPicPr>
          <p:cNvPr id="4" name="Content Placeholder 3" descr="coherence_v_A.eps"/>
          <p:cNvPicPr>
            <a:picLocks noGrp="1" noChangeAspect="1"/>
          </p:cNvPicPr>
          <p:nvPr>
            <p:ph idx="1"/>
          </p:nvPr>
        </p:nvPicPr>
        <p:blipFill rotWithShape="1">
          <a:blip r:embed="rId2">
            <a:extLst>
              <a:ext uri="{28A0092B-C50C-407E-A947-70E740481C1C}">
                <a14:useLocalDpi xmlns:a14="http://schemas.microsoft.com/office/drawing/2010/main" val="0"/>
              </a:ext>
            </a:extLst>
          </a:blip>
          <a:srcRect l="3097" t="2993" r="6011" b="2910"/>
          <a:stretch/>
        </p:blipFill>
        <p:spPr>
          <a:xfrm>
            <a:off x="1574800" y="1310937"/>
            <a:ext cx="5977467" cy="4590329"/>
          </a:xfrm>
        </p:spPr>
      </p:pic>
      <p:pic>
        <p:nvPicPr>
          <p:cNvPr id="8" name="Picture 7"/>
          <p:cNvPicPr>
            <a:picLocks noChangeAspect="1"/>
          </p:cNvPicPr>
          <p:nvPr/>
        </p:nvPicPr>
        <p:blipFill>
          <a:blip r:embed="rId3"/>
          <a:stretch>
            <a:fillRect/>
          </a:stretch>
        </p:blipFill>
        <p:spPr>
          <a:xfrm>
            <a:off x="5139267" y="6137379"/>
            <a:ext cx="2235200" cy="260350"/>
          </a:xfrm>
          <a:prstGeom prst="rect">
            <a:avLst/>
          </a:prstGeom>
        </p:spPr>
      </p:pic>
      <p:pic>
        <p:nvPicPr>
          <p:cNvPr id="6" name="Picture 5"/>
          <p:cNvPicPr>
            <a:picLocks noChangeAspect="1"/>
          </p:cNvPicPr>
          <p:nvPr/>
        </p:nvPicPr>
        <p:blipFill>
          <a:blip r:embed="rId4"/>
          <a:stretch>
            <a:fillRect/>
          </a:stretch>
        </p:blipFill>
        <p:spPr>
          <a:xfrm>
            <a:off x="1883834" y="6011335"/>
            <a:ext cx="2882900" cy="482600"/>
          </a:xfrm>
          <a:prstGeom prst="rect">
            <a:avLst/>
          </a:prstGeom>
        </p:spPr>
      </p:pic>
      <p:sp>
        <p:nvSpPr>
          <p:cNvPr id="3" name="Date Placeholder 2">
            <a:extLst>
              <a:ext uri="{FF2B5EF4-FFF2-40B4-BE49-F238E27FC236}">
                <a16:creationId xmlns:a16="http://schemas.microsoft.com/office/drawing/2014/main" id="{AA82DBE4-1B0A-DEF6-7A23-99DE10B23073}"/>
              </a:ext>
            </a:extLst>
          </p:cNvPr>
          <p:cNvSpPr>
            <a:spLocks noGrp="1"/>
          </p:cNvSpPr>
          <p:nvPr>
            <p:ph type="dt" sz="half" idx="10"/>
          </p:nvPr>
        </p:nvSpPr>
        <p:spPr/>
        <p:txBody>
          <a:bodyPr/>
          <a:lstStyle/>
          <a:p>
            <a:fld id="{6ABF3C80-699F-614B-A205-AB441840C4C2}" type="datetime1">
              <a:rPr lang="en-US" smtClean="0"/>
              <a:t>3/25/26</a:t>
            </a:fld>
            <a:endParaRPr lang="en-US"/>
          </a:p>
        </p:txBody>
      </p:sp>
      <p:sp>
        <p:nvSpPr>
          <p:cNvPr id="5" name="Footer Placeholder 4">
            <a:extLst>
              <a:ext uri="{FF2B5EF4-FFF2-40B4-BE49-F238E27FC236}">
                <a16:creationId xmlns:a16="http://schemas.microsoft.com/office/drawing/2014/main" id="{0B898259-62D6-5169-CE65-745B77F9D742}"/>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793391F0-0D4D-6E5D-31B3-BA1332DA04D4}"/>
              </a:ext>
            </a:extLst>
          </p:cNvPr>
          <p:cNvSpPr>
            <a:spLocks noGrp="1"/>
          </p:cNvSpPr>
          <p:nvPr>
            <p:ph type="sldNum" sz="quarter" idx="12"/>
          </p:nvPr>
        </p:nvSpPr>
        <p:spPr/>
        <p:txBody>
          <a:bodyPr/>
          <a:lstStyle/>
          <a:p>
            <a:fld id="{B4CE5C4C-399A-B444-9B2A-945D2610250E}" type="slidenum">
              <a:rPr lang="en-US" smtClean="0"/>
              <a:t>62</a:t>
            </a:fld>
            <a:endParaRPr lang="en-US"/>
          </a:p>
        </p:txBody>
      </p:sp>
    </p:spTree>
    <p:extLst>
      <p:ext uri="{BB962C8B-B14F-4D97-AF65-F5344CB8AC3E}">
        <p14:creationId xmlns:p14="http://schemas.microsoft.com/office/powerpoint/2010/main" val="5760705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err="1"/>
              <a:t>etc</a:t>
            </a:r>
            <a:endParaRPr lang="en-US" sz="2400" dirty="0"/>
          </a:p>
        </p:txBody>
      </p:sp>
      <p:pic>
        <p:nvPicPr>
          <p:cNvPr id="4" name="Content Placeholder 3" descr="biomatter_profile.eps"/>
          <p:cNvPicPr>
            <a:picLocks noGrp="1" noChangeAspect="1"/>
          </p:cNvPicPr>
          <p:nvPr>
            <p:ph idx="1"/>
          </p:nvPr>
        </p:nvPicPr>
        <p:blipFill rotWithShape="1">
          <a:blip r:embed="rId2">
            <a:extLst>
              <a:ext uri="{28A0092B-C50C-407E-A947-70E740481C1C}">
                <a14:useLocalDpi xmlns:a14="http://schemas.microsoft.com/office/drawing/2010/main" val="0"/>
              </a:ext>
            </a:extLst>
          </a:blip>
          <a:srcRect l="3419" t="5051" r="5665" b="2911"/>
          <a:stretch/>
        </p:blipFill>
        <p:spPr>
          <a:xfrm>
            <a:off x="135467" y="3323951"/>
            <a:ext cx="4419600" cy="3355622"/>
          </a:xfrm>
        </p:spPr>
      </p:pic>
      <p:pic>
        <p:nvPicPr>
          <p:cNvPr id="3" name="Picture 2" descr="polarimetric_coherence_vs_B.eps"/>
          <p:cNvPicPr>
            <a:picLocks noChangeAspect="1"/>
          </p:cNvPicPr>
          <p:nvPr/>
        </p:nvPicPr>
        <p:blipFill rotWithShape="1">
          <a:blip r:embed="rId3">
            <a:extLst>
              <a:ext uri="{28A0092B-C50C-407E-A947-70E740481C1C}">
                <a14:useLocalDpi xmlns:a14="http://schemas.microsoft.com/office/drawing/2010/main" val="0"/>
              </a:ext>
            </a:extLst>
          </a:blip>
          <a:srcRect l="4619" t="2956" r="6711"/>
          <a:stretch/>
        </p:blipFill>
        <p:spPr>
          <a:xfrm>
            <a:off x="3830724" y="1211337"/>
            <a:ext cx="4424275" cy="3631596"/>
          </a:xfrm>
          <a:prstGeom prst="rect">
            <a:avLst/>
          </a:prstGeom>
        </p:spPr>
      </p:pic>
      <p:sp>
        <p:nvSpPr>
          <p:cNvPr id="5" name="Date Placeholder 4">
            <a:extLst>
              <a:ext uri="{FF2B5EF4-FFF2-40B4-BE49-F238E27FC236}">
                <a16:creationId xmlns:a16="http://schemas.microsoft.com/office/drawing/2014/main" id="{56BF0C90-D07C-B265-C820-23D80999DC9F}"/>
              </a:ext>
            </a:extLst>
          </p:cNvPr>
          <p:cNvSpPr>
            <a:spLocks noGrp="1"/>
          </p:cNvSpPr>
          <p:nvPr>
            <p:ph type="dt" sz="half" idx="10"/>
          </p:nvPr>
        </p:nvSpPr>
        <p:spPr/>
        <p:txBody>
          <a:bodyPr/>
          <a:lstStyle/>
          <a:p>
            <a:fld id="{8B627577-072E-514C-BA02-D73A3A96882B}" type="datetime1">
              <a:rPr lang="en-US" smtClean="0"/>
              <a:t>3/25/26</a:t>
            </a:fld>
            <a:endParaRPr lang="en-US"/>
          </a:p>
        </p:txBody>
      </p:sp>
      <p:sp>
        <p:nvSpPr>
          <p:cNvPr id="6" name="Footer Placeholder 5">
            <a:extLst>
              <a:ext uri="{FF2B5EF4-FFF2-40B4-BE49-F238E27FC236}">
                <a16:creationId xmlns:a16="http://schemas.microsoft.com/office/drawing/2014/main" id="{6D5E0498-5A59-CB66-2B76-4B2732197FBF}"/>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BDE62042-9F01-5E78-8361-0EF7F35DC478}"/>
              </a:ext>
            </a:extLst>
          </p:cNvPr>
          <p:cNvSpPr>
            <a:spLocks noGrp="1"/>
          </p:cNvSpPr>
          <p:nvPr>
            <p:ph type="sldNum" sz="quarter" idx="12"/>
          </p:nvPr>
        </p:nvSpPr>
        <p:spPr/>
        <p:txBody>
          <a:bodyPr/>
          <a:lstStyle/>
          <a:p>
            <a:fld id="{B4CE5C4C-399A-B444-9B2A-945D2610250E}" type="slidenum">
              <a:rPr lang="en-US" smtClean="0"/>
              <a:t>63</a:t>
            </a:fld>
            <a:endParaRPr lang="en-US"/>
          </a:p>
        </p:txBody>
      </p:sp>
    </p:spTree>
    <p:extLst>
      <p:ext uri="{BB962C8B-B14F-4D97-AF65-F5344CB8AC3E}">
        <p14:creationId xmlns:p14="http://schemas.microsoft.com/office/powerpoint/2010/main" val="21359308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 Spread Function</a:t>
            </a:r>
          </a:p>
        </p:txBody>
      </p:sp>
      <p:sp>
        <p:nvSpPr>
          <p:cNvPr id="3" name="Content Placeholder 2"/>
          <p:cNvSpPr>
            <a:spLocks noGrp="1"/>
          </p:cNvSpPr>
          <p:nvPr>
            <p:ph idx="1"/>
          </p:nvPr>
        </p:nvSpPr>
        <p:spPr>
          <a:xfrm>
            <a:off x="457200" y="1225059"/>
            <a:ext cx="8229600" cy="4946650"/>
          </a:xfrm>
        </p:spPr>
        <p:txBody>
          <a:bodyPr>
            <a:normAutofit/>
          </a:bodyPr>
          <a:lstStyle/>
          <a:p>
            <a:r>
              <a:rPr lang="en-US" sz="1800" dirty="0"/>
              <a:t>Originally, the point spread function was modeled as Gaussian, </a:t>
            </a:r>
          </a:p>
          <a:p>
            <a:endParaRPr lang="en-US" sz="1800" dirty="0"/>
          </a:p>
          <a:p>
            <a:pPr marL="0" indent="0">
              <a:buNone/>
            </a:pPr>
            <a:endParaRPr lang="en-US" sz="1800" dirty="0"/>
          </a:p>
          <a:p>
            <a:pPr marL="0" indent="0">
              <a:buNone/>
            </a:pPr>
            <a:r>
              <a:rPr lang="en-US" sz="1800" dirty="0"/>
              <a:t>where the backscattered value was given by</a:t>
            </a:r>
          </a:p>
          <a:p>
            <a:endParaRPr lang="en-US" sz="1800" dirty="0"/>
          </a:p>
          <a:p>
            <a:endParaRPr lang="en-US" sz="1800" dirty="0"/>
          </a:p>
          <a:p>
            <a:r>
              <a:rPr lang="en-US" sz="1800" dirty="0"/>
              <a:t>This was replaced by </a:t>
            </a:r>
          </a:p>
          <a:p>
            <a:endParaRPr lang="en-US" sz="1800" dirty="0"/>
          </a:p>
          <a:p>
            <a:endParaRPr lang="en-US" sz="1800" dirty="0"/>
          </a:p>
          <a:p>
            <a:endParaRPr lang="en-US" sz="1800" dirty="0"/>
          </a:p>
          <a:p>
            <a:endParaRPr lang="en-US" sz="1800" dirty="0"/>
          </a:p>
          <a:p>
            <a:r>
              <a:rPr lang="en-US" sz="1800" dirty="0"/>
              <a:t>Where the backscattered value is now given by</a:t>
            </a:r>
          </a:p>
          <a:p>
            <a:endParaRPr lang="en-US" sz="1800" dirty="0"/>
          </a:p>
          <a:p>
            <a:endParaRPr lang="en-US" sz="1800" dirty="0"/>
          </a:p>
          <a:p>
            <a:endParaRPr lang="en-US" sz="1800" dirty="0"/>
          </a:p>
          <a:p>
            <a:endParaRPr lang="en-US" sz="1800" dirty="0"/>
          </a:p>
          <a:p>
            <a:endParaRPr lang="en-US" sz="1800" dirty="0"/>
          </a:p>
        </p:txBody>
      </p:sp>
      <p:pic>
        <p:nvPicPr>
          <p:cNvPr id="5" name="Picture 4"/>
          <p:cNvPicPr>
            <a:picLocks noChangeAspect="1"/>
          </p:cNvPicPr>
          <p:nvPr/>
        </p:nvPicPr>
        <p:blipFill>
          <a:blip r:embed="rId2"/>
          <a:stretch>
            <a:fillRect/>
          </a:stretch>
        </p:blipFill>
        <p:spPr>
          <a:xfrm>
            <a:off x="3213100" y="1714009"/>
            <a:ext cx="2698750" cy="323850"/>
          </a:xfrm>
          <a:prstGeom prst="rect">
            <a:avLst/>
          </a:prstGeom>
        </p:spPr>
      </p:pic>
      <p:pic>
        <p:nvPicPr>
          <p:cNvPr id="6" name="Picture 5"/>
          <p:cNvPicPr>
            <a:picLocks noChangeAspect="1"/>
          </p:cNvPicPr>
          <p:nvPr/>
        </p:nvPicPr>
        <p:blipFill>
          <a:blip r:embed="rId3"/>
          <a:stretch>
            <a:fillRect/>
          </a:stretch>
        </p:blipFill>
        <p:spPr>
          <a:xfrm>
            <a:off x="1803400" y="2812559"/>
            <a:ext cx="5816600" cy="241300"/>
          </a:xfrm>
          <a:prstGeom prst="rect">
            <a:avLst/>
          </a:prstGeom>
        </p:spPr>
      </p:pic>
      <p:pic>
        <p:nvPicPr>
          <p:cNvPr id="7" name="Picture 6"/>
          <p:cNvPicPr>
            <a:picLocks noChangeAspect="1"/>
          </p:cNvPicPr>
          <p:nvPr/>
        </p:nvPicPr>
        <p:blipFill>
          <a:blip r:embed="rId4"/>
          <a:stretch>
            <a:fillRect/>
          </a:stretch>
        </p:blipFill>
        <p:spPr>
          <a:xfrm>
            <a:off x="1803400" y="3780934"/>
            <a:ext cx="5930900" cy="692150"/>
          </a:xfrm>
          <a:prstGeom prst="rect">
            <a:avLst/>
          </a:prstGeom>
        </p:spPr>
      </p:pic>
      <p:grpSp>
        <p:nvGrpSpPr>
          <p:cNvPr id="12" name="Group 11"/>
          <p:cNvGrpSpPr/>
          <p:nvPr/>
        </p:nvGrpSpPr>
        <p:grpSpPr>
          <a:xfrm>
            <a:off x="457200" y="5485909"/>
            <a:ext cx="8059420" cy="685800"/>
            <a:chOff x="196850" y="5861050"/>
            <a:chExt cx="8059420" cy="685800"/>
          </a:xfrm>
        </p:grpSpPr>
        <p:pic>
          <p:nvPicPr>
            <p:cNvPr id="10" name="Picture 9"/>
            <p:cNvPicPr>
              <a:picLocks noChangeAspect="1"/>
            </p:cNvPicPr>
            <p:nvPr/>
          </p:nvPicPr>
          <p:blipFill rotWithShape="1">
            <a:blip r:embed="rId5"/>
            <a:srcRect b="40659"/>
            <a:stretch/>
          </p:blipFill>
          <p:spPr>
            <a:xfrm>
              <a:off x="196850" y="5861050"/>
              <a:ext cx="6880860" cy="685800"/>
            </a:xfrm>
            <a:prstGeom prst="rect">
              <a:avLst/>
            </a:prstGeom>
          </p:spPr>
        </p:pic>
        <p:pic>
          <p:nvPicPr>
            <p:cNvPr id="11" name="Picture 10"/>
            <p:cNvPicPr>
              <a:picLocks noChangeAspect="1"/>
            </p:cNvPicPr>
            <p:nvPr/>
          </p:nvPicPr>
          <p:blipFill rotWithShape="1">
            <a:blip r:embed="rId5"/>
            <a:srcRect l="82318" t="79121"/>
            <a:stretch/>
          </p:blipFill>
          <p:spPr>
            <a:xfrm>
              <a:off x="7039610" y="6045200"/>
              <a:ext cx="1216660" cy="241300"/>
            </a:xfrm>
            <a:prstGeom prst="rect">
              <a:avLst/>
            </a:prstGeom>
          </p:spPr>
        </p:pic>
      </p:grpSp>
      <p:sp>
        <p:nvSpPr>
          <p:cNvPr id="4" name="Date Placeholder 3">
            <a:extLst>
              <a:ext uri="{FF2B5EF4-FFF2-40B4-BE49-F238E27FC236}">
                <a16:creationId xmlns:a16="http://schemas.microsoft.com/office/drawing/2014/main" id="{C4F4A44F-F63D-547B-5714-EA4FCEE7DFBB}"/>
              </a:ext>
            </a:extLst>
          </p:cNvPr>
          <p:cNvSpPr>
            <a:spLocks noGrp="1"/>
          </p:cNvSpPr>
          <p:nvPr>
            <p:ph type="dt" sz="half" idx="10"/>
          </p:nvPr>
        </p:nvSpPr>
        <p:spPr/>
        <p:txBody>
          <a:bodyPr/>
          <a:lstStyle/>
          <a:p>
            <a:fld id="{FB90C48E-3073-104B-AD51-96EA24844917}" type="datetime1">
              <a:rPr lang="en-US" smtClean="0"/>
              <a:t>3/25/26</a:t>
            </a:fld>
            <a:endParaRPr lang="en-US"/>
          </a:p>
        </p:txBody>
      </p:sp>
      <p:sp>
        <p:nvSpPr>
          <p:cNvPr id="8" name="Footer Placeholder 7">
            <a:extLst>
              <a:ext uri="{FF2B5EF4-FFF2-40B4-BE49-F238E27FC236}">
                <a16:creationId xmlns:a16="http://schemas.microsoft.com/office/drawing/2014/main" id="{1EEFFE31-4ACA-C5F6-5B65-0C982E1BE3B0}"/>
              </a:ext>
            </a:extLst>
          </p:cNvPr>
          <p:cNvSpPr>
            <a:spLocks noGrp="1"/>
          </p:cNvSpPr>
          <p:nvPr>
            <p:ph type="ftr" sz="quarter" idx="11"/>
          </p:nvPr>
        </p:nvSpPr>
        <p:spPr/>
        <p:txBody>
          <a:bodyPr/>
          <a:lstStyle/>
          <a:p>
            <a:r>
              <a:rPr lang="en-US"/>
              <a:t>Does Not Contain CUI.</a:t>
            </a:r>
          </a:p>
        </p:txBody>
      </p:sp>
      <p:sp>
        <p:nvSpPr>
          <p:cNvPr id="9" name="Slide Number Placeholder 8">
            <a:extLst>
              <a:ext uri="{FF2B5EF4-FFF2-40B4-BE49-F238E27FC236}">
                <a16:creationId xmlns:a16="http://schemas.microsoft.com/office/drawing/2014/main" id="{B55E081E-3481-758E-22F9-B075EACF311B}"/>
              </a:ext>
            </a:extLst>
          </p:cNvPr>
          <p:cNvSpPr>
            <a:spLocks noGrp="1"/>
          </p:cNvSpPr>
          <p:nvPr>
            <p:ph type="sldNum" sz="quarter" idx="12"/>
          </p:nvPr>
        </p:nvSpPr>
        <p:spPr/>
        <p:txBody>
          <a:bodyPr/>
          <a:lstStyle/>
          <a:p>
            <a:fld id="{B4CE5C4C-399A-B444-9B2A-945D2610250E}" type="slidenum">
              <a:rPr lang="en-US" smtClean="0"/>
              <a:t>64</a:t>
            </a:fld>
            <a:endParaRPr lang="en-US"/>
          </a:p>
        </p:txBody>
      </p:sp>
    </p:spTree>
    <p:extLst>
      <p:ext uri="{BB962C8B-B14F-4D97-AF65-F5344CB8AC3E}">
        <p14:creationId xmlns:p14="http://schemas.microsoft.com/office/powerpoint/2010/main" val="1367367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PSF Implementation</a:t>
            </a:r>
          </a:p>
        </p:txBody>
      </p:sp>
      <p:sp>
        <p:nvSpPr>
          <p:cNvPr id="3" name="Content Placeholder 2"/>
          <p:cNvSpPr>
            <a:spLocks noGrp="1"/>
          </p:cNvSpPr>
          <p:nvPr>
            <p:ph idx="1"/>
          </p:nvPr>
        </p:nvSpPr>
        <p:spPr>
          <a:xfrm>
            <a:off x="457200" y="1254369"/>
            <a:ext cx="8229600" cy="4946650"/>
          </a:xfrm>
        </p:spPr>
        <p:txBody>
          <a:bodyPr>
            <a:normAutofit/>
          </a:bodyPr>
          <a:lstStyle/>
          <a:p>
            <a:r>
              <a:rPr lang="en-US" sz="1800" dirty="0"/>
              <a:t>Since the images are in ground range, instead of slant range, the PSF had to be distorted, such that</a:t>
            </a:r>
          </a:p>
          <a:p>
            <a:endParaRPr lang="en-US" sz="1800" dirty="0"/>
          </a:p>
          <a:p>
            <a:endParaRPr lang="en-US" sz="1800" dirty="0"/>
          </a:p>
          <a:p>
            <a:endParaRPr lang="en-US" sz="1800" dirty="0"/>
          </a:p>
          <a:p>
            <a:r>
              <a:rPr lang="en-US" sz="1800" dirty="0"/>
              <a:t>The point spread function was implemented by generating lookup tables of the integrated PSF functions in azimuth and ground range. The dimensions of the Lookup tables were</a:t>
            </a:r>
          </a:p>
          <a:p>
            <a:endParaRPr lang="en-US" sz="1800" dirty="0"/>
          </a:p>
          <a:p>
            <a:pPr lvl="1"/>
            <a:r>
              <a:rPr lang="en-US" sz="1400" dirty="0"/>
              <a:t>Azimuth: 		            where </a:t>
            </a:r>
            <a:r>
              <a:rPr lang="en-US" sz="1400" dirty="0" err="1"/>
              <a:t>Nx</a:t>
            </a:r>
            <a:r>
              <a:rPr lang="en-US" sz="1400" dirty="0"/>
              <a:t> is the extent of the point spread function in azimuth pixels (e.g. three or four pixels on either side of the </a:t>
            </a:r>
            <a:r>
              <a:rPr lang="en-US" sz="1400" dirty="0" err="1"/>
              <a:t>scatterer</a:t>
            </a:r>
            <a:r>
              <a:rPr lang="en-US" sz="1400" dirty="0"/>
              <a:t>), and       is the oversampling resolution of the point spread function in azimuth</a:t>
            </a:r>
          </a:p>
          <a:p>
            <a:pPr lvl="1"/>
            <a:endParaRPr lang="en-US" sz="1400" dirty="0"/>
          </a:p>
          <a:p>
            <a:pPr lvl="1"/>
            <a:r>
              <a:rPr lang="en-US" sz="1400" dirty="0"/>
              <a:t>Ground Range:			   where Ng is the extent of the point spread function in ground range pixels,       is the oversampling resolution of the PSF in ground range, while       is extent of (non local)incidence angles, and      is the pre-defined angular resolution, set at 1 degree.  </a:t>
            </a:r>
          </a:p>
          <a:p>
            <a:pPr lvl="2"/>
            <a:endParaRPr lang="en-US" sz="1000" dirty="0"/>
          </a:p>
        </p:txBody>
      </p:sp>
      <p:pic>
        <p:nvPicPr>
          <p:cNvPr id="20" name="Picture 19"/>
          <p:cNvPicPr>
            <a:picLocks noChangeAspect="1"/>
          </p:cNvPicPr>
          <p:nvPr/>
        </p:nvPicPr>
        <p:blipFill rotWithShape="1">
          <a:blip r:embed="rId2" cstate="screen">
            <a:extLst>
              <a:ext uri="{28A0092B-C50C-407E-A947-70E740481C1C}">
                <a14:useLocalDpi xmlns:a14="http://schemas.microsoft.com/office/drawing/2010/main"/>
              </a:ext>
            </a:extLst>
          </a:blip>
          <a:srcRect l="86981" t="70608" r="9353" b="17075"/>
          <a:stretch/>
        </p:blipFill>
        <p:spPr>
          <a:xfrm>
            <a:off x="1648936" y="5435364"/>
            <a:ext cx="222250" cy="298930"/>
          </a:xfrm>
          <a:prstGeom prst="rect">
            <a:avLst/>
          </a:prstGeom>
        </p:spPr>
      </p:pic>
      <p:pic>
        <p:nvPicPr>
          <p:cNvPr id="21" name="Picture 20"/>
          <p:cNvPicPr>
            <a:picLocks noChangeAspect="1"/>
          </p:cNvPicPr>
          <p:nvPr/>
        </p:nvPicPr>
        <p:blipFill rotWithShape="1">
          <a:blip r:embed="rId2" cstate="screen">
            <a:extLst>
              <a:ext uri="{28A0092B-C50C-407E-A947-70E740481C1C}">
                <a14:useLocalDpi xmlns:a14="http://schemas.microsoft.com/office/drawing/2010/main"/>
              </a:ext>
            </a:extLst>
          </a:blip>
          <a:srcRect l="91904" t="70608" r="4849" b="17075"/>
          <a:stretch/>
        </p:blipFill>
        <p:spPr>
          <a:xfrm>
            <a:off x="5442439" y="5435364"/>
            <a:ext cx="196850" cy="298930"/>
          </a:xfrm>
          <a:prstGeom prst="rect">
            <a:avLst/>
          </a:prstGeom>
        </p:spPr>
      </p:pic>
      <p:pic>
        <p:nvPicPr>
          <p:cNvPr id="25" name="Picture 24"/>
          <p:cNvPicPr>
            <a:picLocks noChangeAspect="1"/>
          </p:cNvPicPr>
          <p:nvPr/>
        </p:nvPicPr>
        <p:blipFill>
          <a:blip r:embed="rId3"/>
          <a:stretch>
            <a:fillRect/>
          </a:stretch>
        </p:blipFill>
        <p:spPr>
          <a:xfrm>
            <a:off x="2083435" y="4130602"/>
            <a:ext cx="1720215" cy="164465"/>
          </a:xfrm>
          <a:prstGeom prst="rect">
            <a:avLst/>
          </a:prstGeom>
        </p:spPr>
      </p:pic>
      <p:pic>
        <p:nvPicPr>
          <p:cNvPr id="26" name="Picture 25"/>
          <p:cNvPicPr>
            <a:picLocks noChangeAspect="1"/>
          </p:cNvPicPr>
          <p:nvPr/>
        </p:nvPicPr>
        <p:blipFill>
          <a:blip r:embed="rId4"/>
          <a:stretch>
            <a:fillRect/>
          </a:stretch>
        </p:blipFill>
        <p:spPr>
          <a:xfrm>
            <a:off x="7055009" y="4374124"/>
            <a:ext cx="217805" cy="142240"/>
          </a:xfrm>
          <a:prstGeom prst="rect">
            <a:avLst/>
          </a:prstGeom>
        </p:spPr>
      </p:pic>
      <p:pic>
        <p:nvPicPr>
          <p:cNvPr id="28" name="Picture 27"/>
          <p:cNvPicPr>
            <a:picLocks noChangeAspect="1"/>
          </p:cNvPicPr>
          <p:nvPr/>
        </p:nvPicPr>
        <p:blipFill>
          <a:blip r:embed="rId5"/>
          <a:stretch>
            <a:fillRect/>
          </a:stretch>
        </p:blipFill>
        <p:spPr>
          <a:xfrm>
            <a:off x="933450" y="1997319"/>
            <a:ext cx="7296150" cy="692150"/>
          </a:xfrm>
          <a:prstGeom prst="rect">
            <a:avLst/>
          </a:prstGeom>
        </p:spPr>
      </p:pic>
      <p:pic>
        <p:nvPicPr>
          <p:cNvPr id="30" name="Picture 29"/>
          <p:cNvPicPr>
            <a:picLocks noChangeAspect="1"/>
          </p:cNvPicPr>
          <p:nvPr/>
        </p:nvPicPr>
        <p:blipFill>
          <a:blip r:embed="rId6"/>
          <a:stretch>
            <a:fillRect/>
          </a:stretch>
        </p:blipFill>
        <p:spPr>
          <a:xfrm>
            <a:off x="2423795" y="5064214"/>
            <a:ext cx="2747010" cy="168910"/>
          </a:xfrm>
          <a:prstGeom prst="rect">
            <a:avLst/>
          </a:prstGeom>
        </p:spPr>
      </p:pic>
      <p:pic>
        <p:nvPicPr>
          <p:cNvPr id="31" name="Picture 30"/>
          <p:cNvPicPr>
            <a:picLocks noChangeAspect="1"/>
          </p:cNvPicPr>
          <p:nvPr/>
        </p:nvPicPr>
        <p:blipFill rotWithShape="1">
          <a:blip r:embed="rId6"/>
          <a:srcRect l="33333" r="57848"/>
          <a:stretch/>
        </p:blipFill>
        <p:spPr>
          <a:xfrm>
            <a:off x="3729893" y="5285748"/>
            <a:ext cx="242259" cy="168910"/>
          </a:xfrm>
          <a:prstGeom prst="rect">
            <a:avLst/>
          </a:prstGeom>
        </p:spPr>
      </p:pic>
      <p:sp>
        <p:nvSpPr>
          <p:cNvPr id="4" name="Date Placeholder 3">
            <a:extLst>
              <a:ext uri="{FF2B5EF4-FFF2-40B4-BE49-F238E27FC236}">
                <a16:creationId xmlns:a16="http://schemas.microsoft.com/office/drawing/2014/main" id="{E90BB01B-D9F1-BDBD-F51A-D3C1AC450AEA}"/>
              </a:ext>
            </a:extLst>
          </p:cNvPr>
          <p:cNvSpPr>
            <a:spLocks noGrp="1"/>
          </p:cNvSpPr>
          <p:nvPr>
            <p:ph type="dt" sz="half" idx="10"/>
          </p:nvPr>
        </p:nvSpPr>
        <p:spPr/>
        <p:txBody>
          <a:bodyPr/>
          <a:lstStyle/>
          <a:p>
            <a:fld id="{0AB00DCC-8BE8-E14C-BF07-5FA974BF0C71}" type="datetime1">
              <a:rPr lang="en-US" smtClean="0"/>
              <a:t>3/25/26</a:t>
            </a:fld>
            <a:endParaRPr lang="en-US"/>
          </a:p>
        </p:txBody>
      </p:sp>
      <p:sp>
        <p:nvSpPr>
          <p:cNvPr id="5" name="Footer Placeholder 4">
            <a:extLst>
              <a:ext uri="{FF2B5EF4-FFF2-40B4-BE49-F238E27FC236}">
                <a16:creationId xmlns:a16="http://schemas.microsoft.com/office/drawing/2014/main" id="{FB14BEC5-3898-116A-4097-729B816EE26F}"/>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E56D941A-56FE-D096-0A8F-B751407F5823}"/>
              </a:ext>
            </a:extLst>
          </p:cNvPr>
          <p:cNvSpPr>
            <a:spLocks noGrp="1"/>
          </p:cNvSpPr>
          <p:nvPr>
            <p:ph type="sldNum" sz="quarter" idx="12"/>
          </p:nvPr>
        </p:nvSpPr>
        <p:spPr/>
        <p:txBody>
          <a:bodyPr/>
          <a:lstStyle/>
          <a:p>
            <a:fld id="{B4CE5C4C-399A-B444-9B2A-945D2610250E}" type="slidenum">
              <a:rPr lang="en-US" smtClean="0"/>
              <a:t>65</a:t>
            </a:fld>
            <a:endParaRPr lang="en-US"/>
          </a:p>
        </p:txBody>
      </p:sp>
    </p:spTree>
    <p:extLst>
      <p:ext uri="{BB962C8B-B14F-4D97-AF65-F5344CB8AC3E}">
        <p14:creationId xmlns:p14="http://schemas.microsoft.com/office/powerpoint/2010/main" val="8868263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t>Spectra for different weighting functions</a:t>
            </a:r>
          </a:p>
        </p:txBody>
      </p:sp>
      <p:pic>
        <p:nvPicPr>
          <p:cNvPr id="4" name="Content Placeholder 3" descr="AzimuthSpectra.pdf"/>
          <p:cNvPicPr>
            <a:picLocks noGrp="1" noChangeAspect="1"/>
          </p:cNvPicPr>
          <p:nvPr>
            <p:ph idx="1"/>
          </p:nvPr>
        </p:nvPicPr>
        <p:blipFill rotWithShape="1">
          <a:blip r:embed="rId2" cstate="print">
            <a:extLst>
              <a:ext uri="{28A0092B-C50C-407E-A947-70E740481C1C}">
                <a14:useLocalDpi xmlns:a14="http://schemas.microsoft.com/office/drawing/2010/main"/>
              </a:ext>
            </a:extLst>
          </a:blip>
          <a:srcRect l="-5558" t="14311" r="-3200" b="16239"/>
          <a:stretch/>
        </p:blipFill>
        <p:spPr>
          <a:xfrm>
            <a:off x="1739900" y="1517650"/>
            <a:ext cx="5232400" cy="4323937"/>
          </a:xfrm>
        </p:spPr>
      </p:pic>
      <p:sp>
        <p:nvSpPr>
          <p:cNvPr id="3" name="Date Placeholder 2">
            <a:extLst>
              <a:ext uri="{FF2B5EF4-FFF2-40B4-BE49-F238E27FC236}">
                <a16:creationId xmlns:a16="http://schemas.microsoft.com/office/drawing/2014/main" id="{D745795D-800C-91A7-CCA6-FD29449E436D}"/>
              </a:ext>
            </a:extLst>
          </p:cNvPr>
          <p:cNvSpPr>
            <a:spLocks noGrp="1"/>
          </p:cNvSpPr>
          <p:nvPr>
            <p:ph type="dt" sz="half" idx="10"/>
          </p:nvPr>
        </p:nvSpPr>
        <p:spPr/>
        <p:txBody>
          <a:bodyPr/>
          <a:lstStyle/>
          <a:p>
            <a:fld id="{7DFDECE9-5221-C44D-8A84-CF6A50BCC581}" type="datetime1">
              <a:rPr lang="en-US" smtClean="0"/>
              <a:t>3/25/26</a:t>
            </a:fld>
            <a:endParaRPr lang="en-US"/>
          </a:p>
        </p:txBody>
      </p:sp>
      <p:sp>
        <p:nvSpPr>
          <p:cNvPr id="5" name="Footer Placeholder 4">
            <a:extLst>
              <a:ext uri="{FF2B5EF4-FFF2-40B4-BE49-F238E27FC236}">
                <a16:creationId xmlns:a16="http://schemas.microsoft.com/office/drawing/2014/main" id="{14B10DCD-F143-AC6B-7E30-81BB187D23B1}"/>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89421129-7CE0-B1EC-0A66-5B3EF210BC6C}"/>
              </a:ext>
            </a:extLst>
          </p:cNvPr>
          <p:cNvSpPr>
            <a:spLocks noGrp="1"/>
          </p:cNvSpPr>
          <p:nvPr>
            <p:ph type="sldNum" sz="quarter" idx="12"/>
          </p:nvPr>
        </p:nvSpPr>
        <p:spPr/>
        <p:txBody>
          <a:bodyPr/>
          <a:lstStyle/>
          <a:p>
            <a:fld id="{B4CE5C4C-399A-B444-9B2A-945D2610250E}" type="slidenum">
              <a:rPr lang="en-US" smtClean="0"/>
              <a:t>66</a:t>
            </a:fld>
            <a:endParaRPr lang="en-US"/>
          </a:p>
        </p:txBody>
      </p:sp>
    </p:spTree>
    <p:extLst>
      <p:ext uri="{BB962C8B-B14F-4D97-AF65-F5344CB8AC3E}">
        <p14:creationId xmlns:p14="http://schemas.microsoft.com/office/powerpoint/2010/main" val="7245561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Qualitative change in images</a:t>
            </a:r>
          </a:p>
        </p:txBody>
      </p:sp>
      <p:pic>
        <p:nvPicPr>
          <p:cNvPr id="4" name="Content Placeholder 3" descr="Screen Shot 2013-02-14 at 11.28.35 AM.png"/>
          <p:cNvPicPr>
            <a:picLocks noGrp="1" noChangeAspect="1"/>
          </p:cNvPicPr>
          <p:nvPr>
            <p:ph idx="1"/>
          </p:nvPr>
        </p:nvPicPr>
        <p:blipFill>
          <a:blip r:embed="rId2" cstate="print">
            <a:extLst>
              <a:ext uri="{28A0092B-C50C-407E-A947-70E740481C1C}">
                <a14:useLocalDpi xmlns:a14="http://schemas.microsoft.com/office/drawing/2010/main"/>
              </a:ext>
            </a:extLst>
          </a:blip>
          <a:srcRect l="-7449" r="-7449"/>
          <a:stretch>
            <a:fillRect/>
          </a:stretch>
        </p:blipFill>
        <p:spPr>
          <a:xfrm>
            <a:off x="4489450" y="2626702"/>
            <a:ext cx="4419600" cy="2430463"/>
          </a:xfrm>
        </p:spPr>
      </p:pic>
      <p:pic>
        <p:nvPicPr>
          <p:cNvPr id="5" name="Picture 4" descr="Screen Shot 2013-02-14 at 11.28.49 AM.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52450" y="2622550"/>
            <a:ext cx="3848100" cy="2434615"/>
          </a:xfrm>
          <a:prstGeom prst="rect">
            <a:avLst/>
          </a:prstGeom>
        </p:spPr>
      </p:pic>
      <p:sp>
        <p:nvSpPr>
          <p:cNvPr id="6" name="TextBox 5"/>
          <p:cNvSpPr txBox="1"/>
          <p:nvPr/>
        </p:nvSpPr>
        <p:spPr>
          <a:xfrm>
            <a:off x="1885950" y="5187950"/>
            <a:ext cx="1193800" cy="369332"/>
          </a:xfrm>
          <a:prstGeom prst="rect">
            <a:avLst/>
          </a:prstGeom>
          <a:noFill/>
        </p:spPr>
        <p:txBody>
          <a:bodyPr wrap="square" rtlCol="0">
            <a:spAutoFit/>
          </a:bodyPr>
          <a:lstStyle/>
          <a:p>
            <a:r>
              <a:rPr lang="en-US" dirty="0"/>
              <a:t>Gaussian</a:t>
            </a:r>
          </a:p>
        </p:txBody>
      </p:sp>
      <p:sp>
        <p:nvSpPr>
          <p:cNvPr id="7" name="TextBox 6"/>
          <p:cNvSpPr txBox="1"/>
          <p:nvPr/>
        </p:nvSpPr>
        <p:spPr>
          <a:xfrm>
            <a:off x="6203950" y="5187950"/>
            <a:ext cx="1644650" cy="369332"/>
          </a:xfrm>
          <a:prstGeom prst="rect">
            <a:avLst/>
          </a:prstGeom>
          <a:noFill/>
        </p:spPr>
        <p:txBody>
          <a:bodyPr wrap="square" rtlCol="0">
            <a:spAutoFit/>
          </a:bodyPr>
          <a:lstStyle/>
          <a:p>
            <a:r>
              <a:rPr lang="en-US" dirty="0" err="1"/>
              <a:t>Sinc</a:t>
            </a:r>
            <a:r>
              <a:rPr lang="en-US" dirty="0"/>
              <a:t>, eta = 1.0</a:t>
            </a:r>
          </a:p>
        </p:txBody>
      </p:sp>
      <p:sp>
        <p:nvSpPr>
          <p:cNvPr id="3" name="Date Placeholder 2">
            <a:extLst>
              <a:ext uri="{FF2B5EF4-FFF2-40B4-BE49-F238E27FC236}">
                <a16:creationId xmlns:a16="http://schemas.microsoft.com/office/drawing/2014/main" id="{C2742065-19FE-CE94-C9FC-713A7F233565}"/>
              </a:ext>
            </a:extLst>
          </p:cNvPr>
          <p:cNvSpPr>
            <a:spLocks noGrp="1"/>
          </p:cNvSpPr>
          <p:nvPr>
            <p:ph type="dt" sz="half" idx="10"/>
          </p:nvPr>
        </p:nvSpPr>
        <p:spPr/>
        <p:txBody>
          <a:bodyPr/>
          <a:lstStyle/>
          <a:p>
            <a:fld id="{97A002FE-AB40-7541-B61D-23B9499C71B4}" type="datetime1">
              <a:rPr lang="en-US" smtClean="0"/>
              <a:t>3/25/26</a:t>
            </a:fld>
            <a:endParaRPr lang="en-US"/>
          </a:p>
        </p:txBody>
      </p:sp>
      <p:sp>
        <p:nvSpPr>
          <p:cNvPr id="8" name="Footer Placeholder 7">
            <a:extLst>
              <a:ext uri="{FF2B5EF4-FFF2-40B4-BE49-F238E27FC236}">
                <a16:creationId xmlns:a16="http://schemas.microsoft.com/office/drawing/2014/main" id="{774C330A-F4F1-9625-E2F0-F8CAB6AC888D}"/>
              </a:ext>
            </a:extLst>
          </p:cNvPr>
          <p:cNvSpPr>
            <a:spLocks noGrp="1"/>
          </p:cNvSpPr>
          <p:nvPr>
            <p:ph type="ftr" sz="quarter" idx="11"/>
          </p:nvPr>
        </p:nvSpPr>
        <p:spPr/>
        <p:txBody>
          <a:bodyPr/>
          <a:lstStyle/>
          <a:p>
            <a:r>
              <a:rPr lang="en-US"/>
              <a:t>Does Not Contain CUI.</a:t>
            </a:r>
          </a:p>
        </p:txBody>
      </p:sp>
      <p:sp>
        <p:nvSpPr>
          <p:cNvPr id="9" name="Slide Number Placeholder 8">
            <a:extLst>
              <a:ext uri="{FF2B5EF4-FFF2-40B4-BE49-F238E27FC236}">
                <a16:creationId xmlns:a16="http://schemas.microsoft.com/office/drawing/2014/main" id="{CE753B53-58BF-95AC-D87A-19DF2F340A0E}"/>
              </a:ext>
            </a:extLst>
          </p:cNvPr>
          <p:cNvSpPr>
            <a:spLocks noGrp="1"/>
          </p:cNvSpPr>
          <p:nvPr>
            <p:ph type="sldNum" sz="quarter" idx="12"/>
          </p:nvPr>
        </p:nvSpPr>
        <p:spPr/>
        <p:txBody>
          <a:bodyPr/>
          <a:lstStyle/>
          <a:p>
            <a:fld id="{B4CE5C4C-399A-B444-9B2A-945D2610250E}" type="slidenum">
              <a:rPr lang="en-US" smtClean="0"/>
              <a:t>67</a:t>
            </a:fld>
            <a:endParaRPr lang="en-US"/>
          </a:p>
        </p:txBody>
      </p:sp>
    </p:spTree>
    <p:extLst>
      <p:ext uri="{BB962C8B-B14F-4D97-AF65-F5344CB8AC3E}">
        <p14:creationId xmlns:p14="http://schemas.microsoft.com/office/powerpoint/2010/main" val="11646674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t>Spectra for different sampling frequencies</a:t>
            </a:r>
          </a:p>
        </p:txBody>
      </p:sp>
      <p:sp>
        <p:nvSpPr>
          <p:cNvPr id="3" name="Content Placeholder 2"/>
          <p:cNvSpPr>
            <a:spLocks noGrp="1"/>
          </p:cNvSpPr>
          <p:nvPr>
            <p:ph idx="1"/>
          </p:nvPr>
        </p:nvSpPr>
        <p:spPr/>
        <p:txBody>
          <a:bodyPr>
            <a:normAutofit/>
          </a:bodyPr>
          <a:lstStyle/>
          <a:p>
            <a:r>
              <a:rPr lang="en-US" sz="1800" dirty="0"/>
              <a:t>Sampling ratios (for azimuth and range) added as inputs. It is defined as the ratio between the pixel dimension and the resolution. </a:t>
            </a:r>
          </a:p>
        </p:txBody>
      </p:sp>
      <p:pic>
        <p:nvPicPr>
          <p:cNvPr id="4" name="Picture 3" descr="RangeSpectra_vFs.eps"/>
          <p:cNvPicPr>
            <a:picLocks noChangeAspect="1"/>
          </p:cNvPicPr>
          <p:nvPr/>
        </p:nvPicPr>
        <p:blipFill rotWithShape="1">
          <a:blip r:embed="rId2">
            <a:extLst>
              <a:ext uri="{28A0092B-C50C-407E-A947-70E740481C1C}">
                <a14:useLocalDpi xmlns:a14="http://schemas.microsoft.com/office/drawing/2010/main" val="0"/>
              </a:ext>
            </a:extLst>
          </a:blip>
          <a:srcRect l="7986" t="2671" r="7708" b="5194"/>
          <a:stretch/>
        </p:blipFill>
        <p:spPr>
          <a:xfrm>
            <a:off x="1225550" y="2726240"/>
            <a:ext cx="6632680" cy="3769810"/>
          </a:xfrm>
          <a:prstGeom prst="rect">
            <a:avLst/>
          </a:prstGeom>
        </p:spPr>
      </p:pic>
      <p:sp>
        <p:nvSpPr>
          <p:cNvPr id="5" name="Date Placeholder 4">
            <a:extLst>
              <a:ext uri="{FF2B5EF4-FFF2-40B4-BE49-F238E27FC236}">
                <a16:creationId xmlns:a16="http://schemas.microsoft.com/office/drawing/2014/main" id="{2759B97C-D48D-EA27-E260-621ECA3926B5}"/>
              </a:ext>
            </a:extLst>
          </p:cNvPr>
          <p:cNvSpPr>
            <a:spLocks noGrp="1"/>
          </p:cNvSpPr>
          <p:nvPr>
            <p:ph type="dt" sz="half" idx="10"/>
          </p:nvPr>
        </p:nvSpPr>
        <p:spPr/>
        <p:txBody>
          <a:bodyPr/>
          <a:lstStyle/>
          <a:p>
            <a:fld id="{E768AB71-7B4D-9B46-ADBD-C62231373BA6}" type="datetime1">
              <a:rPr lang="en-US" smtClean="0"/>
              <a:t>3/25/26</a:t>
            </a:fld>
            <a:endParaRPr lang="en-US"/>
          </a:p>
        </p:txBody>
      </p:sp>
      <p:sp>
        <p:nvSpPr>
          <p:cNvPr id="6" name="Footer Placeholder 5">
            <a:extLst>
              <a:ext uri="{FF2B5EF4-FFF2-40B4-BE49-F238E27FC236}">
                <a16:creationId xmlns:a16="http://schemas.microsoft.com/office/drawing/2014/main" id="{C87776BA-0425-22C8-2EA7-538005EDE169}"/>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8409C733-F24F-ECB0-85E9-05281B5D5BA5}"/>
              </a:ext>
            </a:extLst>
          </p:cNvPr>
          <p:cNvSpPr>
            <a:spLocks noGrp="1"/>
          </p:cNvSpPr>
          <p:nvPr>
            <p:ph type="sldNum" sz="quarter" idx="12"/>
          </p:nvPr>
        </p:nvSpPr>
        <p:spPr/>
        <p:txBody>
          <a:bodyPr/>
          <a:lstStyle/>
          <a:p>
            <a:fld id="{B4CE5C4C-399A-B444-9B2A-945D2610250E}" type="slidenum">
              <a:rPr lang="en-US" smtClean="0"/>
              <a:t>68</a:t>
            </a:fld>
            <a:endParaRPr lang="en-US"/>
          </a:p>
        </p:txBody>
      </p:sp>
    </p:spTree>
    <p:extLst>
      <p:ext uri="{BB962C8B-B14F-4D97-AF65-F5344CB8AC3E}">
        <p14:creationId xmlns:p14="http://schemas.microsoft.com/office/powerpoint/2010/main" val="31473386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t>Azimuth spectra for different sampling ratios</a:t>
            </a:r>
          </a:p>
        </p:txBody>
      </p:sp>
      <p:pic>
        <p:nvPicPr>
          <p:cNvPr id="4" name="Content Placeholder 3" descr="AzimuthSpectra_vFs.eps"/>
          <p:cNvPicPr>
            <a:picLocks noGrp="1" noChangeAspect="1"/>
          </p:cNvPicPr>
          <p:nvPr>
            <p:ph idx="1"/>
          </p:nvPr>
        </p:nvPicPr>
        <p:blipFill rotWithShape="1">
          <a:blip r:embed="rId2">
            <a:extLst>
              <a:ext uri="{28A0092B-C50C-407E-A947-70E740481C1C}">
                <a14:useLocalDpi xmlns:a14="http://schemas.microsoft.com/office/drawing/2010/main" val="0"/>
              </a:ext>
            </a:extLst>
          </a:blip>
          <a:srcRect l="8365" t="3508" r="7455" b="6559"/>
          <a:stretch/>
        </p:blipFill>
        <p:spPr>
          <a:xfrm>
            <a:off x="584199" y="1866900"/>
            <a:ext cx="7983167" cy="4610099"/>
          </a:xfrm>
        </p:spPr>
      </p:pic>
      <p:sp>
        <p:nvSpPr>
          <p:cNvPr id="3" name="Date Placeholder 2">
            <a:extLst>
              <a:ext uri="{FF2B5EF4-FFF2-40B4-BE49-F238E27FC236}">
                <a16:creationId xmlns:a16="http://schemas.microsoft.com/office/drawing/2014/main" id="{FDC57A47-52EF-C5ED-00B3-9B4013B9C699}"/>
              </a:ext>
            </a:extLst>
          </p:cNvPr>
          <p:cNvSpPr>
            <a:spLocks noGrp="1"/>
          </p:cNvSpPr>
          <p:nvPr>
            <p:ph type="dt" sz="half" idx="10"/>
          </p:nvPr>
        </p:nvSpPr>
        <p:spPr/>
        <p:txBody>
          <a:bodyPr/>
          <a:lstStyle/>
          <a:p>
            <a:fld id="{F1E78B9C-E55A-7540-8DB0-1B981913C08F}" type="datetime1">
              <a:rPr lang="en-US" smtClean="0"/>
              <a:t>3/25/26</a:t>
            </a:fld>
            <a:endParaRPr lang="en-US"/>
          </a:p>
        </p:txBody>
      </p:sp>
      <p:sp>
        <p:nvSpPr>
          <p:cNvPr id="5" name="Footer Placeholder 4">
            <a:extLst>
              <a:ext uri="{FF2B5EF4-FFF2-40B4-BE49-F238E27FC236}">
                <a16:creationId xmlns:a16="http://schemas.microsoft.com/office/drawing/2014/main" id="{DB32FAE2-A41D-67E6-5859-9595F9CCDAFF}"/>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EE8E911D-A6FD-1453-4C3E-02CD09A16C01}"/>
              </a:ext>
            </a:extLst>
          </p:cNvPr>
          <p:cNvSpPr>
            <a:spLocks noGrp="1"/>
          </p:cNvSpPr>
          <p:nvPr>
            <p:ph type="sldNum" sz="quarter" idx="12"/>
          </p:nvPr>
        </p:nvSpPr>
        <p:spPr/>
        <p:txBody>
          <a:bodyPr/>
          <a:lstStyle/>
          <a:p>
            <a:fld id="{B4CE5C4C-399A-B444-9B2A-945D2610250E}" type="slidenum">
              <a:rPr lang="en-US" smtClean="0"/>
              <a:t>69</a:t>
            </a:fld>
            <a:endParaRPr lang="en-US"/>
          </a:p>
        </p:txBody>
      </p:sp>
    </p:spTree>
    <p:extLst>
      <p:ext uri="{BB962C8B-B14F-4D97-AF65-F5344CB8AC3E}">
        <p14:creationId xmlns:p14="http://schemas.microsoft.com/office/powerpoint/2010/main" val="5446424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Range Spectra for different baselines</a:t>
            </a:r>
          </a:p>
        </p:txBody>
      </p:sp>
      <p:pic>
        <p:nvPicPr>
          <p:cNvPr id="4" name="Content Placeholder 3" descr="spec_v_baselines.eps"/>
          <p:cNvPicPr>
            <a:picLocks noGrp="1" noChangeAspect="1"/>
          </p:cNvPicPr>
          <p:nvPr>
            <p:ph idx="1"/>
          </p:nvPr>
        </p:nvPicPr>
        <p:blipFill>
          <a:blip r:embed="rId2">
            <a:extLst>
              <a:ext uri="{28A0092B-C50C-407E-A947-70E740481C1C}">
                <a14:useLocalDpi xmlns:a14="http://schemas.microsoft.com/office/drawing/2010/main" val="0"/>
              </a:ext>
            </a:extLst>
          </a:blip>
          <a:srcRect t="6236" b="6236"/>
          <a:stretch>
            <a:fillRect/>
          </a:stretch>
        </p:blipFill>
        <p:spPr/>
      </p:pic>
      <p:sp>
        <p:nvSpPr>
          <p:cNvPr id="3" name="Date Placeholder 2">
            <a:extLst>
              <a:ext uri="{FF2B5EF4-FFF2-40B4-BE49-F238E27FC236}">
                <a16:creationId xmlns:a16="http://schemas.microsoft.com/office/drawing/2014/main" id="{3144388C-3CDB-A86A-E155-41A56A70683C}"/>
              </a:ext>
            </a:extLst>
          </p:cNvPr>
          <p:cNvSpPr>
            <a:spLocks noGrp="1"/>
          </p:cNvSpPr>
          <p:nvPr>
            <p:ph type="dt" sz="half" idx="10"/>
          </p:nvPr>
        </p:nvSpPr>
        <p:spPr/>
        <p:txBody>
          <a:bodyPr/>
          <a:lstStyle/>
          <a:p>
            <a:fld id="{C4C8DA9B-86B1-E148-ABEB-0C5FB7679788}" type="datetime1">
              <a:rPr lang="en-US" smtClean="0"/>
              <a:t>3/25/26</a:t>
            </a:fld>
            <a:endParaRPr lang="en-US"/>
          </a:p>
        </p:txBody>
      </p:sp>
      <p:sp>
        <p:nvSpPr>
          <p:cNvPr id="5" name="Footer Placeholder 4">
            <a:extLst>
              <a:ext uri="{FF2B5EF4-FFF2-40B4-BE49-F238E27FC236}">
                <a16:creationId xmlns:a16="http://schemas.microsoft.com/office/drawing/2014/main" id="{676C7614-7B0D-AD00-CFA6-BA6B404B5404}"/>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E87C63DA-9088-02F6-AE96-13C6A3B10A22}"/>
              </a:ext>
            </a:extLst>
          </p:cNvPr>
          <p:cNvSpPr>
            <a:spLocks noGrp="1"/>
          </p:cNvSpPr>
          <p:nvPr>
            <p:ph type="sldNum" sz="quarter" idx="12"/>
          </p:nvPr>
        </p:nvSpPr>
        <p:spPr/>
        <p:txBody>
          <a:bodyPr/>
          <a:lstStyle/>
          <a:p>
            <a:fld id="{B4CE5C4C-399A-B444-9B2A-945D2610250E}" type="slidenum">
              <a:rPr lang="en-US" smtClean="0"/>
              <a:t>70</a:t>
            </a:fld>
            <a:endParaRPr lang="en-US"/>
          </a:p>
        </p:txBody>
      </p:sp>
    </p:spTree>
    <p:extLst>
      <p:ext uri="{BB962C8B-B14F-4D97-AF65-F5344CB8AC3E}">
        <p14:creationId xmlns:p14="http://schemas.microsoft.com/office/powerpoint/2010/main" val="41593236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t>Estimated ground-only coherence</a:t>
            </a:r>
          </a:p>
        </p:txBody>
      </p:sp>
      <p:pic>
        <p:nvPicPr>
          <p:cNvPr id="5" name="Picture 4"/>
          <p:cNvPicPr>
            <a:picLocks noChangeAspect="1"/>
          </p:cNvPicPr>
          <p:nvPr/>
        </p:nvPicPr>
        <p:blipFill>
          <a:blip r:embed="rId2"/>
          <a:stretch>
            <a:fillRect/>
          </a:stretch>
        </p:blipFill>
        <p:spPr>
          <a:xfrm>
            <a:off x="3644900" y="5702300"/>
            <a:ext cx="1752600" cy="508000"/>
          </a:xfrm>
          <a:prstGeom prst="rect">
            <a:avLst/>
          </a:prstGeom>
        </p:spPr>
      </p:pic>
      <p:pic>
        <p:nvPicPr>
          <p:cNvPr id="7" name="Content Placeholder 6" descr="coherence.eps"/>
          <p:cNvPicPr>
            <a:picLocks noGrp="1" noChangeAspect="1"/>
          </p:cNvPicPr>
          <p:nvPr>
            <p:ph idx="1"/>
          </p:nvPr>
        </p:nvPicPr>
        <p:blipFill rotWithShape="1">
          <a:blip r:embed="rId3">
            <a:extLst>
              <a:ext uri="{28A0092B-C50C-407E-A947-70E740481C1C}">
                <a14:useLocalDpi xmlns:a14="http://schemas.microsoft.com/office/drawing/2010/main" val="0"/>
              </a:ext>
            </a:extLst>
          </a:blip>
          <a:srcRect l="4423" r="5196"/>
          <a:stretch/>
        </p:blipFill>
        <p:spPr>
          <a:xfrm>
            <a:off x="1943099" y="1619250"/>
            <a:ext cx="5193345" cy="3689350"/>
          </a:xfrm>
        </p:spPr>
      </p:pic>
      <p:sp>
        <p:nvSpPr>
          <p:cNvPr id="3" name="Date Placeholder 2">
            <a:extLst>
              <a:ext uri="{FF2B5EF4-FFF2-40B4-BE49-F238E27FC236}">
                <a16:creationId xmlns:a16="http://schemas.microsoft.com/office/drawing/2014/main" id="{8588B9B6-4057-75CC-0967-6BCBC4130C95}"/>
              </a:ext>
            </a:extLst>
          </p:cNvPr>
          <p:cNvSpPr>
            <a:spLocks noGrp="1"/>
          </p:cNvSpPr>
          <p:nvPr>
            <p:ph type="dt" sz="half" idx="10"/>
          </p:nvPr>
        </p:nvSpPr>
        <p:spPr/>
        <p:txBody>
          <a:bodyPr/>
          <a:lstStyle/>
          <a:p>
            <a:fld id="{B3905CB9-364C-5940-A437-AC1C61608E52}" type="datetime1">
              <a:rPr lang="en-US" smtClean="0"/>
              <a:t>3/25/26</a:t>
            </a:fld>
            <a:endParaRPr lang="en-US"/>
          </a:p>
        </p:txBody>
      </p:sp>
      <p:sp>
        <p:nvSpPr>
          <p:cNvPr id="4" name="Footer Placeholder 3">
            <a:extLst>
              <a:ext uri="{FF2B5EF4-FFF2-40B4-BE49-F238E27FC236}">
                <a16:creationId xmlns:a16="http://schemas.microsoft.com/office/drawing/2014/main" id="{B4860C07-0C69-A37C-3644-BC33219A1DD1}"/>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D3D29340-69DF-F8E4-9B9C-7E531D8F8C93}"/>
              </a:ext>
            </a:extLst>
          </p:cNvPr>
          <p:cNvSpPr>
            <a:spLocks noGrp="1"/>
          </p:cNvSpPr>
          <p:nvPr>
            <p:ph type="sldNum" sz="quarter" idx="12"/>
          </p:nvPr>
        </p:nvSpPr>
        <p:spPr/>
        <p:txBody>
          <a:bodyPr/>
          <a:lstStyle/>
          <a:p>
            <a:fld id="{B4CE5C4C-399A-B444-9B2A-945D2610250E}" type="slidenum">
              <a:rPr lang="en-US" smtClean="0"/>
              <a:t>71</a:t>
            </a:fld>
            <a:endParaRPr lang="en-US"/>
          </a:p>
        </p:txBody>
      </p:sp>
    </p:spTree>
    <p:extLst>
      <p:ext uri="{BB962C8B-B14F-4D97-AF65-F5344CB8AC3E}">
        <p14:creationId xmlns:p14="http://schemas.microsoft.com/office/powerpoint/2010/main" val="5317023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t>Coherence for ground-only scattering with </a:t>
            </a:r>
            <a:r>
              <a:rPr lang="en-US" sz="2800" dirty="0" err="1"/>
              <a:t>Prati</a:t>
            </a:r>
            <a:r>
              <a:rPr lang="en-US" sz="2800" dirty="0"/>
              <a:t>-Filtering</a:t>
            </a:r>
          </a:p>
        </p:txBody>
      </p:sp>
      <p:pic>
        <p:nvPicPr>
          <p:cNvPr id="4" name="Content Placeholder 3" descr="coherence_v_baselines.eps"/>
          <p:cNvPicPr>
            <a:picLocks noGrp="1" noChangeAspect="1"/>
          </p:cNvPicPr>
          <p:nvPr>
            <p:ph idx="1"/>
          </p:nvPr>
        </p:nvPicPr>
        <p:blipFill rotWithShape="1">
          <a:blip r:embed="rId2">
            <a:extLst>
              <a:ext uri="{28A0092B-C50C-407E-A947-70E740481C1C}">
                <a14:useLocalDpi xmlns:a14="http://schemas.microsoft.com/office/drawing/2010/main" val="0"/>
              </a:ext>
            </a:extLst>
          </a:blip>
          <a:srcRect l="5048" t="3508" r="7301"/>
          <a:stretch/>
        </p:blipFill>
        <p:spPr>
          <a:xfrm>
            <a:off x="1612884" y="1943100"/>
            <a:ext cx="5462098" cy="3860800"/>
          </a:xfrm>
        </p:spPr>
      </p:pic>
      <p:sp>
        <p:nvSpPr>
          <p:cNvPr id="3" name="Date Placeholder 2">
            <a:extLst>
              <a:ext uri="{FF2B5EF4-FFF2-40B4-BE49-F238E27FC236}">
                <a16:creationId xmlns:a16="http://schemas.microsoft.com/office/drawing/2014/main" id="{E38BCB6C-DAA2-90A3-A1C2-48DBFB4F7005}"/>
              </a:ext>
            </a:extLst>
          </p:cNvPr>
          <p:cNvSpPr>
            <a:spLocks noGrp="1"/>
          </p:cNvSpPr>
          <p:nvPr>
            <p:ph type="dt" sz="half" idx="10"/>
          </p:nvPr>
        </p:nvSpPr>
        <p:spPr/>
        <p:txBody>
          <a:bodyPr/>
          <a:lstStyle/>
          <a:p>
            <a:fld id="{50508B57-203F-C14E-8E07-A20F772AE045}" type="datetime1">
              <a:rPr lang="en-US" smtClean="0"/>
              <a:t>3/25/26</a:t>
            </a:fld>
            <a:endParaRPr lang="en-US"/>
          </a:p>
        </p:txBody>
      </p:sp>
      <p:sp>
        <p:nvSpPr>
          <p:cNvPr id="5" name="Footer Placeholder 4">
            <a:extLst>
              <a:ext uri="{FF2B5EF4-FFF2-40B4-BE49-F238E27FC236}">
                <a16:creationId xmlns:a16="http://schemas.microsoft.com/office/drawing/2014/main" id="{AE438DB5-C860-705F-8030-C23F5C8625C7}"/>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060AA0AD-65EE-5157-7BBA-B6A1EEB09BF4}"/>
              </a:ext>
            </a:extLst>
          </p:cNvPr>
          <p:cNvSpPr>
            <a:spLocks noGrp="1"/>
          </p:cNvSpPr>
          <p:nvPr>
            <p:ph type="sldNum" sz="quarter" idx="12"/>
          </p:nvPr>
        </p:nvSpPr>
        <p:spPr/>
        <p:txBody>
          <a:bodyPr/>
          <a:lstStyle/>
          <a:p>
            <a:fld id="{B4CE5C4C-399A-B444-9B2A-945D2610250E}" type="slidenum">
              <a:rPr lang="en-US" smtClean="0"/>
              <a:t>72</a:t>
            </a:fld>
            <a:endParaRPr lang="en-US"/>
          </a:p>
        </p:txBody>
      </p:sp>
    </p:spTree>
    <p:extLst>
      <p:ext uri="{BB962C8B-B14F-4D97-AF65-F5344CB8AC3E}">
        <p14:creationId xmlns:p14="http://schemas.microsoft.com/office/powerpoint/2010/main" val="7542825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6262059" cy="1162050"/>
          </a:xfrm>
        </p:spPr>
        <p:txBody>
          <a:bodyPr>
            <a:normAutofit/>
          </a:bodyPr>
          <a:lstStyle/>
          <a:p>
            <a:r>
              <a:rPr lang="en-US" dirty="0"/>
              <a:t>Testing Orientation Angle shift for different azimuth slopes</a:t>
            </a:r>
          </a:p>
        </p:txBody>
      </p:sp>
      <p:pic>
        <p:nvPicPr>
          <p:cNvPr id="5" name="Content Placeholder 4" descr="sim_v_est_azslopes.eps"/>
          <p:cNvPicPr>
            <a:picLocks noGrp="1" noChangeAspect="1"/>
          </p:cNvPicPr>
          <p:nvPr>
            <p:ph idx="1"/>
          </p:nvPr>
        </p:nvPicPr>
        <p:blipFill rotWithShape="1">
          <a:blip r:embed="rId2">
            <a:extLst>
              <a:ext uri="{28A0092B-C50C-407E-A947-70E740481C1C}">
                <a14:useLocalDpi xmlns:a14="http://schemas.microsoft.com/office/drawing/2010/main" val="0"/>
              </a:ext>
            </a:extLst>
          </a:blip>
          <a:srcRect l="4983" r="5772"/>
          <a:stretch/>
        </p:blipFill>
        <p:spPr>
          <a:xfrm>
            <a:off x="3340340" y="1812879"/>
            <a:ext cx="5647618" cy="4076626"/>
          </a:xfrm>
        </p:spPr>
      </p:pic>
      <p:sp>
        <p:nvSpPr>
          <p:cNvPr id="4" name="Text Placeholder 3"/>
          <p:cNvSpPr>
            <a:spLocks noGrp="1"/>
          </p:cNvSpPr>
          <p:nvPr>
            <p:ph type="body" sz="half" idx="2"/>
          </p:nvPr>
        </p:nvSpPr>
        <p:spPr/>
        <p:txBody>
          <a:bodyPr>
            <a:normAutofit fontScale="92500" lnSpcReduction="10000"/>
          </a:bodyPr>
          <a:lstStyle/>
          <a:p>
            <a:pPr marL="285750" indent="-285750">
              <a:buFont typeface="Arial"/>
              <a:buChar char="•"/>
            </a:pPr>
            <a:r>
              <a:rPr lang="en-US" dirty="0"/>
              <a:t>Ran 10 simulations, with ground only scattering. </a:t>
            </a:r>
          </a:p>
          <a:p>
            <a:pPr marL="285750" indent="-285750">
              <a:buFont typeface="Arial"/>
              <a:buChar char="•"/>
            </a:pPr>
            <a:r>
              <a:rPr lang="en-US" dirty="0"/>
              <a:t>The azimuth slope in each simulation was different, between 0 and 0.9. </a:t>
            </a:r>
          </a:p>
          <a:p>
            <a:pPr marL="285750" indent="-285750">
              <a:buFont typeface="Arial"/>
              <a:buChar char="•"/>
            </a:pPr>
            <a:r>
              <a:rPr lang="en-US" dirty="0"/>
              <a:t>Estimated the orientation angle shift and </a:t>
            </a:r>
            <a:r>
              <a:rPr lang="en-US" dirty="0" err="1"/>
              <a:t>ellipticity</a:t>
            </a:r>
            <a:r>
              <a:rPr lang="en-US" dirty="0"/>
              <a:t> of co-polarization signature maxima using Schuler’s algorithm [Schuler et al. TGRS 1996], for a set (approx. 100) of 4x4 pixel windows. </a:t>
            </a:r>
          </a:p>
          <a:p>
            <a:pPr marL="285750" indent="-285750">
              <a:buFont typeface="Arial"/>
              <a:buChar char="•"/>
            </a:pPr>
            <a:r>
              <a:rPr lang="en-US" dirty="0"/>
              <a:t>Slope was estimated by assuming perfect surface polarization signature has a max at an orientation of 90degrees, and is related to surface slopes (tan w) using (Lee et al. TGRS 2000)</a:t>
            </a:r>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dirty="0"/>
              <a:t>PolSARproSim seems to simulate </a:t>
            </a:r>
            <a:r>
              <a:rPr lang="en-US" dirty="0" err="1"/>
              <a:t>polarimetric</a:t>
            </a:r>
            <a:r>
              <a:rPr lang="en-US" dirty="0"/>
              <a:t> scattering from titled surfaces well.</a:t>
            </a:r>
          </a:p>
        </p:txBody>
      </p:sp>
      <p:pic>
        <p:nvPicPr>
          <p:cNvPr id="6" name="Content Placeholder 7" descr="tmpeq"/>
          <p:cNvPicPr>
            <a:picLocks noChangeAspect="1"/>
          </p:cNvPicPr>
          <p:nvPr/>
        </p:nvPicPr>
        <p:blipFill rotWithShape="1">
          <a:blip r:embed="rId3">
            <a:extLst>
              <a:ext uri="{28A0092B-C50C-407E-A947-70E740481C1C}">
                <a14:useLocalDpi xmlns:a14="http://schemas.microsoft.com/office/drawing/2010/main" val="0"/>
              </a:ext>
            </a:extLst>
          </a:blip>
          <a:srcRect l="-178" r="-1120"/>
          <a:stretch/>
        </p:blipFill>
        <p:spPr>
          <a:xfrm>
            <a:off x="797920" y="4882143"/>
            <a:ext cx="2411965" cy="427709"/>
          </a:xfrm>
          <a:prstGeom prst="rect">
            <a:avLst/>
          </a:prstGeom>
        </p:spPr>
      </p:pic>
      <p:sp>
        <p:nvSpPr>
          <p:cNvPr id="3" name="Date Placeholder 2">
            <a:extLst>
              <a:ext uri="{FF2B5EF4-FFF2-40B4-BE49-F238E27FC236}">
                <a16:creationId xmlns:a16="http://schemas.microsoft.com/office/drawing/2014/main" id="{C1F6530A-DB07-9143-EA60-E12ECB339E80}"/>
              </a:ext>
            </a:extLst>
          </p:cNvPr>
          <p:cNvSpPr>
            <a:spLocks noGrp="1"/>
          </p:cNvSpPr>
          <p:nvPr>
            <p:ph type="dt" sz="half" idx="10"/>
          </p:nvPr>
        </p:nvSpPr>
        <p:spPr/>
        <p:txBody>
          <a:bodyPr/>
          <a:lstStyle/>
          <a:p>
            <a:fld id="{03801447-DA36-DC4F-BA8C-151D60B1C07A}" type="datetime1">
              <a:rPr lang="en-US" smtClean="0"/>
              <a:t>3/25/26</a:t>
            </a:fld>
            <a:endParaRPr lang="en-US"/>
          </a:p>
        </p:txBody>
      </p:sp>
      <p:sp>
        <p:nvSpPr>
          <p:cNvPr id="7" name="Footer Placeholder 6">
            <a:extLst>
              <a:ext uri="{FF2B5EF4-FFF2-40B4-BE49-F238E27FC236}">
                <a16:creationId xmlns:a16="http://schemas.microsoft.com/office/drawing/2014/main" id="{67698F30-9DB8-7F95-9728-9C59DAB8A29C}"/>
              </a:ext>
            </a:extLst>
          </p:cNvPr>
          <p:cNvSpPr>
            <a:spLocks noGrp="1"/>
          </p:cNvSpPr>
          <p:nvPr>
            <p:ph type="ftr" sz="quarter" idx="11"/>
          </p:nvPr>
        </p:nvSpPr>
        <p:spPr/>
        <p:txBody>
          <a:bodyPr/>
          <a:lstStyle/>
          <a:p>
            <a:r>
              <a:rPr lang="en-US"/>
              <a:t>Does Not Contain CUI.</a:t>
            </a:r>
          </a:p>
        </p:txBody>
      </p:sp>
      <p:sp>
        <p:nvSpPr>
          <p:cNvPr id="8" name="Slide Number Placeholder 7">
            <a:extLst>
              <a:ext uri="{FF2B5EF4-FFF2-40B4-BE49-F238E27FC236}">
                <a16:creationId xmlns:a16="http://schemas.microsoft.com/office/drawing/2014/main" id="{92293144-EBFE-9356-08D6-4544CEDD2737}"/>
              </a:ext>
            </a:extLst>
          </p:cNvPr>
          <p:cNvSpPr>
            <a:spLocks noGrp="1"/>
          </p:cNvSpPr>
          <p:nvPr>
            <p:ph type="sldNum" sz="quarter" idx="12"/>
          </p:nvPr>
        </p:nvSpPr>
        <p:spPr/>
        <p:txBody>
          <a:bodyPr/>
          <a:lstStyle/>
          <a:p>
            <a:fld id="{B4CE5C4C-399A-B444-9B2A-945D2610250E}" type="slidenum">
              <a:rPr lang="en-US" smtClean="0"/>
              <a:t>73</a:t>
            </a:fld>
            <a:endParaRPr lang="en-US"/>
          </a:p>
        </p:txBody>
      </p:sp>
    </p:spTree>
    <p:extLst>
      <p:ext uri="{BB962C8B-B14F-4D97-AF65-F5344CB8AC3E}">
        <p14:creationId xmlns:p14="http://schemas.microsoft.com/office/powerpoint/2010/main" val="23991833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Corner Reflector Scattering</a:t>
            </a:r>
          </a:p>
        </p:txBody>
      </p:sp>
      <p:sp>
        <p:nvSpPr>
          <p:cNvPr id="3" name="Content Placeholder 2"/>
          <p:cNvSpPr>
            <a:spLocks noGrp="1"/>
          </p:cNvSpPr>
          <p:nvPr>
            <p:ph sz="half" idx="1"/>
          </p:nvPr>
        </p:nvSpPr>
        <p:spPr/>
        <p:txBody>
          <a:bodyPr/>
          <a:lstStyle/>
          <a:p>
            <a:r>
              <a:rPr lang="en-US" dirty="0"/>
              <a:t>Added module </a:t>
            </a:r>
            <a:r>
              <a:rPr lang="en-US" dirty="0" err="1"/>
              <a:t>Image_Corner_Reflectors_Direct</a:t>
            </a:r>
            <a:r>
              <a:rPr lang="en-US" dirty="0"/>
              <a:t>(). </a:t>
            </a:r>
          </a:p>
          <a:p>
            <a:r>
              <a:rPr lang="en-US" dirty="0"/>
              <a:t>It populates the gap region closest to the radar with an along-azimuth array of corner reflectors.</a:t>
            </a:r>
          </a:p>
        </p:txBody>
      </p:sp>
      <p:pic>
        <p:nvPicPr>
          <p:cNvPr id="5" name="Content Placeholder 4" descr="Screen Shot 2013-02-28 at 12.58.59 PM.png"/>
          <p:cNvPicPr>
            <a:picLocks noGrp="1" noChangeAspect="1"/>
          </p:cNvPicPr>
          <p:nvPr>
            <p:ph sz="half" idx="2"/>
          </p:nvPr>
        </p:nvPicPr>
        <p:blipFill>
          <a:blip r:embed="rId2">
            <a:extLst>
              <a:ext uri="{28A0092B-C50C-407E-A947-70E740481C1C}">
                <a14:useLocalDpi xmlns:a14="http://schemas.microsoft.com/office/drawing/2010/main" val="0"/>
              </a:ext>
            </a:extLst>
          </a:blip>
          <a:srcRect t="3024" b="3024"/>
          <a:stretch>
            <a:fillRect/>
          </a:stretch>
        </p:blipFill>
        <p:spPr/>
      </p:pic>
      <p:sp>
        <p:nvSpPr>
          <p:cNvPr id="4" name="Date Placeholder 3">
            <a:extLst>
              <a:ext uri="{FF2B5EF4-FFF2-40B4-BE49-F238E27FC236}">
                <a16:creationId xmlns:a16="http://schemas.microsoft.com/office/drawing/2014/main" id="{C821B89B-4DF7-CD47-F295-F94C201BF40E}"/>
              </a:ext>
            </a:extLst>
          </p:cNvPr>
          <p:cNvSpPr>
            <a:spLocks noGrp="1"/>
          </p:cNvSpPr>
          <p:nvPr>
            <p:ph type="dt" sz="half" idx="10"/>
          </p:nvPr>
        </p:nvSpPr>
        <p:spPr/>
        <p:txBody>
          <a:bodyPr/>
          <a:lstStyle/>
          <a:p>
            <a:fld id="{3B5E2939-2FA7-8C45-BBC7-174C9F811EF9}" type="datetime1">
              <a:rPr lang="en-US" smtClean="0"/>
              <a:t>3/25/26</a:t>
            </a:fld>
            <a:endParaRPr lang="en-US"/>
          </a:p>
        </p:txBody>
      </p:sp>
      <p:sp>
        <p:nvSpPr>
          <p:cNvPr id="6" name="Footer Placeholder 5">
            <a:extLst>
              <a:ext uri="{FF2B5EF4-FFF2-40B4-BE49-F238E27FC236}">
                <a16:creationId xmlns:a16="http://schemas.microsoft.com/office/drawing/2014/main" id="{BE31E2B5-538A-1CE4-DB47-1C50796DBD18}"/>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63983F3D-95F3-10CB-953C-B9565CAFEE68}"/>
              </a:ext>
            </a:extLst>
          </p:cNvPr>
          <p:cNvSpPr>
            <a:spLocks noGrp="1"/>
          </p:cNvSpPr>
          <p:nvPr>
            <p:ph type="sldNum" sz="quarter" idx="12"/>
          </p:nvPr>
        </p:nvSpPr>
        <p:spPr/>
        <p:txBody>
          <a:bodyPr/>
          <a:lstStyle/>
          <a:p>
            <a:fld id="{B4CE5C4C-399A-B444-9B2A-945D2610250E}" type="slidenum">
              <a:rPr lang="en-US" smtClean="0"/>
              <a:t>74</a:t>
            </a:fld>
            <a:endParaRPr lang="en-US"/>
          </a:p>
        </p:txBody>
      </p:sp>
    </p:spTree>
    <p:extLst>
      <p:ext uri="{BB962C8B-B14F-4D97-AF65-F5344CB8AC3E}">
        <p14:creationId xmlns:p14="http://schemas.microsoft.com/office/powerpoint/2010/main" val="11224976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DEM</a:t>
            </a:r>
          </a:p>
        </p:txBody>
      </p:sp>
      <p:sp>
        <p:nvSpPr>
          <p:cNvPr id="6" name="Content Placeholder 5"/>
          <p:cNvSpPr>
            <a:spLocks noGrp="1"/>
          </p:cNvSpPr>
          <p:nvPr>
            <p:ph sz="half" idx="1"/>
          </p:nvPr>
        </p:nvSpPr>
        <p:spPr>
          <a:xfrm>
            <a:off x="457199" y="1600200"/>
            <a:ext cx="7154897" cy="4525963"/>
          </a:xfrm>
        </p:spPr>
        <p:txBody>
          <a:bodyPr>
            <a:normAutofit/>
          </a:bodyPr>
          <a:lstStyle/>
          <a:p>
            <a:r>
              <a:rPr lang="en-US" dirty="0"/>
              <a:t>Read in External DEM</a:t>
            </a:r>
          </a:p>
          <a:p>
            <a:r>
              <a:rPr lang="en-US" dirty="0"/>
              <a:t>Error checking</a:t>
            </a:r>
          </a:p>
          <a:p>
            <a:r>
              <a:rPr lang="en-US" dirty="0"/>
              <a:t>Resize/Resample to SIM coordinates</a:t>
            </a:r>
          </a:p>
          <a:p>
            <a:r>
              <a:rPr lang="en-US" dirty="0"/>
              <a:t>Add bump map, set slopes to zero</a:t>
            </a:r>
          </a:p>
          <a:p>
            <a:r>
              <a:rPr lang="en-US" dirty="0"/>
              <a:t>Create Shadow Map for direct scattering</a:t>
            </a:r>
          </a:p>
          <a:p>
            <a:r>
              <a:rPr lang="en-US" dirty="0"/>
              <a:t>Modify Attenuation Map to include attenuation because of large slopes</a:t>
            </a:r>
          </a:p>
          <a:p>
            <a:endParaRPr lang="en-US" dirty="0"/>
          </a:p>
        </p:txBody>
      </p:sp>
      <p:sp>
        <p:nvSpPr>
          <p:cNvPr id="3" name="Date Placeholder 2">
            <a:extLst>
              <a:ext uri="{FF2B5EF4-FFF2-40B4-BE49-F238E27FC236}">
                <a16:creationId xmlns:a16="http://schemas.microsoft.com/office/drawing/2014/main" id="{E211E697-FF63-FCCF-9B88-9591D6D7F955}"/>
              </a:ext>
            </a:extLst>
          </p:cNvPr>
          <p:cNvSpPr>
            <a:spLocks noGrp="1"/>
          </p:cNvSpPr>
          <p:nvPr>
            <p:ph type="dt" sz="half" idx="10"/>
          </p:nvPr>
        </p:nvSpPr>
        <p:spPr/>
        <p:txBody>
          <a:bodyPr/>
          <a:lstStyle/>
          <a:p>
            <a:fld id="{C41C6031-7692-6D47-B7BB-AF9CB70B0C58}" type="datetime1">
              <a:rPr lang="en-US" smtClean="0"/>
              <a:t>3/25/26</a:t>
            </a:fld>
            <a:endParaRPr lang="en-US"/>
          </a:p>
        </p:txBody>
      </p:sp>
      <p:sp>
        <p:nvSpPr>
          <p:cNvPr id="4" name="Footer Placeholder 3">
            <a:extLst>
              <a:ext uri="{FF2B5EF4-FFF2-40B4-BE49-F238E27FC236}">
                <a16:creationId xmlns:a16="http://schemas.microsoft.com/office/drawing/2014/main" id="{A63A0C28-C727-4AA0-7CAA-F3F475889DD0}"/>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4ADC4DEB-96F8-FAE5-4C1F-A3CB0036010B}"/>
              </a:ext>
            </a:extLst>
          </p:cNvPr>
          <p:cNvSpPr>
            <a:spLocks noGrp="1"/>
          </p:cNvSpPr>
          <p:nvPr>
            <p:ph type="sldNum" sz="quarter" idx="12"/>
          </p:nvPr>
        </p:nvSpPr>
        <p:spPr/>
        <p:txBody>
          <a:bodyPr/>
          <a:lstStyle/>
          <a:p>
            <a:fld id="{B4CE5C4C-399A-B444-9B2A-945D2610250E}" type="slidenum">
              <a:rPr lang="en-US" smtClean="0"/>
              <a:t>75</a:t>
            </a:fld>
            <a:endParaRPr lang="en-US"/>
          </a:p>
        </p:txBody>
      </p:sp>
    </p:spTree>
    <p:extLst>
      <p:ext uri="{BB962C8B-B14F-4D97-AF65-F5344CB8AC3E}">
        <p14:creationId xmlns:p14="http://schemas.microsoft.com/office/powerpoint/2010/main" val="11608168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descr="Screen Shot 2013-04-26 at 8.25.5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2633" y="852646"/>
            <a:ext cx="2180420" cy="2436743"/>
          </a:xfrm>
          <a:prstGeom prst="rect">
            <a:avLst/>
          </a:prstGeom>
        </p:spPr>
      </p:pic>
      <p:sp>
        <p:nvSpPr>
          <p:cNvPr id="2" name="Title 1"/>
          <p:cNvSpPr>
            <a:spLocks noGrp="1"/>
          </p:cNvSpPr>
          <p:nvPr>
            <p:ph type="title"/>
          </p:nvPr>
        </p:nvSpPr>
        <p:spPr>
          <a:xfrm>
            <a:off x="1083859" y="159187"/>
            <a:ext cx="7113661" cy="517026"/>
          </a:xfrm>
        </p:spPr>
        <p:txBody>
          <a:bodyPr>
            <a:normAutofit fontScale="90000"/>
          </a:bodyPr>
          <a:lstStyle/>
          <a:p>
            <a:r>
              <a:rPr lang="en-US" sz="2800" dirty="0"/>
              <a:t>Example (Direct scattering only)</a:t>
            </a:r>
          </a:p>
        </p:txBody>
      </p:sp>
      <p:pic>
        <p:nvPicPr>
          <p:cNvPr id="6" name="Picture 5" descr="Screen Shot 2013-04-26 at 8.06.40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0787" y="3694813"/>
            <a:ext cx="2180420" cy="2443546"/>
          </a:xfrm>
          <a:prstGeom prst="rect">
            <a:avLst/>
          </a:prstGeom>
        </p:spPr>
      </p:pic>
      <p:pic>
        <p:nvPicPr>
          <p:cNvPr id="7" name="Picture 6" descr="Screen Shot 2013-04-26 at 8.08.2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6482" y="3694813"/>
            <a:ext cx="2180420" cy="2443545"/>
          </a:xfrm>
          <a:prstGeom prst="rect">
            <a:avLst/>
          </a:prstGeom>
        </p:spPr>
      </p:pic>
      <p:pic>
        <p:nvPicPr>
          <p:cNvPr id="8" name="Picture 7" descr="Screen Shot 2013-04-26 at 8.09.46 A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12632" y="3700827"/>
            <a:ext cx="2180421" cy="2440539"/>
          </a:xfrm>
          <a:prstGeom prst="rect">
            <a:avLst/>
          </a:prstGeom>
        </p:spPr>
      </p:pic>
      <p:pic>
        <p:nvPicPr>
          <p:cNvPr id="9" name="Picture 8" descr="Screen Shot 2013-04-26 at 8.11.29 A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71309" y="852774"/>
            <a:ext cx="2180420" cy="2443545"/>
          </a:xfrm>
          <a:prstGeom prst="rect">
            <a:avLst/>
          </a:prstGeom>
        </p:spPr>
      </p:pic>
      <p:pic>
        <p:nvPicPr>
          <p:cNvPr id="10" name="Picture 9" descr="Screen Shot 2013-04-26 at 8.12.13 AM.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46481" y="852774"/>
            <a:ext cx="2180421" cy="2443545"/>
          </a:xfrm>
          <a:prstGeom prst="rect">
            <a:avLst/>
          </a:prstGeom>
        </p:spPr>
      </p:pic>
      <p:sp>
        <p:nvSpPr>
          <p:cNvPr id="11" name="TextBox 10"/>
          <p:cNvSpPr txBox="1"/>
          <p:nvPr/>
        </p:nvSpPr>
        <p:spPr>
          <a:xfrm>
            <a:off x="197931" y="1797737"/>
            <a:ext cx="1649425" cy="369332"/>
          </a:xfrm>
          <a:prstGeom prst="rect">
            <a:avLst/>
          </a:prstGeom>
          <a:noFill/>
        </p:spPr>
        <p:txBody>
          <a:bodyPr wrap="square" rtlCol="0">
            <a:spAutoFit/>
          </a:bodyPr>
          <a:lstStyle/>
          <a:p>
            <a:r>
              <a:rPr lang="en-US" dirty="0"/>
              <a:t>No DEM</a:t>
            </a:r>
          </a:p>
        </p:txBody>
      </p:sp>
      <p:sp>
        <p:nvSpPr>
          <p:cNvPr id="12" name="TextBox 11"/>
          <p:cNvSpPr txBox="1"/>
          <p:nvPr/>
        </p:nvSpPr>
        <p:spPr>
          <a:xfrm>
            <a:off x="197931" y="4729210"/>
            <a:ext cx="1649425" cy="369332"/>
          </a:xfrm>
          <a:prstGeom prst="rect">
            <a:avLst/>
          </a:prstGeom>
          <a:noFill/>
        </p:spPr>
        <p:txBody>
          <a:bodyPr wrap="square" rtlCol="0">
            <a:spAutoFit/>
          </a:bodyPr>
          <a:lstStyle/>
          <a:p>
            <a:r>
              <a:rPr lang="en-US" dirty="0"/>
              <a:t>With DEM</a:t>
            </a:r>
          </a:p>
        </p:txBody>
      </p:sp>
      <p:sp>
        <p:nvSpPr>
          <p:cNvPr id="13" name="TextBox 12"/>
          <p:cNvSpPr txBox="1"/>
          <p:nvPr/>
        </p:nvSpPr>
        <p:spPr>
          <a:xfrm>
            <a:off x="3088972" y="931854"/>
            <a:ext cx="1146350" cy="261610"/>
          </a:xfrm>
          <a:prstGeom prst="rect">
            <a:avLst/>
          </a:prstGeom>
          <a:solidFill>
            <a:schemeClr val="bg1"/>
          </a:solidFill>
        </p:spPr>
        <p:txBody>
          <a:bodyPr wrap="square" rtlCol="0">
            <a:spAutoFit/>
          </a:bodyPr>
          <a:lstStyle/>
          <a:p>
            <a:pPr algn="ctr"/>
            <a:r>
              <a:rPr lang="en-US" sz="1100" dirty="0"/>
              <a:t>HH backscatter</a:t>
            </a:r>
          </a:p>
        </p:txBody>
      </p:sp>
      <p:sp>
        <p:nvSpPr>
          <p:cNvPr id="14" name="TextBox 13"/>
          <p:cNvSpPr txBox="1"/>
          <p:nvPr/>
        </p:nvSpPr>
        <p:spPr>
          <a:xfrm>
            <a:off x="3088972" y="3780861"/>
            <a:ext cx="1146350" cy="261610"/>
          </a:xfrm>
          <a:prstGeom prst="rect">
            <a:avLst/>
          </a:prstGeom>
          <a:solidFill>
            <a:schemeClr val="bg1"/>
          </a:solidFill>
        </p:spPr>
        <p:txBody>
          <a:bodyPr wrap="square" rtlCol="0">
            <a:spAutoFit/>
          </a:bodyPr>
          <a:lstStyle/>
          <a:p>
            <a:pPr algn="ctr"/>
            <a:r>
              <a:rPr lang="en-US" sz="1100" dirty="0"/>
              <a:t>HH backscatter</a:t>
            </a:r>
          </a:p>
        </p:txBody>
      </p:sp>
      <p:sp>
        <p:nvSpPr>
          <p:cNvPr id="15" name="TextBox 14"/>
          <p:cNvSpPr txBox="1"/>
          <p:nvPr/>
        </p:nvSpPr>
        <p:spPr>
          <a:xfrm>
            <a:off x="5426860" y="931854"/>
            <a:ext cx="1146350" cy="276999"/>
          </a:xfrm>
          <a:prstGeom prst="rect">
            <a:avLst/>
          </a:prstGeom>
          <a:solidFill>
            <a:schemeClr val="bg1"/>
          </a:solidFill>
        </p:spPr>
        <p:txBody>
          <a:bodyPr wrap="square" rtlCol="0">
            <a:spAutoFit/>
          </a:bodyPr>
          <a:lstStyle/>
          <a:p>
            <a:pPr algn="ctr"/>
            <a:r>
              <a:rPr lang="en-US" sz="1200" dirty="0"/>
              <a:t>0.17m wrap</a:t>
            </a:r>
          </a:p>
        </p:txBody>
      </p:sp>
      <p:sp>
        <p:nvSpPr>
          <p:cNvPr id="16" name="TextBox 15"/>
          <p:cNvSpPr txBox="1"/>
          <p:nvPr/>
        </p:nvSpPr>
        <p:spPr>
          <a:xfrm>
            <a:off x="5426860" y="3776577"/>
            <a:ext cx="1146350" cy="276999"/>
          </a:xfrm>
          <a:prstGeom prst="rect">
            <a:avLst/>
          </a:prstGeom>
          <a:solidFill>
            <a:schemeClr val="bg1"/>
          </a:solidFill>
        </p:spPr>
        <p:txBody>
          <a:bodyPr wrap="square" rtlCol="0">
            <a:spAutoFit/>
          </a:bodyPr>
          <a:lstStyle/>
          <a:p>
            <a:pPr algn="ctr"/>
            <a:r>
              <a:rPr lang="en-US" sz="1200" dirty="0"/>
              <a:t>40m wrap</a:t>
            </a:r>
          </a:p>
        </p:txBody>
      </p:sp>
      <p:sp>
        <p:nvSpPr>
          <p:cNvPr id="17" name="TextBox 16"/>
          <p:cNvSpPr txBox="1"/>
          <p:nvPr/>
        </p:nvSpPr>
        <p:spPr>
          <a:xfrm>
            <a:off x="7805984" y="945754"/>
            <a:ext cx="1146350" cy="276999"/>
          </a:xfrm>
          <a:prstGeom prst="rect">
            <a:avLst/>
          </a:prstGeom>
          <a:solidFill>
            <a:schemeClr val="bg1"/>
          </a:solidFill>
        </p:spPr>
        <p:txBody>
          <a:bodyPr wrap="square" rtlCol="0">
            <a:spAutoFit/>
          </a:bodyPr>
          <a:lstStyle/>
          <a:p>
            <a:pPr algn="ctr"/>
            <a:r>
              <a:rPr lang="en-US" sz="1200" dirty="0"/>
              <a:t>0m wrap</a:t>
            </a:r>
          </a:p>
        </p:txBody>
      </p:sp>
      <p:sp>
        <p:nvSpPr>
          <p:cNvPr id="18" name="TextBox 17"/>
          <p:cNvSpPr txBox="1"/>
          <p:nvPr/>
        </p:nvSpPr>
        <p:spPr>
          <a:xfrm>
            <a:off x="7805984" y="3790477"/>
            <a:ext cx="1146350" cy="276999"/>
          </a:xfrm>
          <a:prstGeom prst="rect">
            <a:avLst/>
          </a:prstGeom>
          <a:solidFill>
            <a:schemeClr val="bg1"/>
          </a:solidFill>
        </p:spPr>
        <p:txBody>
          <a:bodyPr wrap="square" rtlCol="0">
            <a:spAutoFit/>
          </a:bodyPr>
          <a:lstStyle/>
          <a:p>
            <a:pPr algn="ctr"/>
            <a:r>
              <a:rPr lang="en-US" sz="1200" dirty="0"/>
              <a:t>20m wrap</a:t>
            </a:r>
          </a:p>
        </p:txBody>
      </p:sp>
      <p:sp>
        <p:nvSpPr>
          <p:cNvPr id="19" name="TextBox 18"/>
          <p:cNvSpPr txBox="1"/>
          <p:nvPr/>
        </p:nvSpPr>
        <p:spPr>
          <a:xfrm>
            <a:off x="2000873" y="6341563"/>
            <a:ext cx="2180420" cy="369332"/>
          </a:xfrm>
          <a:prstGeom prst="rect">
            <a:avLst/>
          </a:prstGeom>
          <a:noFill/>
        </p:spPr>
        <p:txBody>
          <a:bodyPr wrap="square" rtlCol="0">
            <a:spAutoFit/>
          </a:bodyPr>
          <a:lstStyle/>
          <a:p>
            <a:pPr algn="ctr"/>
            <a:r>
              <a:rPr lang="en-US" dirty="0"/>
              <a:t>Backscatter</a:t>
            </a:r>
          </a:p>
        </p:txBody>
      </p:sp>
      <p:sp>
        <p:nvSpPr>
          <p:cNvPr id="20" name="TextBox 19"/>
          <p:cNvSpPr txBox="1"/>
          <p:nvPr/>
        </p:nvSpPr>
        <p:spPr>
          <a:xfrm>
            <a:off x="4471309" y="6341563"/>
            <a:ext cx="2180420" cy="369332"/>
          </a:xfrm>
          <a:prstGeom prst="rect">
            <a:avLst/>
          </a:prstGeom>
          <a:noFill/>
        </p:spPr>
        <p:txBody>
          <a:bodyPr wrap="square" rtlCol="0">
            <a:spAutoFit/>
          </a:bodyPr>
          <a:lstStyle/>
          <a:p>
            <a:pPr algn="ctr"/>
            <a:r>
              <a:rPr lang="en-US" dirty="0"/>
              <a:t>DEM</a:t>
            </a:r>
          </a:p>
        </p:txBody>
      </p:sp>
      <p:sp>
        <p:nvSpPr>
          <p:cNvPr id="21" name="TextBox 20"/>
          <p:cNvSpPr txBox="1"/>
          <p:nvPr/>
        </p:nvSpPr>
        <p:spPr>
          <a:xfrm>
            <a:off x="6846482" y="6341563"/>
            <a:ext cx="2180420" cy="369332"/>
          </a:xfrm>
          <a:prstGeom prst="rect">
            <a:avLst/>
          </a:prstGeom>
          <a:noFill/>
        </p:spPr>
        <p:txBody>
          <a:bodyPr wrap="square" rtlCol="0">
            <a:spAutoFit/>
          </a:bodyPr>
          <a:lstStyle/>
          <a:p>
            <a:pPr algn="ctr"/>
            <a:r>
              <a:rPr lang="en-US" dirty="0"/>
              <a:t>Shadow Map</a:t>
            </a:r>
          </a:p>
        </p:txBody>
      </p:sp>
      <p:sp>
        <p:nvSpPr>
          <p:cNvPr id="3" name="Date Placeholder 2">
            <a:extLst>
              <a:ext uri="{FF2B5EF4-FFF2-40B4-BE49-F238E27FC236}">
                <a16:creationId xmlns:a16="http://schemas.microsoft.com/office/drawing/2014/main" id="{9CD8FDB1-1599-F365-200D-984869B3EDC2}"/>
              </a:ext>
            </a:extLst>
          </p:cNvPr>
          <p:cNvSpPr>
            <a:spLocks noGrp="1"/>
          </p:cNvSpPr>
          <p:nvPr>
            <p:ph type="dt" sz="half" idx="10"/>
          </p:nvPr>
        </p:nvSpPr>
        <p:spPr/>
        <p:txBody>
          <a:bodyPr/>
          <a:lstStyle/>
          <a:p>
            <a:fld id="{72A8038F-932D-7E4C-9F4F-527F5E1C76DB}" type="datetime1">
              <a:rPr lang="en-US" smtClean="0"/>
              <a:t>3/25/26</a:t>
            </a:fld>
            <a:endParaRPr lang="en-US"/>
          </a:p>
        </p:txBody>
      </p:sp>
      <p:sp>
        <p:nvSpPr>
          <p:cNvPr id="4" name="Footer Placeholder 3">
            <a:extLst>
              <a:ext uri="{FF2B5EF4-FFF2-40B4-BE49-F238E27FC236}">
                <a16:creationId xmlns:a16="http://schemas.microsoft.com/office/drawing/2014/main" id="{10B94392-9030-ECD6-B576-36E1E1241808}"/>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261019A0-913C-88D8-184B-E838016287A5}"/>
              </a:ext>
            </a:extLst>
          </p:cNvPr>
          <p:cNvSpPr>
            <a:spLocks noGrp="1"/>
          </p:cNvSpPr>
          <p:nvPr>
            <p:ph type="sldNum" sz="quarter" idx="12"/>
          </p:nvPr>
        </p:nvSpPr>
        <p:spPr/>
        <p:txBody>
          <a:bodyPr/>
          <a:lstStyle/>
          <a:p>
            <a:fld id="{B4CE5C4C-399A-B444-9B2A-945D2610250E}" type="slidenum">
              <a:rPr lang="en-US" smtClean="0"/>
              <a:t>76</a:t>
            </a:fld>
            <a:endParaRPr lang="en-US"/>
          </a:p>
        </p:txBody>
      </p:sp>
    </p:spTree>
    <p:extLst>
      <p:ext uri="{BB962C8B-B14F-4D97-AF65-F5344CB8AC3E}">
        <p14:creationId xmlns:p14="http://schemas.microsoft.com/office/powerpoint/2010/main" val="14645571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thermal noise</a:t>
            </a:r>
          </a:p>
        </p:txBody>
      </p:sp>
      <p:sp>
        <p:nvSpPr>
          <p:cNvPr id="6" name="Content Placeholder 5"/>
          <p:cNvSpPr>
            <a:spLocks noGrp="1"/>
          </p:cNvSpPr>
          <p:nvPr>
            <p:ph sz="half" idx="1"/>
          </p:nvPr>
        </p:nvSpPr>
        <p:spPr>
          <a:xfrm>
            <a:off x="457199" y="1600200"/>
            <a:ext cx="7154897" cy="4525963"/>
          </a:xfrm>
        </p:spPr>
        <p:txBody>
          <a:bodyPr>
            <a:normAutofit/>
          </a:bodyPr>
          <a:lstStyle/>
          <a:p>
            <a:r>
              <a:rPr lang="en-US" dirty="0"/>
              <a:t>Add a random number to each pixel of every stack, such that</a:t>
            </a:r>
          </a:p>
          <a:p>
            <a:endParaRPr lang="en-US" dirty="0"/>
          </a:p>
          <a:p>
            <a:endParaRPr lang="en-US" dirty="0"/>
          </a:p>
        </p:txBody>
      </p:sp>
      <p:pic>
        <p:nvPicPr>
          <p:cNvPr id="3" name="Picture 2"/>
          <p:cNvPicPr>
            <a:picLocks noChangeAspect="1"/>
          </p:cNvPicPr>
          <p:nvPr/>
        </p:nvPicPr>
        <p:blipFill>
          <a:blip r:embed="rId2"/>
          <a:stretch>
            <a:fillRect/>
          </a:stretch>
        </p:blipFill>
        <p:spPr>
          <a:xfrm>
            <a:off x="2598476" y="3039108"/>
            <a:ext cx="4000500" cy="2293620"/>
          </a:xfrm>
          <a:prstGeom prst="rect">
            <a:avLst/>
          </a:prstGeom>
        </p:spPr>
      </p:pic>
      <p:sp>
        <p:nvSpPr>
          <p:cNvPr id="4" name="Date Placeholder 3">
            <a:extLst>
              <a:ext uri="{FF2B5EF4-FFF2-40B4-BE49-F238E27FC236}">
                <a16:creationId xmlns:a16="http://schemas.microsoft.com/office/drawing/2014/main" id="{3182A91B-5CF2-F050-230C-1CE2901C0B47}"/>
              </a:ext>
            </a:extLst>
          </p:cNvPr>
          <p:cNvSpPr>
            <a:spLocks noGrp="1"/>
          </p:cNvSpPr>
          <p:nvPr>
            <p:ph type="dt" sz="half" idx="10"/>
          </p:nvPr>
        </p:nvSpPr>
        <p:spPr/>
        <p:txBody>
          <a:bodyPr/>
          <a:lstStyle/>
          <a:p>
            <a:fld id="{FD75D679-94F7-BD45-B87F-CD33C358107B}" type="datetime1">
              <a:rPr lang="en-US" smtClean="0"/>
              <a:t>3/25/26</a:t>
            </a:fld>
            <a:endParaRPr lang="en-US"/>
          </a:p>
        </p:txBody>
      </p:sp>
      <p:sp>
        <p:nvSpPr>
          <p:cNvPr id="5" name="Footer Placeholder 4">
            <a:extLst>
              <a:ext uri="{FF2B5EF4-FFF2-40B4-BE49-F238E27FC236}">
                <a16:creationId xmlns:a16="http://schemas.microsoft.com/office/drawing/2014/main" id="{7A8AA7BF-C136-DD00-EF20-A09B1AF04D11}"/>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D2781746-BD19-5BF9-069F-27900F06D860}"/>
              </a:ext>
            </a:extLst>
          </p:cNvPr>
          <p:cNvSpPr>
            <a:spLocks noGrp="1"/>
          </p:cNvSpPr>
          <p:nvPr>
            <p:ph type="sldNum" sz="quarter" idx="12"/>
          </p:nvPr>
        </p:nvSpPr>
        <p:spPr/>
        <p:txBody>
          <a:bodyPr/>
          <a:lstStyle/>
          <a:p>
            <a:fld id="{B4CE5C4C-399A-B444-9B2A-945D2610250E}" type="slidenum">
              <a:rPr lang="en-US" smtClean="0"/>
              <a:t>77</a:t>
            </a:fld>
            <a:endParaRPr lang="en-US"/>
          </a:p>
        </p:txBody>
      </p:sp>
    </p:spTree>
    <p:extLst>
      <p:ext uri="{BB962C8B-B14F-4D97-AF65-F5344CB8AC3E}">
        <p14:creationId xmlns:p14="http://schemas.microsoft.com/office/powerpoint/2010/main" val="34017792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3859" y="159187"/>
            <a:ext cx="7113661" cy="517026"/>
          </a:xfrm>
        </p:spPr>
        <p:txBody>
          <a:bodyPr>
            <a:normAutofit fontScale="90000"/>
          </a:bodyPr>
          <a:lstStyle/>
          <a:p>
            <a:r>
              <a:rPr lang="en-US" sz="2800" dirty="0"/>
              <a:t>Backscatter Intensity</a:t>
            </a:r>
          </a:p>
        </p:txBody>
      </p:sp>
      <p:pic>
        <p:nvPicPr>
          <p:cNvPr id="3" name="Picture 2" descr="Screen Shot 2013-05-01 at 12.17.01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0157" y="837193"/>
            <a:ext cx="1963417" cy="2447608"/>
          </a:xfrm>
          <a:prstGeom prst="rect">
            <a:avLst/>
          </a:prstGeom>
        </p:spPr>
      </p:pic>
      <p:pic>
        <p:nvPicPr>
          <p:cNvPr id="4" name="Picture 3" descr="Screen Shot 2013-05-01 at 12.17.11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6552" y="838404"/>
            <a:ext cx="1967754" cy="2446397"/>
          </a:xfrm>
          <a:prstGeom prst="rect">
            <a:avLst/>
          </a:prstGeom>
        </p:spPr>
      </p:pic>
      <p:pic>
        <p:nvPicPr>
          <p:cNvPr id="5" name="Picture 4" descr="Screen Shot 2013-05-01 at 12.17.20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1299" y="3812782"/>
            <a:ext cx="1979631" cy="2456704"/>
          </a:xfrm>
          <a:prstGeom prst="rect">
            <a:avLst/>
          </a:prstGeom>
        </p:spPr>
      </p:pic>
      <p:pic>
        <p:nvPicPr>
          <p:cNvPr id="23" name="Picture 22" descr="Screen Shot 2013-05-01 at 12.17.30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38943" y="3814271"/>
            <a:ext cx="1969830" cy="2456704"/>
          </a:xfrm>
          <a:prstGeom prst="rect">
            <a:avLst/>
          </a:prstGeom>
        </p:spPr>
      </p:pic>
      <p:sp>
        <p:nvSpPr>
          <p:cNvPr id="24" name="TextBox 23"/>
          <p:cNvSpPr txBox="1"/>
          <p:nvPr/>
        </p:nvSpPr>
        <p:spPr>
          <a:xfrm>
            <a:off x="2330157" y="3284801"/>
            <a:ext cx="1963417" cy="307777"/>
          </a:xfrm>
          <a:prstGeom prst="rect">
            <a:avLst/>
          </a:prstGeom>
          <a:noFill/>
        </p:spPr>
        <p:txBody>
          <a:bodyPr wrap="square" rtlCol="0">
            <a:spAutoFit/>
          </a:bodyPr>
          <a:lstStyle/>
          <a:p>
            <a:pPr algn="ctr"/>
            <a:r>
              <a:rPr lang="en-US" sz="1400" dirty="0"/>
              <a:t>-25dB NESZ</a:t>
            </a:r>
          </a:p>
        </p:txBody>
      </p:sp>
      <p:sp>
        <p:nvSpPr>
          <p:cNvPr id="25" name="TextBox 24"/>
          <p:cNvSpPr txBox="1"/>
          <p:nvPr/>
        </p:nvSpPr>
        <p:spPr>
          <a:xfrm>
            <a:off x="4760889" y="3300770"/>
            <a:ext cx="1963417" cy="307777"/>
          </a:xfrm>
          <a:prstGeom prst="rect">
            <a:avLst/>
          </a:prstGeom>
          <a:noFill/>
        </p:spPr>
        <p:txBody>
          <a:bodyPr wrap="square" rtlCol="0">
            <a:spAutoFit/>
          </a:bodyPr>
          <a:lstStyle/>
          <a:p>
            <a:pPr algn="ctr"/>
            <a:r>
              <a:rPr lang="en-US" sz="1400" dirty="0"/>
              <a:t>-30dB NESZ</a:t>
            </a:r>
          </a:p>
        </p:txBody>
      </p:sp>
      <p:sp>
        <p:nvSpPr>
          <p:cNvPr id="26" name="TextBox 25"/>
          <p:cNvSpPr txBox="1"/>
          <p:nvPr/>
        </p:nvSpPr>
        <p:spPr>
          <a:xfrm>
            <a:off x="1043161" y="6270975"/>
            <a:ext cx="1963417" cy="307777"/>
          </a:xfrm>
          <a:prstGeom prst="rect">
            <a:avLst/>
          </a:prstGeom>
          <a:noFill/>
        </p:spPr>
        <p:txBody>
          <a:bodyPr wrap="square" rtlCol="0">
            <a:spAutoFit/>
          </a:bodyPr>
          <a:lstStyle/>
          <a:p>
            <a:pPr algn="ctr"/>
            <a:r>
              <a:rPr lang="en-US" sz="1400" dirty="0"/>
              <a:t>-35dB NESZ</a:t>
            </a:r>
          </a:p>
        </p:txBody>
      </p:sp>
      <p:sp>
        <p:nvSpPr>
          <p:cNvPr id="27" name="TextBox 26"/>
          <p:cNvSpPr txBox="1"/>
          <p:nvPr/>
        </p:nvSpPr>
        <p:spPr>
          <a:xfrm>
            <a:off x="3504867" y="6270975"/>
            <a:ext cx="1963417" cy="307777"/>
          </a:xfrm>
          <a:prstGeom prst="rect">
            <a:avLst/>
          </a:prstGeom>
          <a:noFill/>
        </p:spPr>
        <p:txBody>
          <a:bodyPr wrap="square" rtlCol="0">
            <a:spAutoFit/>
          </a:bodyPr>
          <a:lstStyle/>
          <a:p>
            <a:pPr algn="ctr"/>
            <a:r>
              <a:rPr lang="en-US" sz="1400" dirty="0"/>
              <a:t>-40dB NESZ</a:t>
            </a:r>
          </a:p>
        </p:txBody>
      </p:sp>
      <p:pic>
        <p:nvPicPr>
          <p:cNvPr id="28" name="Picture 27" descr="Screen Shot 2013-05-01 at 12.17.44 P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48802" y="3824578"/>
            <a:ext cx="1962446" cy="2446397"/>
          </a:xfrm>
          <a:prstGeom prst="rect">
            <a:avLst/>
          </a:prstGeom>
        </p:spPr>
      </p:pic>
      <p:sp>
        <p:nvSpPr>
          <p:cNvPr id="29" name="TextBox 28"/>
          <p:cNvSpPr txBox="1"/>
          <p:nvPr/>
        </p:nvSpPr>
        <p:spPr>
          <a:xfrm>
            <a:off x="5948802" y="6269486"/>
            <a:ext cx="1963417" cy="307777"/>
          </a:xfrm>
          <a:prstGeom prst="rect">
            <a:avLst/>
          </a:prstGeom>
          <a:noFill/>
        </p:spPr>
        <p:txBody>
          <a:bodyPr wrap="square" rtlCol="0">
            <a:spAutoFit/>
          </a:bodyPr>
          <a:lstStyle/>
          <a:p>
            <a:pPr algn="ctr"/>
            <a:r>
              <a:rPr lang="en-US" sz="1400" dirty="0"/>
              <a:t>-45dB NESZ</a:t>
            </a:r>
          </a:p>
        </p:txBody>
      </p:sp>
      <p:sp>
        <p:nvSpPr>
          <p:cNvPr id="6" name="Date Placeholder 5">
            <a:extLst>
              <a:ext uri="{FF2B5EF4-FFF2-40B4-BE49-F238E27FC236}">
                <a16:creationId xmlns:a16="http://schemas.microsoft.com/office/drawing/2014/main" id="{9BC808BE-2930-F858-FE58-EE92AD29EFD2}"/>
              </a:ext>
            </a:extLst>
          </p:cNvPr>
          <p:cNvSpPr>
            <a:spLocks noGrp="1"/>
          </p:cNvSpPr>
          <p:nvPr>
            <p:ph type="dt" sz="half" idx="10"/>
          </p:nvPr>
        </p:nvSpPr>
        <p:spPr/>
        <p:txBody>
          <a:bodyPr/>
          <a:lstStyle/>
          <a:p>
            <a:fld id="{CAA8A396-9A61-B648-9AFE-E8702AD3F239}" type="datetime1">
              <a:rPr lang="en-US" smtClean="0"/>
              <a:t>3/25/26</a:t>
            </a:fld>
            <a:endParaRPr lang="en-US"/>
          </a:p>
        </p:txBody>
      </p:sp>
      <p:sp>
        <p:nvSpPr>
          <p:cNvPr id="7" name="Footer Placeholder 6">
            <a:extLst>
              <a:ext uri="{FF2B5EF4-FFF2-40B4-BE49-F238E27FC236}">
                <a16:creationId xmlns:a16="http://schemas.microsoft.com/office/drawing/2014/main" id="{E59B8AAC-1A78-C213-3C88-C36164504FC8}"/>
              </a:ext>
            </a:extLst>
          </p:cNvPr>
          <p:cNvSpPr>
            <a:spLocks noGrp="1"/>
          </p:cNvSpPr>
          <p:nvPr>
            <p:ph type="ftr" sz="quarter" idx="11"/>
          </p:nvPr>
        </p:nvSpPr>
        <p:spPr/>
        <p:txBody>
          <a:bodyPr/>
          <a:lstStyle/>
          <a:p>
            <a:r>
              <a:rPr lang="en-US"/>
              <a:t>Does Not Contain CUI.</a:t>
            </a:r>
          </a:p>
        </p:txBody>
      </p:sp>
      <p:sp>
        <p:nvSpPr>
          <p:cNvPr id="8" name="Slide Number Placeholder 7">
            <a:extLst>
              <a:ext uri="{FF2B5EF4-FFF2-40B4-BE49-F238E27FC236}">
                <a16:creationId xmlns:a16="http://schemas.microsoft.com/office/drawing/2014/main" id="{502AA29D-AC24-08FA-2529-D3F2F5A094B1}"/>
              </a:ext>
            </a:extLst>
          </p:cNvPr>
          <p:cNvSpPr>
            <a:spLocks noGrp="1"/>
          </p:cNvSpPr>
          <p:nvPr>
            <p:ph type="sldNum" sz="quarter" idx="12"/>
          </p:nvPr>
        </p:nvSpPr>
        <p:spPr/>
        <p:txBody>
          <a:bodyPr/>
          <a:lstStyle/>
          <a:p>
            <a:fld id="{B4CE5C4C-399A-B444-9B2A-945D2610250E}" type="slidenum">
              <a:rPr lang="en-US" smtClean="0"/>
              <a:t>78</a:t>
            </a:fld>
            <a:endParaRPr lang="en-US"/>
          </a:p>
        </p:txBody>
      </p:sp>
    </p:spTree>
    <p:extLst>
      <p:ext uri="{BB962C8B-B14F-4D97-AF65-F5344CB8AC3E}">
        <p14:creationId xmlns:p14="http://schemas.microsoft.com/office/powerpoint/2010/main" val="8021888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3859" y="159187"/>
            <a:ext cx="7113661" cy="517026"/>
          </a:xfrm>
        </p:spPr>
        <p:txBody>
          <a:bodyPr>
            <a:normAutofit fontScale="90000"/>
          </a:bodyPr>
          <a:lstStyle/>
          <a:p>
            <a:r>
              <a:rPr lang="en-US" sz="2800" dirty="0"/>
              <a:t>Coherence</a:t>
            </a:r>
          </a:p>
        </p:txBody>
      </p:sp>
      <p:sp>
        <p:nvSpPr>
          <p:cNvPr id="24" name="TextBox 23"/>
          <p:cNvSpPr txBox="1"/>
          <p:nvPr/>
        </p:nvSpPr>
        <p:spPr>
          <a:xfrm>
            <a:off x="2330157" y="3284801"/>
            <a:ext cx="1963417" cy="307777"/>
          </a:xfrm>
          <a:prstGeom prst="rect">
            <a:avLst/>
          </a:prstGeom>
          <a:noFill/>
        </p:spPr>
        <p:txBody>
          <a:bodyPr wrap="square" rtlCol="0">
            <a:spAutoFit/>
          </a:bodyPr>
          <a:lstStyle/>
          <a:p>
            <a:pPr algn="ctr"/>
            <a:r>
              <a:rPr lang="en-US" sz="1400" dirty="0"/>
              <a:t>-25dB NESZ</a:t>
            </a:r>
          </a:p>
        </p:txBody>
      </p:sp>
      <p:sp>
        <p:nvSpPr>
          <p:cNvPr id="25" name="TextBox 24"/>
          <p:cNvSpPr txBox="1"/>
          <p:nvPr/>
        </p:nvSpPr>
        <p:spPr>
          <a:xfrm>
            <a:off x="4760889" y="3300770"/>
            <a:ext cx="1963417" cy="307777"/>
          </a:xfrm>
          <a:prstGeom prst="rect">
            <a:avLst/>
          </a:prstGeom>
          <a:noFill/>
        </p:spPr>
        <p:txBody>
          <a:bodyPr wrap="square" rtlCol="0">
            <a:spAutoFit/>
          </a:bodyPr>
          <a:lstStyle/>
          <a:p>
            <a:pPr algn="ctr"/>
            <a:r>
              <a:rPr lang="en-US" sz="1400" dirty="0"/>
              <a:t>-30dB NESZ</a:t>
            </a:r>
          </a:p>
        </p:txBody>
      </p:sp>
      <p:sp>
        <p:nvSpPr>
          <p:cNvPr id="26" name="TextBox 25"/>
          <p:cNvSpPr txBox="1"/>
          <p:nvPr/>
        </p:nvSpPr>
        <p:spPr>
          <a:xfrm>
            <a:off x="1043161" y="6270975"/>
            <a:ext cx="1963417" cy="307777"/>
          </a:xfrm>
          <a:prstGeom prst="rect">
            <a:avLst/>
          </a:prstGeom>
          <a:noFill/>
        </p:spPr>
        <p:txBody>
          <a:bodyPr wrap="square" rtlCol="0">
            <a:spAutoFit/>
          </a:bodyPr>
          <a:lstStyle/>
          <a:p>
            <a:pPr algn="ctr"/>
            <a:r>
              <a:rPr lang="en-US" sz="1400" dirty="0"/>
              <a:t>-35dB NESZ</a:t>
            </a:r>
          </a:p>
        </p:txBody>
      </p:sp>
      <p:sp>
        <p:nvSpPr>
          <p:cNvPr id="27" name="TextBox 26"/>
          <p:cNvSpPr txBox="1"/>
          <p:nvPr/>
        </p:nvSpPr>
        <p:spPr>
          <a:xfrm>
            <a:off x="3504867" y="6270975"/>
            <a:ext cx="1963417" cy="307777"/>
          </a:xfrm>
          <a:prstGeom prst="rect">
            <a:avLst/>
          </a:prstGeom>
          <a:noFill/>
        </p:spPr>
        <p:txBody>
          <a:bodyPr wrap="square" rtlCol="0">
            <a:spAutoFit/>
          </a:bodyPr>
          <a:lstStyle/>
          <a:p>
            <a:pPr algn="ctr"/>
            <a:r>
              <a:rPr lang="en-US" sz="1400" dirty="0"/>
              <a:t>-40dB NESZ</a:t>
            </a:r>
          </a:p>
        </p:txBody>
      </p:sp>
      <p:sp>
        <p:nvSpPr>
          <p:cNvPr id="29" name="TextBox 28"/>
          <p:cNvSpPr txBox="1"/>
          <p:nvPr/>
        </p:nvSpPr>
        <p:spPr>
          <a:xfrm>
            <a:off x="5948802" y="6269486"/>
            <a:ext cx="1963417" cy="307777"/>
          </a:xfrm>
          <a:prstGeom prst="rect">
            <a:avLst/>
          </a:prstGeom>
          <a:noFill/>
        </p:spPr>
        <p:txBody>
          <a:bodyPr wrap="square" rtlCol="0">
            <a:spAutoFit/>
          </a:bodyPr>
          <a:lstStyle/>
          <a:p>
            <a:pPr algn="ctr"/>
            <a:r>
              <a:rPr lang="en-US" sz="1400" dirty="0"/>
              <a:t>-45dB NESZ</a:t>
            </a:r>
          </a:p>
        </p:txBody>
      </p:sp>
      <p:pic>
        <p:nvPicPr>
          <p:cNvPr id="6" name="Picture 5" descr="Screen Shot 2013-05-01 at 12.23.5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133" y="838404"/>
            <a:ext cx="1954441" cy="2446397"/>
          </a:xfrm>
          <a:prstGeom prst="rect">
            <a:avLst/>
          </a:prstGeom>
          <a:ln>
            <a:solidFill>
              <a:schemeClr val="tx1"/>
            </a:solidFill>
          </a:ln>
        </p:spPr>
      </p:pic>
      <p:pic>
        <p:nvPicPr>
          <p:cNvPr id="7" name="Picture 6" descr="Screen Shot 2013-05-01 at 12.24.07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0486" y="854373"/>
            <a:ext cx="1963820" cy="2446397"/>
          </a:xfrm>
          <a:prstGeom prst="rect">
            <a:avLst/>
          </a:prstGeom>
          <a:ln>
            <a:solidFill>
              <a:schemeClr val="tx1"/>
            </a:solidFill>
          </a:ln>
        </p:spPr>
      </p:pic>
      <p:pic>
        <p:nvPicPr>
          <p:cNvPr id="9" name="Picture 8" descr="Screen Shot 2013-05-01 at 12.24.15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161" y="3814271"/>
            <a:ext cx="1963417" cy="2446720"/>
          </a:xfrm>
          <a:prstGeom prst="rect">
            <a:avLst/>
          </a:prstGeom>
          <a:ln>
            <a:solidFill>
              <a:schemeClr val="tx1"/>
            </a:solidFill>
          </a:ln>
        </p:spPr>
      </p:pic>
      <p:pic>
        <p:nvPicPr>
          <p:cNvPr id="10" name="Picture 9" descr="Screen Shot 2013-05-01 at 12.24.30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8892" y="3814271"/>
            <a:ext cx="1959392" cy="2446720"/>
          </a:xfrm>
          <a:prstGeom prst="rect">
            <a:avLst/>
          </a:prstGeom>
          <a:ln>
            <a:solidFill>
              <a:schemeClr val="tx1"/>
            </a:solidFill>
          </a:ln>
        </p:spPr>
      </p:pic>
      <p:pic>
        <p:nvPicPr>
          <p:cNvPr id="11" name="Picture 10" descr="Screen Shot 2013-05-01 at 12.24.43 P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28807" y="3814271"/>
            <a:ext cx="1983412" cy="2473312"/>
          </a:xfrm>
          <a:prstGeom prst="rect">
            <a:avLst/>
          </a:prstGeom>
          <a:ln>
            <a:solidFill>
              <a:schemeClr val="tx1"/>
            </a:solidFill>
          </a:ln>
        </p:spPr>
      </p:pic>
      <p:sp>
        <p:nvSpPr>
          <p:cNvPr id="3" name="Date Placeholder 2">
            <a:extLst>
              <a:ext uri="{FF2B5EF4-FFF2-40B4-BE49-F238E27FC236}">
                <a16:creationId xmlns:a16="http://schemas.microsoft.com/office/drawing/2014/main" id="{4F9164F6-876E-FF6E-D758-9A34EFABECF6}"/>
              </a:ext>
            </a:extLst>
          </p:cNvPr>
          <p:cNvSpPr>
            <a:spLocks noGrp="1"/>
          </p:cNvSpPr>
          <p:nvPr>
            <p:ph type="dt" sz="half" idx="10"/>
          </p:nvPr>
        </p:nvSpPr>
        <p:spPr/>
        <p:txBody>
          <a:bodyPr/>
          <a:lstStyle/>
          <a:p>
            <a:fld id="{CF82ACD4-2803-8440-BE25-A2434A8FAEB4}" type="datetime1">
              <a:rPr lang="en-US" smtClean="0"/>
              <a:t>3/25/26</a:t>
            </a:fld>
            <a:endParaRPr lang="en-US"/>
          </a:p>
        </p:txBody>
      </p:sp>
      <p:sp>
        <p:nvSpPr>
          <p:cNvPr id="4" name="Footer Placeholder 3">
            <a:extLst>
              <a:ext uri="{FF2B5EF4-FFF2-40B4-BE49-F238E27FC236}">
                <a16:creationId xmlns:a16="http://schemas.microsoft.com/office/drawing/2014/main" id="{66D242D5-DF2F-42FF-404C-E49909381BAD}"/>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E6F16883-5E6F-9B9B-BB98-6B92B8C39C5A}"/>
              </a:ext>
            </a:extLst>
          </p:cNvPr>
          <p:cNvSpPr>
            <a:spLocks noGrp="1"/>
          </p:cNvSpPr>
          <p:nvPr>
            <p:ph type="sldNum" sz="quarter" idx="12"/>
          </p:nvPr>
        </p:nvSpPr>
        <p:spPr/>
        <p:txBody>
          <a:bodyPr/>
          <a:lstStyle/>
          <a:p>
            <a:fld id="{B4CE5C4C-399A-B444-9B2A-945D2610250E}" type="slidenum">
              <a:rPr lang="en-US" smtClean="0"/>
              <a:t>79</a:t>
            </a:fld>
            <a:endParaRPr lang="en-US"/>
          </a:p>
        </p:txBody>
      </p:sp>
    </p:spTree>
    <p:extLst>
      <p:ext uri="{BB962C8B-B14F-4D97-AF65-F5344CB8AC3E}">
        <p14:creationId xmlns:p14="http://schemas.microsoft.com/office/powerpoint/2010/main" val="15721397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3859" y="159187"/>
            <a:ext cx="7113661" cy="517026"/>
          </a:xfrm>
        </p:spPr>
        <p:txBody>
          <a:bodyPr>
            <a:normAutofit fontScale="90000"/>
          </a:bodyPr>
          <a:lstStyle/>
          <a:p>
            <a:r>
              <a:rPr lang="en-US" sz="2800" dirty="0"/>
              <a:t>Coherence</a:t>
            </a:r>
          </a:p>
        </p:txBody>
      </p:sp>
      <p:pic>
        <p:nvPicPr>
          <p:cNvPr id="7" name="Picture 6" descr="Screen Shot 2013-05-01 at 12.24.0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3859" y="1213790"/>
            <a:ext cx="1963820" cy="2446397"/>
          </a:xfrm>
          <a:prstGeom prst="rect">
            <a:avLst/>
          </a:prstGeom>
          <a:ln>
            <a:solidFill>
              <a:schemeClr val="tx1"/>
            </a:solidFill>
          </a:ln>
        </p:spPr>
      </p:pic>
      <p:pic>
        <p:nvPicPr>
          <p:cNvPr id="3" name="Picture 2" descr="NESZ_gndcoh.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6228" y="676213"/>
            <a:ext cx="3712014" cy="2784010"/>
          </a:xfrm>
          <a:prstGeom prst="rect">
            <a:avLst/>
          </a:prstGeom>
        </p:spPr>
      </p:pic>
      <p:cxnSp>
        <p:nvCxnSpPr>
          <p:cNvPr id="5" name="Straight Arrow Connector 4"/>
          <p:cNvCxnSpPr/>
          <p:nvPr/>
        </p:nvCxnSpPr>
        <p:spPr>
          <a:xfrm>
            <a:off x="2617858" y="1675058"/>
            <a:ext cx="1425798" cy="4674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Rectangle 7"/>
          <p:cNvSpPr/>
          <p:nvPr/>
        </p:nvSpPr>
        <p:spPr>
          <a:xfrm>
            <a:off x="2360747" y="1433538"/>
            <a:ext cx="568761" cy="506413"/>
          </a:xfrm>
          <a:prstGeom prst="rect">
            <a:avLst/>
          </a:prstGeom>
          <a:noFill/>
          <a:ln w="28575" cmpd="sng">
            <a:solidFill>
              <a:schemeClr val="tx1"/>
            </a:solidFill>
          </a:ln>
          <a:effectLst>
            <a:glow rad="63500">
              <a:schemeClr val="accent2">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NESZ_forestcoh.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344" y="4051853"/>
            <a:ext cx="3741529" cy="2806147"/>
          </a:xfrm>
          <a:prstGeom prst="rect">
            <a:avLst/>
          </a:prstGeom>
        </p:spPr>
      </p:pic>
      <p:sp>
        <p:nvSpPr>
          <p:cNvPr id="18" name="Rectangle 17"/>
          <p:cNvSpPr/>
          <p:nvPr/>
        </p:nvSpPr>
        <p:spPr>
          <a:xfrm>
            <a:off x="1714074" y="2911637"/>
            <a:ext cx="362764" cy="253682"/>
          </a:xfrm>
          <a:prstGeom prst="rect">
            <a:avLst/>
          </a:prstGeom>
          <a:noFill/>
          <a:ln w="28575" cmpd="sng">
            <a:solidFill>
              <a:schemeClr val="tx1"/>
            </a:solidFill>
          </a:ln>
          <a:effectLst>
            <a:glow rad="63500">
              <a:schemeClr val="accent2">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a:off x="1819726" y="3042849"/>
            <a:ext cx="424153" cy="1109737"/>
          </a:xfrm>
          <a:prstGeom prst="straightConnector1">
            <a:avLst/>
          </a:prstGeom>
          <a:ln>
            <a:tailEnd type="arrow"/>
          </a:ln>
          <a:effectLst/>
        </p:spPr>
        <p:style>
          <a:lnRef idx="2">
            <a:schemeClr val="dk1"/>
          </a:lnRef>
          <a:fillRef idx="0">
            <a:schemeClr val="dk1"/>
          </a:fillRef>
          <a:effectRef idx="1">
            <a:schemeClr val="dk1"/>
          </a:effectRef>
          <a:fontRef idx="minor">
            <a:schemeClr val="tx1"/>
          </a:fontRef>
        </p:style>
      </p:cxnSp>
      <p:pic>
        <p:nvPicPr>
          <p:cNvPr id="14" name="Picture 13" descr="NESZ_shadecoh.ep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50450" y="3831330"/>
            <a:ext cx="3747070" cy="2810303"/>
          </a:xfrm>
          <a:prstGeom prst="rect">
            <a:avLst/>
          </a:prstGeom>
        </p:spPr>
      </p:pic>
      <p:sp>
        <p:nvSpPr>
          <p:cNvPr id="22" name="Rectangle 21"/>
          <p:cNvSpPr/>
          <p:nvPr/>
        </p:nvSpPr>
        <p:spPr>
          <a:xfrm>
            <a:off x="1532692" y="2174237"/>
            <a:ext cx="362764" cy="253682"/>
          </a:xfrm>
          <a:prstGeom prst="rect">
            <a:avLst/>
          </a:prstGeom>
          <a:noFill/>
          <a:ln w="28575" cmpd="sng">
            <a:solidFill>
              <a:schemeClr val="bg1"/>
            </a:solidFill>
          </a:ln>
          <a:effectLst>
            <a:glow rad="63500">
              <a:schemeClr val="accent2">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Arrow Connector 22"/>
          <p:cNvCxnSpPr/>
          <p:nvPr/>
        </p:nvCxnSpPr>
        <p:spPr>
          <a:xfrm>
            <a:off x="1819726" y="2350485"/>
            <a:ext cx="2753735" cy="1552790"/>
          </a:xfrm>
          <a:prstGeom prst="straightConnector1">
            <a:avLst/>
          </a:prstGeom>
          <a:ln>
            <a:tailEnd type="arrow"/>
          </a:ln>
          <a:effectLst>
            <a:outerShdw blurRad="50800" dist="38100" algn="l" rotWithShape="0">
              <a:schemeClr val="bg1">
                <a:lumMod val="75000"/>
                <a:alpha val="40000"/>
              </a:schemeClr>
            </a:outerShdw>
          </a:effectLst>
        </p:spPr>
        <p:style>
          <a:lnRef idx="2">
            <a:schemeClr val="dk1"/>
          </a:lnRef>
          <a:fillRef idx="0">
            <a:schemeClr val="dk1"/>
          </a:fillRef>
          <a:effectRef idx="1">
            <a:schemeClr val="dk1"/>
          </a:effectRef>
          <a:fontRef idx="minor">
            <a:schemeClr val="tx1"/>
          </a:fontRef>
        </p:style>
      </p:cxnSp>
      <p:sp>
        <p:nvSpPr>
          <p:cNvPr id="4" name="Date Placeholder 3">
            <a:extLst>
              <a:ext uri="{FF2B5EF4-FFF2-40B4-BE49-F238E27FC236}">
                <a16:creationId xmlns:a16="http://schemas.microsoft.com/office/drawing/2014/main" id="{B2676C96-A495-7727-54A0-536C15357AF2}"/>
              </a:ext>
            </a:extLst>
          </p:cNvPr>
          <p:cNvSpPr>
            <a:spLocks noGrp="1"/>
          </p:cNvSpPr>
          <p:nvPr>
            <p:ph type="dt" sz="half" idx="10"/>
          </p:nvPr>
        </p:nvSpPr>
        <p:spPr/>
        <p:txBody>
          <a:bodyPr/>
          <a:lstStyle/>
          <a:p>
            <a:fld id="{0963BEA0-B6DF-9F44-965F-567447A35431}" type="datetime1">
              <a:rPr lang="en-US" smtClean="0"/>
              <a:t>3/25/26</a:t>
            </a:fld>
            <a:endParaRPr lang="en-US"/>
          </a:p>
        </p:txBody>
      </p:sp>
      <p:sp>
        <p:nvSpPr>
          <p:cNvPr id="6" name="Footer Placeholder 5">
            <a:extLst>
              <a:ext uri="{FF2B5EF4-FFF2-40B4-BE49-F238E27FC236}">
                <a16:creationId xmlns:a16="http://schemas.microsoft.com/office/drawing/2014/main" id="{4508B0B2-D121-59AD-487A-613F99E536FF}"/>
              </a:ext>
            </a:extLst>
          </p:cNvPr>
          <p:cNvSpPr>
            <a:spLocks noGrp="1"/>
          </p:cNvSpPr>
          <p:nvPr>
            <p:ph type="ftr" sz="quarter" idx="11"/>
          </p:nvPr>
        </p:nvSpPr>
        <p:spPr/>
        <p:txBody>
          <a:bodyPr/>
          <a:lstStyle/>
          <a:p>
            <a:r>
              <a:rPr lang="en-US"/>
              <a:t>Does Not Contain CUI.</a:t>
            </a:r>
          </a:p>
        </p:txBody>
      </p:sp>
      <p:sp>
        <p:nvSpPr>
          <p:cNvPr id="9" name="Slide Number Placeholder 8">
            <a:extLst>
              <a:ext uri="{FF2B5EF4-FFF2-40B4-BE49-F238E27FC236}">
                <a16:creationId xmlns:a16="http://schemas.microsoft.com/office/drawing/2014/main" id="{7C056B73-321C-F264-1184-F7554BC0C557}"/>
              </a:ext>
            </a:extLst>
          </p:cNvPr>
          <p:cNvSpPr>
            <a:spLocks noGrp="1"/>
          </p:cNvSpPr>
          <p:nvPr>
            <p:ph type="sldNum" sz="quarter" idx="12"/>
          </p:nvPr>
        </p:nvSpPr>
        <p:spPr/>
        <p:txBody>
          <a:bodyPr/>
          <a:lstStyle/>
          <a:p>
            <a:fld id="{B4CE5C4C-399A-B444-9B2A-945D2610250E}" type="slidenum">
              <a:rPr lang="en-US" smtClean="0"/>
              <a:t>80</a:t>
            </a:fld>
            <a:endParaRPr lang="en-US"/>
          </a:p>
        </p:txBody>
      </p:sp>
    </p:spTree>
    <p:extLst>
      <p:ext uri="{BB962C8B-B14F-4D97-AF65-F5344CB8AC3E}">
        <p14:creationId xmlns:p14="http://schemas.microsoft.com/office/powerpoint/2010/main" val="40414429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Backups</a:t>
            </a:r>
          </a:p>
        </p:txBody>
      </p:sp>
      <p:sp>
        <p:nvSpPr>
          <p:cNvPr id="3" name="Text Placeholder 2"/>
          <p:cNvSpPr>
            <a:spLocks noGrp="1"/>
          </p:cNvSpPr>
          <p:nvPr>
            <p:ph type="body" idx="1"/>
          </p:nvPr>
        </p:nvSpPr>
        <p:spPr/>
        <p:txBody>
          <a:bodyPr/>
          <a:lstStyle/>
          <a:p>
            <a:r>
              <a:rPr lang="en-US" dirty="0" err="1"/>
              <a:t>etc</a:t>
            </a:r>
            <a:endParaRPr lang="en-US" dirty="0"/>
          </a:p>
        </p:txBody>
      </p:sp>
      <p:sp>
        <p:nvSpPr>
          <p:cNvPr id="4" name="Date Placeholder 3">
            <a:extLst>
              <a:ext uri="{FF2B5EF4-FFF2-40B4-BE49-F238E27FC236}">
                <a16:creationId xmlns:a16="http://schemas.microsoft.com/office/drawing/2014/main" id="{F04997B2-439F-9C18-C3F0-3160FE5B6928}"/>
              </a:ext>
            </a:extLst>
          </p:cNvPr>
          <p:cNvSpPr>
            <a:spLocks noGrp="1"/>
          </p:cNvSpPr>
          <p:nvPr>
            <p:ph type="dt" sz="half" idx="10"/>
          </p:nvPr>
        </p:nvSpPr>
        <p:spPr/>
        <p:txBody>
          <a:bodyPr/>
          <a:lstStyle/>
          <a:p>
            <a:fld id="{BF2B79FB-989F-E348-819D-F395214577B1}" type="datetime1">
              <a:rPr lang="en-US" smtClean="0"/>
              <a:t>3/25/26</a:t>
            </a:fld>
            <a:endParaRPr lang="en-US"/>
          </a:p>
        </p:txBody>
      </p:sp>
      <p:sp>
        <p:nvSpPr>
          <p:cNvPr id="5" name="Footer Placeholder 4">
            <a:extLst>
              <a:ext uri="{FF2B5EF4-FFF2-40B4-BE49-F238E27FC236}">
                <a16:creationId xmlns:a16="http://schemas.microsoft.com/office/drawing/2014/main" id="{7B936CC5-944A-2782-2B14-29BADE2FDD61}"/>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63BCC012-7881-DAF3-ACC7-2F5C8A6AF53D}"/>
              </a:ext>
            </a:extLst>
          </p:cNvPr>
          <p:cNvSpPr>
            <a:spLocks noGrp="1"/>
          </p:cNvSpPr>
          <p:nvPr>
            <p:ph type="sldNum" sz="quarter" idx="12"/>
          </p:nvPr>
        </p:nvSpPr>
        <p:spPr/>
        <p:txBody>
          <a:bodyPr/>
          <a:lstStyle/>
          <a:p>
            <a:fld id="{B4CE5C4C-399A-B444-9B2A-945D2610250E}" type="slidenum">
              <a:rPr lang="en-US" smtClean="0"/>
              <a:t>81</a:t>
            </a:fld>
            <a:endParaRPr lang="en-US"/>
          </a:p>
        </p:txBody>
      </p:sp>
    </p:spTree>
    <p:extLst>
      <p:ext uri="{BB962C8B-B14F-4D97-AF65-F5344CB8AC3E}">
        <p14:creationId xmlns:p14="http://schemas.microsoft.com/office/powerpoint/2010/main" val="13818320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Contributions to backscatter by different sections of the forest</a:t>
            </a:r>
          </a:p>
        </p:txBody>
      </p:sp>
      <p:pic>
        <p:nvPicPr>
          <p:cNvPr id="4" name="Picture 3" descr="Screen Shot 2012-08-02 at 11.41.58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1660" y="2571750"/>
            <a:ext cx="5440680" cy="2631440"/>
          </a:xfrm>
          <a:prstGeom prst="rect">
            <a:avLst/>
          </a:prstGeom>
        </p:spPr>
      </p:pic>
      <p:sp>
        <p:nvSpPr>
          <p:cNvPr id="5" name="TextBox 4"/>
          <p:cNvSpPr txBox="1"/>
          <p:nvPr/>
        </p:nvSpPr>
        <p:spPr>
          <a:xfrm>
            <a:off x="2533210" y="5236212"/>
            <a:ext cx="3971586" cy="369332"/>
          </a:xfrm>
          <a:prstGeom prst="rect">
            <a:avLst/>
          </a:prstGeom>
          <a:noFill/>
        </p:spPr>
        <p:txBody>
          <a:bodyPr wrap="square" rtlCol="0">
            <a:spAutoFit/>
          </a:bodyPr>
          <a:lstStyle/>
          <a:p>
            <a:pPr algn="ctr"/>
            <a:r>
              <a:rPr lang="en-US" dirty="0"/>
              <a:t>Double bounce only – all sections</a:t>
            </a:r>
          </a:p>
        </p:txBody>
      </p:sp>
      <p:sp>
        <p:nvSpPr>
          <p:cNvPr id="3" name="Date Placeholder 2">
            <a:extLst>
              <a:ext uri="{FF2B5EF4-FFF2-40B4-BE49-F238E27FC236}">
                <a16:creationId xmlns:a16="http://schemas.microsoft.com/office/drawing/2014/main" id="{661CBB94-E9D1-A88A-F090-6891B83329F0}"/>
              </a:ext>
            </a:extLst>
          </p:cNvPr>
          <p:cNvSpPr>
            <a:spLocks noGrp="1"/>
          </p:cNvSpPr>
          <p:nvPr>
            <p:ph type="dt" sz="half" idx="10"/>
          </p:nvPr>
        </p:nvSpPr>
        <p:spPr/>
        <p:txBody>
          <a:bodyPr/>
          <a:lstStyle/>
          <a:p>
            <a:fld id="{037A1362-ACDD-E14C-8DDB-AFF49A2621B4}" type="datetime1">
              <a:rPr lang="en-US" smtClean="0"/>
              <a:t>3/25/26</a:t>
            </a:fld>
            <a:endParaRPr lang="en-US"/>
          </a:p>
        </p:txBody>
      </p:sp>
      <p:sp>
        <p:nvSpPr>
          <p:cNvPr id="6" name="Footer Placeholder 5">
            <a:extLst>
              <a:ext uri="{FF2B5EF4-FFF2-40B4-BE49-F238E27FC236}">
                <a16:creationId xmlns:a16="http://schemas.microsoft.com/office/drawing/2014/main" id="{87EDC454-F660-F0AF-A062-6F6058CBC88C}"/>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73F60221-5E75-7BA5-2D3E-D8EC3BFFD24E}"/>
              </a:ext>
            </a:extLst>
          </p:cNvPr>
          <p:cNvSpPr>
            <a:spLocks noGrp="1"/>
          </p:cNvSpPr>
          <p:nvPr>
            <p:ph type="sldNum" sz="quarter" idx="12"/>
          </p:nvPr>
        </p:nvSpPr>
        <p:spPr/>
        <p:txBody>
          <a:bodyPr/>
          <a:lstStyle/>
          <a:p>
            <a:fld id="{B4CE5C4C-399A-B444-9B2A-945D2610250E}" type="slidenum">
              <a:rPr lang="en-US" smtClean="0"/>
              <a:t>82</a:t>
            </a:fld>
            <a:endParaRPr lang="en-US"/>
          </a:p>
        </p:txBody>
      </p:sp>
    </p:spTree>
    <p:extLst>
      <p:ext uri="{BB962C8B-B14F-4D97-AF65-F5344CB8AC3E}">
        <p14:creationId xmlns:p14="http://schemas.microsoft.com/office/powerpoint/2010/main" val="30093251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Contributions to backscatter by different sections of the forest</a:t>
            </a:r>
          </a:p>
        </p:txBody>
      </p:sp>
      <p:sp>
        <p:nvSpPr>
          <p:cNvPr id="5" name="TextBox 4"/>
          <p:cNvSpPr txBox="1"/>
          <p:nvPr/>
        </p:nvSpPr>
        <p:spPr>
          <a:xfrm>
            <a:off x="2533210" y="5236212"/>
            <a:ext cx="3971586" cy="369332"/>
          </a:xfrm>
          <a:prstGeom prst="rect">
            <a:avLst/>
          </a:prstGeom>
          <a:noFill/>
        </p:spPr>
        <p:txBody>
          <a:bodyPr wrap="square" rtlCol="0">
            <a:spAutoFit/>
          </a:bodyPr>
          <a:lstStyle/>
          <a:p>
            <a:pPr algn="ctr"/>
            <a:r>
              <a:rPr lang="en-US" dirty="0"/>
              <a:t>Single bounce – stems only</a:t>
            </a:r>
          </a:p>
        </p:txBody>
      </p:sp>
      <p:pic>
        <p:nvPicPr>
          <p:cNvPr id="6" name="Picture 5" descr="Screen Shot 2012-08-02 at 2.39.39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6232" y="2569464"/>
            <a:ext cx="5440680" cy="2649220"/>
          </a:xfrm>
          <a:prstGeom prst="rect">
            <a:avLst/>
          </a:prstGeom>
        </p:spPr>
      </p:pic>
      <p:sp>
        <p:nvSpPr>
          <p:cNvPr id="3" name="Date Placeholder 2">
            <a:extLst>
              <a:ext uri="{FF2B5EF4-FFF2-40B4-BE49-F238E27FC236}">
                <a16:creationId xmlns:a16="http://schemas.microsoft.com/office/drawing/2014/main" id="{F0BD72D3-833C-B48A-98D3-285EAA83FA1B}"/>
              </a:ext>
            </a:extLst>
          </p:cNvPr>
          <p:cNvSpPr>
            <a:spLocks noGrp="1"/>
          </p:cNvSpPr>
          <p:nvPr>
            <p:ph type="dt" sz="half" idx="10"/>
          </p:nvPr>
        </p:nvSpPr>
        <p:spPr/>
        <p:txBody>
          <a:bodyPr/>
          <a:lstStyle/>
          <a:p>
            <a:fld id="{CBBCDE21-C582-3F4C-881C-09EAFF64BDD6}" type="datetime1">
              <a:rPr lang="en-US" smtClean="0"/>
              <a:t>3/25/26</a:t>
            </a:fld>
            <a:endParaRPr lang="en-US"/>
          </a:p>
        </p:txBody>
      </p:sp>
      <p:sp>
        <p:nvSpPr>
          <p:cNvPr id="4" name="Footer Placeholder 3">
            <a:extLst>
              <a:ext uri="{FF2B5EF4-FFF2-40B4-BE49-F238E27FC236}">
                <a16:creationId xmlns:a16="http://schemas.microsoft.com/office/drawing/2014/main" id="{B54DDFE9-E852-BC8D-AA50-892C15423D44}"/>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1D6D9221-A04D-A0B5-AF6E-923060EB6748}"/>
              </a:ext>
            </a:extLst>
          </p:cNvPr>
          <p:cNvSpPr>
            <a:spLocks noGrp="1"/>
          </p:cNvSpPr>
          <p:nvPr>
            <p:ph type="sldNum" sz="quarter" idx="12"/>
          </p:nvPr>
        </p:nvSpPr>
        <p:spPr/>
        <p:txBody>
          <a:bodyPr/>
          <a:lstStyle/>
          <a:p>
            <a:fld id="{B4CE5C4C-399A-B444-9B2A-945D2610250E}" type="slidenum">
              <a:rPr lang="en-US" smtClean="0"/>
              <a:t>83</a:t>
            </a:fld>
            <a:endParaRPr lang="en-US"/>
          </a:p>
        </p:txBody>
      </p:sp>
    </p:spTree>
    <p:extLst>
      <p:ext uri="{BB962C8B-B14F-4D97-AF65-F5344CB8AC3E}">
        <p14:creationId xmlns:p14="http://schemas.microsoft.com/office/powerpoint/2010/main" val="14877129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Contributions to backscatter by different sections of the forest</a:t>
            </a:r>
          </a:p>
        </p:txBody>
      </p:sp>
      <p:sp>
        <p:nvSpPr>
          <p:cNvPr id="5" name="TextBox 4"/>
          <p:cNvSpPr txBox="1"/>
          <p:nvPr/>
        </p:nvSpPr>
        <p:spPr>
          <a:xfrm>
            <a:off x="2533210" y="5236212"/>
            <a:ext cx="3971586" cy="369332"/>
          </a:xfrm>
          <a:prstGeom prst="rect">
            <a:avLst/>
          </a:prstGeom>
          <a:noFill/>
        </p:spPr>
        <p:txBody>
          <a:bodyPr wrap="square" rtlCol="0">
            <a:spAutoFit/>
          </a:bodyPr>
          <a:lstStyle/>
          <a:p>
            <a:pPr algn="ctr"/>
            <a:r>
              <a:rPr lang="en-US" dirty="0"/>
              <a:t>Single bounce – primaries only</a:t>
            </a:r>
          </a:p>
        </p:txBody>
      </p:sp>
      <p:pic>
        <p:nvPicPr>
          <p:cNvPr id="6" name="Picture 5" descr="Screen Shot 2012-08-02 at 11.50.41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6232" y="2569464"/>
            <a:ext cx="5422900" cy="2640330"/>
          </a:xfrm>
          <a:prstGeom prst="rect">
            <a:avLst/>
          </a:prstGeom>
        </p:spPr>
      </p:pic>
      <p:sp>
        <p:nvSpPr>
          <p:cNvPr id="3" name="Date Placeholder 2">
            <a:extLst>
              <a:ext uri="{FF2B5EF4-FFF2-40B4-BE49-F238E27FC236}">
                <a16:creationId xmlns:a16="http://schemas.microsoft.com/office/drawing/2014/main" id="{FC249D57-D36B-6CCD-B2EB-C898359842B0}"/>
              </a:ext>
            </a:extLst>
          </p:cNvPr>
          <p:cNvSpPr>
            <a:spLocks noGrp="1"/>
          </p:cNvSpPr>
          <p:nvPr>
            <p:ph type="dt" sz="half" idx="10"/>
          </p:nvPr>
        </p:nvSpPr>
        <p:spPr/>
        <p:txBody>
          <a:bodyPr/>
          <a:lstStyle/>
          <a:p>
            <a:fld id="{73192ADB-C3B8-174B-848B-F8D8446AC8B9}" type="datetime1">
              <a:rPr lang="en-US" smtClean="0"/>
              <a:t>3/25/26</a:t>
            </a:fld>
            <a:endParaRPr lang="en-US"/>
          </a:p>
        </p:txBody>
      </p:sp>
      <p:sp>
        <p:nvSpPr>
          <p:cNvPr id="4" name="Footer Placeholder 3">
            <a:extLst>
              <a:ext uri="{FF2B5EF4-FFF2-40B4-BE49-F238E27FC236}">
                <a16:creationId xmlns:a16="http://schemas.microsoft.com/office/drawing/2014/main" id="{98964866-9DE7-8EE7-4EA8-7F3B5DFC6D20}"/>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10939228-93CB-3ED5-8DFF-A1F9CD73860F}"/>
              </a:ext>
            </a:extLst>
          </p:cNvPr>
          <p:cNvSpPr>
            <a:spLocks noGrp="1"/>
          </p:cNvSpPr>
          <p:nvPr>
            <p:ph type="sldNum" sz="quarter" idx="12"/>
          </p:nvPr>
        </p:nvSpPr>
        <p:spPr/>
        <p:txBody>
          <a:bodyPr/>
          <a:lstStyle/>
          <a:p>
            <a:fld id="{B4CE5C4C-399A-B444-9B2A-945D2610250E}" type="slidenum">
              <a:rPr lang="en-US" smtClean="0"/>
              <a:t>84</a:t>
            </a:fld>
            <a:endParaRPr lang="en-US"/>
          </a:p>
        </p:txBody>
      </p:sp>
    </p:spTree>
    <p:extLst>
      <p:ext uri="{BB962C8B-B14F-4D97-AF65-F5344CB8AC3E}">
        <p14:creationId xmlns:p14="http://schemas.microsoft.com/office/powerpoint/2010/main" val="5920797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Contributions to backscatter by different sections of the forest</a:t>
            </a:r>
          </a:p>
        </p:txBody>
      </p:sp>
      <p:sp>
        <p:nvSpPr>
          <p:cNvPr id="5" name="TextBox 4"/>
          <p:cNvSpPr txBox="1"/>
          <p:nvPr/>
        </p:nvSpPr>
        <p:spPr>
          <a:xfrm>
            <a:off x="2533210" y="5236212"/>
            <a:ext cx="3971586" cy="369332"/>
          </a:xfrm>
          <a:prstGeom prst="rect">
            <a:avLst/>
          </a:prstGeom>
          <a:noFill/>
        </p:spPr>
        <p:txBody>
          <a:bodyPr wrap="square" rtlCol="0">
            <a:spAutoFit/>
          </a:bodyPr>
          <a:lstStyle/>
          <a:p>
            <a:pPr algn="ctr"/>
            <a:r>
              <a:rPr lang="en-US" dirty="0"/>
              <a:t>Single bounce – </a:t>
            </a:r>
            <a:r>
              <a:rPr lang="en-US" dirty="0" err="1"/>
              <a:t>secondaries</a:t>
            </a:r>
            <a:r>
              <a:rPr lang="en-US" dirty="0"/>
              <a:t> only</a:t>
            </a:r>
          </a:p>
        </p:txBody>
      </p:sp>
      <p:pic>
        <p:nvPicPr>
          <p:cNvPr id="3" name="Picture 2" descr="Screen Shot 2012-08-02 at 2.28.22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6232" y="2569464"/>
            <a:ext cx="5440680" cy="2631440"/>
          </a:xfrm>
          <a:prstGeom prst="rect">
            <a:avLst/>
          </a:prstGeom>
        </p:spPr>
      </p:pic>
      <p:sp>
        <p:nvSpPr>
          <p:cNvPr id="4" name="Date Placeholder 3">
            <a:extLst>
              <a:ext uri="{FF2B5EF4-FFF2-40B4-BE49-F238E27FC236}">
                <a16:creationId xmlns:a16="http://schemas.microsoft.com/office/drawing/2014/main" id="{D512C94C-569A-2906-796B-612AB25EF79E}"/>
              </a:ext>
            </a:extLst>
          </p:cNvPr>
          <p:cNvSpPr>
            <a:spLocks noGrp="1"/>
          </p:cNvSpPr>
          <p:nvPr>
            <p:ph type="dt" sz="half" idx="10"/>
          </p:nvPr>
        </p:nvSpPr>
        <p:spPr/>
        <p:txBody>
          <a:bodyPr/>
          <a:lstStyle/>
          <a:p>
            <a:fld id="{E4BCB204-E1A5-4D4F-A2A3-16D0AEDCF373}" type="datetime1">
              <a:rPr lang="en-US" smtClean="0"/>
              <a:t>3/25/26</a:t>
            </a:fld>
            <a:endParaRPr lang="en-US"/>
          </a:p>
        </p:txBody>
      </p:sp>
      <p:sp>
        <p:nvSpPr>
          <p:cNvPr id="6" name="Footer Placeholder 5">
            <a:extLst>
              <a:ext uri="{FF2B5EF4-FFF2-40B4-BE49-F238E27FC236}">
                <a16:creationId xmlns:a16="http://schemas.microsoft.com/office/drawing/2014/main" id="{8225C28A-9CF0-7E3F-FD73-CDBDE385F1CD}"/>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36696EB6-7A1D-B051-523B-163E9DA0BBF8}"/>
              </a:ext>
            </a:extLst>
          </p:cNvPr>
          <p:cNvSpPr>
            <a:spLocks noGrp="1"/>
          </p:cNvSpPr>
          <p:nvPr>
            <p:ph type="sldNum" sz="quarter" idx="12"/>
          </p:nvPr>
        </p:nvSpPr>
        <p:spPr/>
        <p:txBody>
          <a:bodyPr/>
          <a:lstStyle/>
          <a:p>
            <a:fld id="{B4CE5C4C-399A-B444-9B2A-945D2610250E}" type="slidenum">
              <a:rPr lang="en-US" smtClean="0"/>
              <a:t>85</a:t>
            </a:fld>
            <a:endParaRPr lang="en-US"/>
          </a:p>
        </p:txBody>
      </p:sp>
    </p:spTree>
    <p:extLst>
      <p:ext uri="{BB962C8B-B14F-4D97-AF65-F5344CB8AC3E}">
        <p14:creationId xmlns:p14="http://schemas.microsoft.com/office/powerpoint/2010/main" val="22996430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Contributions to backscatter by different sections of the forest</a:t>
            </a:r>
          </a:p>
        </p:txBody>
      </p:sp>
      <p:sp>
        <p:nvSpPr>
          <p:cNvPr id="5" name="TextBox 4"/>
          <p:cNvSpPr txBox="1"/>
          <p:nvPr/>
        </p:nvSpPr>
        <p:spPr>
          <a:xfrm>
            <a:off x="1923610" y="4058043"/>
            <a:ext cx="3971586" cy="369332"/>
          </a:xfrm>
          <a:prstGeom prst="rect">
            <a:avLst/>
          </a:prstGeom>
          <a:noFill/>
        </p:spPr>
        <p:txBody>
          <a:bodyPr wrap="square" rtlCol="0">
            <a:spAutoFit/>
          </a:bodyPr>
          <a:lstStyle/>
          <a:p>
            <a:pPr algn="ctr"/>
            <a:r>
              <a:rPr lang="en-US" dirty="0"/>
              <a:t>Single bounce – tertiaries only</a:t>
            </a:r>
          </a:p>
        </p:txBody>
      </p:sp>
      <p:pic>
        <p:nvPicPr>
          <p:cNvPr id="6" name="Picture 5" descr="Screen Shot 2012-08-02 at 3.04.4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228344" y="1391295"/>
            <a:ext cx="5449570" cy="2640330"/>
          </a:xfrm>
          <a:prstGeom prst="rect">
            <a:avLst/>
          </a:prstGeom>
        </p:spPr>
      </p:pic>
      <p:pic>
        <p:nvPicPr>
          <p:cNvPr id="7" name="Picture 6" descr="Screen Shot 2012-08-02 at 3.35.05 PM.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173866" y="4171137"/>
            <a:ext cx="2360533" cy="1436423"/>
          </a:xfrm>
          <a:prstGeom prst="rect">
            <a:avLst/>
          </a:prstGeom>
        </p:spPr>
      </p:pic>
      <p:sp>
        <p:nvSpPr>
          <p:cNvPr id="8" name="TextBox 7"/>
          <p:cNvSpPr txBox="1"/>
          <p:nvPr/>
        </p:nvSpPr>
        <p:spPr>
          <a:xfrm>
            <a:off x="3169318" y="4981878"/>
            <a:ext cx="3004548" cy="646331"/>
          </a:xfrm>
          <a:prstGeom prst="rect">
            <a:avLst/>
          </a:prstGeom>
          <a:noFill/>
        </p:spPr>
        <p:txBody>
          <a:bodyPr wrap="square" rtlCol="0">
            <a:spAutoFit/>
          </a:bodyPr>
          <a:lstStyle/>
          <a:p>
            <a:r>
              <a:rPr lang="en-US" dirty="0"/>
              <a:t>Single bounce tertiaries only </a:t>
            </a:r>
          </a:p>
          <a:p>
            <a:r>
              <a:rPr lang="en-US" dirty="0" err="1"/>
              <a:t>ForestInput_Flag</a:t>
            </a:r>
            <a:r>
              <a:rPr lang="en-US" dirty="0"/>
              <a:t> is unset</a:t>
            </a:r>
          </a:p>
        </p:txBody>
      </p:sp>
      <p:sp>
        <p:nvSpPr>
          <p:cNvPr id="3" name="Date Placeholder 2">
            <a:extLst>
              <a:ext uri="{FF2B5EF4-FFF2-40B4-BE49-F238E27FC236}">
                <a16:creationId xmlns:a16="http://schemas.microsoft.com/office/drawing/2014/main" id="{71BF0AE9-7401-3B76-0941-647A3BCF6F3A}"/>
              </a:ext>
            </a:extLst>
          </p:cNvPr>
          <p:cNvSpPr>
            <a:spLocks noGrp="1"/>
          </p:cNvSpPr>
          <p:nvPr>
            <p:ph type="dt" sz="half" idx="10"/>
          </p:nvPr>
        </p:nvSpPr>
        <p:spPr/>
        <p:txBody>
          <a:bodyPr/>
          <a:lstStyle/>
          <a:p>
            <a:fld id="{97C31D97-6A4A-5744-9738-1770F27702E7}" type="datetime1">
              <a:rPr lang="en-US" smtClean="0"/>
              <a:t>3/25/26</a:t>
            </a:fld>
            <a:endParaRPr lang="en-US"/>
          </a:p>
        </p:txBody>
      </p:sp>
      <p:sp>
        <p:nvSpPr>
          <p:cNvPr id="4" name="Footer Placeholder 3">
            <a:extLst>
              <a:ext uri="{FF2B5EF4-FFF2-40B4-BE49-F238E27FC236}">
                <a16:creationId xmlns:a16="http://schemas.microsoft.com/office/drawing/2014/main" id="{89895370-8A05-5735-7802-B59D0DF399FF}"/>
              </a:ext>
            </a:extLst>
          </p:cNvPr>
          <p:cNvSpPr>
            <a:spLocks noGrp="1"/>
          </p:cNvSpPr>
          <p:nvPr>
            <p:ph type="ftr" sz="quarter" idx="11"/>
          </p:nvPr>
        </p:nvSpPr>
        <p:spPr/>
        <p:txBody>
          <a:bodyPr/>
          <a:lstStyle/>
          <a:p>
            <a:r>
              <a:rPr lang="en-US"/>
              <a:t>Does Not Contain CUI.</a:t>
            </a:r>
          </a:p>
        </p:txBody>
      </p:sp>
      <p:sp>
        <p:nvSpPr>
          <p:cNvPr id="9" name="Slide Number Placeholder 8">
            <a:extLst>
              <a:ext uri="{FF2B5EF4-FFF2-40B4-BE49-F238E27FC236}">
                <a16:creationId xmlns:a16="http://schemas.microsoft.com/office/drawing/2014/main" id="{EF27D6D3-A3FF-A9E3-FF4B-9CCBAB28EC70}"/>
              </a:ext>
            </a:extLst>
          </p:cNvPr>
          <p:cNvSpPr>
            <a:spLocks noGrp="1"/>
          </p:cNvSpPr>
          <p:nvPr>
            <p:ph type="sldNum" sz="quarter" idx="12"/>
          </p:nvPr>
        </p:nvSpPr>
        <p:spPr>
          <a:xfrm>
            <a:off x="6663214" y="5279678"/>
            <a:ext cx="643449" cy="400153"/>
          </a:xfrm>
        </p:spPr>
        <p:txBody>
          <a:bodyPr/>
          <a:lstStyle/>
          <a:p>
            <a:fld id="{B4CE5C4C-399A-B444-9B2A-945D2610250E}" type="slidenum">
              <a:rPr lang="en-US" smtClean="0"/>
              <a:t>86</a:t>
            </a:fld>
            <a:endParaRPr lang="en-US"/>
          </a:p>
        </p:txBody>
      </p:sp>
    </p:spTree>
    <p:extLst>
      <p:ext uri="{BB962C8B-B14F-4D97-AF65-F5344CB8AC3E}">
        <p14:creationId xmlns:p14="http://schemas.microsoft.com/office/powerpoint/2010/main" val="29954772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Contributions to backscatter by different sections of the forest</a:t>
            </a:r>
          </a:p>
        </p:txBody>
      </p:sp>
      <p:sp>
        <p:nvSpPr>
          <p:cNvPr id="5" name="TextBox 4"/>
          <p:cNvSpPr txBox="1"/>
          <p:nvPr/>
        </p:nvSpPr>
        <p:spPr>
          <a:xfrm>
            <a:off x="2533210" y="5236212"/>
            <a:ext cx="3971586" cy="369332"/>
          </a:xfrm>
          <a:prstGeom prst="rect">
            <a:avLst/>
          </a:prstGeom>
          <a:noFill/>
        </p:spPr>
        <p:txBody>
          <a:bodyPr wrap="square" rtlCol="0">
            <a:spAutoFit/>
          </a:bodyPr>
          <a:lstStyle/>
          <a:p>
            <a:pPr algn="ctr"/>
            <a:r>
              <a:rPr lang="en-US" dirty="0"/>
              <a:t>Single bounce – foliage only</a:t>
            </a:r>
          </a:p>
        </p:txBody>
      </p:sp>
      <p:pic>
        <p:nvPicPr>
          <p:cNvPr id="3" name="Picture 2" descr="Screen Shot 2012-08-02 at 2.31.54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6232" y="2569464"/>
            <a:ext cx="5440680" cy="2649220"/>
          </a:xfrm>
          <a:prstGeom prst="rect">
            <a:avLst/>
          </a:prstGeom>
        </p:spPr>
      </p:pic>
      <p:sp>
        <p:nvSpPr>
          <p:cNvPr id="4" name="Date Placeholder 3">
            <a:extLst>
              <a:ext uri="{FF2B5EF4-FFF2-40B4-BE49-F238E27FC236}">
                <a16:creationId xmlns:a16="http://schemas.microsoft.com/office/drawing/2014/main" id="{4A8DE747-BCCC-6574-1ED7-DC776CA95D5F}"/>
              </a:ext>
            </a:extLst>
          </p:cNvPr>
          <p:cNvSpPr>
            <a:spLocks noGrp="1"/>
          </p:cNvSpPr>
          <p:nvPr>
            <p:ph type="dt" sz="half" idx="10"/>
          </p:nvPr>
        </p:nvSpPr>
        <p:spPr/>
        <p:txBody>
          <a:bodyPr/>
          <a:lstStyle/>
          <a:p>
            <a:fld id="{49CC12B3-F1C2-8048-81AF-B3AE750E44E6}" type="datetime1">
              <a:rPr lang="en-US" smtClean="0"/>
              <a:t>3/25/26</a:t>
            </a:fld>
            <a:endParaRPr lang="en-US"/>
          </a:p>
        </p:txBody>
      </p:sp>
      <p:sp>
        <p:nvSpPr>
          <p:cNvPr id="6" name="Footer Placeholder 5">
            <a:extLst>
              <a:ext uri="{FF2B5EF4-FFF2-40B4-BE49-F238E27FC236}">
                <a16:creationId xmlns:a16="http://schemas.microsoft.com/office/drawing/2014/main" id="{24095529-41C8-E3CE-5518-0C3EB6B3AB15}"/>
              </a:ext>
            </a:extLst>
          </p:cNvPr>
          <p:cNvSpPr>
            <a:spLocks noGrp="1"/>
          </p:cNvSpPr>
          <p:nvPr>
            <p:ph type="ftr" sz="quarter" idx="11"/>
          </p:nvPr>
        </p:nvSpPr>
        <p:spPr/>
        <p:txBody>
          <a:bodyPr/>
          <a:lstStyle/>
          <a:p>
            <a:r>
              <a:rPr lang="en-US"/>
              <a:t>Does Not Contain CUI.</a:t>
            </a:r>
          </a:p>
        </p:txBody>
      </p:sp>
      <p:sp>
        <p:nvSpPr>
          <p:cNvPr id="7" name="Slide Number Placeholder 6">
            <a:extLst>
              <a:ext uri="{FF2B5EF4-FFF2-40B4-BE49-F238E27FC236}">
                <a16:creationId xmlns:a16="http://schemas.microsoft.com/office/drawing/2014/main" id="{248298B5-4524-6AEA-8D90-FBE41A853A13}"/>
              </a:ext>
            </a:extLst>
          </p:cNvPr>
          <p:cNvSpPr>
            <a:spLocks noGrp="1"/>
          </p:cNvSpPr>
          <p:nvPr>
            <p:ph type="sldNum" sz="quarter" idx="12"/>
          </p:nvPr>
        </p:nvSpPr>
        <p:spPr/>
        <p:txBody>
          <a:bodyPr/>
          <a:lstStyle/>
          <a:p>
            <a:fld id="{B4CE5C4C-399A-B444-9B2A-945D2610250E}" type="slidenum">
              <a:rPr lang="en-US" smtClean="0"/>
              <a:t>87</a:t>
            </a:fld>
            <a:endParaRPr lang="en-US"/>
          </a:p>
        </p:txBody>
      </p:sp>
    </p:spTree>
    <p:extLst>
      <p:ext uri="{BB962C8B-B14F-4D97-AF65-F5344CB8AC3E}">
        <p14:creationId xmlns:p14="http://schemas.microsoft.com/office/powerpoint/2010/main" val="4254218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Simulated forest </a:t>
            </a:r>
            <a:r>
              <a:rPr lang="en-US" sz="2400" dirty="0" err="1"/>
              <a:t>scatterer</a:t>
            </a:r>
            <a:r>
              <a:rPr lang="en-US" sz="2400" dirty="0"/>
              <a:t> count</a:t>
            </a:r>
          </a:p>
        </p:txBody>
      </p:sp>
      <p:pic>
        <p:nvPicPr>
          <p:cNvPr id="4" name="Content Placeholder 3" descr="biomatter_profile.eps"/>
          <p:cNvPicPr>
            <a:picLocks noGrp="1" noChangeAspect="1"/>
          </p:cNvPicPr>
          <p:nvPr>
            <p:ph idx="1"/>
          </p:nvPr>
        </p:nvPicPr>
        <p:blipFill>
          <a:blip r:embed="rId2">
            <a:extLst>
              <a:ext uri="{28A0092B-C50C-407E-A947-70E740481C1C}">
                <a14:useLocalDpi xmlns:a14="http://schemas.microsoft.com/office/drawing/2010/main" val="0"/>
              </a:ext>
            </a:extLst>
          </a:blip>
          <a:srcRect l="-18187" r="-18187"/>
          <a:stretch>
            <a:fillRect/>
          </a:stretch>
        </p:blipFill>
        <p:spPr/>
      </p:pic>
      <p:sp>
        <p:nvSpPr>
          <p:cNvPr id="3" name="Date Placeholder 2">
            <a:extLst>
              <a:ext uri="{FF2B5EF4-FFF2-40B4-BE49-F238E27FC236}">
                <a16:creationId xmlns:a16="http://schemas.microsoft.com/office/drawing/2014/main" id="{BA2D6CF1-1790-91DB-EF59-DE108A6AA17E}"/>
              </a:ext>
            </a:extLst>
          </p:cNvPr>
          <p:cNvSpPr>
            <a:spLocks noGrp="1"/>
          </p:cNvSpPr>
          <p:nvPr>
            <p:ph type="dt" sz="half" idx="10"/>
          </p:nvPr>
        </p:nvSpPr>
        <p:spPr/>
        <p:txBody>
          <a:bodyPr/>
          <a:lstStyle/>
          <a:p>
            <a:fld id="{55885297-1313-9D48-BBDE-E44A807FABB9}" type="datetime1">
              <a:rPr lang="en-US" smtClean="0"/>
              <a:t>3/25/26</a:t>
            </a:fld>
            <a:endParaRPr lang="en-US"/>
          </a:p>
        </p:txBody>
      </p:sp>
      <p:sp>
        <p:nvSpPr>
          <p:cNvPr id="5" name="Footer Placeholder 4">
            <a:extLst>
              <a:ext uri="{FF2B5EF4-FFF2-40B4-BE49-F238E27FC236}">
                <a16:creationId xmlns:a16="http://schemas.microsoft.com/office/drawing/2014/main" id="{A70A3345-6D5A-ED0D-ADDD-2052F2FA83CD}"/>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4164D219-A123-EBA6-D7A4-22D42FFA079F}"/>
              </a:ext>
            </a:extLst>
          </p:cNvPr>
          <p:cNvSpPr>
            <a:spLocks noGrp="1"/>
          </p:cNvSpPr>
          <p:nvPr>
            <p:ph type="sldNum" sz="quarter" idx="12"/>
          </p:nvPr>
        </p:nvSpPr>
        <p:spPr/>
        <p:txBody>
          <a:bodyPr/>
          <a:lstStyle/>
          <a:p>
            <a:fld id="{B4CE5C4C-399A-B444-9B2A-945D2610250E}" type="slidenum">
              <a:rPr lang="en-US" smtClean="0"/>
              <a:t>88</a:t>
            </a:fld>
            <a:endParaRPr lang="en-US"/>
          </a:p>
        </p:txBody>
      </p:sp>
    </p:spTree>
    <p:extLst>
      <p:ext uri="{BB962C8B-B14F-4D97-AF65-F5344CB8AC3E}">
        <p14:creationId xmlns:p14="http://schemas.microsoft.com/office/powerpoint/2010/main" val="18792632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orest_image.bmp"/>
          <p:cNvPicPr>
            <a:picLocks noGrp="1" noChangeAspect="1"/>
          </p:cNvPicPr>
          <p:nvPr>
            <p:ph idx="1"/>
          </p:nvPr>
        </p:nvPicPr>
        <p:blipFill rotWithShape="1">
          <a:blip r:embed="rId2">
            <a:extLst>
              <a:ext uri="{28A0092B-C50C-407E-A947-70E740481C1C}">
                <a14:useLocalDpi xmlns:a14="http://schemas.microsoft.com/office/drawing/2010/main" val="0"/>
              </a:ext>
            </a:extLst>
          </a:blip>
          <a:srcRect l="10619" t="29995" r="24629" b="31930"/>
          <a:stretch/>
        </p:blipFill>
        <p:spPr>
          <a:xfrm>
            <a:off x="4069952" y="4383916"/>
            <a:ext cx="4042014" cy="2249342"/>
          </a:xfrm>
        </p:spPr>
      </p:pic>
      <p:pic>
        <p:nvPicPr>
          <p:cNvPr id="6" name="Picture 5" descr="forest_image.bmp"/>
          <p:cNvPicPr>
            <a:picLocks noChangeAspect="1"/>
          </p:cNvPicPr>
          <p:nvPr/>
        </p:nvPicPr>
        <p:blipFill rotWithShape="1">
          <a:blip r:embed="rId3">
            <a:extLst>
              <a:ext uri="{28A0092B-C50C-407E-A947-70E740481C1C}">
                <a14:useLocalDpi xmlns:a14="http://schemas.microsoft.com/office/drawing/2010/main" val="0"/>
              </a:ext>
            </a:extLst>
          </a:blip>
          <a:srcRect l="9796" t="27484" r="23106" b="29545"/>
          <a:stretch/>
        </p:blipFill>
        <p:spPr>
          <a:xfrm>
            <a:off x="684752" y="2706166"/>
            <a:ext cx="3875256" cy="2348802"/>
          </a:xfrm>
          <a:prstGeom prst="rect">
            <a:avLst/>
          </a:prstGeom>
        </p:spPr>
      </p:pic>
      <p:pic>
        <p:nvPicPr>
          <p:cNvPr id="7" name="Picture 6" descr="forest_image.bmp"/>
          <p:cNvPicPr>
            <a:picLocks noChangeAspect="1"/>
          </p:cNvPicPr>
          <p:nvPr/>
        </p:nvPicPr>
        <p:blipFill rotWithShape="1">
          <a:blip r:embed="rId4">
            <a:extLst>
              <a:ext uri="{28A0092B-C50C-407E-A947-70E740481C1C}">
                <a14:useLocalDpi xmlns:a14="http://schemas.microsoft.com/office/drawing/2010/main" val="0"/>
              </a:ext>
            </a:extLst>
          </a:blip>
          <a:srcRect l="10772" t="27660" r="23974" b="29487"/>
          <a:stretch/>
        </p:blipFill>
        <p:spPr>
          <a:xfrm>
            <a:off x="122404" y="130063"/>
            <a:ext cx="4037683" cy="2509467"/>
          </a:xfrm>
          <a:prstGeom prst="rect">
            <a:avLst/>
          </a:prstGeom>
        </p:spPr>
      </p:pic>
      <p:sp>
        <p:nvSpPr>
          <p:cNvPr id="8" name="TextBox 7"/>
          <p:cNvSpPr txBox="1"/>
          <p:nvPr/>
        </p:nvSpPr>
        <p:spPr>
          <a:xfrm>
            <a:off x="4467765" y="397842"/>
            <a:ext cx="4467765" cy="2308324"/>
          </a:xfrm>
          <a:prstGeom prst="rect">
            <a:avLst/>
          </a:prstGeom>
          <a:noFill/>
        </p:spPr>
        <p:txBody>
          <a:bodyPr wrap="square" rtlCol="0">
            <a:spAutoFit/>
          </a:bodyPr>
          <a:lstStyle/>
          <a:p>
            <a:pPr marL="285750" indent="-285750">
              <a:buFont typeface="Arial"/>
              <a:buChar char="•"/>
            </a:pPr>
            <a:r>
              <a:rPr lang="en-US" dirty="0"/>
              <a:t>Varied the statistical mixture of coniferous and deciduous trees from 100% pine at one extreme to 100% red maple on the other.</a:t>
            </a:r>
          </a:p>
          <a:p>
            <a:pPr marL="285750" indent="-285750">
              <a:buFont typeface="Arial"/>
              <a:buChar char="•"/>
            </a:pPr>
            <a:r>
              <a:rPr lang="en-US" dirty="0"/>
              <a:t>~500 trees with varying heights and canopy properties</a:t>
            </a:r>
          </a:p>
          <a:p>
            <a:pPr marL="285750" indent="-285750">
              <a:buFont typeface="Arial"/>
              <a:buChar char="•"/>
            </a:pPr>
            <a:r>
              <a:rPr lang="en-US" dirty="0"/>
              <a:t>Simulated for eight tracks with different baselines </a:t>
            </a:r>
          </a:p>
        </p:txBody>
      </p:sp>
      <p:sp>
        <p:nvSpPr>
          <p:cNvPr id="2" name="Date Placeholder 1">
            <a:extLst>
              <a:ext uri="{FF2B5EF4-FFF2-40B4-BE49-F238E27FC236}">
                <a16:creationId xmlns:a16="http://schemas.microsoft.com/office/drawing/2014/main" id="{2FE8C1C7-F6EE-F304-BFC8-92C9B931A126}"/>
              </a:ext>
            </a:extLst>
          </p:cNvPr>
          <p:cNvSpPr>
            <a:spLocks noGrp="1"/>
          </p:cNvSpPr>
          <p:nvPr>
            <p:ph type="dt" sz="half" idx="10"/>
          </p:nvPr>
        </p:nvSpPr>
        <p:spPr/>
        <p:txBody>
          <a:bodyPr/>
          <a:lstStyle/>
          <a:p>
            <a:fld id="{9A2A820B-E3B4-BB42-8197-EDE9F1FB2782}" type="datetime1">
              <a:rPr lang="en-US" smtClean="0"/>
              <a:t>3/25/26</a:t>
            </a:fld>
            <a:endParaRPr lang="en-US"/>
          </a:p>
        </p:txBody>
      </p:sp>
      <p:sp>
        <p:nvSpPr>
          <p:cNvPr id="3" name="Footer Placeholder 2">
            <a:extLst>
              <a:ext uri="{FF2B5EF4-FFF2-40B4-BE49-F238E27FC236}">
                <a16:creationId xmlns:a16="http://schemas.microsoft.com/office/drawing/2014/main" id="{ACDC6383-412A-0C29-05CC-4E153F6E10E5}"/>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71B7381F-1569-F232-68E9-E12241E1BFED}"/>
              </a:ext>
            </a:extLst>
          </p:cNvPr>
          <p:cNvSpPr>
            <a:spLocks noGrp="1"/>
          </p:cNvSpPr>
          <p:nvPr>
            <p:ph type="sldNum" sz="quarter" idx="12"/>
          </p:nvPr>
        </p:nvSpPr>
        <p:spPr/>
        <p:txBody>
          <a:bodyPr/>
          <a:lstStyle/>
          <a:p>
            <a:fld id="{B4CE5C4C-399A-B444-9B2A-945D2610250E}" type="slidenum">
              <a:rPr lang="en-US" smtClean="0"/>
              <a:t>89</a:t>
            </a:fld>
            <a:endParaRPr lang="en-US"/>
          </a:p>
        </p:txBody>
      </p:sp>
    </p:spTree>
    <p:extLst>
      <p:ext uri="{BB962C8B-B14F-4D97-AF65-F5344CB8AC3E}">
        <p14:creationId xmlns:p14="http://schemas.microsoft.com/office/powerpoint/2010/main" val="243222258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region_p100.pdf"/>
          <p:cNvPicPr>
            <a:picLocks noChangeAspect="1"/>
          </p:cNvPicPr>
          <p:nvPr/>
        </p:nvPicPr>
        <p:blipFill rotWithShape="1">
          <a:blip r:embed="rId2">
            <a:extLst>
              <a:ext uri="{28A0092B-C50C-407E-A947-70E740481C1C}">
                <a14:useLocalDpi xmlns:a14="http://schemas.microsoft.com/office/drawing/2010/main" val="0"/>
              </a:ext>
            </a:extLst>
          </a:blip>
          <a:srcRect l="22568" t="27667" r="20986" b="29271"/>
          <a:stretch/>
        </p:blipFill>
        <p:spPr>
          <a:xfrm>
            <a:off x="137704" y="160667"/>
            <a:ext cx="2193605" cy="2165674"/>
          </a:xfrm>
          <a:prstGeom prst="rect">
            <a:avLst/>
          </a:prstGeom>
        </p:spPr>
      </p:pic>
      <p:pic>
        <p:nvPicPr>
          <p:cNvPr id="7" name="Picture 6" descr="region_p90.pdf"/>
          <p:cNvPicPr>
            <a:picLocks noChangeAspect="1"/>
          </p:cNvPicPr>
          <p:nvPr/>
        </p:nvPicPr>
        <p:blipFill rotWithShape="1">
          <a:blip r:embed="rId3">
            <a:extLst>
              <a:ext uri="{28A0092B-C50C-407E-A947-70E740481C1C}">
                <a14:useLocalDpi xmlns:a14="http://schemas.microsoft.com/office/drawing/2010/main" val="0"/>
              </a:ext>
            </a:extLst>
          </a:blip>
          <a:srcRect l="22857" t="27555" r="20408" b="28936"/>
          <a:stretch/>
        </p:blipFill>
        <p:spPr>
          <a:xfrm>
            <a:off x="2761752" y="221874"/>
            <a:ext cx="2204836" cy="2188155"/>
          </a:xfrm>
          <a:prstGeom prst="rect">
            <a:avLst/>
          </a:prstGeom>
        </p:spPr>
      </p:pic>
      <p:pic>
        <p:nvPicPr>
          <p:cNvPr id="8" name="Picture 7" descr="region_p80.pdf"/>
          <p:cNvPicPr>
            <a:picLocks noChangeAspect="1"/>
          </p:cNvPicPr>
          <p:nvPr/>
        </p:nvPicPr>
        <p:blipFill rotWithShape="1">
          <a:blip r:embed="rId4">
            <a:extLst>
              <a:ext uri="{28A0092B-C50C-407E-A947-70E740481C1C}">
                <a14:useLocalDpi xmlns:a14="http://schemas.microsoft.com/office/drawing/2010/main" val="0"/>
              </a:ext>
            </a:extLst>
          </a:blip>
          <a:srcRect l="19248" t="27555" r="19831" b="28601"/>
          <a:stretch/>
        </p:blipFill>
        <p:spPr>
          <a:xfrm>
            <a:off x="5125689" y="221874"/>
            <a:ext cx="2367512" cy="2205003"/>
          </a:xfrm>
          <a:prstGeom prst="rect">
            <a:avLst/>
          </a:prstGeom>
        </p:spPr>
      </p:pic>
      <p:pic>
        <p:nvPicPr>
          <p:cNvPr id="9" name="Picture 8" descr="region_p70.pdf"/>
          <p:cNvPicPr>
            <a:picLocks noChangeAspect="1"/>
          </p:cNvPicPr>
          <p:nvPr/>
        </p:nvPicPr>
        <p:blipFill rotWithShape="1">
          <a:blip r:embed="rId5">
            <a:extLst>
              <a:ext uri="{28A0092B-C50C-407E-A947-70E740481C1C}">
                <a14:useLocalDpi xmlns:a14="http://schemas.microsoft.com/office/drawing/2010/main" val="0"/>
              </a:ext>
            </a:extLst>
          </a:blip>
          <a:srcRect l="22712" t="27109" r="19110" b="28713"/>
          <a:stretch/>
        </p:blipFill>
        <p:spPr>
          <a:xfrm>
            <a:off x="137704" y="2426877"/>
            <a:ext cx="2260914" cy="2221800"/>
          </a:xfrm>
          <a:prstGeom prst="rect">
            <a:avLst/>
          </a:prstGeom>
        </p:spPr>
      </p:pic>
      <p:pic>
        <p:nvPicPr>
          <p:cNvPr id="10" name="Picture 9" descr="region_p60.pdf"/>
          <p:cNvPicPr>
            <a:picLocks noChangeAspect="1"/>
          </p:cNvPicPr>
          <p:nvPr/>
        </p:nvPicPr>
        <p:blipFill rotWithShape="1">
          <a:blip r:embed="rId6">
            <a:extLst>
              <a:ext uri="{28A0092B-C50C-407E-A947-70E740481C1C}">
                <a14:useLocalDpi xmlns:a14="http://schemas.microsoft.com/office/drawing/2010/main" val="0"/>
              </a:ext>
            </a:extLst>
          </a:blip>
          <a:srcRect l="21846" t="28894" r="19831" b="28489"/>
          <a:stretch/>
        </p:blipFill>
        <p:spPr>
          <a:xfrm>
            <a:off x="2761752" y="2505383"/>
            <a:ext cx="2266549" cy="2143294"/>
          </a:xfrm>
          <a:prstGeom prst="rect">
            <a:avLst/>
          </a:prstGeom>
        </p:spPr>
      </p:pic>
      <p:pic>
        <p:nvPicPr>
          <p:cNvPr id="11" name="Picture 10" descr="region_p50.pdf"/>
          <p:cNvPicPr>
            <a:picLocks noChangeAspect="1"/>
          </p:cNvPicPr>
          <p:nvPr/>
        </p:nvPicPr>
        <p:blipFill rotWithShape="1">
          <a:blip r:embed="rId7">
            <a:extLst>
              <a:ext uri="{28A0092B-C50C-407E-A947-70E740481C1C}">
                <a14:useLocalDpi xmlns:a14="http://schemas.microsoft.com/office/drawing/2010/main" val="0"/>
              </a:ext>
            </a:extLst>
          </a:blip>
          <a:srcRect l="22424" t="28559" r="20553" b="28713"/>
          <a:stretch/>
        </p:blipFill>
        <p:spPr>
          <a:xfrm>
            <a:off x="5277173" y="2512466"/>
            <a:ext cx="2216028" cy="2148877"/>
          </a:xfrm>
          <a:prstGeom prst="rect">
            <a:avLst/>
          </a:prstGeom>
        </p:spPr>
      </p:pic>
      <p:pic>
        <p:nvPicPr>
          <p:cNvPr id="12" name="Picture 11" descr="region_p40.pdf"/>
          <p:cNvPicPr>
            <a:picLocks noChangeAspect="1"/>
          </p:cNvPicPr>
          <p:nvPr/>
        </p:nvPicPr>
        <p:blipFill rotWithShape="1">
          <a:blip r:embed="rId8">
            <a:extLst>
              <a:ext uri="{28A0092B-C50C-407E-A947-70E740481C1C}">
                <a14:useLocalDpi xmlns:a14="http://schemas.microsoft.com/office/drawing/2010/main" val="0"/>
              </a:ext>
            </a:extLst>
          </a:blip>
          <a:srcRect l="22858" t="27221" r="20408" b="28601"/>
          <a:stretch/>
        </p:blipFill>
        <p:spPr>
          <a:xfrm>
            <a:off x="137704" y="4648677"/>
            <a:ext cx="2204797" cy="2221800"/>
          </a:xfrm>
          <a:prstGeom prst="rect">
            <a:avLst/>
          </a:prstGeom>
        </p:spPr>
      </p:pic>
      <p:pic>
        <p:nvPicPr>
          <p:cNvPr id="13" name="Picture 12" descr="region_p30.pdf"/>
          <p:cNvPicPr>
            <a:picLocks noChangeAspect="1"/>
          </p:cNvPicPr>
          <p:nvPr/>
        </p:nvPicPr>
        <p:blipFill rotWithShape="1">
          <a:blip r:embed="rId9">
            <a:extLst>
              <a:ext uri="{28A0092B-C50C-407E-A947-70E740481C1C}">
                <a14:useLocalDpi xmlns:a14="http://schemas.microsoft.com/office/drawing/2010/main" val="0"/>
              </a:ext>
            </a:extLst>
          </a:blip>
          <a:srcRect l="22135" t="27555" r="20264" b="28825"/>
          <a:stretch/>
        </p:blipFill>
        <p:spPr>
          <a:xfrm>
            <a:off x="2761752" y="4691947"/>
            <a:ext cx="2238490" cy="2193737"/>
          </a:xfrm>
          <a:prstGeom prst="rect">
            <a:avLst/>
          </a:prstGeom>
        </p:spPr>
      </p:pic>
      <p:pic>
        <p:nvPicPr>
          <p:cNvPr id="14" name="Picture 13" descr="region_p20.pdf"/>
          <p:cNvPicPr>
            <a:picLocks noChangeAspect="1"/>
          </p:cNvPicPr>
          <p:nvPr/>
        </p:nvPicPr>
        <p:blipFill rotWithShape="1">
          <a:blip r:embed="rId10">
            <a:extLst>
              <a:ext uri="{28A0092B-C50C-407E-A947-70E740481C1C}">
                <a14:useLocalDpi xmlns:a14="http://schemas.microsoft.com/office/drawing/2010/main" val="0"/>
              </a:ext>
            </a:extLst>
          </a:blip>
          <a:srcRect l="22279" t="27221" r="19975" b="29159"/>
          <a:stretch/>
        </p:blipFill>
        <p:spPr>
          <a:xfrm>
            <a:off x="5249076" y="4648677"/>
            <a:ext cx="2244125" cy="2193737"/>
          </a:xfrm>
          <a:prstGeom prst="rect">
            <a:avLst/>
          </a:prstGeom>
        </p:spPr>
      </p:pic>
      <p:sp>
        <p:nvSpPr>
          <p:cNvPr id="15" name="TextBox 14"/>
          <p:cNvSpPr txBox="1"/>
          <p:nvPr/>
        </p:nvSpPr>
        <p:spPr>
          <a:xfrm>
            <a:off x="627323" y="1484258"/>
            <a:ext cx="1269947" cy="261610"/>
          </a:xfrm>
          <a:prstGeom prst="rect">
            <a:avLst/>
          </a:prstGeom>
          <a:noFill/>
        </p:spPr>
        <p:txBody>
          <a:bodyPr wrap="square" rtlCol="0">
            <a:spAutoFit/>
          </a:bodyPr>
          <a:lstStyle/>
          <a:p>
            <a:r>
              <a:rPr lang="en-US" sz="1100" dirty="0"/>
              <a:t>100% pine</a:t>
            </a:r>
          </a:p>
        </p:txBody>
      </p:sp>
      <p:sp>
        <p:nvSpPr>
          <p:cNvPr id="16" name="TextBox 15"/>
          <p:cNvSpPr txBox="1"/>
          <p:nvPr/>
        </p:nvSpPr>
        <p:spPr>
          <a:xfrm>
            <a:off x="5744756" y="6058829"/>
            <a:ext cx="1269947" cy="261610"/>
          </a:xfrm>
          <a:prstGeom prst="rect">
            <a:avLst/>
          </a:prstGeom>
          <a:noFill/>
        </p:spPr>
        <p:txBody>
          <a:bodyPr wrap="square" rtlCol="0">
            <a:spAutoFit/>
          </a:bodyPr>
          <a:lstStyle/>
          <a:p>
            <a:r>
              <a:rPr lang="en-US" sz="1100" dirty="0"/>
              <a:t>20% pine</a:t>
            </a:r>
          </a:p>
        </p:txBody>
      </p:sp>
      <p:sp>
        <p:nvSpPr>
          <p:cNvPr id="2" name="Date Placeholder 1">
            <a:extLst>
              <a:ext uri="{FF2B5EF4-FFF2-40B4-BE49-F238E27FC236}">
                <a16:creationId xmlns:a16="http://schemas.microsoft.com/office/drawing/2014/main" id="{A42774FB-8ED9-FF86-0CEC-78E07AB45A09}"/>
              </a:ext>
            </a:extLst>
          </p:cNvPr>
          <p:cNvSpPr>
            <a:spLocks noGrp="1"/>
          </p:cNvSpPr>
          <p:nvPr>
            <p:ph type="dt" sz="half" idx="10"/>
          </p:nvPr>
        </p:nvSpPr>
        <p:spPr/>
        <p:txBody>
          <a:bodyPr/>
          <a:lstStyle/>
          <a:p>
            <a:fld id="{CEB4C91E-760F-B641-A845-D826EFD4E855}" type="datetime1">
              <a:rPr lang="en-US" smtClean="0"/>
              <a:t>3/25/26</a:t>
            </a:fld>
            <a:endParaRPr lang="en-US"/>
          </a:p>
        </p:txBody>
      </p:sp>
      <p:sp>
        <p:nvSpPr>
          <p:cNvPr id="3" name="Footer Placeholder 2">
            <a:extLst>
              <a:ext uri="{FF2B5EF4-FFF2-40B4-BE49-F238E27FC236}">
                <a16:creationId xmlns:a16="http://schemas.microsoft.com/office/drawing/2014/main" id="{740D8368-1FD7-4943-6F96-BCE868895374}"/>
              </a:ext>
            </a:extLst>
          </p:cNvPr>
          <p:cNvSpPr>
            <a:spLocks noGrp="1"/>
          </p:cNvSpPr>
          <p:nvPr>
            <p:ph type="ftr" sz="quarter" idx="11"/>
          </p:nvPr>
        </p:nvSpPr>
        <p:spPr/>
        <p:txBody>
          <a:bodyPr/>
          <a:lstStyle/>
          <a:p>
            <a:r>
              <a:rPr lang="en-US"/>
              <a:t>Does Not Contain CUI.</a:t>
            </a:r>
          </a:p>
        </p:txBody>
      </p:sp>
      <p:sp>
        <p:nvSpPr>
          <p:cNvPr id="4" name="Slide Number Placeholder 3">
            <a:extLst>
              <a:ext uri="{FF2B5EF4-FFF2-40B4-BE49-F238E27FC236}">
                <a16:creationId xmlns:a16="http://schemas.microsoft.com/office/drawing/2014/main" id="{A1D11EAC-FFC0-68E2-8F45-5DD626843153}"/>
              </a:ext>
            </a:extLst>
          </p:cNvPr>
          <p:cNvSpPr>
            <a:spLocks noGrp="1"/>
          </p:cNvSpPr>
          <p:nvPr>
            <p:ph type="sldNum" sz="quarter" idx="12"/>
          </p:nvPr>
        </p:nvSpPr>
        <p:spPr/>
        <p:txBody>
          <a:bodyPr/>
          <a:lstStyle/>
          <a:p>
            <a:fld id="{B4CE5C4C-399A-B444-9B2A-945D2610250E}" type="slidenum">
              <a:rPr lang="en-US" smtClean="0"/>
              <a:t>90</a:t>
            </a:fld>
            <a:endParaRPr lang="en-US"/>
          </a:p>
        </p:txBody>
      </p:sp>
    </p:spTree>
    <p:extLst>
      <p:ext uri="{BB962C8B-B14F-4D97-AF65-F5344CB8AC3E}">
        <p14:creationId xmlns:p14="http://schemas.microsoft.com/office/powerpoint/2010/main" val="20220085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sz="1800" dirty="0"/>
              <a:t>Maximum of the line-fit residuals</a:t>
            </a:r>
          </a:p>
          <a:p>
            <a:endParaRPr lang="en-US" sz="1800" dirty="0"/>
          </a:p>
          <a:p>
            <a:r>
              <a:rPr lang="en-US" sz="1800" dirty="0" err="1"/>
              <a:t>Isoparametric</a:t>
            </a:r>
            <a:r>
              <a:rPr lang="en-US" sz="1800" dirty="0"/>
              <a:t> Ratio</a:t>
            </a:r>
          </a:p>
          <a:p>
            <a:endParaRPr lang="en-US" sz="1800" dirty="0"/>
          </a:p>
          <a:p>
            <a:r>
              <a:rPr lang="en-US" sz="1800" dirty="0"/>
              <a:t>Dual-pol eccentricity</a:t>
            </a:r>
          </a:p>
          <a:p>
            <a:endParaRPr lang="en-US" sz="1800" dirty="0"/>
          </a:p>
          <a:p>
            <a:r>
              <a:rPr lang="en-US" sz="1800" dirty="0" err="1"/>
              <a:t>Psuedo</a:t>
            </a:r>
            <a:r>
              <a:rPr lang="en-US" sz="1800" dirty="0"/>
              <a:t>-ellipticity </a:t>
            </a:r>
          </a:p>
          <a:p>
            <a:endParaRPr lang="en-US" sz="1800" dirty="0"/>
          </a:p>
          <a:p>
            <a:endParaRPr lang="en-US" sz="1800" dirty="0"/>
          </a:p>
          <a:p>
            <a:r>
              <a:rPr lang="en-US" sz="1800" dirty="0"/>
              <a:t>Coherence/phase SDEV relationship </a:t>
            </a:r>
          </a:p>
          <a:p>
            <a:endParaRPr lang="en-US" sz="1800" dirty="0"/>
          </a:p>
          <a:p>
            <a:endParaRPr lang="en-US" sz="1800" dirty="0"/>
          </a:p>
          <a:p>
            <a:endParaRPr lang="en-US" sz="1800" dirty="0"/>
          </a:p>
          <a:p>
            <a:r>
              <a:rPr lang="en-US" sz="1800" dirty="0"/>
              <a:t>Outward tendency </a:t>
            </a:r>
          </a:p>
        </p:txBody>
      </p:sp>
      <p:sp>
        <p:nvSpPr>
          <p:cNvPr id="4" name="Title 3"/>
          <p:cNvSpPr>
            <a:spLocks noGrp="1"/>
          </p:cNvSpPr>
          <p:nvPr>
            <p:ph type="title"/>
          </p:nvPr>
        </p:nvSpPr>
        <p:spPr/>
        <p:txBody>
          <a:bodyPr>
            <a:normAutofit/>
          </a:bodyPr>
          <a:lstStyle/>
          <a:p>
            <a:r>
              <a:rPr lang="en-US" sz="2000" dirty="0"/>
              <a:t>Metrics to Analyze </a:t>
            </a:r>
            <a:r>
              <a:rPr lang="en-US" sz="2000" dirty="0" err="1"/>
              <a:t>PolInSAR</a:t>
            </a:r>
            <a:r>
              <a:rPr lang="en-US" sz="2000" dirty="0"/>
              <a:t> line-fit</a:t>
            </a:r>
          </a:p>
        </p:txBody>
      </p:sp>
      <p:pic>
        <p:nvPicPr>
          <p:cNvPr id="5" name="Picture 4" descr="Screen Shot 2014-03-05 at 4.58.5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2307" y="2608415"/>
            <a:ext cx="2254250" cy="819150"/>
          </a:xfrm>
          <a:prstGeom prst="rect">
            <a:avLst/>
          </a:prstGeom>
        </p:spPr>
      </p:pic>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8574" y="3773376"/>
            <a:ext cx="1219200" cy="508000"/>
          </a:xfrm>
          <a:prstGeom prst="rect">
            <a:avLst/>
          </a:prstGeom>
        </p:spPr>
      </p:pic>
      <p:pic>
        <p:nvPicPr>
          <p:cNvPr id="7" name="Picture 6"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8574" y="4791790"/>
            <a:ext cx="2794000" cy="546100"/>
          </a:xfrm>
          <a:prstGeom prst="rect">
            <a:avLst/>
          </a:prstGeom>
        </p:spPr>
      </p:pic>
      <p:pic>
        <p:nvPicPr>
          <p:cNvPr id="8" name="Picture 7"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18574" y="6008688"/>
            <a:ext cx="901700" cy="234950"/>
          </a:xfrm>
          <a:prstGeom prst="rect">
            <a:avLst/>
          </a:prstGeom>
        </p:spPr>
      </p:pic>
      <p:sp>
        <p:nvSpPr>
          <p:cNvPr id="2" name="Date Placeholder 1">
            <a:extLst>
              <a:ext uri="{FF2B5EF4-FFF2-40B4-BE49-F238E27FC236}">
                <a16:creationId xmlns:a16="http://schemas.microsoft.com/office/drawing/2014/main" id="{C0D9D06D-35C3-FE52-B9D4-3435BF4DA4A7}"/>
              </a:ext>
            </a:extLst>
          </p:cNvPr>
          <p:cNvSpPr>
            <a:spLocks noGrp="1"/>
          </p:cNvSpPr>
          <p:nvPr>
            <p:ph type="dt" sz="half" idx="10"/>
          </p:nvPr>
        </p:nvSpPr>
        <p:spPr/>
        <p:txBody>
          <a:bodyPr/>
          <a:lstStyle/>
          <a:p>
            <a:fld id="{A4076F63-EF6C-C346-8A79-094E4E9B7501}" type="datetime1">
              <a:rPr lang="en-US" smtClean="0"/>
              <a:t>3/25/26</a:t>
            </a:fld>
            <a:endParaRPr lang="en-US"/>
          </a:p>
        </p:txBody>
      </p:sp>
      <p:sp>
        <p:nvSpPr>
          <p:cNvPr id="9" name="Footer Placeholder 8">
            <a:extLst>
              <a:ext uri="{FF2B5EF4-FFF2-40B4-BE49-F238E27FC236}">
                <a16:creationId xmlns:a16="http://schemas.microsoft.com/office/drawing/2014/main" id="{21E14BE8-B830-4306-9395-D007F40B4455}"/>
              </a:ext>
            </a:extLst>
          </p:cNvPr>
          <p:cNvSpPr>
            <a:spLocks noGrp="1"/>
          </p:cNvSpPr>
          <p:nvPr>
            <p:ph type="ftr" sz="quarter" idx="11"/>
          </p:nvPr>
        </p:nvSpPr>
        <p:spPr/>
        <p:txBody>
          <a:bodyPr/>
          <a:lstStyle/>
          <a:p>
            <a:r>
              <a:rPr lang="en-US"/>
              <a:t>Does Not Contain CUI.</a:t>
            </a:r>
          </a:p>
        </p:txBody>
      </p:sp>
      <p:sp>
        <p:nvSpPr>
          <p:cNvPr id="10" name="Slide Number Placeholder 9">
            <a:extLst>
              <a:ext uri="{FF2B5EF4-FFF2-40B4-BE49-F238E27FC236}">
                <a16:creationId xmlns:a16="http://schemas.microsoft.com/office/drawing/2014/main" id="{060F74E0-2734-0287-BA24-B702EE92E7B7}"/>
              </a:ext>
            </a:extLst>
          </p:cNvPr>
          <p:cNvSpPr>
            <a:spLocks noGrp="1"/>
          </p:cNvSpPr>
          <p:nvPr>
            <p:ph type="sldNum" sz="quarter" idx="12"/>
          </p:nvPr>
        </p:nvSpPr>
        <p:spPr/>
        <p:txBody>
          <a:bodyPr/>
          <a:lstStyle/>
          <a:p>
            <a:fld id="{B4CE5C4C-399A-B444-9B2A-945D2610250E}" type="slidenum">
              <a:rPr lang="en-US" smtClean="0"/>
              <a:t>91</a:t>
            </a:fld>
            <a:endParaRPr lang="en-US"/>
          </a:p>
        </p:txBody>
      </p:sp>
    </p:spTree>
    <p:extLst>
      <p:ext uri="{BB962C8B-B14F-4D97-AF65-F5344CB8AC3E}">
        <p14:creationId xmlns:p14="http://schemas.microsoft.com/office/powerpoint/2010/main" val="40809225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axr_img.pdf"/>
          <p:cNvPicPr>
            <a:picLocks noGrp="1" noChangeAspect="1"/>
          </p:cNvPicPr>
          <p:nvPr>
            <p:ph idx="1"/>
          </p:nvPr>
        </p:nvPicPr>
        <p:blipFill rotWithShape="1">
          <a:blip r:embed="rId2">
            <a:extLst>
              <a:ext uri="{28A0092B-C50C-407E-A947-70E740481C1C}">
                <a14:useLocalDpi xmlns:a14="http://schemas.microsoft.com/office/drawing/2010/main" val="0"/>
              </a:ext>
            </a:extLst>
          </a:blip>
          <a:srcRect l="11802" t="26345" r="9449" b="25816"/>
          <a:stretch/>
        </p:blipFill>
        <p:spPr>
          <a:xfrm>
            <a:off x="1422951" y="189681"/>
            <a:ext cx="2754103" cy="2165181"/>
          </a:xfrm>
        </p:spPr>
      </p:pic>
      <p:pic>
        <p:nvPicPr>
          <p:cNvPr id="5" name="Picture 4" descr="isoratio_img.pdf"/>
          <p:cNvPicPr>
            <a:picLocks noChangeAspect="1"/>
          </p:cNvPicPr>
          <p:nvPr/>
        </p:nvPicPr>
        <p:blipFill rotWithShape="1">
          <a:blip r:embed="rId3">
            <a:extLst>
              <a:ext uri="{28A0092B-C50C-407E-A947-70E740481C1C}">
                <a14:useLocalDpi xmlns:a14="http://schemas.microsoft.com/office/drawing/2010/main" val="0"/>
              </a:ext>
            </a:extLst>
          </a:blip>
          <a:srcRect l="14051" t="26551" r="10448" b="26817"/>
          <a:stretch/>
        </p:blipFill>
        <p:spPr>
          <a:xfrm>
            <a:off x="4544267" y="189681"/>
            <a:ext cx="2654649" cy="2121837"/>
          </a:xfrm>
          <a:prstGeom prst="rect">
            <a:avLst/>
          </a:prstGeom>
        </p:spPr>
      </p:pic>
      <p:pic>
        <p:nvPicPr>
          <p:cNvPr id="6" name="Picture 5" descr="ecc_img.pdf"/>
          <p:cNvPicPr>
            <a:picLocks noChangeAspect="1"/>
          </p:cNvPicPr>
          <p:nvPr/>
        </p:nvPicPr>
        <p:blipFill rotWithShape="1">
          <a:blip r:embed="rId4">
            <a:extLst>
              <a:ext uri="{28A0092B-C50C-407E-A947-70E740481C1C}">
                <a14:useLocalDpi xmlns:a14="http://schemas.microsoft.com/office/drawing/2010/main" val="0"/>
              </a:ext>
            </a:extLst>
          </a:blip>
          <a:srcRect l="13473" t="26774" r="10737" b="27263"/>
          <a:stretch/>
        </p:blipFill>
        <p:spPr>
          <a:xfrm>
            <a:off x="1455186" y="2354862"/>
            <a:ext cx="2721868" cy="2136167"/>
          </a:xfrm>
          <a:prstGeom prst="rect">
            <a:avLst/>
          </a:prstGeom>
        </p:spPr>
      </p:pic>
      <p:pic>
        <p:nvPicPr>
          <p:cNvPr id="7" name="Picture 6" descr="pellip_img.pdf"/>
          <p:cNvPicPr>
            <a:picLocks noChangeAspect="1"/>
          </p:cNvPicPr>
          <p:nvPr/>
        </p:nvPicPr>
        <p:blipFill rotWithShape="1">
          <a:blip r:embed="rId5">
            <a:extLst>
              <a:ext uri="{28A0092B-C50C-407E-A947-70E740481C1C}">
                <a14:useLocalDpi xmlns:a14="http://schemas.microsoft.com/office/drawing/2010/main" val="0"/>
              </a:ext>
            </a:extLst>
          </a:blip>
          <a:srcRect l="13183" t="26552" r="10737" b="26370"/>
          <a:stretch/>
        </p:blipFill>
        <p:spPr>
          <a:xfrm>
            <a:off x="4513575" y="2354862"/>
            <a:ext cx="2721617" cy="2179511"/>
          </a:xfrm>
          <a:prstGeom prst="rect">
            <a:avLst/>
          </a:prstGeom>
        </p:spPr>
      </p:pic>
      <p:pic>
        <p:nvPicPr>
          <p:cNvPr id="8" name="Picture 7" descr="rho_img.pdf"/>
          <p:cNvPicPr>
            <a:picLocks noChangeAspect="1"/>
          </p:cNvPicPr>
          <p:nvPr/>
        </p:nvPicPr>
        <p:blipFill rotWithShape="1">
          <a:blip r:embed="rId6">
            <a:extLst>
              <a:ext uri="{28A0092B-C50C-407E-A947-70E740481C1C}">
                <a14:useLocalDpi xmlns:a14="http://schemas.microsoft.com/office/drawing/2010/main" val="0"/>
              </a:ext>
            </a:extLst>
          </a:blip>
          <a:srcRect l="13328" t="26663" r="11026" b="27040"/>
          <a:stretch/>
        </p:blipFill>
        <p:spPr>
          <a:xfrm>
            <a:off x="1422951" y="4555103"/>
            <a:ext cx="2754103" cy="2181360"/>
          </a:xfrm>
          <a:prstGeom prst="rect">
            <a:avLst/>
          </a:prstGeom>
        </p:spPr>
      </p:pic>
      <p:pic>
        <p:nvPicPr>
          <p:cNvPr id="9" name="Picture 8" descr="outtheta_img.pdf"/>
          <p:cNvPicPr>
            <a:picLocks noChangeAspect="1"/>
          </p:cNvPicPr>
          <p:nvPr/>
        </p:nvPicPr>
        <p:blipFill rotWithShape="1">
          <a:blip r:embed="rId7">
            <a:extLst>
              <a:ext uri="{28A0092B-C50C-407E-A947-70E740481C1C}">
                <a14:useLocalDpi xmlns:a14="http://schemas.microsoft.com/office/drawing/2010/main" val="0"/>
              </a:ext>
            </a:extLst>
          </a:blip>
          <a:srcRect l="12318" t="26440" r="9437" b="27151"/>
          <a:stretch/>
        </p:blipFill>
        <p:spPr>
          <a:xfrm>
            <a:off x="4460023" y="4534373"/>
            <a:ext cx="2868868" cy="2202090"/>
          </a:xfrm>
          <a:prstGeom prst="rect">
            <a:avLst/>
          </a:prstGeom>
        </p:spPr>
      </p:pic>
      <p:cxnSp>
        <p:nvCxnSpPr>
          <p:cNvPr id="11" name="Straight Arrow Connector 10"/>
          <p:cNvCxnSpPr/>
          <p:nvPr/>
        </p:nvCxnSpPr>
        <p:spPr>
          <a:xfrm>
            <a:off x="114754" y="436096"/>
            <a:ext cx="0" cy="87984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4754" y="992774"/>
            <a:ext cx="1308197" cy="646331"/>
          </a:xfrm>
          <a:prstGeom prst="rect">
            <a:avLst/>
          </a:prstGeom>
          <a:noFill/>
        </p:spPr>
        <p:txBody>
          <a:bodyPr wrap="square" rtlCol="0">
            <a:spAutoFit/>
          </a:bodyPr>
          <a:lstStyle/>
          <a:p>
            <a:r>
              <a:rPr lang="en-US" dirty="0"/>
              <a:t>Mixture percentage</a:t>
            </a:r>
          </a:p>
        </p:txBody>
      </p:sp>
      <p:cxnSp>
        <p:nvCxnSpPr>
          <p:cNvPr id="15" name="Straight Arrow Connector 14"/>
          <p:cNvCxnSpPr/>
          <p:nvPr/>
        </p:nvCxnSpPr>
        <p:spPr>
          <a:xfrm>
            <a:off x="114754" y="436096"/>
            <a:ext cx="118579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4754" y="80476"/>
            <a:ext cx="1101641" cy="369332"/>
          </a:xfrm>
          <a:prstGeom prst="rect">
            <a:avLst/>
          </a:prstGeom>
          <a:noFill/>
        </p:spPr>
        <p:txBody>
          <a:bodyPr wrap="square" rtlCol="0">
            <a:spAutoFit/>
          </a:bodyPr>
          <a:lstStyle/>
          <a:p>
            <a:r>
              <a:rPr lang="en-US" dirty="0"/>
              <a:t>Baseline</a:t>
            </a:r>
          </a:p>
        </p:txBody>
      </p:sp>
      <p:sp>
        <p:nvSpPr>
          <p:cNvPr id="2" name="Date Placeholder 1">
            <a:extLst>
              <a:ext uri="{FF2B5EF4-FFF2-40B4-BE49-F238E27FC236}">
                <a16:creationId xmlns:a16="http://schemas.microsoft.com/office/drawing/2014/main" id="{AAF00020-3BE2-ABA6-0841-F77D4ECB76CB}"/>
              </a:ext>
            </a:extLst>
          </p:cNvPr>
          <p:cNvSpPr>
            <a:spLocks noGrp="1"/>
          </p:cNvSpPr>
          <p:nvPr>
            <p:ph type="dt" sz="half" idx="10"/>
          </p:nvPr>
        </p:nvSpPr>
        <p:spPr/>
        <p:txBody>
          <a:bodyPr/>
          <a:lstStyle/>
          <a:p>
            <a:fld id="{21D21923-854A-1747-9FCD-D3755A3C00B3}" type="datetime1">
              <a:rPr lang="en-US" smtClean="0"/>
              <a:t>3/25/26</a:t>
            </a:fld>
            <a:endParaRPr lang="en-US"/>
          </a:p>
        </p:txBody>
      </p:sp>
      <p:sp>
        <p:nvSpPr>
          <p:cNvPr id="3" name="Footer Placeholder 2">
            <a:extLst>
              <a:ext uri="{FF2B5EF4-FFF2-40B4-BE49-F238E27FC236}">
                <a16:creationId xmlns:a16="http://schemas.microsoft.com/office/drawing/2014/main" id="{5BBEB2C4-5553-81EC-8D6B-3C19686FE08E}"/>
              </a:ext>
            </a:extLst>
          </p:cNvPr>
          <p:cNvSpPr>
            <a:spLocks noGrp="1"/>
          </p:cNvSpPr>
          <p:nvPr>
            <p:ph type="ftr" sz="quarter" idx="11"/>
          </p:nvPr>
        </p:nvSpPr>
        <p:spPr/>
        <p:txBody>
          <a:bodyPr/>
          <a:lstStyle/>
          <a:p>
            <a:r>
              <a:rPr lang="en-US"/>
              <a:t>Does Not Contain CUI.</a:t>
            </a:r>
          </a:p>
        </p:txBody>
      </p:sp>
      <p:sp>
        <p:nvSpPr>
          <p:cNvPr id="10" name="Slide Number Placeholder 9">
            <a:extLst>
              <a:ext uri="{FF2B5EF4-FFF2-40B4-BE49-F238E27FC236}">
                <a16:creationId xmlns:a16="http://schemas.microsoft.com/office/drawing/2014/main" id="{4D011565-1754-3B4F-368B-ACFE766E83A9}"/>
              </a:ext>
            </a:extLst>
          </p:cNvPr>
          <p:cNvSpPr>
            <a:spLocks noGrp="1"/>
          </p:cNvSpPr>
          <p:nvPr>
            <p:ph type="sldNum" sz="quarter" idx="12"/>
          </p:nvPr>
        </p:nvSpPr>
        <p:spPr/>
        <p:txBody>
          <a:bodyPr/>
          <a:lstStyle/>
          <a:p>
            <a:fld id="{B4CE5C4C-399A-B444-9B2A-945D2610250E}" type="slidenum">
              <a:rPr lang="en-US" smtClean="0"/>
              <a:t>92</a:t>
            </a:fld>
            <a:endParaRPr lang="en-US"/>
          </a:p>
        </p:txBody>
      </p:sp>
    </p:spTree>
    <p:extLst>
      <p:ext uri="{BB962C8B-B14F-4D97-AF65-F5344CB8AC3E}">
        <p14:creationId xmlns:p14="http://schemas.microsoft.com/office/powerpoint/2010/main" val="8687530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hapemetrics_v_mixture.pdf"/>
          <p:cNvPicPr>
            <a:picLocks noGrp="1" noChangeAspect="1"/>
          </p:cNvPicPr>
          <p:nvPr>
            <p:ph idx="1"/>
          </p:nvPr>
        </p:nvPicPr>
        <p:blipFill rotWithShape="1">
          <a:blip r:embed="rId2">
            <a:extLst>
              <a:ext uri="{28A0092B-C50C-407E-A947-70E740481C1C}">
                <a14:useLocalDpi xmlns:a14="http://schemas.microsoft.com/office/drawing/2010/main" val="0"/>
              </a:ext>
            </a:extLst>
          </a:blip>
          <a:srcRect l="3709" t="18738" r="1356" b="20407"/>
          <a:stretch/>
        </p:blipFill>
        <p:spPr>
          <a:xfrm>
            <a:off x="650274" y="321334"/>
            <a:ext cx="7498169" cy="6220113"/>
          </a:xfrm>
        </p:spPr>
      </p:pic>
      <p:sp>
        <p:nvSpPr>
          <p:cNvPr id="2" name="Date Placeholder 1">
            <a:extLst>
              <a:ext uri="{FF2B5EF4-FFF2-40B4-BE49-F238E27FC236}">
                <a16:creationId xmlns:a16="http://schemas.microsoft.com/office/drawing/2014/main" id="{07AB8FDF-2116-E084-69A1-41B2282A64B9}"/>
              </a:ext>
            </a:extLst>
          </p:cNvPr>
          <p:cNvSpPr>
            <a:spLocks noGrp="1"/>
          </p:cNvSpPr>
          <p:nvPr>
            <p:ph type="dt" sz="half" idx="10"/>
          </p:nvPr>
        </p:nvSpPr>
        <p:spPr/>
        <p:txBody>
          <a:bodyPr/>
          <a:lstStyle/>
          <a:p>
            <a:fld id="{2712913A-0418-4944-9BF9-652DEB6EA10E}" type="datetime1">
              <a:rPr lang="en-US" smtClean="0"/>
              <a:t>3/25/26</a:t>
            </a:fld>
            <a:endParaRPr lang="en-US"/>
          </a:p>
        </p:txBody>
      </p:sp>
      <p:sp>
        <p:nvSpPr>
          <p:cNvPr id="3" name="Footer Placeholder 2">
            <a:extLst>
              <a:ext uri="{FF2B5EF4-FFF2-40B4-BE49-F238E27FC236}">
                <a16:creationId xmlns:a16="http://schemas.microsoft.com/office/drawing/2014/main" id="{426EBBB9-A9D0-5F08-6DA0-F362AEFB39F2}"/>
              </a:ext>
            </a:extLst>
          </p:cNvPr>
          <p:cNvSpPr>
            <a:spLocks noGrp="1"/>
          </p:cNvSpPr>
          <p:nvPr>
            <p:ph type="ftr" sz="quarter" idx="11"/>
          </p:nvPr>
        </p:nvSpPr>
        <p:spPr/>
        <p:txBody>
          <a:bodyPr/>
          <a:lstStyle/>
          <a:p>
            <a:r>
              <a:rPr lang="en-US"/>
              <a:t>Does Not Contain CUI.</a:t>
            </a:r>
          </a:p>
        </p:txBody>
      </p:sp>
      <p:sp>
        <p:nvSpPr>
          <p:cNvPr id="5" name="Slide Number Placeholder 4">
            <a:extLst>
              <a:ext uri="{FF2B5EF4-FFF2-40B4-BE49-F238E27FC236}">
                <a16:creationId xmlns:a16="http://schemas.microsoft.com/office/drawing/2014/main" id="{2B97C4C8-209F-46D6-D7FF-F52CF99C2FE0}"/>
              </a:ext>
            </a:extLst>
          </p:cNvPr>
          <p:cNvSpPr>
            <a:spLocks noGrp="1"/>
          </p:cNvSpPr>
          <p:nvPr>
            <p:ph type="sldNum" sz="quarter" idx="12"/>
          </p:nvPr>
        </p:nvSpPr>
        <p:spPr/>
        <p:txBody>
          <a:bodyPr/>
          <a:lstStyle/>
          <a:p>
            <a:fld id="{B4CE5C4C-399A-B444-9B2A-945D2610250E}" type="slidenum">
              <a:rPr lang="en-US" smtClean="0"/>
              <a:t>93</a:t>
            </a:fld>
            <a:endParaRPr lang="en-US"/>
          </a:p>
        </p:txBody>
      </p:sp>
    </p:spTree>
    <p:extLst>
      <p:ext uri="{BB962C8B-B14F-4D97-AF65-F5344CB8AC3E}">
        <p14:creationId xmlns:p14="http://schemas.microsoft.com/office/powerpoint/2010/main" val="9473885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ix01_b1.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1376" t="4592" b="8164"/>
          <a:stretch/>
        </p:blipFill>
        <p:spPr>
          <a:xfrm>
            <a:off x="0" y="0"/>
            <a:ext cx="9144000" cy="6751056"/>
          </a:xfrm>
        </p:spPr>
      </p:pic>
      <p:sp>
        <p:nvSpPr>
          <p:cNvPr id="3" name="Date Placeholder 2">
            <a:extLst>
              <a:ext uri="{FF2B5EF4-FFF2-40B4-BE49-F238E27FC236}">
                <a16:creationId xmlns:a16="http://schemas.microsoft.com/office/drawing/2014/main" id="{6F5CAD0C-0D4D-DDCF-4F10-B198F69F06C1}"/>
              </a:ext>
            </a:extLst>
          </p:cNvPr>
          <p:cNvSpPr>
            <a:spLocks noGrp="1"/>
          </p:cNvSpPr>
          <p:nvPr>
            <p:ph type="dt" sz="half" idx="10"/>
          </p:nvPr>
        </p:nvSpPr>
        <p:spPr/>
        <p:txBody>
          <a:bodyPr/>
          <a:lstStyle/>
          <a:p>
            <a:fld id="{1C2BA3CF-B8B5-D945-91E4-86E02CFAAE31}" type="datetime1">
              <a:rPr lang="en-US" smtClean="0"/>
              <a:t>3/25/26</a:t>
            </a:fld>
            <a:endParaRPr lang="en-US"/>
          </a:p>
        </p:txBody>
      </p:sp>
      <p:sp>
        <p:nvSpPr>
          <p:cNvPr id="5" name="Footer Placeholder 4">
            <a:extLst>
              <a:ext uri="{FF2B5EF4-FFF2-40B4-BE49-F238E27FC236}">
                <a16:creationId xmlns:a16="http://schemas.microsoft.com/office/drawing/2014/main" id="{E8E8CC6A-B470-9010-1C28-7EA7EEA00B8C}"/>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63BD9A37-4C17-C7CB-3332-40D77B4BB0CA}"/>
              </a:ext>
            </a:extLst>
          </p:cNvPr>
          <p:cNvSpPr>
            <a:spLocks noGrp="1"/>
          </p:cNvSpPr>
          <p:nvPr>
            <p:ph type="sldNum" sz="quarter" idx="12"/>
          </p:nvPr>
        </p:nvSpPr>
        <p:spPr/>
        <p:txBody>
          <a:bodyPr/>
          <a:lstStyle/>
          <a:p>
            <a:fld id="{B4CE5C4C-399A-B444-9B2A-945D2610250E}" type="slidenum">
              <a:rPr lang="en-US" smtClean="0"/>
              <a:t>94</a:t>
            </a:fld>
            <a:endParaRPr lang="en-US"/>
          </a:p>
        </p:txBody>
      </p:sp>
    </p:spTree>
    <p:extLst>
      <p:ext uri="{BB962C8B-B14F-4D97-AF65-F5344CB8AC3E}">
        <p14:creationId xmlns:p14="http://schemas.microsoft.com/office/powerpoint/2010/main" val="11633753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ix01_b2.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1666" t="4487" r="-181" b="10081"/>
          <a:stretch/>
        </p:blipFill>
        <p:spPr>
          <a:xfrm>
            <a:off x="0" y="0"/>
            <a:ext cx="9144000" cy="6619199"/>
          </a:xfrm>
        </p:spPr>
      </p:pic>
      <p:sp>
        <p:nvSpPr>
          <p:cNvPr id="3" name="Date Placeholder 2">
            <a:extLst>
              <a:ext uri="{FF2B5EF4-FFF2-40B4-BE49-F238E27FC236}">
                <a16:creationId xmlns:a16="http://schemas.microsoft.com/office/drawing/2014/main" id="{31B99782-DCF8-3A28-F81B-24F181C074DA}"/>
              </a:ext>
            </a:extLst>
          </p:cNvPr>
          <p:cNvSpPr>
            <a:spLocks noGrp="1"/>
          </p:cNvSpPr>
          <p:nvPr>
            <p:ph type="dt" sz="half" idx="10"/>
          </p:nvPr>
        </p:nvSpPr>
        <p:spPr/>
        <p:txBody>
          <a:bodyPr/>
          <a:lstStyle/>
          <a:p>
            <a:fld id="{753EEFBE-9511-2540-AD35-F0B6575D52FC}" type="datetime1">
              <a:rPr lang="en-US" smtClean="0"/>
              <a:t>3/25/26</a:t>
            </a:fld>
            <a:endParaRPr lang="en-US"/>
          </a:p>
        </p:txBody>
      </p:sp>
      <p:sp>
        <p:nvSpPr>
          <p:cNvPr id="5" name="Footer Placeholder 4">
            <a:extLst>
              <a:ext uri="{FF2B5EF4-FFF2-40B4-BE49-F238E27FC236}">
                <a16:creationId xmlns:a16="http://schemas.microsoft.com/office/drawing/2014/main" id="{52D751B9-4410-4225-90E8-F286B92D869A}"/>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E765F7C7-7B23-2970-075D-B5FB7336F5BE}"/>
              </a:ext>
            </a:extLst>
          </p:cNvPr>
          <p:cNvSpPr>
            <a:spLocks noGrp="1"/>
          </p:cNvSpPr>
          <p:nvPr>
            <p:ph type="sldNum" sz="quarter" idx="12"/>
          </p:nvPr>
        </p:nvSpPr>
        <p:spPr/>
        <p:txBody>
          <a:bodyPr/>
          <a:lstStyle/>
          <a:p>
            <a:fld id="{B4CE5C4C-399A-B444-9B2A-945D2610250E}" type="slidenum">
              <a:rPr lang="en-US" smtClean="0"/>
              <a:t>95</a:t>
            </a:fld>
            <a:endParaRPr lang="en-US"/>
          </a:p>
        </p:txBody>
      </p:sp>
    </p:spTree>
    <p:extLst>
      <p:ext uri="{BB962C8B-B14F-4D97-AF65-F5344CB8AC3E}">
        <p14:creationId xmlns:p14="http://schemas.microsoft.com/office/powerpoint/2010/main" val="37938076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ix01_b3.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1666" t="4487" r="-181" b="9615"/>
          <a:stretch/>
        </p:blipFill>
        <p:spPr>
          <a:xfrm>
            <a:off x="0" y="0"/>
            <a:ext cx="9177746" cy="6679854"/>
          </a:xfrm>
        </p:spPr>
      </p:pic>
      <p:sp>
        <p:nvSpPr>
          <p:cNvPr id="3" name="Date Placeholder 2">
            <a:extLst>
              <a:ext uri="{FF2B5EF4-FFF2-40B4-BE49-F238E27FC236}">
                <a16:creationId xmlns:a16="http://schemas.microsoft.com/office/drawing/2014/main" id="{055B9716-B485-6451-40F3-B8A694BB05A0}"/>
              </a:ext>
            </a:extLst>
          </p:cNvPr>
          <p:cNvSpPr>
            <a:spLocks noGrp="1"/>
          </p:cNvSpPr>
          <p:nvPr>
            <p:ph type="dt" sz="half" idx="10"/>
          </p:nvPr>
        </p:nvSpPr>
        <p:spPr/>
        <p:txBody>
          <a:bodyPr/>
          <a:lstStyle/>
          <a:p>
            <a:fld id="{1F08A245-1084-3149-BBA9-8DC38732F1D8}" type="datetime1">
              <a:rPr lang="en-US" smtClean="0"/>
              <a:t>3/25/26</a:t>
            </a:fld>
            <a:endParaRPr lang="en-US"/>
          </a:p>
        </p:txBody>
      </p:sp>
      <p:sp>
        <p:nvSpPr>
          <p:cNvPr id="5" name="Footer Placeholder 4">
            <a:extLst>
              <a:ext uri="{FF2B5EF4-FFF2-40B4-BE49-F238E27FC236}">
                <a16:creationId xmlns:a16="http://schemas.microsoft.com/office/drawing/2014/main" id="{7F596EB0-2741-EF96-5BB7-67C038097A46}"/>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CB6FD011-22AA-E361-F83D-A21DBB83A023}"/>
              </a:ext>
            </a:extLst>
          </p:cNvPr>
          <p:cNvSpPr>
            <a:spLocks noGrp="1"/>
          </p:cNvSpPr>
          <p:nvPr>
            <p:ph type="sldNum" sz="quarter" idx="12"/>
          </p:nvPr>
        </p:nvSpPr>
        <p:spPr/>
        <p:txBody>
          <a:bodyPr/>
          <a:lstStyle/>
          <a:p>
            <a:fld id="{B4CE5C4C-399A-B444-9B2A-945D2610250E}" type="slidenum">
              <a:rPr lang="en-US" smtClean="0"/>
              <a:t>96</a:t>
            </a:fld>
            <a:endParaRPr lang="en-US"/>
          </a:p>
        </p:txBody>
      </p:sp>
    </p:spTree>
    <p:extLst>
      <p:ext uri="{BB962C8B-B14F-4D97-AF65-F5344CB8AC3E}">
        <p14:creationId xmlns:p14="http://schemas.microsoft.com/office/powerpoint/2010/main" val="16261946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ix01_b4.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1828" t="4273" r="-181" b="9829"/>
          <a:stretch/>
        </p:blipFill>
        <p:spPr>
          <a:xfrm>
            <a:off x="0" y="-1"/>
            <a:ext cx="9144000" cy="6667393"/>
          </a:xfrm>
        </p:spPr>
      </p:pic>
      <p:sp>
        <p:nvSpPr>
          <p:cNvPr id="3" name="Date Placeholder 2">
            <a:extLst>
              <a:ext uri="{FF2B5EF4-FFF2-40B4-BE49-F238E27FC236}">
                <a16:creationId xmlns:a16="http://schemas.microsoft.com/office/drawing/2014/main" id="{6CB7CB2C-9D51-3242-4164-F0376FB6C8E3}"/>
              </a:ext>
            </a:extLst>
          </p:cNvPr>
          <p:cNvSpPr>
            <a:spLocks noGrp="1"/>
          </p:cNvSpPr>
          <p:nvPr>
            <p:ph type="dt" sz="half" idx="10"/>
          </p:nvPr>
        </p:nvSpPr>
        <p:spPr/>
        <p:txBody>
          <a:bodyPr/>
          <a:lstStyle/>
          <a:p>
            <a:fld id="{DE76FD72-802C-324E-B03B-B4ECFF77976B}" type="datetime1">
              <a:rPr lang="en-US" smtClean="0"/>
              <a:t>3/25/26</a:t>
            </a:fld>
            <a:endParaRPr lang="en-US"/>
          </a:p>
        </p:txBody>
      </p:sp>
      <p:sp>
        <p:nvSpPr>
          <p:cNvPr id="5" name="Footer Placeholder 4">
            <a:extLst>
              <a:ext uri="{FF2B5EF4-FFF2-40B4-BE49-F238E27FC236}">
                <a16:creationId xmlns:a16="http://schemas.microsoft.com/office/drawing/2014/main" id="{8ED16859-6450-D40A-F2A7-07B6A87E108A}"/>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78625FBD-59BA-5819-9A91-8CC0CED370A6}"/>
              </a:ext>
            </a:extLst>
          </p:cNvPr>
          <p:cNvSpPr>
            <a:spLocks noGrp="1"/>
          </p:cNvSpPr>
          <p:nvPr>
            <p:ph type="sldNum" sz="quarter" idx="12"/>
          </p:nvPr>
        </p:nvSpPr>
        <p:spPr/>
        <p:txBody>
          <a:bodyPr/>
          <a:lstStyle/>
          <a:p>
            <a:fld id="{B4CE5C4C-399A-B444-9B2A-945D2610250E}" type="slidenum">
              <a:rPr lang="en-US" smtClean="0"/>
              <a:t>97</a:t>
            </a:fld>
            <a:endParaRPr lang="en-US"/>
          </a:p>
        </p:txBody>
      </p:sp>
    </p:spTree>
    <p:extLst>
      <p:ext uri="{BB962C8B-B14F-4D97-AF65-F5344CB8AC3E}">
        <p14:creationId xmlns:p14="http://schemas.microsoft.com/office/powerpoint/2010/main" val="35368772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ix01_b5.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1346" t="4273" r="-181" b="9829"/>
          <a:stretch/>
        </p:blipFill>
        <p:spPr>
          <a:xfrm>
            <a:off x="0" y="-1"/>
            <a:ext cx="9170952" cy="6650769"/>
          </a:xfrm>
        </p:spPr>
      </p:pic>
      <p:sp>
        <p:nvSpPr>
          <p:cNvPr id="3" name="Date Placeholder 2">
            <a:extLst>
              <a:ext uri="{FF2B5EF4-FFF2-40B4-BE49-F238E27FC236}">
                <a16:creationId xmlns:a16="http://schemas.microsoft.com/office/drawing/2014/main" id="{DA7682CC-CA8D-8623-C395-1F2750BE513F}"/>
              </a:ext>
            </a:extLst>
          </p:cNvPr>
          <p:cNvSpPr>
            <a:spLocks noGrp="1"/>
          </p:cNvSpPr>
          <p:nvPr>
            <p:ph type="dt" sz="half" idx="10"/>
          </p:nvPr>
        </p:nvSpPr>
        <p:spPr/>
        <p:txBody>
          <a:bodyPr/>
          <a:lstStyle/>
          <a:p>
            <a:fld id="{3E1CB9B9-F813-CA42-9A9F-7C6A47A2B24F}" type="datetime1">
              <a:rPr lang="en-US" smtClean="0"/>
              <a:t>3/25/26</a:t>
            </a:fld>
            <a:endParaRPr lang="en-US"/>
          </a:p>
        </p:txBody>
      </p:sp>
      <p:sp>
        <p:nvSpPr>
          <p:cNvPr id="5" name="Footer Placeholder 4">
            <a:extLst>
              <a:ext uri="{FF2B5EF4-FFF2-40B4-BE49-F238E27FC236}">
                <a16:creationId xmlns:a16="http://schemas.microsoft.com/office/drawing/2014/main" id="{D31A341A-D3AB-734C-F28A-EE570DF2FC7E}"/>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7A254323-3B11-AA7D-1BEF-7E6DF75AF05C}"/>
              </a:ext>
            </a:extLst>
          </p:cNvPr>
          <p:cNvSpPr>
            <a:spLocks noGrp="1"/>
          </p:cNvSpPr>
          <p:nvPr>
            <p:ph type="sldNum" sz="quarter" idx="12"/>
          </p:nvPr>
        </p:nvSpPr>
        <p:spPr/>
        <p:txBody>
          <a:bodyPr/>
          <a:lstStyle/>
          <a:p>
            <a:fld id="{B4CE5C4C-399A-B444-9B2A-945D2610250E}" type="slidenum">
              <a:rPr lang="en-US" smtClean="0"/>
              <a:t>98</a:t>
            </a:fld>
            <a:endParaRPr lang="en-US"/>
          </a:p>
        </p:txBody>
      </p:sp>
    </p:spTree>
    <p:extLst>
      <p:ext uri="{BB962C8B-B14F-4D97-AF65-F5344CB8AC3E}">
        <p14:creationId xmlns:p14="http://schemas.microsoft.com/office/powerpoint/2010/main" val="6510085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ix01_b6.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1652" t="4312" r="-122" b="10117"/>
          <a:stretch/>
        </p:blipFill>
        <p:spPr>
          <a:xfrm>
            <a:off x="-1" y="0"/>
            <a:ext cx="9164611" cy="6648281"/>
          </a:xfrm>
        </p:spPr>
      </p:pic>
      <p:sp>
        <p:nvSpPr>
          <p:cNvPr id="3" name="Date Placeholder 2">
            <a:extLst>
              <a:ext uri="{FF2B5EF4-FFF2-40B4-BE49-F238E27FC236}">
                <a16:creationId xmlns:a16="http://schemas.microsoft.com/office/drawing/2014/main" id="{6FDE56AA-DDFF-F0DC-AE53-E227823DE35C}"/>
              </a:ext>
            </a:extLst>
          </p:cNvPr>
          <p:cNvSpPr>
            <a:spLocks noGrp="1"/>
          </p:cNvSpPr>
          <p:nvPr>
            <p:ph type="dt" sz="half" idx="10"/>
          </p:nvPr>
        </p:nvSpPr>
        <p:spPr/>
        <p:txBody>
          <a:bodyPr/>
          <a:lstStyle/>
          <a:p>
            <a:fld id="{028E94B8-BB3A-CF40-AA90-3A824C020236}" type="datetime1">
              <a:rPr lang="en-US" smtClean="0"/>
              <a:t>3/25/26</a:t>
            </a:fld>
            <a:endParaRPr lang="en-US"/>
          </a:p>
        </p:txBody>
      </p:sp>
      <p:sp>
        <p:nvSpPr>
          <p:cNvPr id="5" name="Footer Placeholder 4">
            <a:extLst>
              <a:ext uri="{FF2B5EF4-FFF2-40B4-BE49-F238E27FC236}">
                <a16:creationId xmlns:a16="http://schemas.microsoft.com/office/drawing/2014/main" id="{0AD70A19-73B8-8254-1750-7A54E45D7858}"/>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4DFC9C82-BAF9-6241-5102-5E9825459FF9}"/>
              </a:ext>
            </a:extLst>
          </p:cNvPr>
          <p:cNvSpPr>
            <a:spLocks noGrp="1"/>
          </p:cNvSpPr>
          <p:nvPr>
            <p:ph type="sldNum" sz="quarter" idx="12"/>
          </p:nvPr>
        </p:nvSpPr>
        <p:spPr/>
        <p:txBody>
          <a:bodyPr/>
          <a:lstStyle/>
          <a:p>
            <a:fld id="{B4CE5C4C-399A-B444-9B2A-945D2610250E}" type="slidenum">
              <a:rPr lang="en-US" smtClean="0"/>
              <a:t>99</a:t>
            </a:fld>
            <a:endParaRPr lang="en-US"/>
          </a:p>
        </p:txBody>
      </p:sp>
    </p:spTree>
    <p:extLst>
      <p:ext uri="{BB962C8B-B14F-4D97-AF65-F5344CB8AC3E}">
        <p14:creationId xmlns:p14="http://schemas.microsoft.com/office/powerpoint/2010/main" val="36464266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ix01_b7.png"/>
          <p:cNvPicPr>
            <a:picLocks noGrp="1" noChangeAspect="1"/>
          </p:cNvPicPr>
          <p:nvPr>
            <p:ph idx="1"/>
          </p:nvPr>
        </p:nvPicPr>
        <p:blipFill rotWithShape="1">
          <a:blip r:embed="rId2">
            <a:extLst>
              <a:ext uri="{28A0092B-C50C-407E-A947-70E740481C1C}">
                <a14:useLocalDpi xmlns:a14="http://schemas.microsoft.com/office/drawing/2010/main" val="0"/>
              </a:ext>
            </a:extLst>
          </a:blip>
          <a:srcRect l="11652" t="4311" r="-382" b="9771"/>
          <a:stretch/>
        </p:blipFill>
        <p:spPr>
          <a:xfrm>
            <a:off x="0" y="0"/>
            <a:ext cx="9197646" cy="6679641"/>
          </a:xfrm>
        </p:spPr>
      </p:pic>
      <p:sp>
        <p:nvSpPr>
          <p:cNvPr id="3" name="Date Placeholder 2">
            <a:extLst>
              <a:ext uri="{FF2B5EF4-FFF2-40B4-BE49-F238E27FC236}">
                <a16:creationId xmlns:a16="http://schemas.microsoft.com/office/drawing/2014/main" id="{2B088369-126F-7FC7-86C8-C457481E4E02}"/>
              </a:ext>
            </a:extLst>
          </p:cNvPr>
          <p:cNvSpPr>
            <a:spLocks noGrp="1"/>
          </p:cNvSpPr>
          <p:nvPr>
            <p:ph type="dt" sz="half" idx="10"/>
          </p:nvPr>
        </p:nvSpPr>
        <p:spPr/>
        <p:txBody>
          <a:bodyPr/>
          <a:lstStyle/>
          <a:p>
            <a:fld id="{E1FF097B-CFD3-4243-A1ED-6F95443E1170}" type="datetime1">
              <a:rPr lang="en-US" smtClean="0"/>
              <a:t>3/25/26</a:t>
            </a:fld>
            <a:endParaRPr lang="en-US"/>
          </a:p>
        </p:txBody>
      </p:sp>
      <p:sp>
        <p:nvSpPr>
          <p:cNvPr id="5" name="Footer Placeholder 4">
            <a:extLst>
              <a:ext uri="{FF2B5EF4-FFF2-40B4-BE49-F238E27FC236}">
                <a16:creationId xmlns:a16="http://schemas.microsoft.com/office/drawing/2014/main" id="{250E9FEB-9DCF-B22C-F0DE-912317826A39}"/>
              </a:ext>
            </a:extLst>
          </p:cNvPr>
          <p:cNvSpPr>
            <a:spLocks noGrp="1"/>
          </p:cNvSpPr>
          <p:nvPr>
            <p:ph type="ftr" sz="quarter" idx="11"/>
          </p:nvPr>
        </p:nvSpPr>
        <p:spPr/>
        <p:txBody>
          <a:bodyPr/>
          <a:lstStyle/>
          <a:p>
            <a:r>
              <a:rPr lang="en-US"/>
              <a:t>Does Not Contain CUI.</a:t>
            </a:r>
          </a:p>
        </p:txBody>
      </p:sp>
      <p:sp>
        <p:nvSpPr>
          <p:cNvPr id="6" name="Slide Number Placeholder 5">
            <a:extLst>
              <a:ext uri="{FF2B5EF4-FFF2-40B4-BE49-F238E27FC236}">
                <a16:creationId xmlns:a16="http://schemas.microsoft.com/office/drawing/2014/main" id="{C1441DAE-9BC5-25E2-862F-12FD5187DB2E}"/>
              </a:ext>
            </a:extLst>
          </p:cNvPr>
          <p:cNvSpPr>
            <a:spLocks noGrp="1"/>
          </p:cNvSpPr>
          <p:nvPr>
            <p:ph type="sldNum" sz="quarter" idx="12"/>
          </p:nvPr>
        </p:nvSpPr>
        <p:spPr/>
        <p:txBody>
          <a:bodyPr/>
          <a:lstStyle/>
          <a:p>
            <a:fld id="{B4CE5C4C-399A-B444-9B2A-945D2610250E}" type="slidenum">
              <a:rPr lang="en-US" smtClean="0"/>
              <a:t>100</a:t>
            </a:fld>
            <a:endParaRPr lang="en-US"/>
          </a:p>
        </p:txBody>
      </p:sp>
    </p:spTree>
    <p:extLst>
      <p:ext uri="{BB962C8B-B14F-4D97-AF65-F5344CB8AC3E}">
        <p14:creationId xmlns:p14="http://schemas.microsoft.com/office/powerpoint/2010/main" val="25834061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F1019-838E-0644-A8F9-562E7A68A1EA}" type="datetime1">
              <a:rPr lang="en-US" smtClean="0"/>
              <a:t>3/25/26</a:t>
            </a:fld>
            <a:endParaRPr lang="en-US" dirty="0"/>
          </a:p>
        </p:txBody>
      </p:sp>
      <p:sp>
        <p:nvSpPr>
          <p:cNvPr id="3" name="Footer Placeholder 2"/>
          <p:cNvSpPr>
            <a:spLocks noGrp="1"/>
          </p:cNvSpPr>
          <p:nvPr>
            <p:ph type="ftr" sz="quarter" idx="11"/>
          </p:nvPr>
        </p:nvSpPr>
        <p:spPr/>
        <p:txBody>
          <a:bodyPr/>
          <a:lstStyle/>
          <a:p>
            <a:r>
              <a:rPr lang="en-US"/>
              <a:t>Does Not Contain CUI.</a:t>
            </a:r>
            <a:endParaRPr lang="en-US" dirty="0"/>
          </a:p>
        </p:txBody>
      </p:sp>
      <p:sp>
        <p:nvSpPr>
          <p:cNvPr id="4" name="Slide Number Placeholder 3"/>
          <p:cNvSpPr>
            <a:spLocks noGrp="1"/>
          </p:cNvSpPr>
          <p:nvPr>
            <p:ph type="sldNum" sz="quarter" idx="12"/>
          </p:nvPr>
        </p:nvSpPr>
        <p:spPr/>
        <p:txBody>
          <a:bodyPr/>
          <a:lstStyle/>
          <a:p>
            <a:fld id="{1915E00B-5913-49AE-8A9C-78D6EE50689D}" type="slidenum">
              <a:rPr lang="en-US" smtClean="0"/>
              <a:pPr/>
              <a:t>101</a:t>
            </a:fld>
            <a:endParaRPr lang="en-US" dirty="0"/>
          </a:p>
        </p:txBody>
      </p:sp>
    </p:spTree>
    <p:extLst>
      <p:ext uri="{BB962C8B-B14F-4D97-AF65-F5344CB8AC3E}">
        <p14:creationId xmlns:p14="http://schemas.microsoft.com/office/powerpoint/2010/main" val="34639816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11.0&quot;&gt;&lt;object type=&quot;1&quot; unique_id=&quot;10001&quot;&gt;&lt;object type=&quot;2&quot; unique_id=&quot;10002&quot;&gt;&lt;object type=&quot;3&quot; unique_id=&quot;10003&quot;&gt;&lt;property id=&quot;20148&quot; value=&quot;5&quot;/&gt;&lt;property id=&quot;20300&quot; value=&quot;Slide 1&quot;/&gt;&lt;property id=&quot;20307&quot; value=&quot;329&quot;/&gt;&lt;/object&gt;&lt;object type=&quot;3&quot; unique_id=&quot;10004&quot;&gt;&lt;property id=&quot;20148&quot; value=&quot;5&quot;/&gt;&lt;property id=&quot;20300&quot; value=&quot;Slide 2&quot;/&gt;&lt;property id=&quot;20307&quot; value=&quot;351&quot;/&gt;&lt;/object&gt;&lt;object type=&quot;3&quot; unique_id=&quot;10005&quot;&gt;&lt;property id=&quot;20148&quot; value=&quot;5&quot;/&gt;&lt;property id=&quot;20300&quot; value=&quot;Slide 3&quot;/&gt;&lt;property id=&quot;20307&quot; value=&quot;350&quot;/&gt;&lt;/object&gt;&lt;object type=&quot;3&quot; unique_id=&quot;10006&quot;&gt;&lt;property id=&quot;20148&quot; value=&quot;5&quot;/&gt;&lt;property id=&quot;20300&quot; value=&quot;Slide 4&quot;/&gt;&lt;property id=&quot;20307&quot; value=&quot;331&quot;/&gt;&lt;/object&gt;&lt;/object&gt;&lt;object type=&quot;8&quot; unique_id=&quot;10012&quot;&gt;&lt;/object&gt;&lt;/object&gt;&lt;/database&gt;"/>
  <p:tag name="MMPROD_NEXTUNIQUEID" val="10009"/>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ASAjpl-WhiteTheme-4x3-vA6">
  <a:themeElements>
    <a:clrScheme name="NASA-JPL - Jan 2017">
      <a:dk1>
        <a:sysClr val="windowText" lastClr="000000"/>
      </a:dk1>
      <a:lt1>
        <a:sysClr val="window" lastClr="FFFFFF"/>
      </a:lt1>
      <a:dk2>
        <a:srgbClr val="5D5D60"/>
      </a:dk2>
      <a:lt2>
        <a:srgbClr val="E4E9EF"/>
      </a:lt2>
      <a:accent1>
        <a:srgbClr val="6083AA"/>
      </a:accent1>
      <a:accent2>
        <a:srgbClr val="94A8C2"/>
      </a:accent2>
      <a:accent3>
        <a:srgbClr val="0B3D91"/>
      </a:accent3>
      <a:accent4>
        <a:srgbClr val="E31937"/>
      </a:accent4>
      <a:accent5>
        <a:srgbClr val="F2A900"/>
      </a:accent5>
      <a:accent6>
        <a:srgbClr val="A4B34C"/>
      </a:accent6>
      <a:hlink>
        <a:srgbClr val="0E7EE0"/>
      </a:hlink>
      <a:folHlink>
        <a:srgbClr val="0E7E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65000"/>
            </a:schemeClr>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Autofit/>
      </a:bodyPr>
      <a:lstStyle>
        <a:defPPr>
          <a:defRPr dirty="0" smtClean="0"/>
        </a:defPPr>
      </a:lstStyle>
    </a:txDef>
  </a:objectDefaults>
  <a:extraClrSchemeLst/>
</a:theme>
</file>

<file path=ppt/theme/theme2.xml><?xml version="1.0" encoding="utf-8"?>
<a:theme xmlns:a="http://schemas.openxmlformats.org/drawingml/2006/main" name="NASAjpl-BlackTheme-4x3-vA6">
  <a:themeElements>
    <a:clrScheme name="NASA-JPL - Jan 2017">
      <a:dk1>
        <a:sysClr val="windowText" lastClr="000000"/>
      </a:dk1>
      <a:lt1>
        <a:sysClr val="window" lastClr="FFFFFF"/>
      </a:lt1>
      <a:dk2>
        <a:srgbClr val="5D5D60"/>
      </a:dk2>
      <a:lt2>
        <a:srgbClr val="E4E9EF"/>
      </a:lt2>
      <a:accent1>
        <a:srgbClr val="6083AA"/>
      </a:accent1>
      <a:accent2>
        <a:srgbClr val="94A8C2"/>
      </a:accent2>
      <a:accent3>
        <a:srgbClr val="0B3D91"/>
      </a:accent3>
      <a:accent4>
        <a:srgbClr val="E31937"/>
      </a:accent4>
      <a:accent5>
        <a:srgbClr val="F2A900"/>
      </a:accent5>
      <a:accent6>
        <a:srgbClr val="A4B34C"/>
      </a:accent6>
      <a:hlink>
        <a:srgbClr val="0E7EE0"/>
      </a:hlink>
      <a:folHlink>
        <a:srgbClr val="0E7E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spDef>
      <a:spPr>
        <a:solidFill>
          <a:schemeClr val="tx2">
            <a:lumMod val="50000"/>
          </a:schemeClr>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2"/>
          </a:solidFill>
          <a:tailEnd type="arrow"/>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91440" tIns="45720" rIns="91440" bIns="45720" rtlCol="0">
        <a:noAutofit/>
      </a:bodyPr>
      <a:lstStyle>
        <a:defPPr>
          <a:defRPr dirty="0" err="1" smtClean="0">
            <a:solidFill>
              <a:schemeClr val="bg1"/>
            </a:soli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Adjacency.thmx</Template>
  <TotalTime>24404</TotalTime>
  <Words>9639</Words>
  <Application>Microsoft Macintosh PowerPoint</Application>
  <PresentationFormat>On-screen Show (4:3)</PresentationFormat>
  <Paragraphs>1190</Paragraphs>
  <Slides>101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101</vt:i4>
      </vt:variant>
    </vt:vector>
  </HeadingPairs>
  <TitlesOfParts>
    <vt:vector size="107" baseType="lpstr">
      <vt:lpstr>American Typewriter</vt:lpstr>
      <vt:lpstr>Arial</vt:lpstr>
      <vt:lpstr>Calibri</vt:lpstr>
      <vt:lpstr>Monaco</vt:lpstr>
      <vt:lpstr>NASAjpl-WhiteTheme-4x3-vA6</vt:lpstr>
      <vt:lpstr>NASAjpl-BlackTheme-4x3-vA6</vt:lpstr>
      <vt:lpstr>PowerPoint Presentation</vt:lpstr>
      <vt:lpstr>Current distribution of the software</vt:lpstr>
      <vt:lpstr>Proposed Changes</vt:lpstr>
      <vt:lpstr>PolSARproSim+ Structure</vt:lpstr>
      <vt:lpstr>Reading Keyword Parameter File</vt:lpstr>
      <vt:lpstr>Input forest description</vt:lpstr>
      <vt:lpstr>Reading in forest primitives (XML)</vt:lpstr>
      <vt:lpstr>Arbitrary tree locations</vt:lpstr>
      <vt:lpstr>Tree Locations</vt:lpstr>
      <vt:lpstr>Arbitrary tree heights</vt:lpstr>
      <vt:lpstr>Tree Heights</vt:lpstr>
      <vt:lpstr>Arbitrary stem diameters</vt:lpstr>
      <vt:lpstr>Tree Diameters</vt:lpstr>
      <vt:lpstr>Arbitrary crown radii</vt:lpstr>
      <vt:lpstr>Crown Radius</vt:lpstr>
      <vt:lpstr>Arbitrary crown depths</vt:lpstr>
      <vt:lpstr>Crown Depth</vt:lpstr>
      <vt:lpstr>Arbitrary tree species</vt:lpstr>
      <vt:lpstr>XML Species Database</vt:lpstr>
      <vt:lpstr>Allometry Input</vt:lpstr>
      <vt:lpstr>Tree Species –rev 1. </vt:lpstr>
      <vt:lpstr>Tree Species –rev 2 </vt:lpstr>
      <vt:lpstr>Realizations</vt:lpstr>
      <vt:lpstr>Crown Realization</vt:lpstr>
      <vt:lpstr>Stem Realization</vt:lpstr>
      <vt:lpstr>Stem angle</vt:lpstr>
      <vt:lpstr>Stem tropism</vt:lpstr>
      <vt:lpstr>Stem curvature</vt:lpstr>
      <vt:lpstr>Primary branch Realization</vt:lpstr>
      <vt:lpstr>Primary branch numbers</vt:lpstr>
      <vt:lpstr>Primary branch angles</vt:lpstr>
      <vt:lpstr>Primary branch curvature</vt:lpstr>
      <vt:lpstr>Primary branch tropism</vt:lpstr>
      <vt:lpstr>Secondary branch Realization</vt:lpstr>
      <vt:lpstr>Secondary branch numbers</vt:lpstr>
      <vt:lpstr>Secondary start offset</vt:lpstr>
      <vt:lpstr>Secondary polar angles</vt:lpstr>
      <vt:lpstr>Secondary start radius factor</vt:lpstr>
      <vt:lpstr>Secondary branch tropism</vt:lpstr>
      <vt:lpstr>Secondary branch curvature</vt:lpstr>
      <vt:lpstr>Tertiary branch Realizations</vt:lpstr>
      <vt:lpstr>Tertiary branch controls</vt:lpstr>
      <vt:lpstr>Foliage Realizations</vt:lpstr>
      <vt:lpstr>Foliage controls</vt:lpstr>
      <vt:lpstr>Foliage controls</vt:lpstr>
      <vt:lpstr>PowerPoint Presentation</vt:lpstr>
      <vt:lpstr>Eastern Hemlock</vt:lpstr>
      <vt:lpstr>Red Pine</vt:lpstr>
      <vt:lpstr>Paper Birch</vt:lpstr>
      <vt:lpstr>Effective Permittivities</vt:lpstr>
      <vt:lpstr>Attenuation Map</vt:lpstr>
      <vt:lpstr>Attenuation from stems</vt:lpstr>
      <vt:lpstr>Multithreaded code </vt:lpstr>
      <vt:lpstr>Stack Processing</vt:lpstr>
      <vt:lpstr>Changing Loop Order</vt:lpstr>
      <vt:lpstr>Temporal decorrelation</vt:lpstr>
      <vt:lpstr>Adding module for temporal decorrelation model and implementation</vt:lpstr>
      <vt:lpstr>Modeling change</vt:lpstr>
      <vt:lpstr>Estimated statistics of applied motion – for all trees</vt:lpstr>
      <vt:lpstr>Simulated Temporal Decorrelation (HH)</vt:lpstr>
      <vt:lpstr>Estimated statistics of applied motion – for all trees</vt:lpstr>
      <vt:lpstr>Simulated Temporal Decorrelation (HH)</vt:lpstr>
      <vt:lpstr>etc</vt:lpstr>
      <vt:lpstr>Point Spread Function</vt:lpstr>
      <vt:lpstr>PSF Implementation</vt:lpstr>
      <vt:lpstr>Spectra for different weighting functions</vt:lpstr>
      <vt:lpstr>Qualitative change in images</vt:lpstr>
      <vt:lpstr>Spectra for different sampling frequencies</vt:lpstr>
      <vt:lpstr>Azimuth spectra for different sampling ratios</vt:lpstr>
      <vt:lpstr>Range Spectra for different baselines</vt:lpstr>
      <vt:lpstr>Estimated ground-only coherence</vt:lpstr>
      <vt:lpstr>Coherence for ground-only scattering with Prati-Filtering</vt:lpstr>
      <vt:lpstr>Testing Orientation Angle shift for different azimuth slopes</vt:lpstr>
      <vt:lpstr>Corner Reflector Scattering</vt:lpstr>
      <vt:lpstr>Adding a DEM</vt:lpstr>
      <vt:lpstr>Example (Direct scattering only)</vt:lpstr>
      <vt:lpstr>Adding thermal noise</vt:lpstr>
      <vt:lpstr>Backscatter Intensity</vt:lpstr>
      <vt:lpstr>Coherence</vt:lpstr>
      <vt:lpstr>Coherence</vt:lpstr>
      <vt:lpstr>Backups</vt:lpstr>
      <vt:lpstr>Contributions to backscatter by different sections of the forest</vt:lpstr>
      <vt:lpstr>Contributions to backscatter by different sections of the forest</vt:lpstr>
      <vt:lpstr>Contributions to backscatter by different sections of the forest</vt:lpstr>
      <vt:lpstr>Contributions to backscatter by different sections of the forest</vt:lpstr>
      <vt:lpstr>Contributions to backscatter by different sections of the forest</vt:lpstr>
      <vt:lpstr>Contributions to backscatter by different sections of the forest</vt:lpstr>
      <vt:lpstr>Simulated forest scatterer count</vt:lpstr>
      <vt:lpstr>PowerPoint Presentation</vt:lpstr>
      <vt:lpstr>PowerPoint Presentation</vt:lpstr>
      <vt:lpstr>Metrics to Analyze PolInSAR line-fit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Carolyn M Stolze</dc:creator>
  <cp:lastModifiedBy>Ahmed, Razi U (US 363H)</cp:lastModifiedBy>
  <cp:revision>265</cp:revision>
  <cp:lastPrinted>2016-07-26T23:14:33Z</cp:lastPrinted>
  <dcterms:created xsi:type="dcterms:W3CDTF">2016-06-29T01:27:10Z</dcterms:created>
  <dcterms:modified xsi:type="dcterms:W3CDTF">2026-03-25T19:30:41Z</dcterms:modified>
</cp:coreProperties>
</file>