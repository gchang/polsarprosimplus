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  <p:sldMasterId id="2147483673" r:id="rId2"/>
  </p:sldMasterIdLst>
  <p:notesMasterIdLst>
    <p:notesMasterId r:id="rId15"/>
  </p:notesMasterIdLst>
  <p:handoutMasterIdLst>
    <p:handoutMasterId r:id="rId16"/>
  </p:handoutMasterIdLst>
  <p:sldIdLst>
    <p:sldId id="277" r:id="rId3"/>
    <p:sldId id="260" r:id="rId4"/>
    <p:sldId id="264" r:id="rId5"/>
    <p:sldId id="257" r:id="rId6"/>
    <p:sldId id="258" r:id="rId7"/>
    <p:sldId id="259" r:id="rId8"/>
    <p:sldId id="261" r:id="rId9"/>
    <p:sldId id="265" r:id="rId10"/>
    <p:sldId id="263" r:id="rId11"/>
    <p:sldId id="267" r:id="rId12"/>
    <p:sldId id="266" r:id="rId13"/>
    <p:sldId id="278" r:id="rId14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619" autoAdjust="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67AB6-DDEA-CF4E-A74B-19A554508643}" type="datetimeFigureOut">
              <a:rPr lang="en-US" smtClean="0">
                <a:latin typeface="Arial"/>
              </a:rPr>
              <a:t>3/25/26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00F83-E232-AF4B-BEC0-F9D716239A3F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230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72DD8AEC-B96B-2C4C-86B3-8483D80B216B}" type="datetimeFigureOut">
              <a:rPr lang="en-US" smtClean="0"/>
              <a:pPr/>
              <a:t>3/25/26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180AB40-CF9C-CB44-AF47-E5E5B00AC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71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6DF282-8BD8-A94E-9248-9267A196FC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3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" y="1184383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3" y="4802823"/>
            <a:ext cx="7493624" cy="274637"/>
          </a:xfrm>
        </p:spPr>
        <p:txBody>
          <a:bodyPr/>
          <a:lstStyle/>
          <a:p>
            <a:pPr algn="l"/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339" y="3918225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5" y="4802823"/>
            <a:ext cx="3347357" cy="274637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8530529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7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7" y="3488175"/>
            <a:ext cx="8530530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4" y="4219782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9" y="4802823"/>
            <a:ext cx="5605046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E056E26-BE22-1543-BD08-5DCF46AD339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BF3CCC-E7D7-4A4B-A670-9B74B9B5D0F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595CE66-AD38-8645-99A6-6B72C2F9E48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C081836-567E-5B4B-99B6-AD69F98E146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5F2B6A9-EB45-0F4E-ADD8-89231BC1D9D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9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1A81261-25EE-FC43-ABA1-671C8E7F4D05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4040FE6-91E6-9146-8F72-9D3BF64471C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56DA512-AE48-9042-B104-2E9ACAC3FDDA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A750FF-91D3-564A-B8A3-2C842D5E42E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FA10C04-39B8-2C45-A803-11F758A5290A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621B208-1012-1C44-9ABF-470455600665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32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3099-66B6-C44B-85A6-8743EF141A3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D44E07-90DC-DA4B-B063-A4AE963E64A9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F05D363-91EE-F046-89F6-0141F088DB35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AB92-1A42-C544-962B-03A4ADCEF97F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2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318C-52B2-4640-B1C2-17BBC68F9709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356" y="200823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CE9-E860-A742-908D-D733D459AE8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6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5328-1A11-CE42-8736-DE8E0DF87291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5EAA8-3209-404A-B6B1-EFA0E1AA2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102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39" y="1184382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1" y="4802823"/>
            <a:ext cx="7493625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5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34" y="3921596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4" y="4802823"/>
            <a:ext cx="3347357" cy="274637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3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7139042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9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6" y="3488175"/>
            <a:ext cx="7139043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6" y="4219781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8" y="4802823"/>
            <a:ext cx="5605049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21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D7FE072-D1BF-874B-B065-BD7ADD226FA0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68ADBD-3616-4318-B5FF-7C1BB362CA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91532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11CA70E-62DA-FD49-A4E3-45F09088FD8F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5C533D-D968-4A70-91E2-44C7FEDAA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416787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5B8B281-BB8C-E540-8EA4-81B63A43F30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DDD08E-B43C-483A-B1DD-9BEB0BDDDD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43165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06047A5-1ED2-0748-99D3-8AF1C36FE3C6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20F9084-C4B8-47CC-A340-731237DBD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35957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BB837E6-B620-6A46-B206-897ACC0A763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53CE28F-B0E6-4C63-A7B8-EB4157A070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299581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D6463E-1D82-5A4E-9DF1-46B509B4A47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D81F743-FBF4-4AAB-BF1E-09D0097B96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760199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350BAE9-1F23-3F4F-BC35-D6848F6752D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6356448-7EEE-4D0D-AE32-557A23928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688214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F6838AF-4728-BE47-82B7-3DA893F6E028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A79206F-C929-453C-B7BF-19A540401E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593124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FB0BF9A-08C2-7142-BD6D-F5A18D76395B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C3E947D-4126-44FB-8EC6-F80A3BAA18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26211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0CDB3F4-6630-174A-A0F5-88FBCDD33DAE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5B3F8F-DC85-41EB-9D22-D06541A0AC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1903406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08B052A-B704-6A42-88DC-C14D0BFE530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F015878-4578-4C49-BC72-FE830FC5A6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20805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E6C2-86E8-B547-B266-0863D48A607F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06A69-C78D-46AD-9B4E-1E66EF195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9212782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46F0BA-8860-974B-92FA-DBD12B8D41C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28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A51688E-BD69-4045-A049-C8A8FABCFB54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51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E84B-87C3-E44C-9267-A926EAFB09A1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141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14B4-B828-2547-BA55-1FF9B4B7064D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13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200823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EA5A-4363-4248-90D3-D85BA4273064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999" y="4802823"/>
            <a:ext cx="1422401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060903C-A2B6-4B4B-8CD2-120C104D318F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1" y="4802823"/>
            <a:ext cx="5791199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7600" y="4802823"/>
            <a:ext cx="58613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1" r:id="rId5"/>
    <p:sldLayoutId id="2147483662" r:id="rId6"/>
    <p:sldLayoutId id="2147483664" r:id="rId7"/>
    <p:sldLayoutId id="2147483663" r:id="rId8"/>
    <p:sldLayoutId id="2147483669" r:id="rId9"/>
    <p:sldLayoutId id="2147483670" r:id="rId10"/>
    <p:sldLayoutId id="2147483671" r:id="rId11"/>
    <p:sldLayoutId id="2147483672" r:id="rId12"/>
    <p:sldLayoutId id="2147483653" r:id="rId13"/>
    <p:sldLayoutId id="2147483654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93" r:id="rId20"/>
    <p:sldLayoutId id="2147483695" r:id="rId2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400" b="1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000" y="4802823"/>
            <a:ext cx="142240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627BD91-5607-7D42-BD73-63B6B725AE42}" type="datetime1">
              <a:rPr lang="en-US" smtClean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4802823"/>
            <a:ext cx="577596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52360" y="4802823"/>
            <a:ext cx="60137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8.jpe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microsoft.com/office/2007/relationships/hdphoto" Target="../media/hdphoto2.wdp"/><Relationship Id="rId5" Type="http://schemas.openxmlformats.org/officeDocument/2006/relationships/image" Target="../media/image9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PolSARproSim</a:t>
            </a:r>
            <a:r>
              <a:rPr lang="en-US" dirty="0"/>
              <a:t>+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Simulated Temporal Decorrelation in </a:t>
            </a:r>
            <a:r>
              <a:rPr lang="en-US" dirty="0" err="1"/>
              <a:t>PolInSAR</a:t>
            </a:r>
            <a:r>
              <a:rPr lang="en-US" dirty="0"/>
              <a:t> Signatures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687784" y="2571750"/>
            <a:ext cx="3347357" cy="833120"/>
          </a:xfrm>
        </p:spPr>
        <p:txBody>
          <a:bodyPr/>
          <a:lstStyle/>
          <a:p>
            <a:r>
              <a:rPr lang="en-US" dirty="0"/>
              <a:t>Razi Ahmed</a:t>
            </a:r>
          </a:p>
          <a:p>
            <a:r>
              <a:rPr lang="en-US" dirty="0"/>
              <a:t>Jet Propulsion Laboratory, California Institute </a:t>
            </a:r>
            <a:r>
              <a:rPr lang="en-US"/>
              <a:t>of Technology</a:t>
            </a:r>
            <a:endParaRPr lang="en-US" dirty="0"/>
          </a:p>
        </p:txBody>
      </p:sp>
      <p:pic>
        <p:nvPicPr>
          <p:cNvPr id="7" name="Picture Placeholder 21" descr="Photo-2015-03-12-085758 - D2015_0302_D370_CMSalt2.jpg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1" t="27414" r="11723"/>
          <a:stretch/>
        </p:blipFill>
        <p:spPr>
          <a:xfrm>
            <a:off x="0" y="0"/>
            <a:ext cx="5546725" cy="51435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Simulating a 1-ha stand at the Harvard forest</a:t>
            </a:r>
          </a:p>
        </p:txBody>
      </p:sp>
      <p:pic>
        <p:nvPicPr>
          <p:cNvPr id="4" name="Content Placeholder 3" descr="Screen Shot 2015-01-14 at 11.11.58 A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4" r="238"/>
          <a:stretch/>
        </p:blipFill>
        <p:spPr>
          <a:xfrm>
            <a:off x="1440425" y="1332451"/>
            <a:ext cx="1383017" cy="2872325"/>
          </a:xfrm>
        </p:spPr>
      </p:pic>
      <p:cxnSp>
        <p:nvCxnSpPr>
          <p:cNvPr id="6" name="Straight Arrow Connector 5"/>
          <p:cNvCxnSpPr/>
          <p:nvPr/>
        </p:nvCxnSpPr>
        <p:spPr>
          <a:xfrm>
            <a:off x="1740513" y="1593418"/>
            <a:ext cx="0" cy="2394374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854814" y="1538090"/>
            <a:ext cx="394546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66802" y="1300733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50m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1287785" y="2656134"/>
            <a:ext cx="5229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164" y="940999"/>
            <a:ext cx="403550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/>
              <a:buChar char="•"/>
            </a:pPr>
            <a:r>
              <a:rPr lang="en-US" sz="1350" dirty="0"/>
              <a:t>1-ha stand (200mx50m</a:t>
            </a:r>
          </a:p>
          <a:p>
            <a:pPr marL="214313" indent="-214313">
              <a:buFont typeface="Arial"/>
              <a:buChar char="•"/>
            </a:pPr>
            <a:r>
              <a:rPr lang="en-US" sz="1350" dirty="0"/>
              <a:t>1200 trees, mostly coniferous (red pines)</a:t>
            </a:r>
          </a:p>
          <a:p>
            <a:pPr marL="214313" indent="-214313">
              <a:buFont typeface="Arial"/>
              <a:buChar char="•"/>
            </a:pPr>
            <a:r>
              <a:rPr lang="en-US" sz="1350" dirty="0"/>
              <a:t>Maximum heights of about 30m</a:t>
            </a:r>
          </a:p>
          <a:p>
            <a:pPr marL="214313" indent="-214313">
              <a:buFont typeface="Arial"/>
              <a:buChar char="•"/>
            </a:pPr>
            <a:r>
              <a:rPr lang="en-US" sz="1350" dirty="0"/>
              <a:t>Stem map, with location and </a:t>
            </a:r>
            <a:r>
              <a:rPr lang="en-US" sz="1350" dirty="0" err="1"/>
              <a:t>dbh</a:t>
            </a:r>
            <a:r>
              <a:rPr lang="en-US" sz="1350" dirty="0"/>
              <a:t>, species of every tree in this hectare surveyed by Univ. of Mass.  </a:t>
            </a:r>
          </a:p>
        </p:txBody>
      </p:sp>
      <p:pic>
        <p:nvPicPr>
          <p:cNvPr id="13" name="Picture 12" descr="Screen Shot 2015-01-14 at 1.25.00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3" r="14869"/>
          <a:stretch/>
        </p:blipFill>
        <p:spPr>
          <a:xfrm>
            <a:off x="2921296" y="1332450"/>
            <a:ext cx="1226449" cy="2872325"/>
          </a:xfrm>
          <a:prstGeom prst="rect">
            <a:avLst/>
          </a:prstGeom>
        </p:spPr>
      </p:pic>
      <p:pic>
        <p:nvPicPr>
          <p:cNvPr id="14" name="Picture 13" descr="Screen Shot 2015-01-14 at 1.25.08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 t="31947" r="3078" b="5929"/>
          <a:stretch/>
        </p:blipFill>
        <p:spPr>
          <a:xfrm>
            <a:off x="2921296" y="4054538"/>
            <a:ext cx="1226449" cy="248280"/>
          </a:xfrm>
          <a:prstGeom prst="rect">
            <a:avLst/>
          </a:prstGeom>
        </p:spPr>
      </p:pic>
      <p:pic>
        <p:nvPicPr>
          <p:cNvPr id="15" name="Picture 4" descr="IMG_1215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155" y="2557690"/>
            <a:ext cx="1492980" cy="1990836"/>
          </a:xfrm>
          <a:prstGeom prst="rect">
            <a:avLst/>
          </a:prstGeom>
          <a:noFill/>
          <a:ln w="571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374199"/>
              </p:ext>
            </p:extLst>
          </p:nvPr>
        </p:nvGraphicFramePr>
        <p:xfrm>
          <a:off x="5942175" y="3069656"/>
          <a:ext cx="1951782" cy="933376"/>
        </p:xfrm>
        <a:graphic>
          <a:graphicData uri="http://schemas.openxmlformats.org/drawingml/2006/table">
            <a:tbl>
              <a:tblPr/>
              <a:tblGrid>
                <a:gridCol w="578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Parameter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Value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Frequency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L-Band  1217.5 to 1297.5 MHz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Bandwidth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80 MHz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Resolution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1.67 m Range, 0.8 m Azimuth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Polarization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0"/>
                          <a:cs typeface="ＭＳ Ｐゴシック" charset="0"/>
                        </a:rPr>
                        <a:t>Full Quad-Polarization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395193" y="4233732"/>
            <a:ext cx="14734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Simulated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2658" y="4302818"/>
            <a:ext cx="7425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heights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FD836-1AC0-64F0-3836-D57BC828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227340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818" y="161789"/>
            <a:ext cx="6172200" cy="587503"/>
          </a:xfrm>
        </p:spPr>
        <p:txBody>
          <a:bodyPr>
            <a:normAutofit/>
          </a:bodyPr>
          <a:lstStyle/>
          <a:p>
            <a:r>
              <a:rPr lang="en-US" sz="1800" dirty="0"/>
              <a:t>Simulated trees, stack</a:t>
            </a:r>
          </a:p>
        </p:txBody>
      </p:sp>
      <p:pic>
        <p:nvPicPr>
          <p:cNvPr id="4" name="Content Placeholder 3" descr="forest_image.bmp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800" t="28942" r="11890" b="25077"/>
          <a:stretch/>
        </p:blipFill>
        <p:spPr>
          <a:xfrm>
            <a:off x="1274186" y="807566"/>
            <a:ext cx="6656231" cy="1605189"/>
          </a:xfrm>
        </p:spPr>
      </p:pic>
      <p:pic>
        <p:nvPicPr>
          <p:cNvPr id="5" name="Picture 4" descr="forest_image.bmp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786" y="2709357"/>
            <a:ext cx="902915" cy="18577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88934" y="975369"/>
            <a:ext cx="245260" cy="11407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960786" y="2116150"/>
            <a:ext cx="228148" cy="5932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434194" y="2116150"/>
            <a:ext cx="429507" cy="5932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86267" y="4353424"/>
            <a:ext cx="6559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Red pine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1325516" y="2184598"/>
            <a:ext cx="6416678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76158" y="2181922"/>
            <a:ext cx="5229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200m</a:t>
            </a: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64441"/>
              </p:ext>
            </p:extLst>
          </p:nvPr>
        </p:nvGraphicFramePr>
        <p:xfrm>
          <a:off x="784558" y="1566312"/>
          <a:ext cx="6527006" cy="2532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8382000" imgH="3251200" progId="Word.Document.8">
                  <p:embed/>
                </p:oleObj>
              </mc:Choice>
              <mc:Fallback>
                <p:oleObj name="Document" r:id="rId7" imgW="8382000" imgH="3251200" progId="Word.Document.8">
                  <p:embed/>
                  <p:pic>
                    <p:nvPicPr>
                      <p:cNvPr id="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558" y="1566312"/>
                        <a:ext cx="6527006" cy="2532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438522" y="4079043"/>
            <a:ext cx="36752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Spatial baselines (upper half) in meters and temporal separation (lower half) in hours, for the stack of UAVSAR images. These geometries are duplicated for the simulations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A55E3-8762-731B-B15E-6F613EFD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15783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10m baseline (</a:t>
            </a:r>
            <a:r>
              <a:rPr lang="en-US" sz="2100" dirty="0" err="1"/>
              <a:t>kz</a:t>
            </a:r>
            <a:r>
              <a:rPr lang="en-US" sz="2100" dirty="0"/>
              <a:t> = 0.0176, </a:t>
            </a:r>
            <a:r>
              <a:rPr lang="en-US" sz="2100" dirty="0" err="1"/>
              <a:t>unamb</a:t>
            </a:r>
            <a:r>
              <a:rPr lang="en-US" sz="2100" dirty="0"/>
              <a:t>. </a:t>
            </a:r>
            <a:r>
              <a:rPr lang="en-US" sz="2100" dirty="0" err="1"/>
              <a:t>Hgt</a:t>
            </a:r>
            <a:r>
              <a:rPr lang="en-US" sz="2100" dirty="0"/>
              <a:t> = 356m) </a:t>
            </a:r>
          </a:p>
        </p:txBody>
      </p:sp>
      <p:pic>
        <p:nvPicPr>
          <p:cNvPr id="4" name="Content Placeholder 3" descr="10mbh_notdec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3" t="7313" r="10450" b="10233"/>
          <a:stretch/>
        </p:blipFill>
        <p:spPr>
          <a:xfrm>
            <a:off x="1485901" y="1448368"/>
            <a:ext cx="3163976" cy="2798873"/>
          </a:xfrm>
        </p:spPr>
      </p:pic>
      <p:pic>
        <p:nvPicPr>
          <p:cNvPr id="5" name="Picture 4" descr="10mbh_2.5cmmax_tdec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5" t="7404" r="10450" b="10891"/>
          <a:stretch/>
        </p:blipFill>
        <p:spPr>
          <a:xfrm>
            <a:off x="4649877" y="1454893"/>
            <a:ext cx="3182245" cy="2792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8546" y="4534305"/>
            <a:ext cx="1454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 decorrelation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927" y="4534305"/>
            <a:ext cx="21371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2.5cm </a:t>
            </a:r>
            <a:r>
              <a:rPr lang="en-US" sz="1350" dirty="0" err="1"/>
              <a:t>rms</a:t>
            </a:r>
            <a:r>
              <a:rPr lang="en-US" sz="1350" dirty="0"/>
              <a:t> motion at 30m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A11B4-C2FA-6C95-BBED-3BE5B232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281737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25m baseline (</a:t>
            </a:r>
            <a:r>
              <a:rPr lang="en-US" sz="2100" dirty="0" err="1"/>
              <a:t>kz</a:t>
            </a:r>
            <a:r>
              <a:rPr lang="en-US" sz="2100" dirty="0"/>
              <a:t> = 0.0176, </a:t>
            </a:r>
            <a:r>
              <a:rPr lang="en-US" sz="2100" dirty="0" err="1"/>
              <a:t>unamb</a:t>
            </a:r>
            <a:r>
              <a:rPr lang="en-US" sz="2100" dirty="0"/>
              <a:t>. </a:t>
            </a:r>
            <a:r>
              <a:rPr lang="en-US" sz="2100" dirty="0" err="1"/>
              <a:t>Hgt</a:t>
            </a:r>
            <a:r>
              <a:rPr lang="en-US" sz="2100" dirty="0"/>
              <a:t> = 142m)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7" t="7247" r="10426" b="10547"/>
          <a:stretch/>
        </p:blipFill>
        <p:spPr>
          <a:xfrm>
            <a:off x="1405520" y="1454894"/>
            <a:ext cx="3175451" cy="280098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0" t="7630" r="10119" b="10090"/>
          <a:stretch/>
        </p:blipFill>
        <p:spPr>
          <a:xfrm>
            <a:off x="4633160" y="1454894"/>
            <a:ext cx="3182265" cy="2800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8546" y="4534305"/>
            <a:ext cx="1454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 decorrelation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927" y="4534305"/>
            <a:ext cx="21371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2.5cm </a:t>
            </a:r>
            <a:r>
              <a:rPr lang="en-US" sz="1350" dirty="0" err="1"/>
              <a:t>rms</a:t>
            </a:r>
            <a:r>
              <a:rPr lang="en-US" sz="1350" dirty="0"/>
              <a:t> motion at 30m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8FC9D-18EA-EBC0-1D26-978544EF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214851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55m baseline (</a:t>
            </a:r>
            <a:r>
              <a:rPr lang="en-US" sz="2100" dirty="0" err="1"/>
              <a:t>kz</a:t>
            </a:r>
            <a:r>
              <a:rPr lang="en-US" sz="2100" dirty="0"/>
              <a:t> = 0.0970, </a:t>
            </a:r>
            <a:r>
              <a:rPr lang="en-US" sz="2100" dirty="0" err="1"/>
              <a:t>unamb</a:t>
            </a:r>
            <a:r>
              <a:rPr lang="en-US" sz="2100" dirty="0"/>
              <a:t>. </a:t>
            </a:r>
            <a:r>
              <a:rPr lang="en-US" sz="2100" dirty="0" err="1"/>
              <a:t>Hgt</a:t>
            </a:r>
            <a:r>
              <a:rPr lang="en-US" sz="2100" dirty="0"/>
              <a:t> = 65m)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3" t="7358" r="10272" b="10186"/>
          <a:stretch/>
        </p:blipFill>
        <p:spPr>
          <a:xfrm>
            <a:off x="1485900" y="1454894"/>
            <a:ext cx="3154352" cy="280098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5" t="6902" r="10620" b="10271"/>
          <a:stretch/>
        </p:blipFill>
        <p:spPr>
          <a:xfrm>
            <a:off x="4698965" y="1454894"/>
            <a:ext cx="3133533" cy="2800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8546" y="4534305"/>
            <a:ext cx="1454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 decorrelation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927" y="4534305"/>
            <a:ext cx="21371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2.5cm </a:t>
            </a:r>
            <a:r>
              <a:rPr lang="en-US" sz="1350" dirty="0" err="1"/>
              <a:t>rms</a:t>
            </a:r>
            <a:r>
              <a:rPr lang="en-US" sz="1350" dirty="0"/>
              <a:t> motion at 30m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6E42C-0DE0-1135-3004-D6A64DCE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199022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Simulated motion profile</a:t>
            </a:r>
          </a:p>
        </p:txBody>
      </p:sp>
      <p:pic>
        <p:nvPicPr>
          <p:cNvPr id="4" name="Content Placeholder 3" descr="sim_profile_stats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" t="4622" r="5407" b="2161"/>
          <a:stretch/>
        </p:blipFill>
        <p:spPr>
          <a:xfrm>
            <a:off x="4166862" y="1301985"/>
            <a:ext cx="3156701" cy="2407423"/>
          </a:xfrm>
        </p:spPr>
      </p:pic>
      <p:sp>
        <p:nvSpPr>
          <p:cNvPr id="5" name="TextBox 4"/>
          <p:cNvSpPr txBox="1"/>
          <p:nvPr/>
        </p:nvSpPr>
        <p:spPr>
          <a:xfrm>
            <a:off x="1245548" y="1452041"/>
            <a:ext cx="25468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For reference:</a:t>
            </a:r>
          </a:p>
          <a:p>
            <a:endParaRPr lang="en-US" sz="1350" dirty="0"/>
          </a:p>
          <a:p>
            <a:r>
              <a:rPr lang="en-US" sz="1350" dirty="0"/>
              <a:t>This plot shows the estimated standard deviation of the motion applied to </a:t>
            </a:r>
            <a:r>
              <a:rPr lang="en-US" sz="1350" dirty="0" err="1"/>
              <a:t>scatterers</a:t>
            </a:r>
            <a:r>
              <a:rPr lang="en-US" sz="1350" dirty="0"/>
              <a:t> (estimated for every 30cm height bin). </a:t>
            </a:r>
          </a:p>
          <a:p>
            <a:endParaRPr lang="en-US" sz="1350" dirty="0"/>
          </a:p>
          <a:p>
            <a:r>
              <a:rPr lang="en-US" sz="1350" dirty="0"/>
              <a:t>It likely differs from the input model (the solid blue line) due to my imperfect running </a:t>
            </a:r>
            <a:r>
              <a:rPr lang="en-US" sz="1350" dirty="0" err="1"/>
              <a:t>std</a:t>
            </a:r>
            <a:r>
              <a:rPr lang="en-US" sz="1350" dirty="0"/>
              <a:t> estimator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9F6D7-FB9B-BD6C-5A90-E862D3C5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43201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25mbh_p6cmtdec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4" t="6935" r="10305" b="8942"/>
          <a:stretch/>
        </p:blipFill>
        <p:spPr>
          <a:xfrm>
            <a:off x="3505975" y="729521"/>
            <a:ext cx="1871189" cy="1682666"/>
          </a:xfrm>
        </p:spPr>
      </p:pic>
      <p:pic>
        <p:nvPicPr>
          <p:cNvPr id="4" name="Picture 3" descr="25mbh_notdec3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1" t="6935" r="10440" b="8942"/>
          <a:stretch/>
        </p:blipFill>
        <p:spPr>
          <a:xfrm>
            <a:off x="1513911" y="729521"/>
            <a:ext cx="1861517" cy="1682666"/>
          </a:xfrm>
          <a:prstGeom prst="rect">
            <a:avLst/>
          </a:prstGeom>
        </p:spPr>
      </p:pic>
      <p:pic>
        <p:nvPicPr>
          <p:cNvPr id="6" name="Picture 5" descr="25mbh_1p2cmtdec.eps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4" t="6935" r="10294" b="8942"/>
          <a:stretch/>
        </p:blipFill>
        <p:spPr>
          <a:xfrm>
            <a:off x="5589908" y="729521"/>
            <a:ext cx="1876024" cy="1682666"/>
          </a:xfrm>
          <a:prstGeom prst="rect">
            <a:avLst/>
          </a:prstGeom>
        </p:spPr>
      </p:pic>
      <p:pic>
        <p:nvPicPr>
          <p:cNvPr id="7" name="Picture 6" descr="25mbh_1p8cmtdec.eps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8" t="6284" r="10124" b="9834"/>
          <a:stretch/>
        </p:blipFill>
        <p:spPr>
          <a:xfrm>
            <a:off x="1513911" y="2794174"/>
            <a:ext cx="1861517" cy="1677833"/>
          </a:xfrm>
          <a:prstGeom prst="rect">
            <a:avLst/>
          </a:prstGeom>
        </p:spPr>
      </p:pic>
      <p:pic>
        <p:nvPicPr>
          <p:cNvPr id="8" name="Picture 7" descr="25mbh_2p4cmtdec.eps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6" t="6284" r="10648" b="9834"/>
          <a:stretch/>
        </p:blipFill>
        <p:spPr>
          <a:xfrm>
            <a:off x="3505975" y="2794173"/>
            <a:ext cx="1871189" cy="1677833"/>
          </a:xfrm>
          <a:prstGeom prst="rect">
            <a:avLst/>
          </a:prstGeom>
        </p:spPr>
      </p:pic>
      <p:pic>
        <p:nvPicPr>
          <p:cNvPr id="9" name="Picture 8" descr="25mbh_3p0cmtdec.eps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4" t="6286" r="8902" b="9834"/>
          <a:stretch/>
        </p:blipFill>
        <p:spPr>
          <a:xfrm>
            <a:off x="5589908" y="2794173"/>
            <a:ext cx="1912076" cy="1677833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89479" y="194553"/>
            <a:ext cx="7175848" cy="392932"/>
          </a:xfrm>
        </p:spPr>
        <p:txBody>
          <a:bodyPr>
            <a:normAutofit fontScale="90000"/>
          </a:bodyPr>
          <a:lstStyle/>
          <a:p>
            <a:r>
              <a:rPr lang="en-US" sz="1500" dirty="0"/>
              <a:t>Increasing </a:t>
            </a:r>
            <a:r>
              <a:rPr lang="en-US" sz="1500" dirty="0" err="1"/>
              <a:t>scatterer</a:t>
            </a:r>
            <a:r>
              <a:rPr lang="en-US" sz="1500" dirty="0"/>
              <a:t> motion at 25m baseline (</a:t>
            </a:r>
            <a:r>
              <a:rPr lang="en-US" sz="1500" dirty="0" err="1"/>
              <a:t>kz</a:t>
            </a:r>
            <a:r>
              <a:rPr lang="en-US" sz="1500" dirty="0"/>
              <a:t> = 0.0176, </a:t>
            </a:r>
            <a:r>
              <a:rPr lang="en-US" sz="1500" dirty="0" err="1"/>
              <a:t>unamb</a:t>
            </a:r>
            <a:r>
              <a:rPr lang="en-US" sz="1500" dirty="0"/>
              <a:t>. </a:t>
            </a:r>
            <a:r>
              <a:rPr lang="en-US" sz="1500" dirty="0" err="1"/>
              <a:t>Hgt</a:t>
            </a:r>
            <a:r>
              <a:rPr lang="en-US" sz="1500" dirty="0"/>
              <a:t> = 142m)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147" y="4472007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2.4cm </a:t>
            </a:r>
            <a:r>
              <a:rPr lang="en-US" sz="1050" dirty="0" err="1"/>
              <a:t>rms</a:t>
            </a:r>
            <a:r>
              <a:rPr lang="en-US" sz="1050" dirty="0"/>
              <a:t> motion at 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7279" y="4472006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3.0cm </a:t>
            </a:r>
            <a:r>
              <a:rPr lang="en-US" sz="1050" dirty="0" err="1"/>
              <a:t>rms</a:t>
            </a:r>
            <a:r>
              <a:rPr lang="en-US" sz="1050" dirty="0"/>
              <a:t> motion at 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9623" y="4472007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1.8cm </a:t>
            </a:r>
            <a:r>
              <a:rPr lang="en-US" sz="1050" dirty="0" err="1"/>
              <a:t>rms</a:t>
            </a:r>
            <a:r>
              <a:rPr lang="en-US" sz="1050" dirty="0"/>
              <a:t> motion at 30m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147" y="2413776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0.6cm </a:t>
            </a:r>
            <a:r>
              <a:rPr lang="en-US" sz="1050" dirty="0" err="1"/>
              <a:t>rms</a:t>
            </a:r>
            <a:r>
              <a:rPr lang="en-US" sz="1050" dirty="0"/>
              <a:t> motion at 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7612" y="2423449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1.2cm </a:t>
            </a:r>
            <a:r>
              <a:rPr lang="en-US" sz="1050" dirty="0" err="1"/>
              <a:t>rms</a:t>
            </a:r>
            <a:r>
              <a:rPr lang="en-US" sz="1050" dirty="0"/>
              <a:t> motion at 30m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9623" y="2408941"/>
            <a:ext cx="1435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No </a:t>
            </a:r>
            <a:r>
              <a:rPr lang="en-US" sz="1050" dirty="0" err="1"/>
              <a:t>scatterer</a:t>
            </a:r>
            <a:r>
              <a:rPr lang="en-US" sz="1050" dirty="0"/>
              <a:t> motion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DC7BFC-0B3F-BB49-E4D1-E05A17BA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13911" y="4853992"/>
            <a:ext cx="5791199" cy="274637"/>
          </a:xfrm>
        </p:spPr>
        <p:txBody>
          <a:bodyPr/>
          <a:lstStyle/>
          <a:p>
            <a:r>
              <a:rPr lang="en-US" dirty="0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141767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828" y="258018"/>
            <a:ext cx="5621148" cy="392932"/>
          </a:xfrm>
        </p:spPr>
        <p:txBody>
          <a:bodyPr>
            <a:normAutofit/>
          </a:bodyPr>
          <a:lstStyle/>
          <a:p>
            <a:r>
              <a:rPr lang="en-US" sz="1500" dirty="0"/>
              <a:t>25m baseline (</a:t>
            </a:r>
            <a:r>
              <a:rPr lang="en-US" sz="1500" dirty="0" err="1"/>
              <a:t>kz</a:t>
            </a:r>
            <a:r>
              <a:rPr lang="en-US" sz="1500" dirty="0"/>
              <a:t> = 0.0176, </a:t>
            </a:r>
            <a:r>
              <a:rPr lang="en-US" sz="1500" dirty="0" err="1"/>
              <a:t>unamb</a:t>
            </a:r>
            <a:r>
              <a:rPr lang="en-US" sz="1500" dirty="0"/>
              <a:t>. </a:t>
            </a:r>
            <a:r>
              <a:rPr lang="en-US" sz="1500" dirty="0" err="1"/>
              <a:t>Hgt</a:t>
            </a:r>
            <a:r>
              <a:rPr lang="en-US" sz="1500" dirty="0"/>
              <a:t> = 142m)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62" y="1745641"/>
            <a:ext cx="4106486" cy="3079865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85900" y="1200151"/>
            <a:ext cx="5400737" cy="414056"/>
          </a:xfrm>
        </p:spPr>
        <p:txBody>
          <a:bodyPr>
            <a:normAutofit fontScale="92500" lnSpcReduction="20000"/>
          </a:bodyPr>
          <a:lstStyle/>
          <a:p>
            <a:r>
              <a:rPr lang="en-US" sz="1350" dirty="0"/>
              <a:t>Standard deviation of the </a:t>
            </a:r>
            <a:r>
              <a:rPr lang="en-US" sz="1350" dirty="0" err="1"/>
              <a:t>scatterer</a:t>
            </a:r>
            <a:r>
              <a:rPr lang="en-US" sz="1350" dirty="0"/>
              <a:t> motion as a function of height for previous slide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616CF-E12D-3B21-B5D9-17A64534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94485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66" y="245487"/>
            <a:ext cx="6172200" cy="365522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UAVSAR data over the Harvard forest</a:t>
            </a:r>
          </a:p>
        </p:txBody>
      </p:sp>
      <p:pic>
        <p:nvPicPr>
          <p:cNvPr id="4" name="Content Placeholder 3" descr="uavsar_image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4" t="7514" r="9654" b="11111"/>
          <a:stretch/>
        </p:blipFill>
        <p:spPr>
          <a:xfrm>
            <a:off x="5392009" y="344637"/>
            <a:ext cx="3016251" cy="2762250"/>
          </a:xfrm>
        </p:spPr>
      </p:pic>
      <p:sp>
        <p:nvSpPr>
          <p:cNvPr id="5" name="Oval 4"/>
          <p:cNvSpPr/>
          <p:nvPr/>
        </p:nvSpPr>
        <p:spPr>
          <a:xfrm>
            <a:off x="6627878" y="642028"/>
            <a:ext cx="1423988" cy="1045369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 rot="20700000">
            <a:off x="7251217" y="1205287"/>
            <a:ext cx="37205" cy="143956"/>
          </a:xfrm>
          <a:prstGeom prst="rect">
            <a:avLst/>
          </a:prstGeom>
          <a:noFill/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7585537" y="1582599"/>
            <a:ext cx="9421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Harvard Forest, Prospect Hill 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7485" y="1146853"/>
            <a:ext cx="705776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solidFill>
                  <a:srgbClr val="0000FF"/>
                </a:solidFill>
              </a:rPr>
              <a:t>Surveyed stem map 1ha plot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773343"/>
              </p:ext>
            </p:extLst>
          </p:nvPr>
        </p:nvGraphicFramePr>
        <p:xfrm>
          <a:off x="5082580" y="3181192"/>
          <a:ext cx="3356372" cy="1621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382000" imgH="4051300" progId="Word.Document.8">
                  <p:embed/>
                </p:oleObj>
              </mc:Choice>
              <mc:Fallback>
                <p:oleObj name="Document" r:id="rId3" imgW="8382000" imgH="4051300" progId="Word.Document.8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580" y="3181192"/>
                        <a:ext cx="3356372" cy="1621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22882" y="1202924"/>
            <a:ext cx="3472855" cy="2968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UAVSAR collected data between August 6</a:t>
            </a:r>
            <a:r>
              <a:rPr lang="en-US" sz="1200" baseline="30000" dirty="0"/>
              <a:t>th</a:t>
            </a:r>
            <a:r>
              <a:rPr lang="en-US" sz="1200" dirty="0"/>
              <a:t> and and August 17</a:t>
            </a:r>
            <a:r>
              <a:rPr lang="en-US" sz="1200" baseline="30000" dirty="0"/>
              <a:t>th</a:t>
            </a:r>
            <a:r>
              <a:rPr lang="en-US" sz="1200" dirty="0"/>
              <a:t>, 2009 over the Harvard Forest region</a:t>
            </a:r>
          </a:p>
          <a:p>
            <a:endParaRPr lang="en-US" sz="1200" dirty="0"/>
          </a:p>
          <a:p>
            <a:r>
              <a:rPr lang="en-US" sz="1200" dirty="0"/>
              <a:t>13-tracks with varying spatial and temporal baselines (shown in Table) are processed as a stack</a:t>
            </a:r>
          </a:p>
          <a:p>
            <a:endParaRPr lang="en-US" sz="1200" dirty="0"/>
          </a:p>
          <a:p>
            <a:pPr defTabSz="762000">
              <a:spcBef>
                <a:spcPct val="20000"/>
              </a:spcBef>
            </a:pPr>
            <a:r>
              <a:rPr lang="en-US" sz="1200" dirty="0">
                <a:ea typeface="Osaka" charset="0"/>
                <a:cs typeface="Osaka" charset="0"/>
              </a:rPr>
              <a:t>15 1-hectare plots, divided into 16 25x25m subplots were surveyed in 2009. Stem map (tree location, </a:t>
            </a:r>
            <a:r>
              <a:rPr lang="en-US" sz="1200" dirty="0" err="1">
                <a:ea typeface="Osaka" charset="0"/>
                <a:cs typeface="Osaka" charset="0"/>
              </a:rPr>
              <a:t>dbh</a:t>
            </a:r>
            <a:r>
              <a:rPr lang="en-US" sz="1200" dirty="0">
                <a:ea typeface="Osaka" charset="0"/>
                <a:cs typeface="Osaka" charset="0"/>
              </a:rPr>
              <a:t> and species of every tree) of a 1ha plot was surveyed in 2012</a:t>
            </a:r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097AA-B44D-B858-5A90-513583BC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223530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158" y="222543"/>
            <a:ext cx="6172200" cy="323189"/>
          </a:xfrm>
        </p:spPr>
        <p:txBody>
          <a:bodyPr>
            <a:normAutofit fontScale="90000"/>
          </a:bodyPr>
          <a:lstStyle/>
          <a:p>
            <a:r>
              <a:rPr lang="en-US" sz="1350" dirty="0"/>
              <a:t>Preliminary Comparison of </a:t>
            </a:r>
            <a:r>
              <a:rPr lang="en-US" sz="1350" dirty="0" err="1"/>
              <a:t>PolSARproSim</a:t>
            </a:r>
            <a:r>
              <a:rPr lang="en-US" sz="1350" dirty="0"/>
              <a:t>+ simulations  with UAVSAR data</a:t>
            </a:r>
          </a:p>
        </p:txBody>
      </p:sp>
      <p:pic>
        <p:nvPicPr>
          <p:cNvPr id="5" name="Picture 4" descr="uavsar_pix2.eps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2" t="7936" r="10714" b="10450"/>
          <a:stretch/>
        </p:blipFill>
        <p:spPr>
          <a:xfrm>
            <a:off x="1316791" y="719018"/>
            <a:ext cx="1695005" cy="1491895"/>
          </a:xfrm>
          <a:prstGeom prst="rect">
            <a:avLst/>
          </a:prstGeom>
        </p:spPr>
      </p:pic>
      <p:pic>
        <p:nvPicPr>
          <p:cNvPr id="6" name="Picture 5" descr="uavsar_pix3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0" t="7672" r="11012" b="10978"/>
          <a:stretch/>
        </p:blipFill>
        <p:spPr>
          <a:xfrm>
            <a:off x="3011795" y="719018"/>
            <a:ext cx="1685963" cy="1491895"/>
          </a:xfrm>
          <a:prstGeom prst="rect">
            <a:avLst/>
          </a:prstGeom>
        </p:spPr>
      </p:pic>
      <p:pic>
        <p:nvPicPr>
          <p:cNvPr id="7" name="Picture 6" descr="uavsar_pix5.eps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0" t="7936" r="10616" b="10847"/>
          <a:stretch/>
        </p:blipFill>
        <p:spPr>
          <a:xfrm>
            <a:off x="6302574" y="719018"/>
            <a:ext cx="1698427" cy="1491895"/>
          </a:xfrm>
          <a:prstGeom prst="rect">
            <a:avLst/>
          </a:prstGeom>
        </p:spPr>
      </p:pic>
      <p:pic>
        <p:nvPicPr>
          <p:cNvPr id="8" name="Picture 7" descr="uavsim_0cmtd.eps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0" t="7672" r="10616" b="10978"/>
          <a:stretch/>
        </p:blipFill>
        <p:spPr>
          <a:xfrm>
            <a:off x="1327783" y="2809348"/>
            <a:ext cx="1695667" cy="1491896"/>
          </a:xfrm>
          <a:prstGeom prst="rect">
            <a:avLst/>
          </a:prstGeom>
        </p:spPr>
      </p:pic>
      <p:pic>
        <p:nvPicPr>
          <p:cNvPr id="9" name="Picture 8" descr="uavsim_0.6cmtd.eps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0" t="7936" r="10516" b="10979"/>
          <a:stretch/>
        </p:blipFill>
        <p:spPr>
          <a:xfrm>
            <a:off x="3023449" y="2809348"/>
            <a:ext cx="1703633" cy="1491896"/>
          </a:xfrm>
          <a:prstGeom prst="rect">
            <a:avLst/>
          </a:prstGeom>
        </p:spPr>
      </p:pic>
      <p:pic>
        <p:nvPicPr>
          <p:cNvPr id="11" name="Picture 10" descr="uavsim_1.2cmtd.eps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1" t="7407" r="10714" b="10847"/>
          <a:stretch/>
        </p:blipFill>
        <p:spPr>
          <a:xfrm>
            <a:off x="6313566" y="2809348"/>
            <a:ext cx="1687435" cy="1491896"/>
          </a:xfrm>
          <a:prstGeom prst="rect">
            <a:avLst/>
          </a:prstGeom>
        </p:spPr>
      </p:pic>
      <p:pic>
        <p:nvPicPr>
          <p:cNvPr id="4" name="Content Placeholder 3" descr="uavsar_pix1.eps"/>
          <p:cNvPicPr>
            <a:picLocks noGrp="1" noChangeAspect="1"/>
          </p:cNvPicPr>
          <p:nvPr>
            <p:ph idx="1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2" t="7825" r="10435" b="10956"/>
          <a:stretch/>
        </p:blipFill>
        <p:spPr>
          <a:xfrm>
            <a:off x="4697758" y="719018"/>
            <a:ext cx="1695228" cy="1491895"/>
          </a:xfrm>
        </p:spPr>
      </p:pic>
      <p:sp>
        <p:nvSpPr>
          <p:cNvPr id="12" name="TextBox 11"/>
          <p:cNvSpPr txBox="1"/>
          <p:nvPr/>
        </p:nvSpPr>
        <p:spPr>
          <a:xfrm>
            <a:off x="1624542" y="4474530"/>
            <a:ext cx="1037166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Simulated image no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2042" y="4474530"/>
            <a:ext cx="1167342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Simulated image 0.6cm RMS motion at 30m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3840" y="4472414"/>
            <a:ext cx="1167342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Simulated image 1.2cm RMS motion at 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758" y="4472414"/>
            <a:ext cx="1167342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Simulated image 1.8cm RMS motion at 30m</a:t>
            </a:r>
          </a:p>
        </p:txBody>
      </p:sp>
      <p:pic>
        <p:nvPicPr>
          <p:cNvPr id="10" name="Picture 9" descr="uavsim_1cmtd.eps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4" t="7936" r="10893" b="10979"/>
          <a:stretch/>
        </p:blipFill>
        <p:spPr>
          <a:xfrm>
            <a:off x="4708750" y="2809348"/>
            <a:ext cx="1698765" cy="1491896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1624542" y="2301227"/>
            <a:ext cx="6117167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88" dirty="0"/>
              <a:t>Coherence regions for four pixels in the UAVSAR data that overlap the simulated pixel. The two UAVSAR tracks were spaced 1hr apart with a 25m horizontal baseline (</a:t>
            </a:r>
            <a:r>
              <a:rPr lang="en-US" sz="788" dirty="0" err="1"/>
              <a:t>kz</a:t>
            </a:r>
            <a:r>
              <a:rPr lang="en-US" sz="788" dirty="0"/>
              <a:t> = 0.0176, and unambiguous height = 142m)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27FBA-F775-F7DC-A27D-81A5A151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4899679"/>
            <a:ext cx="5791199" cy="274637"/>
          </a:xfrm>
        </p:spPr>
        <p:txBody>
          <a:bodyPr/>
          <a:lstStyle/>
          <a:p>
            <a:r>
              <a:rPr lang="en-US" dirty="0"/>
              <a:t>Does Not Contain CUI.</a:t>
            </a:r>
          </a:p>
        </p:txBody>
      </p:sp>
    </p:spTree>
    <p:extLst>
      <p:ext uri="{BB962C8B-B14F-4D97-AF65-F5344CB8AC3E}">
        <p14:creationId xmlns:p14="http://schemas.microsoft.com/office/powerpoint/2010/main" val="141369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28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522&quot;&gt;&lt;object type=&quot;3&quot; unique_id=&quot;10523&quot;&gt;&lt;property id=&quot;20148&quot; value=&quot;5&quot;/&gt;&lt;property id=&quot;20300&quot; value=&quot;Slide 1&quot;/&gt;&lt;property id=&quot;20307&quot; value=&quot;277&quot;/&gt;&lt;/object&gt;&lt;object type=&quot;3&quot; unique_id=&quot;10524&quot;&gt;&lt;property id=&quot;20148&quot; value=&quot;5&quot;/&gt;&lt;property id=&quot;20300&quot; value=&quot;Slide 2&quot;/&gt;&lt;property id=&quot;20307&quot; value=&quot;281&quot;/&gt;&lt;/object&gt;&lt;object type=&quot;3&quot; unique_id=&quot;10525&quot;&gt;&lt;property id=&quot;20148&quot; value=&quot;5&quot;/&gt;&lt;property id=&quot;20300&quot; value=&quot;Slide 3&quot;/&gt;&lt;property id=&quot;20307&quot; value=&quot;280&quot;/&gt;&lt;/object&gt;&lt;object type=&quot;3&quot; unique_id=&quot;10526&quot;&gt;&lt;property id=&quot;20148&quot; value=&quot;5&quot;/&gt;&lt;property id=&quot;20300&quot; value=&quot;Slide 4&quot;/&gt;&lt;property id=&quot;20307&quot; value=&quot;278&quot;/&gt;&lt;/object&gt;&lt;/object&gt;&lt;object type=&quot;8&quot; unique_id=&quot;10532&quot;&gt;&lt;/object&gt;&lt;/object&gt;&lt;/database&gt;"/>
  <p:tag name="MMPROD_NEXTUNIQUEID" val="10010"/>
  <p:tag name="SECTOMILLISECCONVERTED" val="1"/>
</p:tagLst>
</file>

<file path=ppt/theme/theme1.xml><?xml version="1.0" encoding="utf-8"?>
<a:theme xmlns:a="http://schemas.openxmlformats.org/drawingml/2006/main" name="NASAjpl-White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SAjpl_Template_16x9_vA9" id="{11EA517D-A364-CA42-8C66-5CBAA04FF9EB}" vid="{449FC22C-08E0-864E-B99D-0EE68B74434A}"/>
    </a:ext>
  </a:extLst>
</a:theme>
</file>

<file path=ppt/theme/theme2.xml><?xml version="1.0" encoding="utf-8"?>
<a:theme xmlns:a="http://schemas.openxmlformats.org/drawingml/2006/main" name="NASAjpl-Black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headEnd type="arrow"/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ASAjpl_Template_16x9_vA9" id="{11EA517D-A364-CA42-8C66-5CBAA04FF9EB}" vid="{6F9984BD-AA3A-174A-853C-75AAE342044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NASAjpl-WhiteTheme-16x9-vA6</Template>
  <TotalTime>8</TotalTime>
  <Words>532</Words>
  <Application>Microsoft Macintosh PowerPoint</Application>
  <PresentationFormat>On-screen Show (16:9)</PresentationFormat>
  <Paragraphs>81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Osaka</vt:lpstr>
      <vt:lpstr>Arial</vt:lpstr>
      <vt:lpstr>Times</vt:lpstr>
      <vt:lpstr>NASAjpl-WhiteTheme-16x9-vA6</vt:lpstr>
      <vt:lpstr>NASAjpl-BlackTheme-16x9-vA6</vt:lpstr>
      <vt:lpstr>Document</vt:lpstr>
      <vt:lpstr>PowerPoint Presentation</vt:lpstr>
      <vt:lpstr>Simulating a 1-ha stand at the Harvard forest</vt:lpstr>
      <vt:lpstr>Simulated trees, stack</vt:lpstr>
      <vt:lpstr>10m baseline (kz = 0.0176, unamb. Hgt = 356m) </vt:lpstr>
      <vt:lpstr>25m baseline (kz = 0.0176, unamb. Hgt = 142m) </vt:lpstr>
      <vt:lpstr>55m baseline (kz = 0.0970, unamb. Hgt = 65m) </vt:lpstr>
      <vt:lpstr>Simulated motion profile</vt:lpstr>
      <vt:lpstr>Increasing scatterer motion at 25m baseline (kz = 0.0176, unamb. Hgt = 142m) </vt:lpstr>
      <vt:lpstr>25m baseline (kz = 0.0176, unamb. Hgt = 142m) </vt:lpstr>
      <vt:lpstr>UAVSAR data over the Harvard forest</vt:lpstr>
      <vt:lpstr>Preliminary Comparison of PolSARproSim+ simulations  with UAVSAR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Ahmed, Razi U (US 363H)</dc:creator>
  <cp:lastModifiedBy>Ahmed, Razi U (US 363H)</cp:lastModifiedBy>
  <cp:revision>2</cp:revision>
  <dcterms:created xsi:type="dcterms:W3CDTF">2026-03-25T00:08:01Z</dcterms:created>
  <dcterms:modified xsi:type="dcterms:W3CDTF">2026-03-25T19:29:39Z</dcterms:modified>
</cp:coreProperties>
</file>