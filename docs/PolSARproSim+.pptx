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0" r:id="rId1"/>
    <p:sldMasterId id="2147484002" r:id="rId2"/>
  </p:sldMasterIdLst>
  <p:notesMasterIdLst>
    <p:notesMasterId r:id="rId41"/>
  </p:notesMasterIdLst>
  <p:handoutMasterIdLst>
    <p:handoutMasterId r:id="rId42"/>
  </p:handoutMasterIdLst>
  <p:sldIdLst>
    <p:sldId id="329" r:id="rId3"/>
    <p:sldId id="257" r:id="rId4"/>
    <p:sldId id="258" r:id="rId5"/>
    <p:sldId id="29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3" r:id="rId37"/>
    <p:sldId id="291" r:id="rId38"/>
    <p:sldId id="292" r:id="rId39"/>
    <p:sldId id="331" r:id="rId40"/>
  </p:sldIdLst>
  <p:sldSz cx="9144000" cy="6858000" type="screen4x3"/>
  <p:notesSz cx="7010400" cy="9296400"/>
  <p:custDataLst>
    <p:tags r:id="rId4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92A"/>
    <a:srgbClr val="434345"/>
    <a:srgbClr val="5D5D60"/>
    <a:srgbClr val="76777B"/>
    <a:srgbClr val="A5A5A5"/>
    <a:srgbClr val="C8C8C8"/>
    <a:srgbClr val="003D4C"/>
    <a:srgbClr val="0B3D91"/>
    <a:srgbClr val="489FDF"/>
    <a:srgbClr val="00A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1020" autoAdjust="0"/>
  </p:normalViewPr>
  <p:slideViewPr>
    <p:cSldViewPr snapToGrid="0" snapToObjects="1">
      <p:cViewPr varScale="1">
        <p:scale>
          <a:sx n="116" d="100"/>
          <a:sy n="116" d="100"/>
        </p:scale>
        <p:origin x="20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gs" Target="tags/tag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E0A200-6553-B147-90C9-CEF91EFF8297}" type="datetimeFigureOut">
              <a:rPr lang="en-US" smtClean="0">
                <a:latin typeface="Arial"/>
              </a:rPr>
              <a:t>3/25/26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2C01C-8156-EE4C-BC47-869CA09DFB9E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24958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2FC77F81-3125-2240-A858-DAD650E09B57}" type="datetimeFigureOut">
              <a:rPr lang="en-US" smtClean="0"/>
              <a:pPr/>
              <a:t>3/25/26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D55DD9D9-7F94-8C4C-8748-81A0C015A8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63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2341" y="3221701"/>
            <a:ext cx="7513104" cy="5004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800" b="1" baseline="0">
                <a:solidFill>
                  <a:schemeClr val="tx1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3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912341" y="3722185"/>
            <a:ext cx="7498993" cy="123577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909983" y="5649583"/>
            <a:ext cx="7424737" cy="779462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9983" y="2885929"/>
            <a:ext cx="7515462" cy="33577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8" name="Picture 7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956816"/>
            <a:ext cx="3337560" cy="927100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24"/>
          </p:nvPr>
        </p:nvSpPr>
        <p:spPr>
          <a:xfrm>
            <a:off x="912341" y="6457847"/>
            <a:ext cx="7422379" cy="400153"/>
          </a:xfrm>
        </p:spPr>
        <p:txBody>
          <a:bodyPr/>
          <a:lstStyle/>
          <a:p>
            <a:pPr algn="l"/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584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46583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69198" y="4814634"/>
            <a:ext cx="8436135" cy="4301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1" baseline="0">
                <a:solidFill>
                  <a:srgbClr val="000000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523999"/>
            <a:ext cx="8436135" cy="29063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369199" y="5853545"/>
            <a:ext cx="4964801" cy="66579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9" y="5244817"/>
            <a:ext cx="8436134" cy="4701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chemeClr val="tx1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pic>
        <p:nvPicPr>
          <p:cNvPr id="12" name="Picture 11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833872"/>
            <a:ext cx="2925483" cy="812634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>
          <a:xfrm>
            <a:off x="369198" y="6457847"/>
            <a:ext cx="4964802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30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e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576455" cy="6858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5687786" y="1919101"/>
            <a:ext cx="3347357" cy="8830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rgbClr val="000000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5687785" y="2783302"/>
            <a:ext cx="3347357" cy="100012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687784" y="1015999"/>
            <a:ext cx="3347359" cy="8568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tabLst/>
              <a:defRPr sz="14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</a:t>
            </a:r>
            <a:br>
              <a:rPr lang="en-US" dirty="0"/>
            </a:br>
            <a:r>
              <a:rPr lang="en-US" dirty="0"/>
              <a:t>Mission Name (optional)</a:t>
            </a:r>
          </a:p>
        </p:txBody>
      </p:sp>
      <p:pic>
        <p:nvPicPr>
          <p:cNvPr id="10" name="Picture 9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367528"/>
            <a:ext cx="2925483" cy="812634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22"/>
          </p:nvPr>
        </p:nvSpPr>
        <p:spPr>
          <a:xfrm>
            <a:off x="5687568" y="6457847"/>
            <a:ext cx="3347574" cy="400153"/>
          </a:xfrm>
        </p:spPr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3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66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200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75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25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6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1599449"/>
            <a:ext cx="4038600" cy="4526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1599449"/>
            <a:ext cx="4038600" cy="4526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19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7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575050" y="1596524"/>
            <a:ext cx="5111750" cy="4405898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758573"/>
            <a:ext cx="3008313" cy="324384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457200" y="1596524"/>
            <a:ext cx="3008313" cy="1162049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86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590842"/>
            <a:ext cx="5486400" cy="33839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614565"/>
            <a:ext cx="5486400" cy="52154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1792288" y="4974802"/>
            <a:ext cx="5486400" cy="631073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27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lac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14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Light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000000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151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25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27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ray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655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4379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276323" y="3654169"/>
            <a:ext cx="4581678" cy="0"/>
          </a:xfrm>
          <a:prstGeom prst="line">
            <a:avLst/>
          </a:prstGeom>
          <a:ln w="635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3863419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6" name="Picture 5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856" y="2377440"/>
            <a:ext cx="4581144" cy="127254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54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ribrand_ColorBlack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428" y="2792730"/>
            <a:ext cx="4581144" cy="127254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441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41944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906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38100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7398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07195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912341" y="3221701"/>
            <a:ext cx="7513104" cy="5004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8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3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912341" y="3722185"/>
            <a:ext cx="7498993" cy="123577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909983" y="5649583"/>
            <a:ext cx="7424737" cy="779462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9983" y="2885929"/>
            <a:ext cx="7515462" cy="33577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pic>
        <p:nvPicPr>
          <p:cNvPr id="10" name="Picture 9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" y="1956816"/>
            <a:ext cx="3337560" cy="9271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>
          <a:xfrm>
            <a:off x="909983" y="6457847"/>
            <a:ext cx="7424737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446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Horz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465835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69198" y="4814634"/>
            <a:ext cx="8436135" cy="4301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8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9198" y="4523999"/>
            <a:ext cx="8436135" cy="29063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6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Mission Name (optional)</a:t>
            </a:r>
          </a:p>
        </p:txBody>
      </p:sp>
      <p:sp>
        <p:nvSpPr>
          <p:cNvPr id="11" name="Text Placeholder 20"/>
          <p:cNvSpPr>
            <a:spLocks noGrp="1"/>
          </p:cNvSpPr>
          <p:nvPr>
            <p:ph type="body" sz="quarter" idx="18" hasCustomPrompt="1"/>
          </p:nvPr>
        </p:nvSpPr>
        <p:spPr>
          <a:xfrm>
            <a:off x="369199" y="5853545"/>
            <a:ext cx="5205433" cy="66579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FFFFFF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20"/>
          <p:cNvSpPr>
            <a:spLocks noGrp="1"/>
          </p:cNvSpPr>
          <p:nvPr>
            <p:ph type="body" sz="quarter" idx="19" hasCustomPrompt="1"/>
          </p:nvPr>
        </p:nvSpPr>
        <p:spPr>
          <a:xfrm>
            <a:off x="369199" y="5244817"/>
            <a:ext cx="8436134" cy="47018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aseline="0">
                <a:solidFill>
                  <a:srgbClr val="FFFFFF"/>
                </a:solidFill>
                <a:latin typeface="+mj-lt"/>
                <a:cs typeface="Arial"/>
              </a:defRPr>
            </a:lvl1pPr>
          </a:lstStyle>
          <a:p>
            <a:pPr lvl="0"/>
            <a:r>
              <a:rPr lang="en-US" dirty="0"/>
              <a:t>Click to Add a Presentation Subtitle</a:t>
            </a:r>
          </a:p>
        </p:txBody>
      </p:sp>
      <p:pic>
        <p:nvPicPr>
          <p:cNvPr id="12" name="Picture 11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833872"/>
            <a:ext cx="3337560" cy="92710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>
          <a:xfrm>
            <a:off x="369198" y="6457847"/>
            <a:ext cx="5205434" cy="40015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187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Ve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576455" cy="68580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FontTx/>
              <a:buNone/>
              <a:defRPr sz="1600">
                <a:solidFill>
                  <a:srgbClr val="FFFFFF"/>
                </a:solidFill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5687786" y="1919101"/>
            <a:ext cx="3347357" cy="8830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 baseline="0">
                <a:solidFill>
                  <a:srgbClr val="FFFFFF"/>
                </a:solidFill>
                <a:latin typeface="+mj-lt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4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5687785" y="2783302"/>
            <a:ext cx="3347357" cy="1000129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aseline="0">
                <a:solidFill>
                  <a:srgbClr val="FFFFFF"/>
                </a:solidFill>
                <a:latin typeface="+mn-lt"/>
                <a:cs typeface="Arial"/>
              </a:defRPr>
            </a:lvl1pPr>
          </a:lstStyle>
          <a:p>
            <a:pPr lvl="0"/>
            <a:r>
              <a:rPr lang="en-US" dirty="0"/>
              <a:t>Presented by, Job Title, Date, etc.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687784" y="1015999"/>
            <a:ext cx="3347359" cy="856873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tabLst/>
              <a:defRPr sz="1400" baseline="0">
                <a:solidFill>
                  <a:schemeClr val="accent1"/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Click to Add a Theme, Project or </a:t>
            </a:r>
            <a:br>
              <a:rPr lang="en-US" dirty="0"/>
            </a:br>
            <a:r>
              <a:rPr lang="en-US" dirty="0"/>
              <a:t>Mission Name (optional)</a:t>
            </a:r>
          </a:p>
        </p:txBody>
      </p:sp>
      <p:pic>
        <p:nvPicPr>
          <p:cNvPr id="10" name="Picture 9" descr="Tribrand_ColorWhite_rgb_16x3_1606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568" y="5367528"/>
            <a:ext cx="3337560" cy="92710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22"/>
          </p:nvPr>
        </p:nvSpPr>
        <p:spPr>
          <a:xfrm>
            <a:off x="5687786" y="6457847"/>
            <a:ext cx="3337342" cy="400153"/>
          </a:xfrm>
        </p:spPr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975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254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199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6311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8"/>
          </p:nvPr>
        </p:nvSpPr>
        <p:spPr>
          <a:xfrm>
            <a:off x="457199" y="1600198"/>
            <a:ext cx="8229601" cy="4525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7876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926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0268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1599449"/>
            <a:ext cx="4038600" cy="45267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9457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3" name="Content Placeholder 14"/>
          <p:cNvSpPr>
            <a:spLocks noGrp="1"/>
          </p:cNvSpPr>
          <p:nvPr>
            <p:ph sz="quarter" idx="21"/>
          </p:nvPr>
        </p:nvSpPr>
        <p:spPr>
          <a:xfrm>
            <a:off x="457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4"/>
          <p:cNvSpPr>
            <a:spLocks noGrp="1"/>
          </p:cNvSpPr>
          <p:nvPr>
            <p:ph sz="quarter" idx="22"/>
          </p:nvPr>
        </p:nvSpPr>
        <p:spPr>
          <a:xfrm>
            <a:off x="4648200" y="2174875"/>
            <a:ext cx="4038600" cy="3951288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68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575050" y="1596524"/>
            <a:ext cx="5111750" cy="4405898"/>
          </a:xfrm>
        </p:spPr>
        <p:txBody>
          <a:bodyPr>
            <a:no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758573"/>
            <a:ext cx="3008313" cy="3243849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457200" y="1596524"/>
            <a:ext cx="3008313" cy="1162049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356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3"/>
            <a:ext cx="8229601" cy="2619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590842"/>
            <a:ext cx="5486400" cy="33839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614565"/>
            <a:ext cx="5486400" cy="52154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1792288" y="4974802"/>
            <a:ext cx="5486400" cy="631073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8757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White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685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Dark Str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1419226"/>
            <a:ext cx="9144000" cy="502919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149734"/>
            <a:ext cx="8229601" cy="2514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  <a:lvl2pPr marL="411480" indent="0">
              <a:buNone/>
              <a:defRPr sz="1000"/>
            </a:lvl2pPr>
            <a:lvl3pPr marL="777240" indent="0">
              <a:buNone/>
              <a:defRPr sz="1000"/>
            </a:lvl3pPr>
            <a:lvl4pPr marL="1051560" indent="0">
              <a:buNone/>
              <a:defRPr sz="1000"/>
            </a:lvl4pPr>
            <a:lvl5pPr marL="1325880" indent="0">
              <a:buNone/>
              <a:defRPr sz="1000"/>
            </a:lvl5pPr>
          </a:lstStyle>
          <a:p>
            <a:pPr lvl="0"/>
            <a:r>
              <a:rPr lang="en-US" dirty="0"/>
              <a:t>Theme, project or mission name (optional)</a:t>
            </a:r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890176"/>
            <a:ext cx="8229601" cy="42600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>
              <a:buFontTx/>
              <a:buNone/>
              <a:defRPr sz="2200" baseline="0">
                <a:solidFill>
                  <a:srgbClr val="FFFFFF"/>
                </a:solidFill>
                <a:latin typeface="+mj-lt"/>
              </a:defRPr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46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9981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rgbClr val="FFFFFF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553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Dark Gray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58107" y="2537619"/>
            <a:ext cx="8227786" cy="1782763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 sz="4800" baseline="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Click to add section header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7700212" y="6448776"/>
            <a:ext cx="1359944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lang="en-US" sz="1200" b="1" kern="0" spc="70" dirty="0">
                <a:solidFill>
                  <a:schemeClr val="accent1"/>
                </a:solidFill>
              </a:rPr>
              <a:t>jpl.nasa.gov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7734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4982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2276323" y="3654169"/>
            <a:ext cx="4581678" cy="0"/>
          </a:xfrm>
          <a:prstGeom prst="line">
            <a:avLst/>
          </a:prstGeom>
          <a:ln w="6350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 userDrawn="1"/>
        </p:nvSpPr>
        <p:spPr>
          <a:xfrm>
            <a:off x="1" y="3863419"/>
            <a:ext cx="9144000" cy="40015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2400" kern="0" spc="70" dirty="0">
                <a:solidFill>
                  <a:schemeClr val="accent1"/>
                </a:solidFill>
              </a:rPr>
              <a:t>jpl.nasa.gov</a:t>
            </a:r>
          </a:p>
        </p:txBody>
      </p:sp>
      <p:pic>
        <p:nvPicPr>
          <p:cNvPr id="5" name="Picture 4" descr="Tribrand_ColorWhite_rgb_16x3_1606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323" y="2381478"/>
            <a:ext cx="4581684" cy="12726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2885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ribrand_ColorWhite_rgb_16x3_160601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323" y="2792655"/>
            <a:ext cx="4581684" cy="12726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11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00">
                <a:solidFill>
                  <a:schemeClr val="accent4"/>
                </a:solidFill>
              </a:defRPr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915E00B-5913-49AE-8A9C-78D6EE50689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  <p:sldLayoutId id="2147483981" r:id="rId2"/>
    <p:sldLayoutId id="2147483983" r:id="rId3"/>
    <p:sldLayoutId id="2147484001" r:id="rId4"/>
    <p:sldLayoutId id="2147483985" r:id="rId5"/>
    <p:sldLayoutId id="2147483987" r:id="rId6"/>
    <p:sldLayoutId id="2147483986" r:id="rId7"/>
    <p:sldLayoutId id="2147483988" r:id="rId8"/>
    <p:sldLayoutId id="2147483997" r:id="rId9"/>
    <p:sldLayoutId id="2147483998" r:id="rId10"/>
    <p:sldLayoutId id="2147483999" r:id="rId11"/>
    <p:sldLayoutId id="2147484000" r:id="rId12"/>
    <p:sldLayoutId id="2147483989" r:id="rId13"/>
    <p:sldLayoutId id="2147483991" r:id="rId14"/>
    <p:sldLayoutId id="2147483993" r:id="rId15"/>
    <p:sldLayoutId id="2147483994" r:id="rId16"/>
    <p:sldLayoutId id="2147483995" r:id="rId17"/>
    <p:sldLayoutId id="2147483996" r:id="rId18"/>
    <p:sldLayoutId id="2147483984" r:id="rId19"/>
    <p:sldLayoutId id="2147484022" r:id="rId20"/>
    <p:sldLayoutId id="2147484024" r:id="rId21"/>
    <p:sldLayoutId id="2147484025" r:id="rId22"/>
    <p:sldLayoutId id="2147484026" r:id="rId23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b="1" i="0" u="none" kern="1200" cap="none" spc="0" baseline="0">
          <a:ln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30188" indent="-230188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0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0"/>
          <p:cNvSpPr>
            <a:spLocks noGrp="1"/>
          </p:cNvSpPr>
          <p:nvPr>
            <p:ph type="title"/>
          </p:nvPr>
        </p:nvSpPr>
        <p:spPr>
          <a:xfrm>
            <a:off x="457200" y="411693"/>
            <a:ext cx="8229600" cy="4784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>
          <a:xfrm>
            <a:off x="457200" y="6457847"/>
            <a:ext cx="1413986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871186" y="6457847"/>
            <a:ext cx="5401628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900">
                <a:solidFill>
                  <a:schemeClr val="accent4"/>
                </a:solidFill>
              </a:defRPr>
            </a:lvl1pPr>
          </a:lstStyle>
          <a:p>
            <a:r>
              <a:rPr lang="en-US"/>
              <a:t>Does Not Contain CUI.</a:t>
            </a:r>
            <a:endParaRPr lang="en-US" dirty="0"/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7272814" y="6457847"/>
            <a:ext cx="643449" cy="4001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1D14A5A-7CF0-4E01-9E4E-50F5A87419F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459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04" r:id="rId2"/>
    <p:sldLayoutId id="2147484005" r:id="rId3"/>
    <p:sldLayoutId id="2147484006" r:id="rId4"/>
    <p:sldLayoutId id="2147484007" r:id="rId5"/>
    <p:sldLayoutId id="2147484008" r:id="rId6"/>
    <p:sldLayoutId id="2147484009" r:id="rId7"/>
    <p:sldLayoutId id="2147484010" r:id="rId8"/>
    <p:sldLayoutId id="2147484011" r:id="rId9"/>
    <p:sldLayoutId id="2147484012" r:id="rId10"/>
    <p:sldLayoutId id="2147484013" r:id="rId11"/>
    <p:sldLayoutId id="2147484014" r:id="rId12"/>
    <p:sldLayoutId id="2147484015" r:id="rId13"/>
    <p:sldLayoutId id="2147484016" r:id="rId14"/>
    <p:sldLayoutId id="2147484017" r:id="rId15"/>
    <p:sldLayoutId id="2147484018" r:id="rId16"/>
    <p:sldLayoutId id="2147484019" r:id="rId17"/>
    <p:sldLayoutId id="2147484020" r:id="rId18"/>
    <p:sldLayoutId id="2147484021" r:id="rId19"/>
    <p:sldLayoutId id="2147484023" r:id="rId2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 cap="none" spc="0" baseline="0">
          <a:ln>
            <a:noFill/>
          </a:ln>
          <a:solidFill>
            <a:srgbClr val="FFFFFF"/>
          </a:solidFill>
          <a:effectLst/>
          <a:latin typeface="+mj-lt"/>
          <a:ea typeface="+mj-ea"/>
          <a:cs typeface="+mj-cs"/>
        </a:defRPr>
      </a:lvl1pPr>
    </p:titleStyle>
    <p:bodyStyle>
      <a:lvl1pPr marL="230188" indent="-230188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200" kern="1200">
          <a:solidFill>
            <a:srgbClr val="FFFFFF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600" kern="1200">
          <a:solidFill>
            <a:srgbClr val="FFFFFF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rgbClr val="FFFFFF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bg1">
            <a:lumMod val="50000"/>
          </a:schemeClr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image" Target="../media/image81.emf"/><Relationship Id="rId3" Type="http://schemas.openxmlformats.org/officeDocument/2006/relationships/image" Target="../media/image71.emf"/><Relationship Id="rId7" Type="http://schemas.openxmlformats.org/officeDocument/2006/relationships/image" Target="../media/image75.emf"/><Relationship Id="rId12" Type="http://schemas.openxmlformats.org/officeDocument/2006/relationships/image" Target="../media/image80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4.emf"/><Relationship Id="rId11" Type="http://schemas.openxmlformats.org/officeDocument/2006/relationships/image" Target="../media/image79.emf"/><Relationship Id="rId5" Type="http://schemas.openxmlformats.org/officeDocument/2006/relationships/image" Target="../media/image73.emf"/><Relationship Id="rId10" Type="http://schemas.openxmlformats.org/officeDocument/2006/relationships/image" Target="../media/image78.emf"/><Relationship Id="rId4" Type="http://schemas.openxmlformats.org/officeDocument/2006/relationships/image" Target="../media/image72.emf"/><Relationship Id="rId9" Type="http://schemas.openxmlformats.org/officeDocument/2006/relationships/image" Target="../media/image7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5.emf"/><Relationship Id="rId4" Type="http://schemas.openxmlformats.org/officeDocument/2006/relationships/image" Target="../media/image84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Photo-2015-03-12-085758 - D2015_0302_D370_CMSalt2.jpg"/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17" b="6483"/>
          <a:stretch/>
        </p:blipFill>
        <p:spPr/>
      </p:pic>
      <p:sp>
        <p:nvSpPr>
          <p:cNvPr id="2" name="Text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PolSARproSim</a:t>
            </a:r>
            <a:r>
              <a:rPr lang="en-US" dirty="0"/>
              <a:t>+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369198" y="5715000"/>
            <a:ext cx="4964801" cy="665791"/>
          </a:xfrm>
        </p:spPr>
        <p:txBody>
          <a:bodyPr/>
          <a:lstStyle/>
          <a:p>
            <a:r>
              <a:rPr lang="en-US" b="1" dirty="0"/>
              <a:t>Razi Ahmed</a:t>
            </a:r>
          </a:p>
          <a:p>
            <a:r>
              <a:rPr lang="en-US" dirty="0"/>
              <a:t>Jet Propulsion Laboratory, California Institute of Technology,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A summary 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6842" y="-77536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06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 Shot 2014-01-09 at 3.33.42 P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6" r="-36" b="1153"/>
          <a:stretch/>
        </p:blipFill>
        <p:spPr>
          <a:xfrm>
            <a:off x="1651000" y="2585921"/>
            <a:ext cx="6165850" cy="1825636"/>
          </a:xfrm>
        </p:spPr>
      </p:pic>
      <p:sp>
        <p:nvSpPr>
          <p:cNvPr id="5" name="Rectangle 4"/>
          <p:cNvSpPr/>
          <p:nvPr/>
        </p:nvSpPr>
        <p:spPr>
          <a:xfrm>
            <a:off x="615950" y="1103636"/>
            <a:ext cx="7480300" cy="1094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lang="en-US" sz="1800" dirty="0"/>
              <a:t>Based on </a:t>
            </a:r>
            <a:r>
              <a:rPr lang="en-US" sz="1800" dirty="0" err="1"/>
              <a:t>PolSARproSim</a:t>
            </a:r>
            <a:r>
              <a:rPr lang="en-US" sz="1800" dirty="0"/>
              <a:t>, which is a, coherent, fully </a:t>
            </a:r>
            <a:r>
              <a:rPr lang="en-US" sz="1800" dirty="0" err="1"/>
              <a:t>polarimetric</a:t>
            </a:r>
            <a:r>
              <a:rPr lang="en-US" sz="1800" dirty="0"/>
              <a:t> and </a:t>
            </a:r>
            <a:r>
              <a:rPr lang="en-US" sz="1800" dirty="0" err="1"/>
              <a:t>interferometric</a:t>
            </a:r>
            <a:r>
              <a:rPr lang="en-US" sz="1800" dirty="0"/>
              <a:t> SAR simulation of forest</a:t>
            </a:r>
          </a:p>
          <a:p>
            <a:pPr marL="457200" indent="-457200" algn="l">
              <a:buFont typeface="Arial"/>
              <a:buChar char="•"/>
            </a:pPr>
            <a:endParaRPr lang="en-US" sz="1800" dirty="0"/>
          </a:p>
          <a:p>
            <a:pPr marL="457200" indent="-457200" algn="l">
              <a:buFont typeface="Arial"/>
              <a:buChar char="•"/>
            </a:pPr>
            <a:r>
              <a:rPr lang="en-US" sz="1800" dirty="0"/>
              <a:t>Distributed by ESA, written in ANSI C.</a:t>
            </a:r>
          </a:p>
        </p:txBody>
      </p:sp>
      <p:pic>
        <p:nvPicPr>
          <p:cNvPr id="6" name="Picture 5" descr="Screen Shot 2014-01-09 at 3.43.4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0" y="4619564"/>
            <a:ext cx="6623050" cy="18129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17900" y="2590800"/>
            <a:ext cx="565150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HH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6650" y="2597150"/>
            <a:ext cx="565150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HV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8100" y="2590800"/>
            <a:ext cx="565150" cy="28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VV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450" y="4635500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+mj-lt"/>
              </a:rPr>
              <a:t>Coherence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150" y="4616450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+mj-lt"/>
              </a:rPr>
              <a:t>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2100" y="4635500"/>
            <a:ext cx="124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  <a:latin typeface="+mj-lt"/>
              </a:rPr>
              <a:t>Flattened Phase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3686989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PolSARproSim</a:t>
            </a:r>
            <a:r>
              <a:rPr lang="en-US" dirty="0"/>
              <a:t>+ SAR image</a:t>
            </a:r>
          </a:p>
        </p:txBody>
      </p:sp>
      <p:pic>
        <p:nvPicPr>
          <p:cNvPr id="4" name="Content Placeholder 3" descr="Screen Shot 2014-01-09 at 3.33.42 PM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" t="20895" r="72975" b="6095"/>
          <a:stretch/>
        </p:blipFill>
        <p:spPr>
          <a:xfrm>
            <a:off x="3025390" y="2876550"/>
            <a:ext cx="2194309" cy="1993900"/>
          </a:xfrm>
        </p:spPr>
      </p:pic>
      <p:sp>
        <p:nvSpPr>
          <p:cNvPr id="5" name="Rectangle 4"/>
          <p:cNvSpPr/>
          <p:nvPr/>
        </p:nvSpPr>
        <p:spPr>
          <a:xfrm>
            <a:off x="381000" y="976636"/>
            <a:ext cx="4387850" cy="844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buFont typeface="Arial"/>
              <a:buChar char="•"/>
            </a:pPr>
            <a:r>
              <a:rPr lang="en-US" sz="1800" dirty="0"/>
              <a:t>The SAR image is evaluated as a coherent sum of scattering events from small elements of the scene</a:t>
            </a:r>
          </a:p>
        </p:txBody>
      </p:sp>
      <p:pic>
        <p:nvPicPr>
          <p:cNvPr id="6" name="Picture 5" descr="Screen Shot 2014-01-09 at 4.21.3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05" y="2108200"/>
            <a:ext cx="1523829" cy="433705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2317750" y="3937000"/>
            <a:ext cx="965200" cy="1143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9" name="Picture 8" descr="plane.jpe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77778" y1="25414" x2="77778" y2="254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738" y="4381500"/>
            <a:ext cx="773262" cy="501650"/>
          </a:xfrm>
          <a:prstGeom prst="rect">
            <a:avLst/>
          </a:prstGeom>
        </p:spPr>
      </p:pic>
      <p:pic>
        <p:nvPicPr>
          <p:cNvPr id="10" name="Picture 9" descr="Screen Shot 2014-01-09 at 4.31.34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121" y="1035050"/>
            <a:ext cx="3824629" cy="2851150"/>
          </a:xfrm>
          <a:prstGeom prst="rect">
            <a:avLst/>
          </a:prstGeom>
        </p:spPr>
      </p:pic>
      <p:pic>
        <p:nvPicPr>
          <p:cNvPr id="11" name="Picture 10" descr="Screen Shot 2014-01-09 at 4.33.49 PM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4125752"/>
            <a:ext cx="3086100" cy="21416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60650" y="5613400"/>
            <a:ext cx="3098799" cy="871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Baskerville"/>
                <a:cs typeface="Baskerville"/>
              </a:rPr>
              <a:t>Given the map of tree locations and dimensions a grid of points is used to sample the attenuation of the coherent wave in 3D</a:t>
            </a:r>
          </a:p>
        </p:txBody>
      </p:sp>
    </p:spTree>
    <p:extLst>
      <p:ext uri="{BB962C8B-B14F-4D97-AF65-F5344CB8AC3E}">
        <p14:creationId xmlns:p14="http://schemas.microsoft.com/office/powerpoint/2010/main" val="18468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flow</a:t>
            </a:r>
          </a:p>
        </p:txBody>
      </p:sp>
      <p:pic>
        <p:nvPicPr>
          <p:cNvPr id="4" name="Content Placeholder 3" descr="flowchart.pd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" t="11359" r="-3003" b="30763"/>
          <a:stretch/>
        </p:blipFill>
        <p:spPr>
          <a:xfrm>
            <a:off x="1548027" y="830649"/>
            <a:ext cx="7772400" cy="5821406"/>
          </a:xfrm>
        </p:spPr>
      </p:pic>
    </p:spTree>
    <p:extLst>
      <p:ext uri="{BB962C8B-B14F-4D97-AF65-F5344CB8AC3E}">
        <p14:creationId xmlns:p14="http://schemas.microsoft.com/office/powerpoint/2010/main" val="46217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Forest and Tree Description</a:t>
            </a:r>
          </a:p>
        </p:txBody>
      </p:sp>
      <p:pic>
        <p:nvPicPr>
          <p:cNvPr id="4" name="Content Placeholder 3" descr="treeprimitives.pd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3" t="7820" r="27082" b="45643"/>
          <a:stretch/>
        </p:blipFill>
        <p:spPr>
          <a:xfrm>
            <a:off x="4919600" y="1708332"/>
            <a:ext cx="3984526" cy="4680759"/>
          </a:xfrm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66750" y="1415241"/>
            <a:ext cx="4201315" cy="481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Baskerville"/>
                <a:ea typeface="ＭＳ Ｐゴシック" pitchFamily="-65" charset="-128"/>
                <a:cs typeface="Baskerville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Baskerville"/>
                <a:ea typeface="ＭＳ Ｐゴシック" charset="-128"/>
                <a:cs typeface="Baskerville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Baskerville"/>
                <a:ea typeface="ＭＳ Ｐゴシック" charset="-128"/>
                <a:cs typeface="Baskerville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Baskerville"/>
                <a:ea typeface="ＭＳ Ｐゴシック" charset="-128"/>
                <a:cs typeface="Baskerville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Baskerville"/>
                <a:ea typeface="ＭＳ Ｐゴシック" charset="-128"/>
                <a:cs typeface="Baskerville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sz="1600" dirty="0"/>
              <a:t>A tree is realized in </a:t>
            </a:r>
            <a:r>
              <a:rPr lang="en-US" sz="1600" dirty="0" err="1"/>
              <a:t>PolSARproSim</a:t>
            </a:r>
            <a:r>
              <a:rPr lang="en-US" sz="1600" dirty="0"/>
              <a:t>+ based on primitives that include</a:t>
            </a:r>
          </a:p>
          <a:p>
            <a:pPr lvl="1"/>
            <a:r>
              <a:rPr lang="en-US" sz="1600" dirty="0"/>
              <a:t>Location</a:t>
            </a:r>
          </a:p>
          <a:p>
            <a:pPr lvl="1"/>
            <a:r>
              <a:rPr lang="en-US" sz="1600" dirty="0"/>
              <a:t>Height</a:t>
            </a:r>
          </a:p>
          <a:p>
            <a:pPr lvl="1"/>
            <a:r>
              <a:rPr lang="en-US" sz="1600" dirty="0"/>
              <a:t>Canopy shape</a:t>
            </a:r>
          </a:p>
          <a:p>
            <a:pPr lvl="1"/>
            <a:r>
              <a:rPr lang="en-US" sz="1600" dirty="0"/>
              <a:t>Canopy depth </a:t>
            </a:r>
          </a:p>
          <a:p>
            <a:pPr lvl="1"/>
            <a:r>
              <a:rPr lang="en-US" sz="1600" dirty="0"/>
              <a:t>Canopy radius</a:t>
            </a:r>
          </a:p>
          <a:p>
            <a:pPr lvl="1"/>
            <a:r>
              <a:rPr lang="en-US" sz="1600" dirty="0"/>
              <a:t>Stem Diameter </a:t>
            </a:r>
          </a:p>
          <a:p>
            <a:endParaRPr lang="en-US" sz="1600" dirty="0"/>
          </a:p>
          <a:p>
            <a:r>
              <a:rPr lang="en-US" sz="1600" dirty="0"/>
              <a:t>The fine structure of a tree is defined by species specific parameters for </a:t>
            </a:r>
          </a:p>
          <a:p>
            <a:pPr lvl="1"/>
            <a:r>
              <a:rPr lang="en-US" sz="1600" dirty="0"/>
              <a:t>Stems</a:t>
            </a:r>
          </a:p>
          <a:p>
            <a:pPr lvl="1"/>
            <a:r>
              <a:rPr lang="en-US" sz="1600" dirty="0"/>
              <a:t>Primary branches</a:t>
            </a:r>
          </a:p>
          <a:p>
            <a:pPr lvl="1"/>
            <a:r>
              <a:rPr lang="en-US" sz="1600" dirty="0"/>
              <a:t>Secondary branches</a:t>
            </a:r>
          </a:p>
          <a:p>
            <a:pPr lvl="1"/>
            <a:r>
              <a:rPr lang="en-US" sz="1600" dirty="0"/>
              <a:t>Tertiary branches</a:t>
            </a:r>
          </a:p>
          <a:p>
            <a:pPr lvl="1"/>
            <a:r>
              <a:rPr lang="en-US" sz="1600" dirty="0"/>
              <a:t>Foliage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0470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806" y="0"/>
            <a:ext cx="8229600" cy="571500"/>
          </a:xfrm>
        </p:spPr>
        <p:txBody>
          <a:bodyPr>
            <a:normAutofit/>
          </a:bodyPr>
          <a:lstStyle/>
          <a:p>
            <a:r>
              <a:rPr lang="en-US" sz="2400" dirty="0"/>
              <a:t>Input forest description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29269" y="926291"/>
            <a:ext cx="8229600" cy="615909"/>
          </a:xfrm>
        </p:spPr>
        <p:txBody>
          <a:bodyPr>
            <a:normAutofit/>
          </a:bodyPr>
          <a:lstStyle/>
          <a:p>
            <a:r>
              <a:rPr lang="en-US" sz="2000" dirty="0"/>
              <a:t>Added the ability to read in forest primitives in the form of XML files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38811" y="1402730"/>
            <a:ext cx="8770857" cy="31548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DCE6F2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650" dirty="0">
                <a:latin typeface="Monaco"/>
                <a:cs typeface="Monaco"/>
              </a:rPr>
              <a:t>&lt;?xml version="1.0" encoding="ISO-8859-15"?&gt;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&lt;?xml-</a:t>
            </a:r>
            <a:r>
              <a:rPr lang="en-US" sz="650" dirty="0" err="1">
                <a:latin typeface="Monaco"/>
                <a:cs typeface="Monaco"/>
              </a:rPr>
              <a:t>stylesheet</a:t>
            </a:r>
            <a:r>
              <a:rPr lang="en-US" sz="650" dirty="0">
                <a:latin typeface="Monaco"/>
                <a:cs typeface="Monaco"/>
              </a:rPr>
              <a:t> type="text/</a:t>
            </a:r>
            <a:r>
              <a:rPr lang="en-US" sz="650" dirty="0" err="1">
                <a:latin typeface="Monaco"/>
                <a:cs typeface="Monaco"/>
              </a:rPr>
              <a:t>xsl</a:t>
            </a:r>
            <a:r>
              <a:rPr lang="en-US" sz="650" dirty="0">
                <a:latin typeface="Monaco"/>
                <a:cs typeface="Monaco"/>
              </a:rPr>
              <a:t>" </a:t>
            </a:r>
            <a:r>
              <a:rPr lang="en-US" sz="650" dirty="0" err="1">
                <a:latin typeface="Monaco"/>
                <a:cs typeface="Monaco"/>
              </a:rPr>
              <a:t>href</a:t>
            </a:r>
            <a:r>
              <a:rPr lang="en-US" sz="650" dirty="0">
                <a:latin typeface="Monaco"/>
                <a:cs typeface="Monaco"/>
              </a:rPr>
              <a:t>="</a:t>
            </a:r>
            <a:r>
              <a:rPr lang="en-US" sz="650" dirty="0" err="1">
                <a:latin typeface="Monaco"/>
                <a:cs typeface="Monaco"/>
              </a:rPr>
              <a:t>forest.xsl</a:t>
            </a:r>
            <a:r>
              <a:rPr lang="en-US" sz="650" dirty="0">
                <a:latin typeface="Monaco"/>
                <a:cs typeface="Monaco"/>
              </a:rPr>
              <a:t>"?&gt;</a:t>
            </a:r>
          </a:p>
          <a:p>
            <a:pPr algn="l"/>
            <a:endParaRPr lang="en-US" sz="650" dirty="0">
              <a:latin typeface="Monaco"/>
              <a:cs typeface="Monaco"/>
            </a:endParaRPr>
          </a:p>
          <a:p>
            <a:pPr algn="l"/>
            <a:r>
              <a:rPr lang="en-US" sz="650" dirty="0">
                <a:latin typeface="Monaco"/>
                <a:cs typeface="Monaco"/>
              </a:rPr>
              <a:t>&lt;forest&gt;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&lt;meta&gt;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num_trees</a:t>
            </a:r>
            <a:r>
              <a:rPr lang="en-US" sz="650" dirty="0">
                <a:latin typeface="Monaco"/>
                <a:cs typeface="Monaco"/>
              </a:rPr>
              <a:t>      units="none"&gt;         470       &lt;/</a:t>
            </a:r>
            <a:r>
              <a:rPr lang="en-US" sz="650" dirty="0" err="1">
                <a:latin typeface="Monaco"/>
                <a:cs typeface="Monaco"/>
              </a:rPr>
              <a:t>num_trees</a:t>
            </a:r>
            <a:r>
              <a:rPr lang="en-US" sz="650" dirty="0">
                <a:latin typeface="Monaco"/>
                <a:cs typeface="Monaco"/>
              </a:rPr>
              <a:t>&gt;            &lt;!-- The total number of trees in this file  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&lt;biome          units="none"&gt;   temperate       &lt;/biome&gt;                &lt;!-- The biome this forest belongs to        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&lt;area           units="ha"&gt;        0.4604       &lt;/area&gt;                 &lt;!-- The total area of the forest            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&lt;/meta&gt;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&lt;tree&gt;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&lt;species        units="none"&gt;        ACRU       &lt;/species&gt;              &lt;!-- </a:t>
            </a:r>
            <a:r>
              <a:rPr lang="en-US" sz="650" dirty="0" err="1">
                <a:latin typeface="Monaco"/>
                <a:cs typeface="Monaco"/>
              </a:rPr>
              <a:t>Pinus</a:t>
            </a:r>
            <a:r>
              <a:rPr lang="en-US" sz="650" dirty="0">
                <a:latin typeface="Monaco"/>
                <a:cs typeface="Monaco"/>
              </a:rPr>
              <a:t> </a:t>
            </a:r>
            <a:r>
              <a:rPr lang="en-US" sz="650" dirty="0" err="1">
                <a:latin typeface="Monaco"/>
                <a:cs typeface="Monaco"/>
              </a:rPr>
              <a:t>Resinosa</a:t>
            </a:r>
            <a:r>
              <a:rPr lang="en-US" sz="650" dirty="0">
                <a:latin typeface="Monaco"/>
                <a:cs typeface="Monaco"/>
              </a:rPr>
              <a:t>, Red Pine (see </a:t>
            </a:r>
            <a:r>
              <a:rPr lang="en-US" sz="650" dirty="0" err="1">
                <a:latin typeface="Monaco"/>
                <a:cs typeface="Monaco"/>
              </a:rPr>
              <a:t>allometry</a:t>
            </a:r>
            <a:r>
              <a:rPr lang="en-US" sz="650" dirty="0">
                <a:latin typeface="Monaco"/>
                <a:cs typeface="Monaco"/>
              </a:rPr>
              <a:t> file)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x_location</a:t>
            </a:r>
            <a:r>
              <a:rPr lang="en-US" sz="650" dirty="0">
                <a:latin typeface="Monaco"/>
                <a:cs typeface="Monaco"/>
              </a:rPr>
              <a:t>     units="meters"&gt;  -38.2800       &lt;/</a:t>
            </a:r>
            <a:r>
              <a:rPr lang="en-US" sz="650" dirty="0" err="1">
                <a:latin typeface="Monaco"/>
                <a:cs typeface="Monaco"/>
              </a:rPr>
              <a:t>x_location</a:t>
            </a:r>
            <a:r>
              <a:rPr lang="en-US" sz="650" dirty="0">
                <a:latin typeface="Monaco"/>
                <a:cs typeface="Monaco"/>
              </a:rPr>
              <a:t>&gt;           &lt;!-- X-axis location of tree, scene center is 0.00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y_location</a:t>
            </a:r>
            <a:r>
              <a:rPr lang="en-US" sz="650" dirty="0">
                <a:latin typeface="Monaco"/>
                <a:cs typeface="Monaco"/>
              </a:rPr>
              <a:t>     units="meters"&gt;  -15.3100       &lt;/</a:t>
            </a:r>
            <a:r>
              <a:rPr lang="en-US" sz="650" dirty="0" err="1">
                <a:latin typeface="Monaco"/>
                <a:cs typeface="Monaco"/>
              </a:rPr>
              <a:t>y_location</a:t>
            </a:r>
            <a:r>
              <a:rPr lang="en-US" sz="650" dirty="0">
                <a:latin typeface="Monaco"/>
                <a:cs typeface="Monaco"/>
              </a:rPr>
              <a:t>&gt;           &lt;!-- Y-axis location of tree, scene center is 0.00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tree_height</a:t>
            </a:r>
            <a:r>
              <a:rPr lang="en-US" sz="650" dirty="0">
                <a:latin typeface="Monaco"/>
                <a:cs typeface="Monaco"/>
              </a:rPr>
              <a:t>    units="meters"&gt;   20.0000       &lt;/</a:t>
            </a:r>
            <a:r>
              <a:rPr lang="en-US" sz="650" dirty="0" err="1">
                <a:latin typeface="Monaco"/>
                <a:cs typeface="Monaco"/>
              </a:rPr>
              <a:t>tree_height</a:t>
            </a:r>
            <a:r>
              <a:rPr lang="en-US" sz="650" dirty="0">
                <a:latin typeface="Monaco"/>
                <a:cs typeface="Monaco"/>
              </a:rPr>
              <a:t>&gt;          &lt;!-- Vertical extent from tree base to canopy top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canopy_radius</a:t>
            </a:r>
            <a:r>
              <a:rPr lang="en-US" sz="650" dirty="0">
                <a:latin typeface="Monaco"/>
                <a:cs typeface="Monaco"/>
              </a:rPr>
              <a:t>  units="meters"&gt;    2.0000       &lt;/</a:t>
            </a:r>
            <a:r>
              <a:rPr lang="en-US" sz="650" dirty="0" err="1">
                <a:latin typeface="Monaco"/>
                <a:cs typeface="Monaco"/>
              </a:rPr>
              <a:t>canopy_radius</a:t>
            </a:r>
            <a:r>
              <a:rPr lang="en-US" sz="650" dirty="0">
                <a:latin typeface="Monaco"/>
                <a:cs typeface="Monaco"/>
              </a:rPr>
              <a:t>&gt;        &lt;!-- The largest horizontal radius of the canopy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canopy_depth</a:t>
            </a:r>
            <a:r>
              <a:rPr lang="en-US" sz="650" dirty="0">
                <a:latin typeface="Monaco"/>
                <a:cs typeface="Monaco"/>
              </a:rPr>
              <a:t>   units="meters"&gt;    3.1980       &lt;/</a:t>
            </a:r>
            <a:r>
              <a:rPr lang="en-US" sz="650" dirty="0" err="1">
                <a:latin typeface="Monaco"/>
                <a:cs typeface="Monaco"/>
              </a:rPr>
              <a:t>canopy_depth</a:t>
            </a:r>
            <a:r>
              <a:rPr lang="en-US" sz="650" dirty="0">
                <a:latin typeface="Monaco"/>
                <a:cs typeface="Monaco"/>
              </a:rPr>
              <a:t>&gt;         &lt;!-- The depth of the live part of the canopy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dry_depth</a:t>
            </a:r>
            <a:r>
              <a:rPr lang="en-US" sz="650" dirty="0">
                <a:latin typeface="Monaco"/>
                <a:cs typeface="Monaco"/>
              </a:rPr>
              <a:t>      units="meters"&gt;    0.3107       &lt;/</a:t>
            </a:r>
            <a:r>
              <a:rPr lang="en-US" sz="650" dirty="0" err="1">
                <a:latin typeface="Monaco"/>
                <a:cs typeface="Monaco"/>
              </a:rPr>
              <a:t>dry_depth</a:t>
            </a:r>
            <a:r>
              <a:rPr lang="en-US" sz="650" dirty="0">
                <a:latin typeface="Monaco"/>
                <a:cs typeface="Monaco"/>
              </a:rPr>
              <a:t>&gt;            &lt;!-- The depth of the dry part of the canopy 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stem_diameter</a:t>
            </a:r>
            <a:r>
              <a:rPr lang="en-US" sz="650" dirty="0">
                <a:latin typeface="Monaco"/>
                <a:cs typeface="Monaco"/>
              </a:rPr>
              <a:t>  units="meters"&gt;    0.6840       &lt;/</a:t>
            </a:r>
            <a:r>
              <a:rPr lang="en-US" sz="650" dirty="0" err="1">
                <a:latin typeface="Monaco"/>
                <a:cs typeface="Monaco"/>
              </a:rPr>
              <a:t>stem_diameter</a:t>
            </a:r>
            <a:r>
              <a:rPr lang="en-US" sz="650" dirty="0">
                <a:latin typeface="Monaco"/>
                <a:cs typeface="Monaco"/>
              </a:rPr>
              <a:t>&gt;        &lt;!-- Diameter of trunk at breast height (</a:t>
            </a:r>
            <a:r>
              <a:rPr lang="en-US" sz="650" dirty="0" err="1">
                <a:latin typeface="Monaco"/>
                <a:cs typeface="Monaco"/>
              </a:rPr>
              <a:t>dbh</a:t>
            </a:r>
            <a:r>
              <a:rPr lang="en-US" sz="650" dirty="0">
                <a:latin typeface="Monaco"/>
                <a:cs typeface="Monaco"/>
              </a:rPr>
              <a:t>)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&lt;/tree&gt;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&lt;tree&gt;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&lt;species        units="none"&gt;        PIRE       &lt;/species&gt;              &lt;!-- </a:t>
            </a:r>
            <a:r>
              <a:rPr lang="en-US" sz="650" dirty="0" err="1">
                <a:latin typeface="Monaco"/>
                <a:cs typeface="Monaco"/>
              </a:rPr>
              <a:t>Pinus</a:t>
            </a:r>
            <a:r>
              <a:rPr lang="en-US" sz="650" dirty="0">
                <a:latin typeface="Monaco"/>
                <a:cs typeface="Monaco"/>
              </a:rPr>
              <a:t> </a:t>
            </a:r>
            <a:r>
              <a:rPr lang="en-US" sz="650" dirty="0" err="1">
                <a:latin typeface="Monaco"/>
                <a:cs typeface="Monaco"/>
              </a:rPr>
              <a:t>Resinosa</a:t>
            </a:r>
            <a:r>
              <a:rPr lang="en-US" sz="650" dirty="0">
                <a:latin typeface="Monaco"/>
                <a:cs typeface="Monaco"/>
              </a:rPr>
              <a:t>, Red Pine (see </a:t>
            </a:r>
            <a:r>
              <a:rPr lang="en-US" sz="650" dirty="0" err="1">
                <a:latin typeface="Monaco"/>
                <a:cs typeface="Monaco"/>
              </a:rPr>
              <a:t>allometry</a:t>
            </a:r>
            <a:r>
              <a:rPr lang="en-US" sz="650" dirty="0">
                <a:latin typeface="Monaco"/>
                <a:cs typeface="Monaco"/>
              </a:rPr>
              <a:t> file)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x_location</a:t>
            </a:r>
            <a:r>
              <a:rPr lang="en-US" sz="650" dirty="0">
                <a:latin typeface="Monaco"/>
                <a:cs typeface="Monaco"/>
              </a:rPr>
              <a:t>     units="meters"&gt;  -37.7800       &lt;/</a:t>
            </a:r>
            <a:r>
              <a:rPr lang="en-US" sz="650" dirty="0" err="1">
                <a:latin typeface="Monaco"/>
                <a:cs typeface="Monaco"/>
              </a:rPr>
              <a:t>x_location</a:t>
            </a:r>
            <a:r>
              <a:rPr lang="en-US" sz="650" dirty="0">
                <a:latin typeface="Monaco"/>
                <a:cs typeface="Monaco"/>
              </a:rPr>
              <a:t>&gt;           &lt;!-- X-axis location of tree, scene center is 0.00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y_location</a:t>
            </a:r>
            <a:r>
              <a:rPr lang="en-US" sz="650" dirty="0">
                <a:latin typeface="Monaco"/>
                <a:cs typeface="Monaco"/>
              </a:rPr>
              <a:t>     units="meters"&gt;  -16.9100       &lt;/</a:t>
            </a:r>
            <a:r>
              <a:rPr lang="en-US" sz="650" dirty="0" err="1">
                <a:latin typeface="Monaco"/>
                <a:cs typeface="Monaco"/>
              </a:rPr>
              <a:t>y_location</a:t>
            </a:r>
            <a:r>
              <a:rPr lang="en-US" sz="650" dirty="0">
                <a:latin typeface="Monaco"/>
                <a:cs typeface="Monaco"/>
              </a:rPr>
              <a:t>&gt;           &lt;!-- Y-axis location of tree, scene center is 0.00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tree_height</a:t>
            </a:r>
            <a:r>
              <a:rPr lang="en-US" sz="650" dirty="0">
                <a:latin typeface="Monaco"/>
                <a:cs typeface="Monaco"/>
              </a:rPr>
              <a:t>    units="meters"&gt;   25.5700       &lt;/</a:t>
            </a:r>
            <a:r>
              <a:rPr lang="en-US" sz="650" dirty="0" err="1">
                <a:latin typeface="Monaco"/>
                <a:cs typeface="Monaco"/>
              </a:rPr>
              <a:t>tree_height</a:t>
            </a:r>
            <a:r>
              <a:rPr lang="en-US" sz="650" dirty="0">
                <a:latin typeface="Monaco"/>
                <a:cs typeface="Monaco"/>
              </a:rPr>
              <a:t>&gt;          &lt;!-- Vertical extent from tree base to canopy top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canopy_radius</a:t>
            </a:r>
            <a:r>
              <a:rPr lang="en-US" sz="650" dirty="0">
                <a:latin typeface="Monaco"/>
                <a:cs typeface="Monaco"/>
              </a:rPr>
              <a:t>  units="meters"&gt;    1.1100       &lt;/</a:t>
            </a:r>
            <a:r>
              <a:rPr lang="en-US" sz="650" dirty="0" err="1">
                <a:latin typeface="Monaco"/>
                <a:cs typeface="Monaco"/>
              </a:rPr>
              <a:t>canopy_radius</a:t>
            </a:r>
            <a:r>
              <a:rPr lang="en-US" sz="650" dirty="0">
                <a:latin typeface="Monaco"/>
                <a:cs typeface="Monaco"/>
              </a:rPr>
              <a:t>&gt;        &lt;!-- The largest horizontal radius of the canopy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canopy_depth</a:t>
            </a:r>
            <a:r>
              <a:rPr lang="en-US" sz="650" dirty="0">
                <a:latin typeface="Monaco"/>
                <a:cs typeface="Monaco"/>
              </a:rPr>
              <a:t>   units="meters"&gt;    1.7820       &lt;/</a:t>
            </a:r>
            <a:r>
              <a:rPr lang="en-US" sz="650" dirty="0" err="1">
                <a:latin typeface="Monaco"/>
                <a:cs typeface="Monaco"/>
              </a:rPr>
              <a:t>canopy_depth</a:t>
            </a:r>
            <a:r>
              <a:rPr lang="en-US" sz="650" dirty="0">
                <a:latin typeface="Monaco"/>
                <a:cs typeface="Monaco"/>
              </a:rPr>
              <a:t>&gt;         &lt;!-- The depth of the live part of the canopy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dry_depth</a:t>
            </a:r>
            <a:r>
              <a:rPr lang="en-US" sz="650" dirty="0">
                <a:latin typeface="Monaco"/>
                <a:cs typeface="Monaco"/>
              </a:rPr>
              <a:t>      units="meters"&gt;    0.3960       &lt;/</a:t>
            </a:r>
            <a:r>
              <a:rPr lang="en-US" sz="650" dirty="0" err="1">
                <a:latin typeface="Monaco"/>
                <a:cs typeface="Monaco"/>
              </a:rPr>
              <a:t>dry_depth</a:t>
            </a:r>
            <a:r>
              <a:rPr lang="en-US" sz="650" dirty="0">
                <a:latin typeface="Monaco"/>
                <a:cs typeface="Monaco"/>
              </a:rPr>
              <a:t>&gt;            &lt;!-- The depth of the dry part of the canopy 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        &lt;</a:t>
            </a:r>
            <a:r>
              <a:rPr lang="en-US" sz="650" dirty="0" err="1">
                <a:latin typeface="Monaco"/>
                <a:cs typeface="Monaco"/>
              </a:rPr>
              <a:t>stem_diameter</a:t>
            </a:r>
            <a:r>
              <a:rPr lang="en-US" sz="650" dirty="0">
                <a:latin typeface="Monaco"/>
                <a:cs typeface="Monaco"/>
              </a:rPr>
              <a:t>  units="meters"&gt;    0.8745       &lt;/</a:t>
            </a:r>
            <a:r>
              <a:rPr lang="en-US" sz="650" dirty="0" err="1">
                <a:latin typeface="Monaco"/>
                <a:cs typeface="Monaco"/>
              </a:rPr>
              <a:t>stem_diameter</a:t>
            </a:r>
            <a:r>
              <a:rPr lang="en-US" sz="650" dirty="0">
                <a:latin typeface="Monaco"/>
                <a:cs typeface="Monaco"/>
              </a:rPr>
              <a:t>&gt;        &lt;!-- Diameter of trunk at breast height (</a:t>
            </a:r>
            <a:r>
              <a:rPr lang="en-US" sz="650" dirty="0" err="1">
                <a:latin typeface="Monaco"/>
                <a:cs typeface="Monaco"/>
              </a:rPr>
              <a:t>dbh</a:t>
            </a:r>
            <a:r>
              <a:rPr lang="en-US" sz="650" dirty="0">
                <a:latin typeface="Monaco"/>
                <a:cs typeface="Monaco"/>
              </a:rPr>
              <a:t>)                   --&gt;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       &lt;/tree&gt;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	.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	.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	.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	.</a:t>
            </a:r>
          </a:p>
          <a:p>
            <a:pPr algn="l"/>
            <a:r>
              <a:rPr lang="en-US" sz="650" dirty="0">
                <a:latin typeface="Monaco"/>
                <a:cs typeface="Monaco"/>
              </a:rPr>
              <a:t> &lt;/forest&gt;</a:t>
            </a:r>
          </a:p>
        </p:txBody>
      </p:sp>
      <p:pic>
        <p:nvPicPr>
          <p:cNvPr id="8" name="Picture 7" descr="Screen Shot 2012-07-31 at 1.58.25 P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2083" y="4471286"/>
            <a:ext cx="3358763" cy="2366554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629193" y="4513694"/>
            <a:ext cx="645744" cy="591904"/>
          </a:xfrm>
          <a:prstGeom prst="ellipse">
            <a:avLst/>
          </a:prstGeom>
          <a:noFill/>
          <a:ln w="3810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cations_image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736" y="4459708"/>
            <a:ext cx="3410725" cy="237813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101303" y="5382516"/>
            <a:ext cx="645744" cy="591904"/>
          </a:xfrm>
          <a:prstGeom prst="ellipse">
            <a:avLst/>
          </a:prstGeom>
          <a:noFill/>
          <a:ln w="38100" cmpd="sng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081305" y="5971844"/>
            <a:ext cx="116175" cy="716622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75287" y="6409404"/>
            <a:ext cx="757646" cy="2475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Azimuth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8979" y="6022243"/>
            <a:ext cx="65477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Range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5460052" y="6135621"/>
            <a:ext cx="718869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458893" y="6121217"/>
            <a:ext cx="0" cy="664546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68182" y="6475764"/>
            <a:ext cx="850442" cy="2475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Azimuth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9537" y="5901285"/>
            <a:ext cx="654779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</a:rPr>
              <a:t>Range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078997" y="6691002"/>
            <a:ext cx="718869" cy="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Screen Shot 2012-05-09 at 4.48.07 PM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788" y="5523694"/>
            <a:ext cx="1390017" cy="76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80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806" y="0"/>
            <a:ext cx="8229600" cy="571500"/>
          </a:xfrm>
        </p:spPr>
        <p:txBody>
          <a:bodyPr>
            <a:normAutofit/>
          </a:bodyPr>
          <a:lstStyle/>
          <a:p>
            <a:r>
              <a:rPr lang="en-US" sz="2400" dirty="0"/>
              <a:t>Species description</a:t>
            </a:r>
          </a:p>
        </p:txBody>
      </p:sp>
      <p:pic>
        <p:nvPicPr>
          <p:cNvPr id="3" name="Picture 2" descr="allometry-xml2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4" t="25412" r="16715" b="33566"/>
          <a:stretch/>
        </p:blipFill>
        <p:spPr>
          <a:xfrm>
            <a:off x="524167" y="821024"/>
            <a:ext cx="7821707" cy="603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52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angle</a:t>
            </a:r>
          </a:p>
        </p:txBody>
      </p:sp>
      <p:pic>
        <p:nvPicPr>
          <p:cNvPr id="4" name="Content Placeholder 3" descr="Screen Shot 2012-09-06 at 4.08.41 PM.pn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37792" y="1703099"/>
            <a:ext cx="4843311" cy="3565131"/>
          </a:xfr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07803" y="5453277"/>
          <a:ext cx="364156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0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</a:t>
                      </a:r>
                      <a:r>
                        <a:rPr lang="en-US" baseline="0" dirty="0"/>
                        <a:t> polar angle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  <a:r>
                        <a:rPr lang="en-US" baseline="0" dirty="0"/>
                        <a:t> degrees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degree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882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tropism</a:t>
            </a:r>
          </a:p>
        </p:txBody>
      </p:sp>
      <p:pic>
        <p:nvPicPr>
          <p:cNvPr id="6" name="Content Placeholder 5" descr="Screen Shot 2012-09-06 at 4.29.37 PM.pn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47602" y="1658525"/>
            <a:ext cx="4679912" cy="3336004"/>
          </a:xfr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741997" y="5330072"/>
          <a:ext cx="643760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</a:t>
                      </a:r>
                      <a:r>
                        <a:rPr lang="en-US" baseline="0" dirty="0"/>
                        <a:t> theta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 phi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</a:t>
                      </a:r>
                      <a:r>
                        <a:rPr lang="en-US" baseline="0" dirty="0"/>
                        <a:t> factor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818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Stem curvature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07803" y="5263731"/>
          <a:ext cx="3218804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 descr="Screen Shot 2012-09-06 at 4.35.04 P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8921" y="1417638"/>
            <a:ext cx="4670335" cy="359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12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branch numbers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57113" y="5263731"/>
          <a:ext cx="439981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Picture 3" descr="Screen Shot 2012-09-06 at 4.49.00 P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1460" y="1459545"/>
            <a:ext cx="4687367" cy="32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233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branch angles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16721" y="5263731"/>
          <a:ext cx="293321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Polar</a:t>
                      </a:r>
                      <a:r>
                        <a:rPr lang="en-US" baseline="0" dirty="0"/>
                        <a:t> angle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 descr="Screen Shot 2012-09-06 at 5.02.38 P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3816" y="1562826"/>
            <a:ext cx="3008366" cy="3405827"/>
          </a:xfrm>
          <a:prstGeom prst="rect">
            <a:avLst/>
          </a:prstGeom>
        </p:spPr>
      </p:pic>
      <p:pic>
        <p:nvPicPr>
          <p:cNvPr id="6" name="Picture 5" descr="Screen Shot 2012-09-06 at 4.49.00 PM.pn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07" r="36352"/>
          <a:stretch/>
        </p:blipFill>
        <p:spPr>
          <a:xfrm>
            <a:off x="1402689" y="1572904"/>
            <a:ext cx="3312710" cy="33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72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branch curvature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139753" y="5263731"/>
          <a:ext cx="293321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 descr="Screen Shot 2012-09-06 at 4.59.01 P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3328" y="1566205"/>
            <a:ext cx="2949981" cy="3417155"/>
          </a:xfrm>
          <a:prstGeom prst="rect">
            <a:avLst/>
          </a:prstGeom>
        </p:spPr>
      </p:pic>
      <p:pic>
        <p:nvPicPr>
          <p:cNvPr id="6" name="Picture 5" descr="Screen Shot 2012-09-06 at 4.49.00 PM.pn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07" r="36352"/>
          <a:stretch/>
        </p:blipFill>
        <p:spPr>
          <a:xfrm>
            <a:off x="1402689" y="1572904"/>
            <a:ext cx="3312710" cy="33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883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branch tropism</a:t>
            </a:r>
          </a:p>
        </p:txBody>
      </p:sp>
      <p:pic>
        <p:nvPicPr>
          <p:cNvPr id="5" name="Picture 4" descr="Screen Shot 2012-09-06 at 5.06.3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02961" y="1579645"/>
            <a:ext cx="3025634" cy="337917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41997" y="5330072"/>
          <a:ext cx="643760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</a:t>
                      </a:r>
                      <a:r>
                        <a:rPr lang="en-US" baseline="0" dirty="0"/>
                        <a:t> theta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 phi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</a:t>
                      </a:r>
                      <a:r>
                        <a:rPr lang="en-US" baseline="0" dirty="0"/>
                        <a:t> factor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 descr="Screen Shot 2012-09-06 at 4.49.00 PM.pn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007" r="36352"/>
          <a:stretch/>
        </p:blipFill>
        <p:spPr>
          <a:xfrm>
            <a:off x="1402689" y="1572904"/>
            <a:ext cx="3312710" cy="33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03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981"/>
            <a:ext cx="8229600" cy="511487"/>
          </a:xfrm>
        </p:spPr>
        <p:txBody>
          <a:bodyPr>
            <a:normAutofit fontScale="90000"/>
          </a:bodyPr>
          <a:lstStyle/>
          <a:p>
            <a:r>
              <a:rPr lang="en-US" dirty="0"/>
              <a:t>Secondary branch numbers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86507" y="5601227"/>
          <a:ext cx="439981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18.95864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-4.26094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 descr="Screen Shot 2012-09-11 at 8.39.00 A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10317" y="1118423"/>
            <a:ext cx="5762355" cy="430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31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857"/>
            <a:ext cx="8229600" cy="491329"/>
          </a:xfrm>
        </p:spPr>
        <p:txBody>
          <a:bodyPr>
            <a:normAutofit fontScale="90000"/>
          </a:bodyPr>
          <a:lstStyle/>
          <a:p>
            <a:r>
              <a:rPr lang="en-US" dirty="0"/>
              <a:t>Secondary start offset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57113" y="5601227"/>
          <a:ext cx="364156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Fractional</a:t>
                      </a:r>
                      <a:r>
                        <a:rPr lang="en-US" baseline="0" dirty="0"/>
                        <a:t> offset [0-1]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Picture 3" descr="Screen Shot 2012-09-11 at 9.26.08 A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9375" y="1398909"/>
            <a:ext cx="3449777" cy="3355133"/>
          </a:xfrm>
          <a:prstGeom prst="rect">
            <a:avLst/>
          </a:prstGeom>
        </p:spPr>
      </p:pic>
      <p:pic>
        <p:nvPicPr>
          <p:cNvPr id="5" name="Picture 4" descr="Screen Shot 2012-09-11 at 9.26.30 AM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7484" y="1407438"/>
            <a:ext cx="3298382" cy="334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53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857"/>
            <a:ext cx="8229600" cy="477890"/>
          </a:xfrm>
        </p:spPr>
        <p:txBody>
          <a:bodyPr>
            <a:normAutofit fontScale="90000"/>
          </a:bodyPr>
          <a:lstStyle/>
          <a:p>
            <a:r>
              <a:rPr lang="en-US" dirty="0"/>
              <a:t>Secondary polar angles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86507" y="5601227"/>
          <a:ext cx="439981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Std</a:t>
                      </a:r>
                      <a:r>
                        <a:rPr lang="en-US" baseline="0" dirty="0"/>
                        <a:t> dev.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Picture 3" descr="Screen Shot 2012-09-11 at 10.44.33 A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6554" y="1372805"/>
            <a:ext cx="3021060" cy="3731898"/>
          </a:xfrm>
          <a:prstGeom prst="rect">
            <a:avLst/>
          </a:prstGeom>
        </p:spPr>
      </p:pic>
      <p:pic>
        <p:nvPicPr>
          <p:cNvPr id="5" name="Picture 4" descr="Screen Shot 2012-09-11 at 10.44.40 AM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1906" y="1372805"/>
            <a:ext cx="3085880" cy="374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740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6857"/>
            <a:ext cx="8229600" cy="484610"/>
          </a:xfrm>
        </p:spPr>
        <p:txBody>
          <a:bodyPr>
            <a:normAutofit fontScale="90000"/>
          </a:bodyPr>
          <a:lstStyle/>
          <a:p>
            <a:r>
              <a:rPr lang="en-US" dirty="0"/>
              <a:t>Secondary start radius factor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86505" y="5601227"/>
          <a:ext cx="345200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4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Radius Factor [0-1]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 descr="Screen Shot 2012-09-11 at 1.40.44 P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958" y="1519717"/>
            <a:ext cx="4393097" cy="3351606"/>
          </a:xfrm>
          <a:prstGeom prst="rect">
            <a:avLst/>
          </a:prstGeom>
        </p:spPr>
      </p:pic>
      <p:pic>
        <p:nvPicPr>
          <p:cNvPr id="6" name="Picture 5" descr="Screen Shot 2012-09-11 at 1.40.52 PM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3211" y="1519716"/>
            <a:ext cx="4358740" cy="335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01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branch tropism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741997" y="5330072"/>
          <a:ext cx="6437608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9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</a:t>
                      </a:r>
                      <a:r>
                        <a:rPr lang="en-US" baseline="0" dirty="0"/>
                        <a:t> theta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 phi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Tropism</a:t>
                      </a:r>
                      <a:r>
                        <a:rPr lang="en-US" baseline="0" dirty="0"/>
                        <a:t> factor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 descr="Screen Shot 2012-09-11 at 3.12.05 PM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466" y="1269881"/>
            <a:ext cx="3904979" cy="3967877"/>
          </a:xfrm>
          <a:prstGeom prst="rect">
            <a:avLst/>
          </a:prstGeom>
        </p:spPr>
      </p:pic>
      <p:pic>
        <p:nvPicPr>
          <p:cNvPr id="6" name="Picture 5" descr="Screen Shot 2012-09-11 at 3.12.12 PM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9110" y="1269881"/>
            <a:ext cx="3524146" cy="395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414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Secondary branch curvature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139753" y="5263731"/>
          <a:ext cx="293321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66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Gamma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Left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Right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Picture 4" descr="Screen Shot 2012-09-11 at 3.28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0144" y="1296954"/>
            <a:ext cx="3911956" cy="3925516"/>
          </a:xfrm>
          <a:prstGeom prst="rect">
            <a:avLst/>
          </a:prstGeom>
        </p:spPr>
      </p:pic>
      <p:pic>
        <p:nvPicPr>
          <p:cNvPr id="6" name="Picture 5" descr="Screen Shot 2012-09-11 at 3.29.0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3438" y="1296954"/>
            <a:ext cx="3923362" cy="393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69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Tertiary branch controls</a:t>
            </a:r>
          </a:p>
        </p:txBody>
      </p:sp>
      <p:pic>
        <p:nvPicPr>
          <p:cNvPr id="3" name="Picture 2" descr="Screen Shot 2012-09-12 at 2.22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7465" y="1356809"/>
            <a:ext cx="6388411" cy="42186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5364" y="5665709"/>
            <a:ext cx="73063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00" dirty="0"/>
              <a:t>Size (radius, length) are calculated based on primary and secondary branch dimensions. Although minimum dimensions can now be specified.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Tertiary volume fraction, canopy size, branch volume, and Maximum Number of realizations (for Monte Carlo purposes) decide the actual number of branches.  </a:t>
            </a:r>
          </a:p>
        </p:txBody>
      </p:sp>
    </p:spTree>
    <p:extLst>
      <p:ext uri="{BB962C8B-B14F-4D97-AF65-F5344CB8AC3E}">
        <p14:creationId xmlns:p14="http://schemas.microsoft.com/office/powerpoint/2010/main" val="710002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Foliage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364" y="5739697"/>
            <a:ext cx="7306358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Can now specify mean/</a:t>
            </a:r>
            <a:r>
              <a:rPr lang="en-US" sz="1800" dirty="0" err="1"/>
              <a:t>stdev</a:t>
            </a:r>
            <a:r>
              <a:rPr lang="en-US" sz="1800" dirty="0"/>
              <a:t> of leaf dimensions</a:t>
            </a:r>
          </a:p>
        </p:txBody>
      </p:sp>
      <p:pic>
        <p:nvPicPr>
          <p:cNvPr id="5" name="Picture 4" descr="Screen Shot 2012-09-13 at 11.04.2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5113" y="1279201"/>
            <a:ext cx="6190210" cy="435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833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Foliage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364" y="5739697"/>
            <a:ext cx="7306358" cy="53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/>
              <a:t>Leaf volume fraction, canopy size, leaf volume, and Maximum Number of realizations (for Monte Carlo purposes) decide the actual number of leaves.  </a:t>
            </a:r>
          </a:p>
        </p:txBody>
      </p:sp>
      <p:pic>
        <p:nvPicPr>
          <p:cNvPr id="3" name="Picture 2" descr="Screen Shot 2012-09-13 at 2.29.43 PM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22089" y="1799294"/>
            <a:ext cx="2992276" cy="3598586"/>
          </a:xfrm>
          <a:prstGeom prst="rect">
            <a:avLst/>
          </a:prstGeom>
        </p:spPr>
      </p:pic>
      <p:pic>
        <p:nvPicPr>
          <p:cNvPr id="6" name="Picture 5" descr="Screen Shot 2012-09-13 at 11.04.28 AM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5491" y="1799294"/>
            <a:ext cx="2992276" cy="359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09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temporal </a:t>
            </a:r>
            <a:r>
              <a:rPr lang="en-US" dirty="0" err="1"/>
              <a:t>decorrelation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58586"/>
            <a:ext cx="7772400" cy="5105400"/>
          </a:xfrm>
        </p:spPr>
        <p:txBody>
          <a:bodyPr>
            <a:normAutofit/>
          </a:bodyPr>
          <a:lstStyle/>
          <a:p>
            <a:r>
              <a:rPr lang="en-US" sz="1800" dirty="0" err="1"/>
              <a:t>PolSARproSim</a:t>
            </a:r>
            <a:r>
              <a:rPr lang="en-US" sz="1800" dirty="0"/>
              <a:t>+ includes the option of modeling temporal </a:t>
            </a:r>
            <a:r>
              <a:rPr lang="en-US" sz="1800" dirty="0" err="1"/>
              <a:t>decorrelation</a:t>
            </a:r>
            <a:r>
              <a:rPr lang="en-US" sz="1800" dirty="0"/>
              <a:t> as change of </a:t>
            </a:r>
            <a:r>
              <a:rPr lang="en-US" sz="1800" dirty="0" err="1"/>
              <a:t>scatterer</a:t>
            </a:r>
            <a:r>
              <a:rPr lang="en-US" sz="1800" dirty="0"/>
              <a:t> position and moisture as a function of height, for each track  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Moisture and Motion profiles are defined by programmable coefficients:</a:t>
            </a:r>
          </a:p>
          <a:p>
            <a:pPr lvl="1"/>
            <a:r>
              <a:rPr lang="en-US" sz="1800" dirty="0"/>
              <a:t>No change</a:t>
            </a:r>
          </a:p>
          <a:p>
            <a:pPr lvl="1"/>
            <a:r>
              <a:rPr lang="en-US" sz="1800" dirty="0"/>
              <a:t>Polynomial change profile: 	</a:t>
            </a:r>
          </a:p>
          <a:p>
            <a:pPr lvl="1"/>
            <a:r>
              <a:rPr lang="en-US" sz="1800" dirty="0"/>
              <a:t>Exponential change profile: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382" y="2801990"/>
            <a:ext cx="2235200" cy="260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824" y="3141195"/>
            <a:ext cx="1778000" cy="26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869" y="4240330"/>
            <a:ext cx="2552700" cy="158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857" y="4667978"/>
            <a:ext cx="2628900" cy="61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8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Estimated statistics of applied motion – for all trees</a:t>
            </a:r>
          </a:p>
        </p:txBody>
      </p:sp>
      <p:pic>
        <p:nvPicPr>
          <p:cNvPr id="9" name="Content Placeholder 8" descr="motion_stats.eps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9" t="4489" r="6507" b="2350"/>
          <a:stretch/>
        </p:blipFill>
        <p:spPr>
          <a:xfrm>
            <a:off x="250726" y="1464673"/>
            <a:ext cx="4240614" cy="327923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80" y="4982615"/>
            <a:ext cx="2235200" cy="260350"/>
          </a:xfrm>
          <a:prstGeom prst="rect">
            <a:avLst/>
          </a:prstGeom>
        </p:spPr>
      </p:pic>
      <p:pic>
        <p:nvPicPr>
          <p:cNvPr id="6" name="Content Placeholder 12" descr="coherence_v_slope.eps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4" t="3367" r="7224" b="3285"/>
          <a:stretch/>
        </p:blipFill>
        <p:spPr bwMode="auto">
          <a:xfrm>
            <a:off x="4814311" y="1431235"/>
            <a:ext cx="3961778" cy="327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975" y="6028606"/>
            <a:ext cx="2235200" cy="260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966" y="5924791"/>
            <a:ext cx="289560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21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Estimated statistics of applied motion – for all trees</a:t>
            </a:r>
          </a:p>
        </p:txBody>
      </p:sp>
      <p:pic>
        <p:nvPicPr>
          <p:cNvPr id="4" name="Content Placeholder 3" descr="motion_stats_quad.eps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0" t="3929" r="7768" b="3286"/>
          <a:stretch/>
        </p:blipFill>
        <p:spPr>
          <a:xfrm>
            <a:off x="252902" y="1347677"/>
            <a:ext cx="4336738" cy="340351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292" y="5166992"/>
            <a:ext cx="2235200" cy="260350"/>
          </a:xfrm>
          <a:prstGeom prst="rect">
            <a:avLst/>
          </a:prstGeom>
        </p:spPr>
      </p:pic>
      <p:pic>
        <p:nvPicPr>
          <p:cNvPr id="6" name="Content Placeholder 3" descr="coherence_v_A.eps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7" t="2993" r="6011" b="2910"/>
          <a:stretch/>
        </p:blipFill>
        <p:spPr bwMode="auto">
          <a:xfrm>
            <a:off x="4662519" y="1370759"/>
            <a:ext cx="4418716" cy="3393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267" y="6137379"/>
            <a:ext cx="2235200" cy="2603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834" y="6011335"/>
            <a:ext cx="28829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439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Spread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8630"/>
            <a:ext cx="8229600" cy="4946650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183" y="2245154"/>
            <a:ext cx="5930900" cy="69215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53308" y="4073696"/>
            <a:ext cx="8059420" cy="685800"/>
            <a:chOff x="196850" y="5861050"/>
            <a:chExt cx="8059420" cy="68580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/>
            <a:srcRect b="40659"/>
            <a:stretch/>
          </p:blipFill>
          <p:spPr>
            <a:xfrm>
              <a:off x="196850" y="5861050"/>
              <a:ext cx="6880860" cy="6858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3"/>
            <a:srcRect l="82318" t="79121"/>
            <a:stretch/>
          </p:blipFill>
          <p:spPr>
            <a:xfrm>
              <a:off x="7039610" y="6045200"/>
              <a:ext cx="1216660" cy="241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08362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400" y="-53756"/>
            <a:ext cx="6934200" cy="658503"/>
          </a:xfrm>
        </p:spPr>
        <p:txBody>
          <a:bodyPr>
            <a:normAutofit/>
          </a:bodyPr>
          <a:lstStyle/>
          <a:p>
            <a:r>
              <a:rPr lang="en-US" sz="2800" dirty="0"/>
              <a:t>Range Spectra</a:t>
            </a:r>
          </a:p>
        </p:txBody>
      </p:sp>
      <p:pic>
        <p:nvPicPr>
          <p:cNvPr id="6" name="Picture 5" descr="RangeSpectra_vFs-eps-converted-to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5" t="261" r="5470" b="-261"/>
          <a:stretch/>
        </p:blipFill>
        <p:spPr>
          <a:xfrm>
            <a:off x="2949211" y="3192163"/>
            <a:ext cx="6194790" cy="3665838"/>
          </a:xfrm>
          <a:prstGeom prst="rect">
            <a:avLst/>
          </a:prstGeom>
        </p:spPr>
      </p:pic>
      <p:pic>
        <p:nvPicPr>
          <p:cNvPr id="5" name="Content Placeholder 4" descr="PSFveta-eps-converted-to.pdf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9" r="1774" b="1540"/>
          <a:stretch/>
        </p:blipFill>
        <p:spPr>
          <a:xfrm>
            <a:off x="171339" y="876740"/>
            <a:ext cx="5109024" cy="3598663"/>
          </a:xfrm>
        </p:spPr>
      </p:pic>
    </p:spTree>
    <p:extLst>
      <p:ext uri="{BB962C8B-B14F-4D97-AF65-F5344CB8AC3E}">
        <p14:creationId xmlns:p14="http://schemas.microsoft.com/office/powerpoint/2010/main" val="2013577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change in images</a:t>
            </a:r>
          </a:p>
        </p:txBody>
      </p:sp>
      <p:pic>
        <p:nvPicPr>
          <p:cNvPr id="4" name="Content Placeholder 3" descr="Screen Shot 2013-02-14 at 11.28.35 AM.pn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7449" r="-7449"/>
          <a:stretch>
            <a:fillRect/>
          </a:stretch>
        </p:blipFill>
        <p:spPr>
          <a:xfrm>
            <a:off x="4434677" y="1961149"/>
            <a:ext cx="4884532" cy="2686143"/>
          </a:xfrm>
        </p:spPr>
      </p:pic>
      <p:pic>
        <p:nvPicPr>
          <p:cNvPr id="5" name="Picture 4" descr="Screen Shot 2013-02-14 at 11.28.49 AM.pn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988" y="1975628"/>
            <a:ext cx="4206838" cy="2661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6265" y="5318986"/>
            <a:ext cx="1193800" cy="318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Gaussian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4265" y="5318986"/>
            <a:ext cx="1644650" cy="318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Sinc</a:t>
            </a:r>
            <a:r>
              <a:rPr lang="en-US" sz="1600" dirty="0"/>
              <a:t>, eta = 1.0</a:t>
            </a:r>
          </a:p>
        </p:txBody>
      </p:sp>
    </p:spTree>
    <p:extLst>
      <p:ext uri="{BB962C8B-B14F-4D97-AF65-F5344CB8AC3E}">
        <p14:creationId xmlns:p14="http://schemas.microsoft.com/office/powerpoint/2010/main" val="24591830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Range Spectra for different baselines</a:t>
            </a:r>
          </a:p>
        </p:txBody>
      </p:sp>
      <p:pic>
        <p:nvPicPr>
          <p:cNvPr id="4" name="Content Placeholder 3" descr="spec_v_baselines.ep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6" b="6236"/>
          <a:stretch>
            <a:fillRect/>
          </a:stretch>
        </p:blipFill>
        <p:spPr>
          <a:xfrm>
            <a:off x="1048637" y="1542199"/>
            <a:ext cx="7040069" cy="4624359"/>
          </a:xfrm>
        </p:spPr>
      </p:pic>
    </p:spTree>
    <p:extLst>
      <p:ext uri="{BB962C8B-B14F-4D97-AF65-F5344CB8AC3E}">
        <p14:creationId xmlns:p14="http://schemas.microsoft.com/office/powerpoint/2010/main" val="15972432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 DEM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31117" y="1180251"/>
            <a:ext cx="8070257" cy="1725909"/>
          </a:xfrm>
        </p:spPr>
        <p:txBody>
          <a:bodyPr>
            <a:normAutofit/>
          </a:bodyPr>
          <a:lstStyle/>
          <a:p>
            <a:r>
              <a:rPr lang="en-US" sz="2000" dirty="0"/>
              <a:t>Read in and error checking of external DEM file</a:t>
            </a:r>
          </a:p>
          <a:p>
            <a:r>
              <a:rPr lang="en-US" sz="2000" dirty="0"/>
              <a:t>Resize/Resample to simulation coordinates</a:t>
            </a:r>
          </a:p>
          <a:p>
            <a:r>
              <a:rPr lang="en-US" sz="2000" dirty="0"/>
              <a:t>Create Shadow Map for direct scattering</a:t>
            </a:r>
          </a:p>
        </p:txBody>
      </p:sp>
      <p:pic>
        <p:nvPicPr>
          <p:cNvPr id="3" name="Picture 2" descr="shadow_cartoon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30" t="30472" r="18599" b="24948"/>
          <a:stretch/>
        </p:blipFill>
        <p:spPr>
          <a:xfrm>
            <a:off x="1821071" y="3010295"/>
            <a:ext cx="5597613" cy="30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817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creen Shot 2013-04-26 at 8.25.5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873" y="852646"/>
            <a:ext cx="2180420" cy="24367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59" y="159187"/>
            <a:ext cx="7113661" cy="51702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Example (Direct scattering only)</a:t>
            </a:r>
          </a:p>
        </p:txBody>
      </p:sp>
      <p:pic>
        <p:nvPicPr>
          <p:cNvPr id="6" name="Picture 5" descr="Screen Shot 2013-04-26 at 8.06.4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027" y="3694813"/>
            <a:ext cx="2180420" cy="2443546"/>
          </a:xfrm>
          <a:prstGeom prst="rect">
            <a:avLst/>
          </a:prstGeom>
        </p:spPr>
      </p:pic>
      <p:pic>
        <p:nvPicPr>
          <p:cNvPr id="7" name="Picture 6" descr="Screen Shot 2013-04-26 at 8.08.23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2" y="3694813"/>
            <a:ext cx="2180420" cy="2443545"/>
          </a:xfrm>
          <a:prstGeom prst="rect">
            <a:avLst/>
          </a:prstGeom>
        </p:spPr>
      </p:pic>
      <p:pic>
        <p:nvPicPr>
          <p:cNvPr id="8" name="Picture 7" descr="Screen Shot 2013-04-26 at 8.09.46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872" y="3700827"/>
            <a:ext cx="2180421" cy="2440539"/>
          </a:xfrm>
          <a:prstGeom prst="rect">
            <a:avLst/>
          </a:prstGeom>
        </p:spPr>
      </p:pic>
      <p:pic>
        <p:nvPicPr>
          <p:cNvPr id="9" name="Picture 8" descr="Screen Shot 2013-04-26 at 8.11.29 A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549" y="852774"/>
            <a:ext cx="2180420" cy="2443545"/>
          </a:xfrm>
          <a:prstGeom prst="rect">
            <a:avLst/>
          </a:prstGeom>
        </p:spPr>
      </p:pic>
      <p:pic>
        <p:nvPicPr>
          <p:cNvPr id="10" name="Picture 9" descr="Screen Shot 2013-04-26 at 8.12.13 AM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1" y="852774"/>
            <a:ext cx="2180421" cy="24435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7931" y="1797737"/>
            <a:ext cx="1649425" cy="318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No DEM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931" y="4729210"/>
            <a:ext cx="1649425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With DEM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7212" y="931854"/>
            <a:ext cx="11463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HH backscatter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7212" y="3780861"/>
            <a:ext cx="11463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HH backscatter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5100" y="931854"/>
            <a:ext cx="11463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0.17m wrap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5100" y="3776577"/>
            <a:ext cx="11463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40m wrap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4224" y="945754"/>
            <a:ext cx="11463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0m wrap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4224" y="3790477"/>
            <a:ext cx="11463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20m wrap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0873" y="6341563"/>
            <a:ext cx="218042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Backscatter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9549" y="6341563"/>
            <a:ext cx="218042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DEM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722" y="6307966"/>
            <a:ext cx="2180420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Shadow Map</a:t>
            </a:r>
          </a:p>
        </p:txBody>
      </p:sp>
    </p:spTree>
    <p:extLst>
      <p:ext uri="{BB962C8B-B14F-4D97-AF65-F5344CB8AC3E}">
        <p14:creationId xmlns:p14="http://schemas.microsoft.com/office/powerpoint/2010/main" val="2090286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thermal noise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7154897" cy="4525963"/>
          </a:xfrm>
        </p:spPr>
        <p:txBody>
          <a:bodyPr>
            <a:normAutofit/>
          </a:bodyPr>
          <a:lstStyle/>
          <a:p>
            <a:r>
              <a:rPr lang="en-US" dirty="0"/>
              <a:t>Add a random number to each pixel of every stack, such that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76" y="3039108"/>
            <a:ext cx="4000500" cy="22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524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859" y="159187"/>
            <a:ext cx="7113661" cy="517026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Backscatter Intensity</a:t>
            </a:r>
          </a:p>
        </p:txBody>
      </p:sp>
      <p:pic>
        <p:nvPicPr>
          <p:cNvPr id="3" name="Picture 2" descr="Screen Shot 2013-05-01 at 12.17.0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157" y="837193"/>
            <a:ext cx="1963417" cy="2447608"/>
          </a:xfrm>
          <a:prstGeom prst="rect">
            <a:avLst/>
          </a:prstGeom>
        </p:spPr>
      </p:pic>
      <p:pic>
        <p:nvPicPr>
          <p:cNvPr id="4" name="Picture 3" descr="Screen Shot 2013-05-01 at 12.17.1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552" y="838404"/>
            <a:ext cx="1967754" cy="2446397"/>
          </a:xfrm>
          <a:prstGeom prst="rect">
            <a:avLst/>
          </a:prstGeom>
        </p:spPr>
      </p:pic>
      <p:pic>
        <p:nvPicPr>
          <p:cNvPr id="5" name="Picture 4" descr="Screen Shot 2013-05-01 at 12.17.20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99" y="3812782"/>
            <a:ext cx="1979631" cy="2456704"/>
          </a:xfrm>
          <a:prstGeom prst="rect">
            <a:avLst/>
          </a:prstGeom>
        </p:spPr>
      </p:pic>
      <p:pic>
        <p:nvPicPr>
          <p:cNvPr id="23" name="Picture 22" descr="Screen Shot 2013-05-01 at 12.17.30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943" y="3814271"/>
            <a:ext cx="1969830" cy="24567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330157" y="3284801"/>
            <a:ext cx="1963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-25dB NESZ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0889" y="3300770"/>
            <a:ext cx="1963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-30dB NESZ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161" y="6270975"/>
            <a:ext cx="1963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-35dB NESZ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4867" y="6270975"/>
            <a:ext cx="1963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-40dB NESZ</a:t>
            </a:r>
          </a:p>
        </p:txBody>
      </p:sp>
      <p:pic>
        <p:nvPicPr>
          <p:cNvPr id="28" name="Picture 27" descr="Screen Shot 2013-05-01 at 12.17.44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802" y="3824578"/>
            <a:ext cx="1962446" cy="244639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948802" y="6269486"/>
            <a:ext cx="19634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-45dB NESZ</a:t>
            </a:r>
          </a:p>
        </p:txBody>
      </p:sp>
    </p:spTree>
    <p:extLst>
      <p:ext uri="{BB962C8B-B14F-4D97-AF65-F5344CB8AC3E}">
        <p14:creationId xmlns:p14="http://schemas.microsoft.com/office/powerpoint/2010/main" val="3405780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48562" b="-24409"/>
          <a:stretch/>
        </p:blipFill>
        <p:spPr>
          <a:xfrm>
            <a:off x="1185937" y="1320799"/>
            <a:ext cx="2089150" cy="406401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9459"/>
          </a:xfrm>
        </p:spPr>
        <p:txBody>
          <a:bodyPr>
            <a:normAutofit/>
          </a:bodyPr>
          <a:lstStyle/>
          <a:p>
            <a:r>
              <a:rPr lang="en-US" sz="2400" dirty="0"/>
              <a:t>Direct Ground Scattering, the math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706" y="2406650"/>
            <a:ext cx="1314450" cy="254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598" y="3022600"/>
            <a:ext cx="1930400" cy="4127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9748" y="3022600"/>
            <a:ext cx="1885950" cy="412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861" y="3651250"/>
            <a:ext cx="1098550" cy="234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9761" y="3651250"/>
            <a:ext cx="5219700" cy="234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0230" y="915988"/>
            <a:ext cx="4100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Facet surface normal and unit look vector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937" y="6103938"/>
            <a:ext cx="6667500" cy="5524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5074" y="1371599"/>
            <a:ext cx="1981200" cy="266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3861" y="1857375"/>
            <a:ext cx="1212850" cy="2603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3861" y="4000500"/>
            <a:ext cx="6261100" cy="825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3861" y="4826000"/>
            <a:ext cx="6978650" cy="10223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8935" y="2244725"/>
            <a:ext cx="337185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696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9459"/>
          </a:xfrm>
        </p:spPr>
        <p:txBody>
          <a:bodyPr>
            <a:normAutofit/>
          </a:bodyPr>
          <a:lstStyle/>
          <a:p>
            <a:r>
              <a:rPr lang="en-US" sz="2400" dirty="0"/>
              <a:t>Scattering from a cylinder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230" y="1144588"/>
            <a:ext cx="69575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Each branch is simulated as either an infinite or a finite cylinder based on a flag (</a:t>
            </a:r>
            <a:r>
              <a:rPr lang="en-US" dirty="0">
                <a:solidFill>
                  <a:srgbClr val="7F7F7F"/>
                </a:solidFill>
              </a:rPr>
              <a:t>by default set to simulate an infinite cylinder</a:t>
            </a:r>
            <a:r>
              <a:rPr lang="en-US" dirty="0"/>
              <a:t>)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In case the cylinder is finite 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 err="1"/>
              <a:t>Karam</a:t>
            </a:r>
            <a:r>
              <a:rPr lang="en-US" dirty="0"/>
              <a:t>, Fung and </a:t>
            </a:r>
            <a:r>
              <a:rPr lang="en-US" dirty="0" err="1"/>
              <a:t>Antar</a:t>
            </a:r>
            <a:r>
              <a:rPr lang="en-US" dirty="0"/>
              <a:t>, “</a:t>
            </a:r>
            <a:r>
              <a:rPr lang="en-US" i="1" dirty="0"/>
              <a:t>Electromagnetic Wave Scattering from Some Vegetation Samples</a:t>
            </a:r>
            <a:r>
              <a:rPr lang="en-US" dirty="0"/>
              <a:t>”, TGRS 1988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Uses generalized Rayleigh-</a:t>
            </a:r>
            <a:r>
              <a:rPr lang="en-US" dirty="0" err="1"/>
              <a:t>Gans</a:t>
            </a:r>
            <a:r>
              <a:rPr lang="en-US" dirty="0"/>
              <a:t> (GRG) Approximation:</a:t>
            </a:r>
          </a:p>
          <a:p>
            <a:endParaRPr lang="en-US" dirty="0"/>
          </a:p>
        </p:txBody>
      </p:sp>
      <p:grpSp>
        <p:nvGrpSpPr>
          <p:cNvPr id="43" name="Group 42"/>
          <p:cNvGrpSpPr/>
          <p:nvPr/>
        </p:nvGrpSpPr>
        <p:grpSpPr>
          <a:xfrm>
            <a:off x="5772151" y="3653766"/>
            <a:ext cx="1794436" cy="1047750"/>
            <a:chOff x="5772151" y="3258808"/>
            <a:chExt cx="1794436" cy="1047750"/>
          </a:xfrm>
        </p:grpSpPr>
        <p:sp>
          <p:nvSpPr>
            <p:cNvPr id="22" name="Can 21"/>
            <p:cNvSpPr/>
            <p:nvPr/>
          </p:nvSpPr>
          <p:spPr>
            <a:xfrm rot="1608294">
              <a:off x="6159113" y="3709588"/>
              <a:ext cx="1407474" cy="188124"/>
            </a:xfrm>
            <a:prstGeom prst="can">
              <a:avLst>
                <a:gd name="adj" fmla="val 50000"/>
              </a:avLst>
            </a:prstGeom>
            <a:solidFill>
              <a:schemeClr val="bg2">
                <a:lumMod val="7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140451" y="3633458"/>
              <a:ext cx="1282700" cy="673100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96051" y="3976358"/>
              <a:ext cx="222250" cy="165100"/>
            </a:xfrm>
            <a:prstGeom prst="rect">
              <a:avLst/>
            </a:prstGeom>
          </p:spPr>
        </p:pic>
        <p:cxnSp>
          <p:nvCxnSpPr>
            <p:cNvPr id="27" name="Straight Connector 26"/>
            <p:cNvCxnSpPr/>
            <p:nvPr/>
          </p:nvCxnSpPr>
          <p:spPr>
            <a:xfrm flipV="1">
              <a:off x="6070601" y="3341358"/>
              <a:ext cx="121712" cy="228600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2151" y="3258808"/>
              <a:ext cx="234950" cy="165100"/>
            </a:xfrm>
            <a:prstGeom prst="rect">
              <a:avLst/>
            </a:prstGeom>
          </p:spPr>
        </p:pic>
      </p:grpSp>
      <p:grpSp>
        <p:nvGrpSpPr>
          <p:cNvPr id="42" name="Group 41"/>
          <p:cNvGrpSpPr/>
          <p:nvPr/>
        </p:nvGrpSpPr>
        <p:grpSpPr>
          <a:xfrm>
            <a:off x="2552700" y="3423908"/>
            <a:ext cx="911225" cy="1747987"/>
            <a:chOff x="2609850" y="2755900"/>
            <a:chExt cx="911225" cy="1747987"/>
          </a:xfrm>
        </p:grpSpPr>
        <p:sp>
          <p:nvSpPr>
            <p:cNvPr id="13" name="Can 12"/>
            <p:cNvSpPr/>
            <p:nvPr/>
          </p:nvSpPr>
          <p:spPr>
            <a:xfrm rot="1899828">
              <a:off x="2770388" y="2887658"/>
              <a:ext cx="161380" cy="1616229"/>
            </a:xfrm>
            <a:prstGeom prst="can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 flipV="1">
              <a:off x="2609850" y="3124200"/>
              <a:ext cx="800100" cy="1346200"/>
            </a:xfrm>
            <a:prstGeom prst="line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7739" y="3752850"/>
              <a:ext cx="234950" cy="165100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98825" y="2755900"/>
              <a:ext cx="222250" cy="165100"/>
            </a:xfrm>
            <a:prstGeom prst="rect">
              <a:avLst/>
            </a:prstGeom>
          </p:spPr>
        </p:pic>
        <p:cxnSp>
          <p:nvCxnSpPr>
            <p:cNvPr id="37" name="Straight Connector 36"/>
            <p:cNvCxnSpPr/>
            <p:nvPr/>
          </p:nvCxnSpPr>
          <p:spPr>
            <a:xfrm>
              <a:off x="3185214" y="2895744"/>
              <a:ext cx="215900" cy="139700"/>
            </a:xfrm>
            <a:prstGeom prst="line">
              <a:avLst/>
            </a:prstGeom>
            <a:ln>
              <a:solidFill>
                <a:schemeClr val="tx1"/>
              </a:solidFill>
              <a:headEnd type="arrow" w="sm" len="sm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1" y="5391150"/>
            <a:ext cx="2372360" cy="711200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8150" y="5391150"/>
            <a:ext cx="236728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564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85738"/>
            <a:ext cx="8473989" cy="514478"/>
          </a:xfrm>
        </p:spPr>
        <p:txBody>
          <a:bodyPr>
            <a:normAutofit/>
          </a:bodyPr>
          <a:lstStyle/>
          <a:p>
            <a:r>
              <a:rPr lang="en-US" sz="1800" dirty="0"/>
              <a:t>Vegetation Permittivity from Moisture, [</a:t>
            </a:r>
            <a:r>
              <a:rPr lang="en-US" sz="1800" dirty="0" err="1"/>
              <a:t>Ulaby</a:t>
            </a:r>
            <a:r>
              <a:rPr lang="en-US" sz="1800" dirty="0"/>
              <a:t>, El-Reyes, 1987]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984250"/>
            <a:ext cx="611505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97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Does Not Contain CUI.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816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329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0&quot;/&gt;&lt;/object&gt;&lt;object type=&quot;3&quot; unique_id=&quot;10006&quot;&gt;&lt;property id=&quot;20148&quot; value=&quot;5&quot;/&gt;&lt;property id=&quot;20300&quot; value=&quot;Slide 4&quot;/&gt;&lt;property id=&quot;20307&quot; value=&quot;331&quot;/&gt;&lt;/object&gt;&lt;/object&gt;&lt;object type=&quot;8&quot; unique_id=&quot;10012&quot;&gt;&lt;/object&gt;&lt;/object&gt;&lt;/database&gt;"/>
  <p:tag name="MMPROD_NEXTUNIQUEID" val="10009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ASAjpl-WhiteTheme-4x3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bg1">
              <a:lumMod val="65000"/>
            </a:schemeClr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ASAjpl_Template_4x3_vA9" id="{3893FE9E-5BE4-C14C-A1F0-64F68B457FC4}" vid="{0B7CBAFF-5EF4-7E44-9529-D15B464807FA}"/>
    </a:ext>
  </a:extLst>
</a:theme>
</file>

<file path=ppt/theme/theme2.xml><?xml version="1.0" encoding="utf-8"?>
<a:theme xmlns:a="http://schemas.openxmlformats.org/drawingml/2006/main" name="NASAjpl-BlackTheme-4x3-vA6">
  <a:themeElements>
    <a:clrScheme name="NASA-JPL - Jan 2017">
      <a:dk1>
        <a:sysClr val="windowText" lastClr="000000"/>
      </a:dk1>
      <a:lt1>
        <a:sysClr val="window" lastClr="FFFFFF"/>
      </a:lt1>
      <a:dk2>
        <a:srgbClr val="5D5D60"/>
      </a:dk2>
      <a:lt2>
        <a:srgbClr val="E4E9EF"/>
      </a:lt2>
      <a:accent1>
        <a:srgbClr val="6083AA"/>
      </a:accent1>
      <a:accent2>
        <a:srgbClr val="94A8C2"/>
      </a:accent2>
      <a:accent3>
        <a:srgbClr val="0B3D91"/>
      </a:accent3>
      <a:accent4>
        <a:srgbClr val="E31937"/>
      </a:accent4>
      <a:accent5>
        <a:srgbClr val="F2A900"/>
      </a:accent5>
      <a:accent6>
        <a:srgbClr val="A4B34C"/>
      </a:accent6>
      <a:hlink>
        <a:srgbClr val="0E7EE0"/>
      </a:hlink>
      <a:folHlink>
        <a:srgbClr val="0E7E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tx2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91440" tIns="45720" rIns="91440" bIns="45720" rtlCol="0">
        <a:noAutofit/>
      </a:bodyPr>
      <a:lstStyle>
        <a:defPPr>
          <a:defRPr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ASAjpl_Template_4x3_vA9" id="{3893FE9E-5BE4-C14C-A1F0-64F68B457FC4}" vid="{5C3CBA33-A1FD-C643-972F-6DDAFCEA9FA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NASAjpl-WhiteTheme-4x3-vA6</Template>
  <TotalTime>29</TotalTime>
  <Words>1247</Words>
  <Application>Microsoft Macintosh PowerPoint</Application>
  <PresentationFormat>On-screen Show (4:3)</PresentationFormat>
  <Paragraphs>243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Baskerville</vt:lpstr>
      <vt:lpstr>Monaco</vt:lpstr>
      <vt:lpstr>NASAjpl-WhiteTheme-4x3-vA6</vt:lpstr>
      <vt:lpstr>NASAjpl-BlackTheme-4x3-vA6</vt:lpstr>
      <vt:lpstr>PowerPoint Presentation</vt:lpstr>
      <vt:lpstr>Background</vt:lpstr>
      <vt:lpstr>PolSARproSim+ SAR image</vt:lpstr>
      <vt:lpstr>Process flow</vt:lpstr>
      <vt:lpstr>Forest and Tree Description</vt:lpstr>
      <vt:lpstr>Input forest description</vt:lpstr>
      <vt:lpstr>Species description</vt:lpstr>
      <vt:lpstr>Stem angle</vt:lpstr>
      <vt:lpstr>Stem tropism</vt:lpstr>
      <vt:lpstr>Stem curvature</vt:lpstr>
      <vt:lpstr>Primary branch numbers</vt:lpstr>
      <vt:lpstr>Primary branch angles</vt:lpstr>
      <vt:lpstr>Primary branch curvature</vt:lpstr>
      <vt:lpstr>Primary branch tropism</vt:lpstr>
      <vt:lpstr>Secondary branch numbers</vt:lpstr>
      <vt:lpstr>Secondary start offset</vt:lpstr>
      <vt:lpstr>Secondary polar angles</vt:lpstr>
      <vt:lpstr>Secondary start radius factor</vt:lpstr>
      <vt:lpstr>Secondary branch tropism</vt:lpstr>
      <vt:lpstr>Secondary branch curvature</vt:lpstr>
      <vt:lpstr>Tertiary branch controls</vt:lpstr>
      <vt:lpstr>Foliage controls</vt:lpstr>
      <vt:lpstr>Foliage controls</vt:lpstr>
      <vt:lpstr>Modeling temporal decorrelation</vt:lpstr>
      <vt:lpstr>Estimated statistics of applied motion – for all trees</vt:lpstr>
      <vt:lpstr>Estimated statistics of applied motion – for all trees</vt:lpstr>
      <vt:lpstr>Point Spread Function</vt:lpstr>
      <vt:lpstr>Range Spectra</vt:lpstr>
      <vt:lpstr>Qualitative change in images</vt:lpstr>
      <vt:lpstr>Range Spectra for different baselines</vt:lpstr>
      <vt:lpstr>Adding a DEM</vt:lpstr>
      <vt:lpstr>Example (Direct scattering only)</vt:lpstr>
      <vt:lpstr>Adding thermal noise</vt:lpstr>
      <vt:lpstr>Backscatter Intensity</vt:lpstr>
      <vt:lpstr>Direct Ground Scattering, the math</vt:lpstr>
      <vt:lpstr>Scattering from a cylinder</vt:lpstr>
      <vt:lpstr>Vegetation Permittivity from Moisture, [Ulaby, El-Reyes, 1987]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Ahmed, Razi U (US 363H)</dc:creator>
  <cp:lastModifiedBy>Ahmed, Razi U (US 363H)</cp:lastModifiedBy>
  <cp:revision>3</cp:revision>
  <cp:lastPrinted>2016-07-26T23:14:33Z</cp:lastPrinted>
  <dcterms:created xsi:type="dcterms:W3CDTF">2026-03-25T16:52:26Z</dcterms:created>
  <dcterms:modified xsi:type="dcterms:W3CDTF">2026-03-25T19:28:20Z</dcterms:modified>
</cp:coreProperties>
</file>